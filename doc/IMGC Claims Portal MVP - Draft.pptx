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6" r:id="rId2"/>
  </p:sldMasterIdLst>
  <p:notesMasterIdLst>
    <p:notesMasterId r:id="rId25"/>
  </p:notesMasterIdLst>
  <p:handoutMasterIdLst>
    <p:handoutMasterId r:id="rId26"/>
  </p:handoutMasterIdLst>
  <p:sldIdLst>
    <p:sldId id="12540725" r:id="rId3"/>
    <p:sldId id="12540751" r:id="rId4"/>
    <p:sldId id="12540694" r:id="rId5"/>
    <p:sldId id="12540769" r:id="rId6"/>
    <p:sldId id="12540761" r:id="rId7"/>
    <p:sldId id="12540763" r:id="rId8"/>
    <p:sldId id="12540760" r:id="rId9"/>
    <p:sldId id="12540772" r:id="rId10"/>
    <p:sldId id="12540770" r:id="rId11"/>
    <p:sldId id="12540768" r:id="rId12"/>
    <p:sldId id="12540765" r:id="rId13"/>
    <p:sldId id="12540766" r:id="rId14"/>
    <p:sldId id="12540767" r:id="rId15"/>
    <p:sldId id="12540771" r:id="rId16"/>
    <p:sldId id="12540739" r:id="rId17"/>
    <p:sldId id="12540749" r:id="rId18"/>
    <p:sldId id="12540740" r:id="rId19"/>
    <p:sldId id="12540713" r:id="rId20"/>
    <p:sldId id="12540695" r:id="rId21"/>
    <p:sldId id="12540690" r:id="rId22"/>
    <p:sldId id="12540726" r:id="rId23"/>
    <p:sldId id="257" r:id="rId24"/>
  </p:sldIdLst>
  <p:sldSz cx="12204700" cy="6840538"/>
  <p:notesSz cx="6858000" cy="9144000"/>
  <p:embeddedFontLst>
    <p:embeddedFont>
      <p:font typeface="Lora" pitchFamily="2" charset="0"/>
      <p:regular r:id="rId27"/>
      <p:bold r:id="rId28"/>
      <p:italic r:id="rId29"/>
      <p:boldItalic r:id="rId30"/>
    </p:embeddedFont>
    <p:embeddedFont>
      <p:font typeface="Outfit" panose="020B0604020202020204" charset="0"/>
      <p:regular r:id="rId31"/>
      <p:bold r:id="rId32"/>
    </p:embeddedFont>
    <p:embeddedFont>
      <p:font typeface="Segoe UI" panose="020B0502040204020203" pitchFamily="34" charset="0"/>
      <p:regular r:id="rId33"/>
      <p:bold r:id="rId34"/>
      <p:italic r:id="rId35"/>
      <p:boldItalic r:id="rId36"/>
    </p:embeddedFont>
    <p:embeddedFont>
      <p:font typeface="STKaiti" panose="02010600040101010101" pitchFamily="2" charset="-122"/>
      <p:regular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14" userDrawn="1">
          <p15:clr>
            <a:srgbClr val="747775"/>
          </p15:clr>
        </p15:guide>
        <p15:guide id="2" pos="3933"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F1FF"/>
    <a:srgbClr val="1E0AB6"/>
    <a:srgbClr val="FECCF0"/>
    <a:srgbClr val="FFFAE7"/>
    <a:srgbClr val="EFFFF2"/>
    <a:srgbClr val="FBFFFB"/>
    <a:srgbClr val="FFFFFF"/>
    <a:srgbClr val="FFF3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7DEA32E-00CC-48B5-A904-FB9E2A3C03F8}" styleName="Table_0">
    <a:wholeTbl>
      <a:tcTxStyle>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Style>
        <a:tcBdr/>
        <a:fill>
          <a:solidFill>
            <a:srgbClr val="CAD1D8"/>
          </a:solidFill>
        </a:fill>
      </a:tcStyle>
    </a:band1H>
    <a:band2H>
      <a:tcStyle>
        <a:tcBdr/>
      </a:tcStyle>
    </a:band2H>
    <a:band1V>
      <a:tcStyle>
        <a:tcBdr/>
        <a:fill>
          <a:solidFill>
            <a:srgbClr val="CAD1D8"/>
          </a:solidFill>
        </a:fill>
      </a:tcStyle>
    </a:band1V>
    <a:band2V>
      <a:tcStyle>
        <a:tcBdr/>
      </a:tcStyle>
    </a:band2V>
    <a:lastCol>
      <a:tcTxStyle b="on">
        <a:font>
          <a:latin typeface="Arial"/>
          <a:ea typeface="Arial"/>
          <a:cs typeface="Arial"/>
        </a:font>
        <a:schemeClr val="lt1"/>
      </a:tcTxStyle>
      <a:tcStyle>
        <a:tcBdr/>
        <a:fill>
          <a:solidFill>
            <a:schemeClr val="accent1"/>
          </a:solidFill>
        </a:fill>
      </a:tcStyle>
    </a:lastCol>
    <a:firstCol>
      <a:tcTxStyle b="on">
        <a:font>
          <a:latin typeface="Arial"/>
          <a:ea typeface="Arial"/>
          <a:cs typeface="Arial"/>
        </a:font>
        <a:schemeClr val="lt1"/>
      </a:tcTxStyle>
      <a:tcStyle>
        <a:tcBdr/>
        <a:fill>
          <a:solidFill>
            <a:schemeClr val="accent1"/>
          </a:solidFill>
        </a:fill>
      </a:tcStyle>
    </a:firstCol>
    <a:lastRow>
      <a:tcTxStyle b="on">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01" autoAdjust="0"/>
    <p:restoredTop sz="94660"/>
  </p:normalViewPr>
  <p:slideViewPr>
    <p:cSldViewPr snapToGrid="0" showGuides="1">
      <p:cViewPr varScale="1">
        <p:scale>
          <a:sx n="63" d="100"/>
          <a:sy n="63" d="100"/>
        </p:scale>
        <p:origin x="616" y="60"/>
      </p:cViewPr>
      <p:guideLst>
        <p:guide orient="horz" pos="2114"/>
        <p:guide pos="39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font" Target="fonts/font8.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002C56-3FCB-4B43-A49F-2026EF18857C}" type="datetime1">
              <a:rPr lang="en-US" smtClean="0"/>
              <a:t>9/9/2026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1</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0E4ABA-BE84-4113-A5CD-B99D51379893}"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71475" y="685800"/>
            <a:ext cx="61150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865"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2:notes"/>
          <p:cNvSpPr>
            <a:spLocks noGrp="1" noRot="1" noChangeAspect="1"/>
          </p:cNvSpPr>
          <p:nvPr>
            <p:ph type="sldImg" idx="2"/>
          </p:nvPr>
        </p:nvSpPr>
        <p:spPr>
          <a:xfrm>
            <a:off x="676275" y="1143000"/>
            <a:ext cx="55054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D00E4876-2EBB-28B7-5969-0A03D018A606}"/>
            </a:ext>
          </a:extLst>
        </p:cNvPr>
        <p:cNvGrpSpPr/>
        <p:nvPr/>
      </p:nvGrpSpPr>
      <p:grpSpPr>
        <a:xfrm>
          <a:off x="0" y="0"/>
          <a:ext cx="0" cy="0"/>
          <a:chOff x="0" y="0"/>
          <a:chExt cx="0" cy="0"/>
        </a:xfrm>
      </p:grpSpPr>
      <p:sp>
        <p:nvSpPr>
          <p:cNvPr id="158" name="Google Shape;158;p2:notes">
            <a:extLst>
              <a:ext uri="{FF2B5EF4-FFF2-40B4-BE49-F238E27FC236}">
                <a16:creationId xmlns:a16="http://schemas.microsoft.com/office/drawing/2014/main" id="{F49B2C3A-5764-7960-6E8C-E1320DA03F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2:notes">
            <a:extLst>
              <a:ext uri="{FF2B5EF4-FFF2-40B4-BE49-F238E27FC236}">
                <a16:creationId xmlns:a16="http://schemas.microsoft.com/office/drawing/2014/main" id="{1FBA9047-929C-99EA-8A43-027E99357366}"/>
              </a:ext>
            </a:extLst>
          </p:cNvPr>
          <p:cNvSpPr>
            <a:spLocks noGrp="1" noRot="1" noChangeAspect="1"/>
          </p:cNvSpPr>
          <p:nvPr>
            <p:ph type="sldImg" idx="2"/>
          </p:nvPr>
        </p:nvSpPr>
        <p:spPr>
          <a:xfrm>
            <a:off x="676275" y="1143000"/>
            <a:ext cx="55054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4658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E5D251D8-6758-BB4B-A22C-F4742D85639F}"/>
            </a:ext>
          </a:extLst>
        </p:cNvPr>
        <p:cNvGrpSpPr/>
        <p:nvPr/>
      </p:nvGrpSpPr>
      <p:grpSpPr>
        <a:xfrm>
          <a:off x="0" y="0"/>
          <a:ext cx="0" cy="0"/>
          <a:chOff x="0" y="0"/>
          <a:chExt cx="0" cy="0"/>
        </a:xfrm>
      </p:grpSpPr>
      <p:sp>
        <p:nvSpPr>
          <p:cNvPr id="158" name="Google Shape;158;p2:notes">
            <a:extLst>
              <a:ext uri="{FF2B5EF4-FFF2-40B4-BE49-F238E27FC236}">
                <a16:creationId xmlns:a16="http://schemas.microsoft.com/office/drawing/2014/main" id="{93698336-2E82-063D-7FEF-A4F323DF5C2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9" name="Google Shape;159;p2:notes">
            <a:extLst>
              <a:ext uri="{FF2B5EF4-FFF2-40B4-BE49-F238E27FC236}">
                <a16:creationId xmlns:a16="http://schemas.microsoft.com/office/drawing/2014/main" id="{D8E5FD57-4BB9-521F-E840-5655DB271397}"/>
              </a:ext>
            </a:extLst>
          </p:cNvPr>
          <p:cNvSpPr>
            <a:spLocks noGrp="1" noRot="1" noChangeAspect="1"/>
          </p:cNvSpPr>
          <p:nvPr>
            <p:ph type="sldImg" idx="2"/>
          </p:nvPr>
        </p:nvSpPr>
        <p:spPr>
          <a:xfrm>
            <a:off x="676275" y="1143000"/>
            <a:ext cx="55054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3462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2:notes"/>
          <p:cNvSpPr>
            <a:spLocks noGrp="1" noRot="1" noChangeAspect="1"/>
          </p:cNvSpPr>
          <p:nvPr>
            <p:ph type="sldImg" idx="2"/>
          </p:nvPr>
        </p:nvSpPr>
        <p:spPr>
          <a:xfrm>
            <a:off x="676275" y="1143000"/>
            <a:ext cx="55054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2:notes"/>
          <p:cNvSpPr>
            <a:spLocks noGrp="1" noRot="1" noChangeAspect="1"/>
          </p:cNvSpPr>
          <p:nvPr>
            <p:ph type="sldImg" idx="2"/>
          </p:nvPr>
        </p:nvSpPr>
        <p:spPr>
          <a:xfrm>
            <a:off x="676275" y="1143000"/>
            <a:ext cx="55054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9" name="Google Shape;159;p2:notes"/>
          <p:cNvSpPr>
            <a:spLocks noGrp="1" noRot="1" noChangeAspect="1"/>
          </p:cNvSpPr>
          <p:nvPr>
            <p:ph type="sldImg" idx="2"/>
          </p:nvPr>
        </p:nvSpPr>
        <p:spPr>
          <a:xfrm>
            <a:off x="676275" y="1143000"/>
            <a:ext cx="55054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5588" y="1119505"/>
            <a:ext cx="9153525" cy="2381521"/>
          </a:xfrm>
        </p:spPr>
        <p:txBody>
          <a:bodyPr anchor="b"/>
          <a:lstStyle>
            <a:lvl1pPr algn="ctr">
              <a:defRPr sz="5985"/>
            </a:lvl1pPr>
          </a:lstStyle>
          <a:p>
            <a:r>
              <a:rPr lang="en-US"/>
              <a:t>Click to edit Master title style</a:t>
            </a:r>
            <a:endParaRPr lang="en-US" dirty="0"/>
          </a:p>
        </p:txBody>
      </p:sp>
      <p:sp>
        <p:nvSpPr>
          <p:cNvPr id="3" name="Subtitle 2"/>
          <p:cNvSpPr>
            <a:spLocks noGrp="1"/>
          </p:cNvSpPr>
          <p:nvPr>
            <p:ph type="subTitle" idx="1"/>
          </p:nvPr>
        </p:nvSpPr>
        <p:spPr>
          <a:xfrm>
            <a:off x="1525588" y="3592866"/>
            <a:ext cx="9153525" cy="1651546"/>
          </a:xfrm>
        </p:spPr>
        <p:txBody>
          <a:bodyPr/>
          <a:lstStyle>
            <a:lvl1pPr marL="0" indent="0" algn="ctr">
              <a:buNone/>
              <a:defRPr sz="2395"/>
            </a:lvl1pPr>
            <a:lvl2pPr marL="455930" indent="0" algn="ctr">
              <a:buNone/>
              <a:defRPr sz="1995"/>
            </a:lvl2pPr>
            <a:lvl3pPr marL="911860" indent="0" algn="ctr">
              <a:buNone/>
              <a:defRPr sz="1795"/>
            </a:lvl3pPr>
            <a:lvl4pPr marL="1368425" indent="0" algn="ctr">
              <a:buNone/>
              <a:defRPr sz="1595"/>
            </a:lvl4pPr>
            <a:lvl5pPr marL="1824355" indent="0" algn="ctr">
              <a:buNone/>
              <a:defRPr sz="1595"/>
            </a:lvl5pPr>
            <a:lvl6pPr marL="2280285" indent="0" algn="ctr">
              <a:buNone/>
              <a:defRPr sz="1595"/>
            </a:lvl6pPr>
            <a:lvl7pPr marL="2736215" indent="0" algn="ctr">
              <a:buNone/>
              <a:defRPr sz="1595"/>
            </a:lvl7pPr>
            <a:lvl8pPr marL="3192145" indent="0" algn="ctr">
              <a:buNone/>
              <a:defRPr sz="1595"/>
            </a:lvl8pPr>
            <a:lvl9pPr marL="3648710" indent="0" algn="ctr">
              <a:buNone/>
              <a:defRPr sz="15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716" y="1705385"/>
            <a:ext cx="10526554" cy="2845473"/>
          </a:xfrm>
        </p:spPr>
        <p:txBody>
          <a:bodyPr anchor="b"/>
          <a:lstStyle>
            <a:lvl1pPr>
              <a:defRPr sz="5985"/>
            </a:lvl1pPr>
          </a:lstStyle>
          <a:p>
            <a:r>
              <a:rPr lang="en-US"/>
              <a:t>Click to edit Master title style</a:t>
            </a:r>
            <a:endParaRPr lang="en-US" dirty="0"/>
          </a:p>
        </p:txBody>
      </p:sp>
      <p:sp>
        <p:nvSpPr>
          <p:cNvPr id="3" name="Text Placeholder 2"/>
          <p:cNvSpPr>
            <a:spLocks noGrp="1"/>
          </p:cNvSpPr>
          <p:nvPr>
            <p:ph type="body" idx="1"/>
          </p:nvPr>
        </p:nvSpPr>
        <p:spPr>
          <a:xfrm>
            <a:off x="832716" y="4577778"/>
            <a:ext cx="10526554" cy="1496367"/>
          </a:xfrm>
        </p:spPr>
        <p:txBody>
          <a:bodyPr/>
          <a:lstStyle>
            <a:lvl1pPr marL="0" indent="0">
              <a:buNone/>
              <a:defRPr sz="2395">
                <a:solidFill>
                  <a:schemeClr val="tx1">
                    <a:tint val="75000"/>
                  </a:schemeClr>
                </a:solidFill>
              </a:defRPr>
            </a:lvl1pPr>
            <a:lvl2pPr marL="455930" indent="0">
              <a:buNone/>
              <a:defRPr sz="1995">
                <a:solidFill>
                  <a:schemeClr val="tx1">
                    <a:tint val="75000"/>
                  </a:schemeClr>
                </a:solidFill>
              </a:defRPr>
            </a:lvl2pPr>
            <a:lvl3pPr marL="911860" indent="0">
              <a:buNone/>
              <a:defRPr sz="1795">
                <a:solidFill>
                  <a:schemeClr val="tx1">
                    <a:tint val="75000"/>
                  </a:schemeClr>
                </a:solidFill>
              </a:defRPr>
            </a:lvl3pPr>
            <a:lvl4pPr marL="1368425" indent="0">
              <a:buNone/>
              <a:defRPr sz="1595">
                <a:solidFill>
                  <a:schemeClr val="tx1">
                    <a:tint val="75000"/>
                  </a:schemeClr>
                </a:solidFill>
              </a:defRPr>
            </a:lvl4pPr>
            <a:lvl5pPr marL="1824355" indent="0">
              <a:buNone/>
              <a:defRPr sz="1595">
                <a:solidFill>
                  <a:schemeClr val="tx1">
                    <a:tint val="75000"/>
                  </a:schemeClr>
                </a:solidFill>
              </a:defRPr>
            </a:lvl5pPr>
            <a:lvl6pPr marL="2280285" indent="0">
              <a:buNone/>
              <a:defRPr sz="1595">
                <a:solidFill>
                  <a:schemeClr val="tx1">
                    <a:tint val="75000"/>
                  </a:schemeClr>
                </a:solidFill>
              </a:defRPr>
            </a:lvl6pPr>
            <a:lvl7pPr marL="2736215" indent="0">
              <a:buNone/>
              <a:defRPr sz="1595">
                <a:solidFill>
                  <a:schemeClr val="tx1">
                    <a:tint val="75000"/>
                  </a:schemeClr>
                </a:solidFill>
              </a:defRPr>
            </a:lvl7pPr>
            <a:lvl8pPr marL="3192145" indent="0">
              <a:buNone/>
              <a:defRPr sz="1595">
                <a:solidFill>
                  <a:schemeClr val="tx1">
                    <a:tint val="75000"/>
                  </a:schemeClr>
                </a:solidFill>
              </a:defRPr>
            </a:lvl8pPr>
            <a:lvl9pPr marL="3648710" indent="0">
              <a:buNone/>
              <a:defRPr sz="159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9073" y="1820976"/>
            <a:ext cx="5186998" cy="4340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8629" y="1820976"/>
            <a:ext cx="5186998" cy="4340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663" y="364196"/>
            <a:ext cx="10526554" cy="13221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0663" y="1676882"/>
            <a:ext cx="5163160" cy="821814"/>
          </a:xfrm>
        </p:spPr>
        <p:txBody>
          <a:bodyPr anchor="b"/>
          <a:lstStyle>
            <a:lvl1pPr marL="0" indent="0">
              <a:buNone/>
              <a:defRPr sz="2395" b="1"/>
            </a:lvl1pPr>
            <a:lvl2pPr marL="455930" indent="0">
              <a:buNone/>
              <a:defRPr sz="1995" b="1"/>
            </a:lvl2pPr>
            <a:lvl3pPr marL="911860" indent="0">
              <a:buNone/>
              <a:defRPr sz="1795" b="1"/>
            </a:lvl3pPr>
            <a:lvl4pPr marL="1368425"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710" indent="0">
              <a:buNone/>
              <a:defRPr sz="1595" b="1"/>
            </a:lvl9pPr>
          </a:lstStyle>
          <a:p>
            <a:pPr lvl="0"/>
            <a:r>
              <a:rPr lang="en-US"/>
              <a:t>Click to edit Master text styles</a:t>
            </a:r>
          </a:p>
        </p:txBody>
      </p:sp>
      <p:sp>
        <p:nvSpPr>
          <p:cNvPr id="4" name="Content Placeholder 3"/>
          <p:cNvSpPr>
            <a:spLocks noGrp="1"/>
          </p:cNvSpPr>
          <p:nvPr>
            <p:ph sz="half" idx="2"/>
          </p:nvPr>
        </p:nvSpPr>
        <p:spPr>
          <a:xfrm>
            <a:off x="840663" y="2498697"/>
            <a:ext cx="5163160"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8629" y="1676882"/>
            <a:ext cx="5188587" cy="821814"/>
          </a:xfrm>
        </p:spPr>
        <p:txBody>
          <a:bodyPr anchor="b"/>
          <a:lstStyle>
            <a:lvl1pPr marL="0" indent="0">
              <a:buNone/>
              <a:defRPr sz="2395" b="1"/>
            </a:lvl1pPr>
            <a:lvl2pPr marL="455930" indent="0">
              <a:buNone/>
              <a:defRPr sz="1995" b="1"/>
            </a:lvl2pPr>
            <a:lvl3pPr marL="911860" indent="0">
              <a:buNone/>
              <a:defRPr sz="1795" b="1"/>
            </a:lvl3pPr>
            <a:lvl4pPr marL="1368425"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710" indent="0">
              <a:buNone/>
              <a:defRPr sz="1595" b="1"/>
            </a:lvl9pPr>
          </a:lstStyle>
          <a:p>
            <a:pPr lvl="0"/>
            <a:r>
              <a:rPr lang="en-US"/>
              <a:t>Click to edit Master text styles</a:t>
            </a:r>
          </a:p>
        </p:txBody>
      </p:sp>
      <p:sp>
        <p:nvSpPr>
          <p:cNvPr id="6" name="Content Placeholder 5"/>
          <p:cNvSpPr>
            <a:spLocks noGrp="1"/>
          </p:cNvSpPr>
          <p:nvPr>
            <p:ph sz="quarter" idx="4"/>
          </p:nvPr>
        </p:nvSpPr>
        <p:spPr>
          <a:xfrm>
            <a:off x="6178629" y="2498697"/>
            <a:ext cx="5188587"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663" y="456036"/>
            <a:ext cx="3936333" cy="1596126"/>
          </a:xfrm>
        </p:spPr>
        <p:txBody>
          <a:bodyPr anchor="b"/>
          <a:lstStyle>
            <a:lvl1pPr>
              <a:defRPr sz="3190"/>
            </a:lvl1pPr>
          </a:lstStyle>
          <a:p>
            <a:r>
              <a:rPr lang="en-US"/>
              <a:t>Click to edit Master title style</a:t>
            </a:r>
            <a:endParaRPr lang="en-US" dirty="0"/>
          </a:p>
        </p:txBody>
      </p:sp>
      <p:sp>
        <p:nvSpPr>
          <p:cNvPr id="3" name="Content Placeholder 2"/>
          <p:cNvSpPr>
            <a:spLocks noGrp="1"/>
          </p:cNvSpPr>
          <p:nvPr>
            <p:ph idx="1"/>
          </p:nvPr>
        </p:nvSpPr>
        <p:spPr>
          <a:xfrm>
            <a:off x="5188587" y="984911"/>
            <a:ext cx="6178629" cy="4861216"/>
          </a:xfrm>
        </p:spPr>
        <p:txBody>
          <a:bodyPr/>
          <a:lstStyle>
            <a:lvl1pPr>
              <a:defRPr sz="3190"/>
            </a:lvl1pPr>
            <a:lvl2pPr>
              <a:defRPr sz="2795"/>
            </a:lvl2pPr>
            <a:lvl3pPr>
              <a:defRPr sz="2395"/>
            </a:lvl3pPr>
            <a:lvl4pPr>
              <a:defRPr sz="1995"/>
            </a:lvl4pPr>
            <a:lvl5pPr>
              <a:defRPr sz="1995"/>
            </a:lvl5pPr>
            <a:lvl6pPr>
              <a:defRPr sz="1995"/>
            </a:lvl6pPr>
            <a:lvl7pPr>
              <a:defRPr sz="1995"/>
            </a:lvl7pPr>
            <a:lvl8pPr>
              <a:defRPr sz="1995"/>
            </a:lvl8pPr>
            <a:lvl9pPr>
              <a:defRPr sz="19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0663" y="2052161"/>
            <a:ext cx="3936333" cy="3801883"/>
          </a:xfrm>
        </p:spPr>
        <p:txBody>
          <a:bodyPr/>
          <a:lstStyle>
            <a:lvl1pPr marL="0" indent="0">
              <a:buNone/>
              <a:defRPr sz="1595"/>
            </a:lvl1pPr>
            <a:lvl2pPr marL="455930" indent="0">
              <a:buNone/>
              <a:defRPr sz="1395"/>
            </a:lvl2pPr>
            <a:lvl3pPr marL="911860" indent="0">
              <a:buNone/>
              <a:defRPr sz="1195"/>
            </a:lvl3pPr>
            <a:lvl4pPr marL="1368425" indent="0">
              <a:buNone/>
              <a:defRPr sz="1000"/>
            </a:lvl4pPr>
            <a:lvl5pPr marL="1824355" indent="0">
              <a:buNone/>
              <a:defRPr sz="1000"/>
            </a:lvl5pPr>
            <a:lvl6pPr marL="2280285" indent="0">
              <a:buNone/>
              <a:defRPr sz="1000"/>
            </a:lvl6pPr>
            <a:lvl7pPr marL="2736215" indent="0">
              <a:buNone/>
              <a:defRPr sz="1000"/>
            </a:lvl7pPr>
            <a:lvl8pPr marL="3192145" indent="0">
              <a:buNone/>
              <a:defRPr sz="1000"/>
            </a:lvl8pPr>
            <a:lvl9pPr marL="364871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663" y="456036"/>
            <a:ext cx="3936333" cy="1596126"/>
          </a:xfrm>
        </p:spPr>
        <p:txBody>
          <a:bodyPr anchor="b"/>
          <a:lstStyle>
            <a:lvl1pPr>
              <a:defRPr sz="319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8587" y="984911"/>
            <a:ext cx="6178629" cy="4861216"/>
          </a:xfrm>
        </p:spPr>
        <p:txBody>
          <a:bodyPr anchor="t"/>
          <a:lstStyle>
            <a:lvl1pPr marL="0" indent="0">
              <a:buNone/>
              <a:defRPr sz="3190"/>
            </a:lvl1pPr>
            <a:lvl2pPr marL="455930" indent="0">
              <a:buNone/>
              <a:defRPr sz="2795"/>
            </a:lvl2pPr>
            <a:lvl3pPr marL="911860" indent="0">
              <a:buNone/>
              <a:defRPr sz="2395"/>
            </a:lvl3pPr>
            <a:lvl4pPr marL="1368425" indent="0">
              <a:buNone/>
              <a:defRPr sz="1995"/>
            </a:lvl4pPr>
            <a:lvl5pPr marL="1824355" indent="0">
              <a:buNone/>
              <a:defRPr sz="1995"/>
            </a:lvl5pPr>
            <a:lvl6pPr marL="2280285" indent="0">
              <a:buNone/>
              <a:defRPr sz="1995"/>
            </a:lvl6pPr>
            <a:lvl7pPr marL="2736215" indent="0">
              <a:buNone/>
              <a:defRPr sz="1995"/>
            </a:lvl7pPr>
            <a:lvl8pPr marL="3192145" indent="0">
              <a:buNone/>
              <a:defRPr sz="1995"/>
            </a:lvl8pPr>
            <a:lvl9pPr marL="3648710" indent="0">
              <a:buNone/>
              <a:defRPr sz="1995"/>
            </a:lvl9pPr>
          </a:lstStyle>
          <a:p>
            <a:r>
              <a:rPr lang="en-US"/>
              <a:t>Click icon to add picture</a:t>
            </a:r>
            <a:endParaRPr lang="en-US" dirty="0"/>
          </a:p>
        </p:txBody>
      </p:sp>
      <p:sp>
        <p:nvSpPr>
          <p:cNvPr id="4" name="Text Placeholder 3"/>
          <p:cNvSpPr>
            <a:spLocks noGrp="1"/>
          </p:cNvSpPr>
          <p:nvPr>
            <p:ph type="body" sz="half" idx="2"/>
          </p:nvPr>
        </p:nvSpPr>
        <p:spPr>
          <a:xfrm>
            <a:off x="840663" y="2052161"/>
            <a:ext cx="3936333" cy="3801883"/>
          </a:xfrm>
        </p:spPr>
        <p:txBody>
          <a:bodyPr/>
          <a:lstStyle>
            <a:lvl1pPr marL="0" indent="0">
              <a:buNone/>
              <a:defRPr sz="1595"/>
            </a:lvl1pPr>
            <a:lvl2pPr marL="455930" indent="0">
              <a:buNone/>
              <a:defRPr sz="1395"/>
            </a:lvl2pPr>
            <a:lvl3pPr marL="911860" indent="0">
              <a:buNone/>
              <a:defRPr sz="1195"/>
            </a:lvl3pPr>
            <a:lvl4pPr marL="1368425" indent="0">
              <a:buNone/>
              <a:defRPr sz="1000"/>
            </a:lvl4pPr>
            <a:lvl5pPr marL="1824355" indent="0">
              <a:buNone/>
              <a:defRPr sz="1000"/>
            </a:lvl5pPr>
            <a:lvl6pPr marL="2280285" indent="0">
              <a:buNone/>
              <a:defRPr sz="1000"/>
            </a:lvl6pPr>
            <a:lvl7pPr marL="2736215" indent="0">
              <a:buNone/>
              <a:defRPr sz="1000"/>
            </a:lvl7pPr>
            <a:lvl8pPr marL="3192145" indent="0">
              <a:buNone/>
              <a:defRPr sz="1000"/>
            </a:lvl8pPr>
            <a:lvl9pPr marL="364871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3989" y="364195"/>
            <a:ext cx="2631638" cy="579704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9073" y="364195"/>
            <a:ext cx="7742357" cy="57970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B178-C829-43BE-B352-90C900AC4C1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3" name="Google Shape;54;p13" title="Slide 16_9 - 12.png"/>
          <p:cNvPicPr preferRelativeResize="0"/>
          <p:nvPr userDrawn="1"/>
        </p:nvPicPr>
        <p:blipFill>
          <a:blip r:embed="rId2"/>
          <a:stretch>
            <a:fillRect/>
          </a:stretch>
        </p:blipFill>
        <p:spPr>
          <a:xfrm>
            <a:off x="-198075" y="-111018"/>
            <a:ext cx="12402775" cy="695155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9"/>
        <p:cNvGrpSpPr/>
        <p:nvPr/>
      </p:nvGrpSpPr>
      <p:grpSpPr>
        <a:xfrm>
          <a:off x="0" y="0"/>
          <a:ext cx="0" cy="0"/>
          <a:chOff x="0" y="0"/>
          <a:chExt cx="0" cy="0"/>
        </a:xfrm>
      </p:grpSpPr>
      <p:sp>
        <p:nvSpPr>
          <p:cNvPr id="22" name="Google Shape;22;p3"/>
          <p:cNvSpPr txBox="1">
            <a:spLocks noGrp="1"/>
          </p:cNvSpPr>
          <p:nvPr>
            <p:ph type="body" idx="1"/>
          </p:nvPr>
        </p:nvSpPr>
        <p:spPr>
          <a:xfrm>
            <a:off x="674362" y="1516204"/>
            <a:ext cx="10526554" cy="4340259"/>
          </a:xfrm>
          <a:prstGeom prst="rect">
            <a:avLst/>
          </a:prstGeom>
          <a:noFill/>
          <a:ln>
            <a:noFill/>
          </a:ln>
        </p:spPr>
        <p:txBody>
          <a:bodyPr spcFirstLastPara="1" wrap="square" lIns="91425" tIns="45700" rIns="91425" bIns="45700" anchor="t" anchorCtr="0">
            <a:normAutofit/>
          </a:bodyPr>
          <a:lstStyle>
            <a:lvl1pPr marL="455930" lvl="0" indent="-455930" algn="l">
              <a:lnSpc>
                <a:spcPct val="90000"/>
              </a:lnSpc>
              <a:spcBef>
                <a:spcPts val="995"/>
              </a:spcBef>
              <a:spcAft>
                <a:spcPts val="0"/>
              </a:spcAft>
              <a:buClr>
                <a:schemeClr val="dk1"/>
              </a:buClr>
              <a:buSzPts val="2800"/>
              <a:buChar char="•"/>
              <a:defRPr>
                <a:latin typeface="Outfit"/>
                <a:ea typeface="Outfit"/>
                <a:cs typeface="Outfit"/>
                <a:sym typeface="Outfit"/>
              </a:defRPr>
            </a:lvl1pPr>
            <a:lvl2pPr marL="911860" lvl="1" indent="-379730" algn="l">
              <a:lnSpc>
                <a:spcPct val="90000"/>
              </a:lnSpc>
              <a:spcBef>
                <a:spcPts val="500"/>
              </a:spcBef>
              <a:spcAft>
                <a:spcPts val="0"/>
              </a:spcAft>
              <a:buClr>
                <a:schemeClr val="dk1"/>
              </a:buClr>
              <a:buSzPts val="2400"/>
              <a:buChar char="•"/>
              <a:defRPr>
                <a:latin typeface="Outfit"/>
                <a:ea typeface="Outfit"/>
                <a:cs typeface="Outfit"/>
                <a:sym typeface="Outfit"/>
              </a:defRPr>
            </a:lvl2pPr>
            <a:lvl3pPr marL="1367790" lvl="2" indent="-354965" algn="l">
              <a:lnSpc>
                <a:spcPct val="90000"/>
              </a:lnSpc>
              <a:spcBef>
                <a:spcPts val="500"/>
              </a:spcBef>
              <a:spcAft>
                <a:spcPts val="0"/>
              </a:spcAft>
              <a:buClr>
                <a:schemeClr val="dk1"/>
              </a:buClr>
              <a:buSzPts val="2000"/>
              <a:buChar char="•"/>
              <a:defRPr>
                <a:latin typeface="Outfit"/>
                <a:ea typeface="Outfit"/>
                <a:cs typeface="Outfit"/>
                <a:sym typeface="Outfit"/>
              </a:defRPr>
            </a:lvl3pPr>
            <a:lvl4pPr marL="1824355" lvl="3" indent="-342265" algn="l">
              <a:lnSpc>
                <a:spcPct val="90000"/>
              </a:lnSpc>
              <a:spcBef>
                <a:spcPts val="500"/>
              </a:spcBef>
              <a:spcAft>
                <a:spcPts val="0"/>
              </a:spcAft>
              <a:buClr>
                <a:schemeClr val="dk1"/>
              </a:buClr>
              <a:buSzPts val="1800"/>
              <a:buChar char="•"/>
              <a:defRPr>
                <a:latin typeface="Outfit"/>
                <a:ea typeface="Outfit"/>
                <a:cs typeface="Outfit"/>
                <a:sym typeface="Outfit"/>
              </a:defRPr>
            </a:lvl4pPr>
            <a:lvl5pPr marL="2280285" lvl="4" indent="-342265" algn="l">
              <a:lnSpc>
                <a:spcPct val="90000"/>
              </a:lnSpc>
              <a:spcBef>
                <a:spcPts val="500"/>
              </a:spcBef>
              <a:spcAft>
                <a:spcPts val="0"/>
              </a:spcAft>
              <a:buClr>
                <a:schemeClr val="dk1"/>
              </a:buClr>
              <a:buSzPts val="1800"/>
              <a:buChar char="•"/>
              <a:defRPr>
                <a:latin typeface="Outfit"/>
                <a:ea typeface="Outfit"/>
                <a:cs typeface="Outfit"/>
                <a:sym typeface="Outfit"/>
              </a:defRPr>
            </a:lvl5pPr>
            <a:lvl6pPr marL="2736215" lvl="5" indent="-342265" algn="l">
              <a:lnSpc>
                <a:spcPct val="90000"/>
              </a:lnSpc>
              <a:spcBef>
                <a:spcPts val="500"/>
              </a:spcBef>
              <a:spcAft>
                <a:spcPts val="0"/>
              </a:spcAft>
              <a:buClr>
                <a:schemeClr val="dk1"/>
              </a:buClr>
              <a:buSzPts val="1800"/>
              <a:buChar char="•"/>
              <a:defRPr/>
            </a:lvl6pPr>
            <a:lvl7pPr marL="3192145" lvl="6" indent="-342265" algn="l">
              <a:lnSpc>
                <a:spcPct val="90000"/>
              </a:lnSpc>
              <a:spcBef>
                <a:spcPts val="500"/>
              </a:spcBef>
              <a:spcAft>
                <a:spcPts val="0"/>
              </a:spcAft>
              <a:buClr>
                <a:schemeClr val="dk1"/>
              </a:buClr>
              <a:buSzPts val="1800"/>
              <a:buChar char="•"/>
              <a:defRPr/>
            </a:lvl7pPr>
            <a:lvl8pPr marL="3648075" lvl="7" indent="-342265" algn="l">
              <a:lnSpc>
                <a:spcPct val="90000"/>
              </a:lnSpc>
              <a:spcBef>
                <a:spcPts val="500"/>
              </a:spcBef>
              <a:spcAft>
                <a:spcPts val="0"/>
              </a:spcAft>
              <a:buClr>
                <a:schemeClr val="dk1"/>
              </a:buClr>
              <a:buSzPts val="1800"/>
              <a:buChar char="•"/>
              <a:defRPr/>
            </a:lvl8pPr>
            <a:lvl9pPr marL="4104005" lvl="8" indent="-342265" algn="l">
              <a:lnSpc>
                <a:spcPct val="90000"/>
              </a:lnSpc>
              <a:spcBef>
                <a:spcPts val="500"/>
              </a:spcBef>
              <a:spcAft>
                <a:spcPts val="0"/>
              </a:spcAft>
              <a:buClr>
                <a:schemeClr val="dk1"/>
              </a:buClr>
              <a:buSzPts val="1800"/>
              <a:buChar char="•"/>
              <a:defRPr/>
            </a:lvl9pPr>
          </a:lstStyle>
          <a:p>
            <a:endParaRPr/>
          </a:p>
        </p:txBody>
      </p:sp>
      <p:sp>
        <p:nvSpPr>
          <p:cNvPr id="23" name="Google Shape;23;p3"/>
          <p:cNvSpPr txBox="1">
            <a:spLocks noGrp="1"/>
          </p:cNvSpPr>
          <p:nvPr>
            <p:ph type="title"/>
          </p:nvPr>
        </p:nvSpPr>
        <p:spPr>
          <a:xfrm>
            <a:off x="839074" y="364197"/>
            <a:ext cx="9369097" cy="40908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3600"/>
              <a:buFont typeface="Outfit"/>
              <a:buNone/>
              <a:defRPr sz="359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5917" t="7259" r="4518" b="81037"/>
          <a:stretch>
            <a:fillRect/>
          </a:stretch>
        </p:blipFill>
        <p:spPr bwMode="auto">
          <a:xfrm>
            <a:off x="472119" y="227769"/>
            <a:ext cx="11314720" cy="699255"/>
          </a:xfrm>
          <a:prstGeom prst="roundRect">
            <a:avLst/>
          </a:prstGeom>
          <a:noFill/>
          <a:extLst>
            <a:ext uri="{909E8E84-426E-40DD-AFC4-6F175D3DCCD1}">
              <a14:hiddenFill xmlns:a14="http://schemas.microsoft.com/office/drawing/2010/main">
                <a:solidFill>
                  <a:srgbClr val="FFFFFF"/>
                </a:solidFill>
              </a14:hiddenFill>
            </a:ext>
          </a:extLst>
        </p:spPr>
      </p:pic>
      <p:pic>
        <p:nvPicPr>
          <p:cNvPr id="3" name="Google Shape;64;p14" title="logo mark.png"/>
          <p:cNvPicPr preferRelativeResize="0"/>
          <p:nvPr userDrawn="1"/>
        </p:nvPicPr>
        <p:blipFill>
          <a:blip r:embed="rId3"/>
          <a:stretch>
            <a:fillRect/>
          </a:stretch>
        </p:blipFill>
        <p:spPr>
          <a:xfrm>
            <a:off x="11548124" y="5956823"/>
            <a:ext cx="638621" cy="92411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8" name="Google Shape;54;p13" title="Slide 16_9 - 12.png"/>
          <p:cNvPicPr preferRelativeResize="0"/>
          <p:nvPr userDrawn="1"/>
        </p:nvPicPr>
        <p:blipFill>
          <a:blip r:embed="rId2"/>
          <a:stretch>
            <a:fillRect/>
          </a:stretch>
        </p:blipFill>
        <p:spPr>
          <a:xfrm>
            <a:off x="-198075" y="-111018"/>
            <a:ext cx="12402775" cy="6951556"/>
          </a:xfrm>
          <a:prstGeom prst="rect">
            <a:avLst/>
          </a:prstGeom>
          <a:noFill/>
          <a:ln>
            <a:noFill/>
          </a:ln>
        </p:spPr>
      </p:pic>
      <p:sp>
        <p:nvSpPr>
          <p:cNvPr id="9" name="Title 5"/>
          <p:cNvSpPr>
            <a:spLocks noGrp="1"/>
          </p:cNvSpPr>
          <p:nvPr>
            <p:ph type="title" hasCustomPrompt="1"/>
          </p:nvPr>
        </p:nvSpPr>
        <p:spPr>
          <a:xfrm>
            <a:off x="3974156" y="2830114"/>
            <a:ext cx="4256389" cy="1322187"/>
          </a:xfrm>
        </p:spPr>
        <p:txBody>
          <a:bodyPr/>
          <a:lstStyle>
            <a:lvl1pPr algn="ctr">
              <a:defRPr/>
            </a:lvl1pPr>
          </a:lstStyle>
          <a:p>
            <a:r>
              <a:rPr lang="en-US" b="1">
                <a:latin typeface="Outfit" pitchFamily="2" charset="0"/>
              </a:rPr>
              <a:t>Thank You</a:t>
            </a:r>
            <a:endParaRPr lang="en-IN" b="1">
              <a:latin typeface="Outfit" pitchFamily="2" charset="0"/>
            </a:endParaRPr>
          </a:p>
        </p:txBody>
      </p:sp>
      <p:sp>
        <p:nvSpPr>
          <p:cNvPr id="10" name="Title 5"/>
          <p:cNvSpPr txBox="1"/>
          <p:nvPr userDrawn="1"/>
        </p:nvSpPr>
        <p:spPr>
          <a:xfrm>
            <a:off x="3955411" y="5708452"/>
            <a:ext cx="4256389" cy="1322187"/>
          </a:xfrm>
          <a:prstGeom prst="rect">
            <a:avLst/>
          </a:prstGeom>
        </p:spPr>
        <p:txBody>
          <a:bodyPr vert="horz" lIns="91207" tIns="45604" rIns="91207" bIns="45604" rtlCol="0" anchor="ct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95" b="0">
                <a:latin typeface="Outfit" pitchFamily="2" charset="0"/>
              </a:rPr>
              <a:t>www.qualtechedge.ai</a:t>
            </a:r>
            <a:endParaRPr lang="en-IN" sz="1795" b="0">
              <a:latin typeface="Outfit" pitchFamily="2"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Google Shape;54;p13" title="Slide 16_9 - 12.png"/>
          <p:cNvPicPr preferRelativeResize="0"/>
          <p:nvPr userDrawn="1"/>
        </p:nvPicPr>
        <p:blipFill>
          <a:blip r:embed="rId2"/>
          <a:stretch>
            <a:fillRect/>
          </a:stretch>
        </p:blipFill>
        <p:spPr>
          <a:xfrm>
            <a:off x="-198075" y="-111017"/>
            <a:ext cx="12402775" cy="695155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oogle Shape;64;p14" title="logo mark.png"/>
          <p:cNvPicPr preferRelativeResize="0"/>
          <p:nvPr userDrawn="1"/>
        </p:nvPicPr>
        <p:blipFill>
          <a:blip r:embed="rId2"/>
          <a:stretch>
            <a:fillRect/>
          </a:stretch>
        </p:blipFill>
        <p:spPr>
          <a:xfrm>
            <a:off x="11403160" y="5856464"/>
            <a:ext cx="638621" cy="92411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Google Shape;54;p13" title="Slide 16_9 - 12.png"/>
          <p:cNvPicPr preferRelativeResize="0"/>
          <p:nvPr userDrawn="1"/>
        </p:nvPicPr>
        <p:blipFill>
          <a:blip r:embed="rId2"/>
          <a:stretch>
            <a:fillRect/>
          </a:stretch>
        </p:blipFill>
        <p:spPr>
          <a:xfrm>
            <a:off x="-198075" y="-111017"/>
            <a:ext cx="12402775" cy="6951556"/>
          </a:xfrm>
          <a:prstGeom prst="rect">
            <a:avLst/>
          </a:prstGeom>
          <a:noFill/>
          <a:ln>
            <a:noFill/>
          </a:ln>
        </p:spPr>
      </p:pic>
      <p:pic>
        <p:nvPicPr>
          <p:cNvPr id="8" name="Google Shape;55;p13" title="qualtech.png"/>
          <p:cNvPicPr preferRelativeResize="0"/>
          <p:nvPr userDrawn="1"/>
        </p:nvPicPr>
        <p:blipFill rotWithShape="1">
          <a:blip r:embed="rId3"/>
          <a:srcRect l="-1255" r="-826"/>
          <a:stretch>
            <a:fillRect/>
          </a:stretch>
        </p:blipFill>
        <p:spPr>
          <a:xfrm>
            <a:off x="9594097" y="228019"/>
            <a:ext cx="2030880" cy="896870"/>
          </a:xfrm>
          <a:prstGeom prst="rect">
            <a:avLst/>
          </a:prstGeom>
          <a:noFill/>
          <a:ln>
            <a:noFill/>
          </a:ln>
        </p:spPr>
      </p:pic>
      <p:sp>
        <p:nvSpPr>
          <p:cNvPr id="9" name="Title 5"/>
          <p:cNvSpPr>
            <a:spLocks noGrp="1"/>
          </p:cNvSpPr>
          <p:nvPr>
            <p:ph type="title" hasCustomPrompt="1"/>
          </p:nvPr>
        </p:nvSpPr>
        <p:spPr>
          <a:xfrm>
            <a:off x="3785118" y="2830114"/>
            <a:ext cx="4256389" cy="1322188"/>
          </a:xfrm>
        </p:spPr>
        <p:txBody>
          <a:bodyPr/>
          <a:lstStyle/>
          <a:p>
            <a:r>
              <a:rPr lang="en-US" b="1" dirty="0">
                <a:latin typeface="Outfit" pitchFamily="2" charset="0"/>
              </a:rPr>
              <a:t>Transition Slide</a:t>
            </a:r>
            <a:endParaRPr lang="en-IN" b="1" dirty="0">
              <a:latin typeface="Outfit" pitchFamily="2"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Google Shape;54;p13" title="Slide 16_9 - 12.png"/>
          <p:cNvPicPr preferRelativeResize="0"/>
          <p:nvPr userDrawn="1"/>
        </p:nvPicPr>
        <p:blipFill>
          <a:blip r:embed="rId2"/>
          <a:stretch>
            <a:fillRect/>
          </a:stretch>
        </p:blipFill>
        <p:spPr>
          <a:xfrm>
            <a:off x="-198075" y="-111017"/>
            <a:ext cx="12402775" cy="6951556"/>
          </a:xfrm>
          <a:prstGeom prst="rect">
            <a:avLst/>
          </a:prstGeom>
          <a:noFill/>
          <a:ln>
            <a:noFill/>
          </a:ln>
        </p:spPr>
      </p:pic>
      <p:sp>
        <p:nvSpPr>
          <p:cNvPr id="9" name="Title 5"/>
          <p:cNvSpPr>
            <a:spLocks noGrp="1"/>
          </p:cNvSpPr>
          <p:nvPr>
            <p:ph type="title" hasCustomPrompt="1"/>
          </p:nvPr>
        </p:nvSpPr>
        <p:spPr>
          <a:xfrm>
            <a:off x="3974156" y="2830114"/>
            <a:ext cx="4256389" cy="1322188"/>
          </a:xfrm>
        </p:spPr>
        <p:txBody>
          <a:bodyPr/>
          <a:lstStyle>
            <a:lvl1pPr algn="ctr">
              <a:defRPr/>
            </a:lvl1pPr>
          </a:lstStyle>
          <a:p>
            <a:r>
              <a:rPr lang="en-US" b="1" dirty="0">
                <a:latin typeface="Outfit" pitchFamily="2" charset="0"/>
              </a:rPr>
              <a:t>Thank You</a:t>
            </a:r>
            <a:endParaRPr lang="en-IN" b="1" dirty="0">
              <a:latin typeface="Outfit" pitchFamily="2" charset="0"/>
            </a:endParaRPr>
          </a:p>
        </p:txBody>
      </p:sp>
      <p:sp>
        <p:nvSpPr>
          <p:cNvPr id="10" name="Title 5"/>
          <p:cNvSpPr txBox="1"/>
          <p:nvPr userDrawn="1"/>
        </p:nvSpPr>
        <p:spPr>
          <a:xfrm>
            <a:off x="3955411" y="5708451"/>
            <a:ext cx="4256389" cy="1322188"/>
          </a:xfrm>
          <a:prstGeom prst="rect">
            <a:avLst/>
          </a:prstGeom>
        </p:spPr>
        <p:txBody>
          <a:bodyPr vert="horz" lIns="91207" tIns="45604" rIns="91207" bIns="45604" rtlCol="0" anchor="ct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95" b="0" dirty="0">
                <a:latin typeface="Outfit" pitchFamily="2" charset="0"/>
              </a:rPr>
              <a:t>www.qualtechedge.ai</a:t>
            </a:r>
            <a:endParaRPr lang="en-IN" sz="1795" b="0" dirty="0">
              <a:latin typeface="Outfit" pitchFamily="2" charset="0"/>
            </a:endParaRPr>
          </a:p>
        </p:txBody>
      </p:sp>
      <p:pic>
        <p:nvPicPr>
          <p:cNvPr id="2" name="Google Shape;55;p13" title="qualtech.png"/>
          <p:cNvPicPr preferRelativeResize="0"/>
          <p:nvPr userDrawn="1"/>
        </p:nvPicPr>
        <p:blipFill rotWithShape="1">
          <a:blip r:embed="rId3"/>
          <a:srcRect l="-1255" r="-826"/>
          <a:stretch>
            <a:fillRect/>
          </a:stretch>
        </p:blipFill>
        <p:spPr>
          <a:xfrm>
            <a:off x="9594097" y="228019"/>
            <a:ext cx="2030880" cy="89687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663" y="364198"/>
            <a:ext cx="10526554" cy="1322188"/>
          </a:xfrm>
        </p:spPr>
        <p:txBody>
          <a:bodyPr/>
          <a:lstStyle/>
          <a:p>
            <a:r>
              <a:rPr lang="en-US"/>
              <a:t>Click to edit Master title style</a:t>
            </a:r>
            <a:endParaRPr lang="en-IN"/>
          </a:p>
        </p:txBody>
      </p:sp>
      <p:sp>
        <p:nvSpPr>
          <p:cNvPr id="3" name="Text Placeholder 2"/>
          <p:cNvSpPr>
            <a:spLocks noGrp="1"/>
          </p:cNvSpPr>
          <p:nvPr>
            <p:ph type="body" idx="1"/>
          </p:nvPr>
        </p:nvSpPr>
        <p:spPr>
          <a:xfrm>
            <a:off x="840664" y="1676882"/>
            <a:ext cx="5163160" cy="821814"/>
          </a:xfrm>
        </p:spPr>
        <p:txBody>
          <a:bodyPr anchor="b"/>
          <a:lstStyle>
            <a:lvl1pPr marL="0" indent="0">
              <a:buNone/>
              <a:defRPr sz="2395" b="1"/>
            </a:lvl1pPr>
            <a:lvl2pPr marL="455930" indent="0">
              <a:buNone/>
              <a:defRPr sz="1995" b="1"/>
            </a:lvl2pPr>
            <a:lvl3pPr marL="911860" indent="0">
              <a:buNone/>
              <a:defRPr sz="1795" b="1"/>
            </a:lvl3pPr>
            <a:lvl4pPr marL="1368425"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075" indent="0">
              <a:buNone/>
              <a:defRPr sz="1595" b="1"/>
            </a:lvl9pPr>
          </a:lstStyle>
          <a:p>
            <a:pPr lvl="0"/>
            <a:r>
              <a:rPr lang="en-US"/>
              <a:t>Click to edit Master text styles</a:t>
            </a:r>
          </a:p>
        </p:txBody>
      </p:sp>
      <p:sp>
        <p:nvSpPr>
          <p:cNvPr id="4" name="Content Placeholder 3"/>
          <p:cNvSpPr>
            <a:spLocks noGrp="1"/>
          </p:cNvSpPr>
          <p:nvPr>
            <p:ph sz="half" idx="2"/>
          </p:nvPr>
        </p:nvSpPr>
        <p:spPr>
          <a:xfrm>
            <a:off x="840664" y="2498697"/>
            <a:ext cx="5163160"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8630" y="1676882"/>
            <a:ext cx="5188587" cy="821814"/>
          </a:xfrm>
        </p:spPr>
        <p:txBody>
          <a:bodyPr anchor="b"/>
          <a:lstStyle>
            <a:lvl1pPr marL="0" indent="0">
              <a:buNone/>
              <a:defRPr sz="2395" b="1"/>
            </a:lvl1pPr>
            <a:lvl2pPr marL="455930" indent="0">
              <a:buNone/>
              <a:defRPr sz="1995" b="1"/>
            </a:lvl2pPr>
            <a:lvl3pPr marL="911860" indent="0">
              <a:buNone/>
              <a:defRPr sz="1795" b="1"/>
            </a:lvl3pPr>
            <a:lvl4pPr marL="1368425"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075" indent="0">
              <a:buNone/>
              <a:defRPr sz="1595" b="1"/>
            </a:lvl9pPr>
          </a:lstStyle>
          <a:p>
            <a:pPr lvl="0"/>
            <a:r>
              <a:rPr lang="en-US"/>
              <a:t>Click to edit Master text styles</a:t>
            </a:r>
          </a:p>
        </p:txBody>
      </p:sp>
      <p:sp>
        <p:nvSpPr>
          <p:cNvPr id="6" name="Content Placeholder 5"/>
          <p:cNvSpPr>
            <a:spLocks noGrp="1"/>
          </p:cNvSpPr>
          <p:nvPr>
            <p:ph sz="quarter" idx="4"/>
          </p:nvPr>
        </p:nvSpPr>
        <p:spPr>
          <a:xfrm>
            <a:off x="6178630" y="2498697"/>
            <a:ext cx="5188587"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031CDF-EFFF-4273-BE49-ACE553B4B7A1}"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031CDF-EFFF-4273-BE49-ACE553B4B7A1}"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031CDF-EFFF-4273-BE49-ACE553B4B7A1}"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663" y="456036"/>
            <a:ext cx="3936333" cy="1596126"/>
          </a:xfrm>
        </p:spPr>
        <p:txBody>
          <a:bodyPr anchor="b"/>
          <a:lstStyle>
            <a:lvl1pPr>
              <a:defRPr sz="3190"/>
            </a:lvl1pPr>
          </a:lstStyle>
          <a:p>
            <a:r>
              <a:rPr lang="en-US"/>
              <a:t>Click to edit Master title style</a:t>
            </a:r>
            <a:endParaRPr lang="en-IN"/>
          </a:p>
        </p:txBody>
      </p:sp>
      <p:sp>
        <p:nvSpPr>
          <p:cNvPr id="3" name="Content Placeholder 2"/>
          <p:cNvSpPr>
            <a:spLocks noGrp="1"/>
          </p:cNvSpPr>
          <p:nvPr>
            <p:ph idx="1"/>
          </p:nvPr>
        </p:nvSpPr>
        <p:spPr>
          <a:xfrm>
            <a:off x="5188587" y="984913"/>
            <a:ext cx="6178629" cy="4861216"/>
          </a:xfrm>
        </p:spPr>
        <p:txBody>
          <a:bodyPr/>
          <a:lstStyle>
            <a:lvl1pPr>
              <a:defRPr sz="3190"/>
            </a:lvl1pPr>
            <a:lvl2pPr>
              <a:defRPr sz="2795"/>
            </a:lvl2pPr>
            <a:lvl3pPr>
              <a:defRPr sz="2395"/>
            </a:lvl3pPr>
            <a:lvl4pPr>
              <a:defRPr sz="1995"/>
            </a:lvl4pPr>
            <a:lvl5pPr>
              <a:defRPr sz="1995"/>
            </a:lvl5pPr>
            <a:lvl6pPr>
              <a:defRPr sz="1995"/>
            </a:lvl6pPr>
            <a:lvl7pPr>
              <a:defRPr sz="1995"/>
            </a:lvl7pPr>
            <a:lvl8pPr>
              <a:defRPr sz="1995"/>
            </a:lvl8pPr>
            <a:lvl9pPr>
              <a:defRPr sz="19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663" y="2052161"/>
            <a:ext cx="3936333" cy="3801883"/>
          </a:xfrm>
        </p:spPr>
        <p:txBody>
          <a:bodyPr/>
          <a:lstStyle>
            <a:lvl1pPr marL="0" indent="0">
              <a:buNone/>
              <a:defRPr sz="1595"/>
            </a:lvl1pPr>
            <a:lvl2pPr marL="455930" indent="0">
              <a:buNone/>
              <a:defRPr sz="1395"/>
            </a:lvl2pPr>
            <a:lvl3pPr marL="911860" indent="0">
              <a:buNone/>
              <a:defRPr sz="1195"/>
            </a:lvl3pPr>
            <a:lvl4pPr marL="1368425" indent="0">
              <a:buNone/>
              <a:defRPr sz="1000"/>
            </a:lvl4pPr>
            <a:lvl5pPr marL="1824355" indent="0">
              <a:buNone/>
              <a:defRPr sz="1000"/>
            </a:lvl5pPr>
            <a:lvl6pPr marL="2280285" indent="0">
              <a:buNone/>
              <a:defRPr sz="1000"/>
            </a:lvl6pPr>
            <a:lvl7pPr marL="2736215" indent="0">
              <a:buNone/>
              <a:defRPr sz="1000"/>
            </a:lvl7pPr>
            <a:lvl8pPr marL="3192145" indent="0">
              <a:buNone/>
              <a:defRPr sz="1000"/>
            </a:lvl8pPr>
            <a:lvl9pPr marL="364807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031CDF-EFFF-4273-BE49-ACE553B4B7A1}" type="slidenum">
              <a:rPr lang="en-IN" smtClean="0"/>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663" y="456036"/>
            <a:ext cx="3936333" cy="1596126"/>
          </a:xfrm>
        </p:spPr>
        <p:txBody>
          <a:bodyPr anchor="b"/>
          <a:lstStyle>
            <a:lvl1pPr>
              <a:defRPr sz="3190"/>
            </a:lvl1pPr>
          </a:lstStyle>
          <a:p>
            <a:r>
              <a:rPr lang="en-US"/>
              <a:t>Click to edit Master title style</a:t>
            </a:r>
            <a:endParaRPr lang="en-IN"/>
          </a:p>
        </p:txBody>
      </p:sp>
      <p:sp>
        <p:nvSpPr>
          <p:cNvPr id="3" name="Picture Placeholder 2"/>
          <p:cNvSpPr>
            <a:spLocks noGrp="1"/>
          </p:cNvSpPr>
          <p:nvPr>
            <p:ph type="pic" idx="1"/>
          </p:nvPr>
        </p:nvSpPr>
        <p:spPr>
          <a:xfrm>
            <a:off x="5188587" y="984913"/>
            <a:ext cx="6178629" cy="4861216"/>
          </a:xfrm>
        </p:spPr>
        <p:txBody>
          <a:bodyPr/>
          <a:lstStyle>
            <a:lvl1pPr marL="0" indent="0">
              <a:buNone/>
              <a:defRPr sz="3190"/>
            </a:lvl1pPr>
            <a:lvl2pPr marL="455930" indent="0">
              <a:buNone/>
              <a:defRPr sz="2795"/>
            </a:lvl2pPr>
            <a:lvl3pPr marL="911860" indent="0">
              <a:buNone/>
              <a:defRPr sz="2395"/>
            </a:lvl3pPr>
            <a:lvl4pPr marL="1368425" indent="0">
              <a:buNone/>
              <a:defRPr sz="1995"/>
            </a:lvl4pPr>
            <a:lvl5pPr marL="1824355" indent="0">
              <a:buNone/>
              <a:defRPr sz="1995"/>
            </a:lvl5pPr>
            <a:lvl6pPr marL="2280285" indent="0">
              <a:buNone/>
              <a:defRPr sz="1995"/>
            </a:lvl6pPr>
            <a:lvl7pPr marL="2736215" indent="0">
              <a:buNone/>
              <a:defRPr sz="1995"/>
            </a:lvl7pPr>
            <a:lvl8pPr marL="3192145" indent="0">
              <a:buNone/>
              <a:defRPr sz="1995"/>
            </a:lvl8pPr>
            <a:lvl9pPr marL="3648075" indent="0">
              <a:buNone/>
              <a:defRPr sz="1995"/>
            </a:lvl9pPr>
          </a:lstStyle>
          <a:p>
            <a:endParaRPr lang="en-IN"/>
          </a:p>
        </p:txBody>
      </p:sp>
      <p:sp>
        <p:nvSpPr>
          <p:cNvPr id="4" name="Text Placeholder 3"/>
          <p:cNvSpPr>
            <a:spLocks noGrp="1"/>
          </p:cNvSpPr>
          <p:nvPr>
            <p:ph type="body" sz="half" idx="2"/>
          </p:nvPr>
        </p:nvSpPr>
        <p:spPr>
          <a:xfrm>
            <a:off x="840663" y="2052161"/>
            <a:ext cx="3936333" cy="3801883"/>
          </a:xfrm>
        </p:spPr>
        <p:txBody>
          <a:bodyPr/>
          <a:lstStyle>
            <a:lvl1pPr marL="0" indent="0">
              <a:buNone/>
              <a:defRPr sz="1595"/>
            </a:lvl1pPr>
            <a:lvl2pPr marL="455930" indent="0">
              <a:buNone/>
              <a:defRPr sz="1395"/>
            </a:lvl2pPr>
            <a:lvl3pPr marL="911860" indent="0">
              <a:buNone/>
              <a:defRPr sz="1195"/>
            </a:lvl3pPr>
            <a:lvl4pPr marL="1368425" indent="0">
              <a:buNone/>
              <a:defRPr sz="1000"/>
            </a:lvl4pPr>
            <a:lvl5pPr marL="1824355" indent="0">
              <a:buNone/>
              <a:defRPr sz="1000"/>
            </a:lvl5pPr>
            <a:lvl6pPr marL="2280285" indent="0">
              <a:buNone/>
              <a:defRPr sz="1000"/>
            </a:lvl6pPr>
            <a:lvl7pPr marL="2736215" indent="0">
              <a:buNone/>
              <a:defRPr sz="1000"/>
            </a:lvl7pPr>
            <a:lvl8pPr marL="3192145" indent="0">
              <a:buNone/>
              <a:defRPr sz="1000"/>
            </a:lvl8pPr>
            <a:lvl9pPr marL="364807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031CDF-EFFF-4273-BE49-ACE553B4B7A1}" type="slidenum">
              <a:rPr lang="en-IN" smtClean="0"/>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031CDF-EFFF-4273-BE49-ACE553B4B7A1}" type="slidenum">
              <a:rPr lang="en-IN" smtClean="0"/>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3990" y="364195"/>
            <a:ext cx="2631638" cy="579704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9074" y="364195"/>
            <a:ext cx="7742357" cy="57970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031CDF-EFFF-4273-BE49-ACE553B4B7A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9073" y="364196"/>
            <a:ext cx="10526554" cy="13221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9073" y="1820976"/>
            <a:ext cx="10526554" cy="43402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9073" y="6340166"/>
            <a:ext cx="2746058" cy="364195"/>
          </a:xfrm>
          <a:prstGeom prst="rect">
            <a:avLst/>
          </a:prstGeom>
        </p:spPr>
        <p:txBody>
          <a:bodyPr vert="horz" lIns="91440" tIns="45720" rIns="91440" bIns="45720" rtlCol="0" anchor="ctr"/>
          <a:lstStyle>
            <a:lvl1pPr algn="l">
              <a:defRPr sz="1195">
                <a:solidFill>
                  <a:schemeClr val="tx1">
                    <a:tint val="75000"/>
                  </a:schemeClr>
                </a:solidFill>
                <a:latin typeface="Outfit" pitchFamily="2" charset="0"/>
              </a:defRPr>
            </a:lvl1pPr>
          </a:lstStyle>
          <a:p>
            <a:endParaRPr lang="en-IN"/>
          </a:p>
        </p:txBody>
      </p:sp>
      <p:sp>
        <p:nvSpPr>
          <p:cNvPr id="5" name="Footer Placeholder 4"/>
          <p:cNvSpPr>
            <a:spLocks noGrp="1"/>
          </p:cNvSpPr>
          <p:nvPr>
            <p:ph type="ftr" sz="quarter" idx="3"/>
          </p:nvPr>
        </p:nvSpPr>
        <p:spPr>
          <a:xfrm>
            <a:off x="7246541" y="6340165"/>
            <a:ext cx="4119086" cy="364195"/>
          </a:xfrm>
          <a:prstGeom prst="rect">
            <a:avLst/>
          </a:prstGeom>
        </p:spPr>
        <p:txBody>
          <a:bodyPr vert="horz" lIns="91440" tIns="45720" rIns="91440" bIns="45720" rtlCol="0" anchor="ctr"/>
          <a:lstStyle>
            <a:lvl1pPr algn="ctr">
              <a:defRPr sz="1195">
                <a:solidFill>
                  <a:schemeClr val="tx1">
                    <a:tint val="75000"/>
                  </a:schemeClr>
                </a:solidFill>
                <a:latin typeface="Outfit" pitchFamily="2" charset="0"/>
              </a:defRPr>
            </a:lvl1pPr>
          </a:lstStyle>
          <a:p>
            <a:endParaRPr lang="en-IN" dirty="0"/>
          </a:p>
        </p:txBody>
      </p:sp>
      <p:sp>
        <p:nvSpPr>
          <p:cNvPr id="6" name="Slide Number Placeholder 5"/>
          <p:cNvSpPr>
            <a:spLocks noGrp="1"/>
          </p:cNvSpPr>
          <p:nvPr>
            <p:ph type="sldNum" sz="quarter" idx="4"/>
          </p:nvPr>
        </p:nvSpPr>
        <p:spPr>
          <a:xfrm>
            <a:off x="4042807" y="6340165"/>
            <a:ext cx="2746058" cy="364195"/>
          </a:xfrm>
          <a:prstGeom prst="rect">
            <a:avLst/>
          </a:prstGeom>
        </p:spPr>
        <p:txBody>
          <a:bodyPr vert="horz" lIns="91440" tIns="45720" rIns="91440" bIns="45720" rtlCol="0" anchor="ctr"/>
          <a:lstStyle>
            <a:lvl1pPr algn="r">
              <a:defRPr sz="1195">
                <a:solidFill>
                  <a:schemeClr val="tx1">
                    <a:tint val="75000"/>
                  </a:schemeClr>
                </a:solidFill>
                <a:latin typeface="Outfit" pitchFamily="2" charset="0"/>
              </a:defRPr>
            </a:lvl1pPr>
          </a:lstStyle>
          <a:p>
            <a:fld id="{00000000-1234-1234-1234-123412341234}"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1860" rtl="0" eaLnBrk="1" latinLnBrk="0" hangingPunct="1">
        <a:lnSpc>
          <a:spcPct val="90000"/>
        </a:lnSpc>
        <a:spcBef>
          <a:spcPct val="0"/>
        </a:spcBef>
        <a:buNone/>
        <a:defRPr sz="4390" kern="1200">
          <a:solidFill>
            <a:schemeClr val="tx1"/>
          </a:solidFill>
          <a:latin typeface="Outfit" pitchFamily="2" charset="0"/>
          <a:ea typeface="+mj-ea"/>
          <a:cs typeface="+mj-cs"/>
        </a:defRPr>
      </a:lvl1pPr>
    </p:titleStyle>
    <p:bodyStyle>
      <a:lvl1pPr marL="227965" indent="-227965" algn="l" defTabSz="911860" rtl="0" eaLnBrk="1" latinLnBrk="0" hangingPunct="1">
        <a:lnSpc>
          <a:spcPct val="90000"/>
        </a:lnSpc>
        <a:spcBef>
          <a:spcPts val="1000"/>
        </a:spcBef>
        <a:buFont typeface="Arial" panose="020B0604020202090204" pitchFamily="34" charset="0"/>
        <a:buChar char="•"/>
        <a:defRPr sz="2795" kern="1200">
          <a:solidFill>
            <a:schemeClr val="tx1"/>
          </a:solidFill>
          <a:latin typeface="Outfit" pitchFamily="2" charset="0"/>
          <a:ea typeface="+mn-ea"/>
          <a:cs typeface="+mn-cs"/>
        </a:defRPr>
      </a:lvl1pPr>
      <a:lvl2pPr marL="683895" indent="-227965" algn="l" defTabSz="911860" rtl="0" eaLnBrk="1" latinLnBrk="0" hangingPunct="1">
        <a:lnSpc>
          <a:spcPct val="90000"/>
        </a:lnSpc>
        <a:spcBef>
          <a:spcPts val="500"/>
        </a:spcBef>
        <a:buFont typeface="Arial" panose="020B0604020202090204" pitchFamily="34" charset="0"/>
        <a:buChar char="•"/>
        <a:defRPr sz="2395" kern="1200">
          <a:solidFill>
            <a:schemeClr val="tx1"/>
          </a:solidFill>
          <a:latin typeface="Outfit" pitchFamily="2" charset="0"/>
          <a:ea typeface="+mn-ea"/>
          <a:cs typeface="+mn-cs"/>
        </a:defRPr>
      </a:lvl2pPr>
      <a:lvl3pPr marL="1140460" indent="-227965" algn="l" defTabSz="911860" rtl="0" eaLnBrk="1" latinLnBrk="0" hangingPunct="1">
        <a:lnSpc>
          <a:spcPct val="90000"/>
        </a:lnSpc>
        <a:spcBef>
          <a:spcPts val="500"/>
        </a:spcBef>
        <a:buFont typeface="Arial" panose="020B0604020202090204" pitchFamily="34" charset="0"/>
        <a:buChar char="•"/>
        <a:defRPr sz="1995" kern="1200">
          <a:solidFill>
            <a:schemeClr val="tx1"/>
          </a:solidFill>
          <a:latin typeface="Outfit" pitchFamily="2" charset="0"/>
          <a:ea typeface="+mn-ea"/>
          <a:cs typeface="+mn-cs"/>
        </a:defRPr>
      </a:lvl3pPr>
      <a:lvl4pPr marL="159639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Outfit" pitchFamily="2" charset="0"/>
          <a:ea typeface="+mn-ea"/>
          <a:cs typeface="+mn-cs"/>
        </a:defRPr>
      </a:lvl4pPr>
      <a:lvl5pPr marL="205232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Outfit" pitchFamily="2" charset="0"/>
          <a:ea typeface="+mn-ea"/>
          <a:cs typeface="+mn-cs"/>
        </a:defRPr>
      </a:lvl5pPr>
      <a:lvl6pPr marL="250825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7pPr>
      <a:lvl8pPr marL="3420745"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8pPr>
      <a:lvl9pPr marL="3876675"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9pPr>
    </p:bodyStyle>
    <p:otherStyle>
      <a:defPPr>
        <a:defRPr lang="en-US"/>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8425"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710" algn="l" defTabSz="911860" rtl="0" eaLnBrk="1" latinLnBrk="0" hangingPunct="1">
        <a:defRPr sz="179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9073" y="364198"/>
            <a:ext cx="10526554" cy="1322188"/>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9073" y="1820976"/>
            <a:ext cx="10526554" cy="43402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9073" y="6340168"/>
            <a:ext cx="2746058" cy="364195"/>
          </a:xfrm>
          <a:prstGeom prst="rect">
            <a:avLst/>
          </a:prstGeom>
        </p:spPr>
        <p:txBody>
          <a:bodyPr vert="horz" lIns="91440" tIns="45720" rIns="91440" bIns="45720" rtlCol="0" anchor="ctr"/>
          <a:lstStyle>
            <a:lvl1pPr algn="l">
              <a:defRPr sz="1195">
                <a:solidFill>
                  <a:schemeClr val="tx1">
                    <a:tint val="82000"/>
                  </a:schemeClr>
                </a:solidFill>
                <a:latin typeface="+mj-lt"/>
              </a:defRPr>
            </a:lvl1pPr>
          </a:lstStyle>
          <a:p>
            <a:endParaRPr lang="en-IN"/>
          </a:p>
        </p:txBody>
      </p:sp>
      <p:sp>
        <p:nvSpPr>
          <p:cNvPr id="5" name="Footer Placeholder 4"/>
          <p:cNvSpPr>
            <a:spLocks noGrp="1"/>
          </p:cNvSpPr>
          <p:nvPr>
            <p:ph type="ftr" sz="quarter" idx="3"/>
          </p:nvPr>
        </p:nvSpPr>
        <p:spPr>
          <a:xfrm>
            <a:off x="4042807" y="6340168"/>
            <a:ext cx="4119086" cy="364195"/>
          </a:xfrm>
          <a:prstGeom prst="rect">
            <a:avLst/>
          </a:prstGeom>
        </p:spPr>
        <p:txBody>
          <a:bodyPr vert="horz" lIns="91440" tIns="45720" rIns="91440" bIns="45720" rtlCol="0" anchor="ctr"/>
          <a:lstStyle>
            <a:lvl1pPr algn="ctr">
              <a:defRPr sz="1195">
                <a:solidFill>
                  <a:schemeClr val="tx1">
                    <a:tint val="82000"/>
                  </a:schemeClr>
                </a:solidFill>
                <a:latin typeface="+mj-lt"/>
              </a:defRPr>
            </a:lvl1pPr>
          </a:lstStyle>
          <a:p>
            <a:endParaRPr lang="en-IN"/>
          </a:p>
        </p:txBody>
      </p:sp>
      <p:sp>
        <p:nvSpPr>
          <p:cNvPr id="6" name="Slide Number Placeholder 5"/>
          <p:cNvSpPr>
            <a:spLocks noGrp="1"/>
          </p:cNvSpPr>
          <p:nvPr>
            <p:ph type="sldNum" sz="quarter" idx="4"/>
          </p:nvPr>
        </p:nvSpPr>
        <p:spPr>
          <a:xfrm>
            <a:off x="8619569" y="6340168"/>
            <a:ext cx="2746058" cy="364195"/>
          </a:xfrm>
          <a:prstGeom prst="rect">
            <a:avLst/>
          </a:prstGeom>
        </p:spPr>
        <p:txBody>
          <a:bodyPr vert="horz" lIns="91440" tIns="45720" rIns="91440" bIns="45720" rtlCol="0" anchor="ctr"/>
          <a:lstStyle>
            <a:lvl1pPr algn="r">
              <a:defRPr sz="1195">
                <a:solidFill>
                  <a:schemeClr val="tx1">
                    <a:tint val="82000"/>
                  </a:schemeClr>
                </a:solidFill>
                <a:latin typeface="+mj-lt"/>
              </a:defRPr>
            </a:lvl1pPr>
          </a:lstStyle>
          <a:p>
            <a:fld id="{9C031CDF-EFFF-4273-BE49-ACE553B4B7A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1000"/>
        </a:spcBef>
        <a:buFont typeface="Arial" panose="020B0604020202090204" pitchFamily="34" charset="0"/>
        <a:buChar char="•"/>
        <a:defRPr sz="2795" kern="1200">
          <a:solidFill>
            <a:schemeClr val="tx1"/>
          </a:solidFill>
          <a:latin typeface="+mj-lt"/>
          <a:ea typeface="+mn-ea"/>
          <a:cs typeface="+mn-cs"/>
        </a:defRPr>
      </a:lvl1pPr>
      <a:lvl2pPr marL="683895" indent="-227965" algn="l" defTabSz="911860" rtl="0" eaLnBrk="1" latinLnBrk="0" hangingPunct="1">
        <a:lnSpc>
          <a:spcPct val="90000"/>
        </a:lnSpc>
        <a:spcBef>
          <a:spcPts val="500"/>
        </a:spcBef>
        <a:buFont typeface="Arial" panose="020B0604020202090204" pitchFamily="34" charset="0"/>
        <a:buChar char="•"/>
        <a:defRPr sz="2395" kern="1200">
          <a:solidFill>
            <a:schemeClr val="tx1"/>
          </a:solidFill>
          <a:latin typeface="+mj-lt"/>
          <a:ea typeface="+mn-ea"/>
          <a:cs typeface="+mn-cs"/>
        </a:defRPr>
      </a:lvl2pPr>
      <a:lvl3pPr marL="1139825" indent="-227965" algn="l" defTabSz="911860" rtl="0" eaLnBrk="1" latinLnBrk="0" hangingPunct="1">
        <a:lnSpc>
          <a:spcPct val="90000"/>
        </a:lnSpc>
        <a:spcBef>
          <a:spcPts val="500"/>
        </a:spcBef>
        <a:buFont typeface="Arial" panose="020B0604020202090204" pitchFamily="34" charset="0"/>
        <a:buChar char="•"/>
        <a:defRPr sz="1995" kern="1200">
          <a:solidFill>
            <a:schemeClr val="tx1"/>
          </a:solidFill>
          <a:latin typeface="+mj-lt"/>
          <a:ea typeface="+mn-ea"/>
          <a:cs typeface="+mn-cs"/>
        </a:defRPr>
      </a:lvl3pPr>
      <a:lvl4pPr marL="159639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j-lt"/>
          <a:ea typeface="+mn-ea"/>
          <a:cs typeface="+mn-cs"/>
        </a:defRPr>
      </a:lvl4pPr>
      <a:lvl5pPr marL="205232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j-lt"/>
          <a:ea typeface="+mn-ea"/>
          <a:cs typeface="+mn-cs"/>
        </a:defRPr>
      </a:lvl5pPr>
      <a:lvl6pPr marL="250825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7pPr>
      <a:lvl8pPr marL="342011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8pPr>
      <a:lvl9pPr marL="3876675"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9pPr>
    </p:bodyStyle>
    <p:otherStyle>
      <a:defPPr>
        <a:defRPr lang="en-US"/>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8425"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075" algn="l" defTabSz="911860"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2.png"/><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4.png"/><Relationship Id="rId7" Type="http://schemas.openxmlformats.org/officeDocument/2006/relationships/image" Target="../media/image21.png"/><Relationship Id="rId12"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32.png"/><Relationship Id="rId11" Type="http://schemas.openxmlformats.org/officeDocument/2006/relationships/image" Target="../media/image15.png"/><Relationship Id="rId5" Type="http://schemas.openxmlformats.org/officeDocument/2006/relationships/image" Target="../media/image19.png"/><Relationship Id="rId10" Type="http://schemas.openxmlformats.org/officeDocument/2006/relationships/image" Target="../media/image35.png"/><Relationship Id="rId4" Type="http://schemas.openxmlformats.org/officeDocument/2006/relationships/image" Target="../media/image26.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5.png"/><Relationship Id="rId18" Type="http://schemas.openxmlformats.org/officeDocument/2006/relationships/image" Target="../media/image16.png"/><Relationship Id="rId3" Type="http://schemas.openxmlformats.org/officeDocument/2006/relationships/image" Target="../media/image32.png"/><Relationship Id="rId7" Type="http://schemas.openxmlformats.org/officeDocument/2006/relationships/image" Target="../media/image41.png"/><Relationship Id="rId12" Type="http://schemas.openxmlformats.org/officeDocument/2006/relationships/image" Target="../media/image34.png"/><Relationship Id="rId17" Type="http://schemas.openxmlformats.org/officeDocument/2006/relationships/image" Target="../media/image49.png"/><Relationship Id="rId2" Type="http://schemas.openxmlformats.org/officeDocument/2006/relationships/image" Target="../media/image37.png"/><Relationship Id="rId16" Type="http://schemas.openxmlformats.org/officeDocument/2006/relationships/image" Target="../media/image48.png"/><Relationship Id="rId1" Type="http://schemas.openxmlformats.org/officeDocument/2006/relationships/slideLayout" Target="../slideLayouts/slideLayout13.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image" Target="../media/image39.png"/><Relationship Id="rId15" Type="http://schemas.openxmlformats.org/officeDocument/2006/relationships/image" Target="../media/image47.png"/><Relationship Id="rId10" Type="http://schemas.openxmlformats.org/officeDocument/2006/relationships/image" Target="../media/image25.png"/><Relationship Id="rId19" Type="http://schemas.openxmlformats.org/officeDocument/2006/relationships/image" Target="../media/image50.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51.png"/><Relationship Id="rId18" Type="http://schemas.openxmlformats.org/officeDocument/2006/relationships/image" Target="../media/image27.png"/><Relationship Id="rId3" Type="http://schemas.openxmlformats.org/officeDocument/2006/relationships/image" Target="../media/image13.png"/><Relationship Id="rId21" Type="http://schemas.openxmlformats.org/officeDocument/2006/relationships/image" Target="../media/image30.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52.png"/><Relationship Id="rId2" Type="http://schemas.openxmlformats.org/officeDocument/2006/relationships/image" Target="../media/image12.png"/><Relationship Id="rId16" Type="http://schemas.openxmlformats.org/officeDocument/2006/relationships/image" Target="../media/image36.png"/><Relationship Id="rId20" Type="http://schemas.openxmlformats.org/officeDocument/2006/relationships/image" Target="../media/image29.png"/><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54.png"/><Relationship Id="rId10" Type="http://schemas.openxmlformats.org/officeDocument/2006/relationships/image" Target="../media/image20.png"/><Relationship Id="rId19"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3.png"/><Relationship Id="rId22" Type="http://schemas.openxmlformats.org/officeDocument/2006/relationships/image" Target="../media/image53.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51.png"/><Relationship Id="rId18" Type="http://schemas.openxmlformats.org/officeDocument/2006/relationships/image" Target="../media/image29.png"/><Relationship Id="rId3" Type="http://schemas.openxmlformats.org/officeDocument/2006/relationships/image" Target="../media/image13.png"/><Relationship Id="rId21" Type="http://schemas.openxmlformats.org/officeDocument/2006/relationships/image" Target="../media/image54.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52.png"/><Relationship Id="rId2" Type="http://schemas.openxmlformats.org/officeDocument/2006/relationships/image" Target="../media/image12.png"/><Relationship Id="rId16" Type="http://schemas.openxmlformats.org/officeDocument/2006/relationships/image" Target="../media/image36.png"/><Relationship Id="rId20" Type="http://schemas.openxmlformats.org/officeDocument/2006/relationships/image" Target="../media/image53.png"/><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3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53.png"/><Relationship Id="rId18" Type="http://schemas.openxmlformats.org/officeDocument/2006/relationships/image" Target="../media/image16.png"/><Relationship Id="rId3" Type="http://schemas.openxmlformats.org/officeDocument/2006/relationships/image" Target="../media/image13.png"/><Relationship Id="rId21"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9.png"/><Relationship Id="rId17" Type="http://schemas.openxmlformats.org/officeDocument/2006/relationships/image" Target="../media/image15.png"/><Relationship Id="rId2" Type="http://schemas.openxmlformats.org/officeDocument/2006/relationships/image" Target="../media/image12.png"/><Relationship Id="rId16" Type="http://schemas.openxmlformats.org/officeDocument/2006/relationships/image" Target="../media/image27.png"/><Relationship Id="rId20"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51.png"/><Relationship Id="rId11" Type="http://schemas.openxmlformats.org/officeDocument/2006/relationships/image" Target="../media/image55.png"/><Relationship Id="rId5" Type="http://schemas.openxmlformats.org/officeDocument/2006/relationships/image" Target="../media/image24.png"/><Relationship Id="rId15" Type="http://schemas.openxmlformats.org/officeDocument/2006/relationships/image" Target="../media/image21.png"/><Relationship Id="rId10" Type="http://schemas.openxmlformats.org/officeDocument/2006/relationships/image" Target="../media/image52.png"/><Relationship Id="rId19"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25.png"/><Relationship Id="rId14" Type="http://schemas.openxmlformats.org/officeDocument/2006/relationships/image" Target="../media/image54.pn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60.png"/><Relationship Id="rId18" Type="http://schemas.openxmlformats.org/officeDocument/2006/relationships/image" Target="../media/image62.png"/><Relationship Id="rId3" Type="http://schemas.openxmlformats.org/officeDocument/2006/relationships/image" Target="../media/image22.png"/><Relationship Id="rId21" Type="http://schemas.openxmlformats.org/officeDocument/2006/relationships/image" Target="../media/image64.png"/><Relationship Id="rId7" Type="http://schemas.openxmlformats.org/officeDocument/2006/relationships/image" Target="../media/image59.png"/><Relationship Id="rId12" Type="http://schemas.openxmlformats.org/officeDocument/2006/relationships/image" Target="../media/image54.png"/><Relationship Id="rId17" Type="http://schemas.openxmlformats.org/officeDocument/2006/relationships/image" Target="../media/image16.png"/><Relationship Id="rId2" Type="http://schemas.openxmlformats.org/officeDocument/2006/relationships/image" Target="../media/image56.png"/><Relationship Id="rId16" Type="http://schemas.openxmlformats.org/officeDocument/2006/relationships/image" Target="../media/image23.png"/><Relationship Id="rId20"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58.png"/><Relationship Id="rId11" Type="http://schemas.openxmlformats.org/officeDocument/2006/relationships/image" Target="../media/image53.png"/><Relationship Id="rId5" Type="http://schemas.openxmlformats.org/officeDocument/2006/relationships/image" Target="../media/image25.png"/><Relationship Id="rId15" Type="http://schemas.openxmlformats.org/officeDocument/2006/relationships/image" Target="../media/image61.png"/><Relationship Id="rId23" Type="http://schemas.openxmlformats.org/officeDocument/2006/relationships/image" Target="../media/image65.png"/><Relationship Id="rId10" Type="http://schemas.openxmlformats.org/officeDocument/2006/relationships/image" Target="../media/image29.png"/><Relationship Id="rId19"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33.png"/><Relationship Id="rId14" Type="http://schemas.openxmlformats.org/officeDocument/2006/relationships/image" Target="../media/image52.png"/><Relationship Id="rId2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6.png"/><Relationship Id="rId7" Type="http://schemas.openxmlformats.org/officeDocument/2006/relationships/image" Target="../media/image69.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68.png"/><Relationship Id="rId5" Type="http://schemas.microsoft.com/office/2007/relationships/hdphoto" Target="../media/hdphoto1.wdp"/><Relationship Id="rId10" Type="http://schemas.openxmlformats.org/officeDocument/2006/relationships/image" Target="../media/image72.png"/><Relationship Id="rId4" Type="http://schemas.openxmlformats.org/officeDocument/2006/relationships/image" Target="../media/image67.png"/><Relationship Id="rId9" Type="http://schemas.openxmlformats.org/officeDocument/2006/relationships/image" Target="../media/image71.png"/></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4175" y="2712383"/>
            <a:ext cx="7205366" cy="707886"/>
          </a:xfrm>
          <a:prstGeom prst="rect">
            <a:avLst/>
          </a:prstGeom>
          <a:noFill/>
        </p:spPr>
        <p:txBody>
          <a:bodyPr wrap="square" rtlCol="0">
            <a:spAutoFit/>
          </a:bodyPr>
          <a:lstStyle/>
          <a:p>
            <a:pPr algn="ctr" defTabSz="911860">
              <a:buClrTx/>
            </a:pPr>
            <a:r>
              <a:rPr lang="en-US" sz="4000" b="1" kern="1200" dirty="0">
                <a:solidFill>
                  <a:srgbClr val="002060"/>
                </a:solidFill>
                <a:latin typeface="+mn-lt"/>
                <a:ea typeface="+mn-ea"/>
                <a:cs typeface="+mn-cs"/>
              </a:rPr>
              <a:t>Proposal for Claims Portal</a:t>
            </a:r>
            <a:endParaRPr lang="en-IN" sz="4000" b="1" kern="1200" dirty="0">
              <a:solidFill>
                <a:srgbClr val="002060"/>
              </a:solidFill>
              <a:latin typeface="+mn-lt"/>
              <a:ea typeface="+mn-ea"/>
              <a:cs typeface="+mn-cs"/>
            </a:endParaRPr>
          </a:p>
        </p:txBody>
      </p:sp>
      <p:sp>
        <p:nvSpPr>
          <p:cNvPr id="3" name="TextBox 2"/>
          <p:cNvSpPr txBox="1"/>
          <p:nvPr/>
        </p:nvSpPr>
        <p:spPr>
          <a:xfrm>
            <a:off x="5232082" y="3420269"/>
            <a:ext cx="1949553" cy="368562"/>
          </a:xfrm>
          <a:prstGeom prst="rect">
            <a:avLst/>
          </a:prstGeom>
          <a:noFill/>
        </p:spPr>
        <p:txBody>
          <a:bodyPr wrap="square" rtlCol="0">
            <a:spAutoFit/>
          </a:bodyPr>
          <a:lstStyle/>
          <a:p>
            <a:pPr algn="ctr" defTabSz="911860">
              <a:buClrTx/>
            </a:pPr>
            <a:r>
              <a:rPr lang="en-US" sz="1795" kern="1200" dirty="0">
                <a:solidFill>
                  <a:prstClr val="black"/>
                </a:solidFill>
                <a:latin typeface="+mn-lt"/>
                <a:ea typeface="+mn-ea"/>
                <a:cs typeface="+mn-cs"/>
              </a:rPr>
              <a:t>Sep 2026</a:t>
            </a:r>
            <a:endParaRPr lang="en-IN" sz="1795" kern="1200" dirty="0">
              <a:solidFill>
                <a:prstClr val="black"/>
              </a:solidFill>
              <a:latin typeface="+mn-lt"/>
              <a:ea typeface="+mn-ea"/>
              <a:cs typeface="+mn-cs"/>
            </a:endParaRPr>
          </a:p>
        </p:txBody>
      </p:sp>
      <p:pic>
        <p:nvPicPr>
          <p:cNvPr id="6" name="Google Shape;55;p13" title="qualtech.png"/>
          <p:cNvPicPr preferRelativeResize="0">
            <a:picLocks noChangeAspect="1"/>
          </p:cNvPicPr>
          <p:nvPr/>
        </p:nvPicPr>
        <p:blipFill rotWithShape="1">
          <a:blip r:embed="rId2"/>
          <a:srcRect l="-1255" r="-826"/>
          <a:stretch>
            <a:fillRect/>
          </a:stretch>
        </p:blipFill>
        <p:spPr>
          <a:xfrm>
            <a:off x="463413" y="5714848"/>
            <a:ext cx="1822587" cy="814953"/>
          </a:xfrm>
          <a:prstGeom prst="rect">
            <a:avLst/>
          </a:prstGeom>
          <a:noFill/>
          <a:ln>
            <a:noFill/>
          </a:ln>
        </p:spPr>
      </p:pic>
      <p:pic>
        <p:nvPicPr>
          <p:cNvPr id="4" name="Picture 3"/>
          <p:cNvPicPr>
            <a:picLocks noChangeAspect="1"/>
          </p:cNvPicPr>
          <p:nvPr/>
        </p:nvPicPr>
        <p:blipFill rotWithShape="1">
          <a:blip r:embed="rId3"/>
          <a:srcRect b="13928"/>
          <a:stretch>
            <a:fillRect/>
          </a:stretch>
        </p:blipFill>
        <p:spPr>
          <a:xfrm>
            <a:off x="2506618" y="5874569"/>
            <a:ext cx="760971" cy="5807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4" name="Google Shape;161;p28"/>
          <p:cNvSpPr txBox="1">
            <a:spLocks noGrp="1"/>
          </p:cNvSpPr>
          <p:nvPr>
            <p:ph type="title"/>
          </p:nvPr>
        </p:nvSpPr>
        <p:spPr>
          <a:xfrm>
            <a:off x="488260" y="300246"/>
            <a:ext cx="11228183" cy="583174"/>
          </a:xfrm>
          <a:prstGeom prst="rect">
            <a:avLst/>
          </a:prstGeom>
          <a:noFill/>
          <a:ln>
            <a:noFill/>
          </a:ln>
        </p:spPr>
        <p:txBody>
          <a:bodyPr spcFirstLastPara="1" vert="horz" wrap="square" lIns="91193" tIns="45584" rIns="91193" bIns="45584" rtlCol="0" anchor="ctr" anchorCtr="0">
            <a:noAutofit/>
          </a:bodyPr>
          <a:lstStyle/>
          <a:p>
            <a:pPr>
              <a:lnSpc>
                <a:spcPct val="100000"/>
              </a:lnSpc>
              <a:buClr>
                <a:srgbClr val="000000"/>
              </a:buClr>
              <a:buFont typeface="Arial" panose="020B0604020202090204"/>
            </a:pPr>
            <a:r>
              <a:rPr lang="en-US" sz="3190" b="1" dirty="0">
                <a:solidFill>
                  <a:srgbClr val="000000"/>
                </a:solidFill>
                <a:cs typeface="Arial" panose="020B0604020202090204"/>
                <a:sym typeface="Arial" panose="020B0604020202090204"/>
              </a:rPr>
              <a:t>Contents</a:t>
            </a:r>
            <a:endParaRPr sz="3190" b="1" dirty="0">
              <a:solidFill>
                <a:srgbClr val="000000"/>
              </a:solidFill>
              <a:cs typeface="Arial" panose="020B0604020202090204"/>
              <a:sym typeface="Arial" panose="020B0604020202090204"/>
            </a:endParaRPr>
          </a:p>
        </p:txBody>
      </p:sp>
      <p:pic>
        <p:nvPicPr>
          <p:cNvPr id="156" name="Picture 155"/>
          <p:cNvPicPr>
            <a:picLocks noChangeAspect="1"/>
          </p:cNvPicPr>
          <p:nvPr/>
        </p:nvPicPr>
        <p:blipFill>
          <a:blip r:embed="rId3"/>
          <a:stretch>
            <a:fillRect/>
          </a:stretch>
        </p:blipFill>
        <p:spPr>
          <a:xfrm rot="16200000" flipH="1" flipV="1">
            <a:off x="6153075" y="5097015"/>
            <a:ext cx="2803147" cy="166527"/>
          </a:xfrm>
          <a:prstGeom prst="rect">
            <a:avLst/>
          </a:prstGeom>
        </p:spPr>
      </p:pic>
      <p:pic>
        <p:nvPicPr>
          <p:cNvPr id="157" name="Picture 156"/>
          <p:cNvPicPr>
            <a:picLocks noChangeAspect="1"/>
          </p:cNvPicPr>
          <p:nvPr/>
        </p:nvPicPr>
        <p:blipFill>
          <a:blip r:embed="rId3"/>
          <a:stretch>
            <a:fillRect/>
          </a:stretch>
        </p:blipFill>
        <p:spPr>
          <a:xfrm rot="16200000" flipH="1" flipV="1">
            <a:off x="8994332" y="5110880"/>
            <a:ext cx="2803170" cy="166529"/>
          </a:xfrm>
          <a:prstGeom prst="rect">
            <a:avLst/>
          </a:prstGeom>
        </p:spPr>
      </p:pic>
      <p:pic>
        <p:nvPicPr>
          <p:cNvPr id="154" name="Picture 153"/>
          <p:cNvPicPr>
            <a:picLocks noChangeAspect="1"/>
          </p:cNvPicPr>
          <p:nvPr/>
        </p:nvPicPr>
        <p:blipFill>
          <a:blip r:embed="rId3"/>
          <a:stretch>
            <a:fillRect/>
          </a:stretch>
        </p:blipFill>
        <p:spPr>
          <a:xfrm rot="16200000" flipH="1" flipV="1">
            <a:off x="4691181" y="2342551"/>
            <a:ext cx="2494308" cy="148180"/>
          </a:xfrm>
          <a:prstGeom prst="rect">
            <a:avLst/>
          </a:prstGeom>
        </p:spPr>
      </p:pic>
      <p:grpSp>
        <p:nvGrpSpPr>
          <p:cNvPr id="14" name="Group 13"/>
          <p:cNvGrpSpPr/>
          <p:nvPr/>
        </p:nvGrpSpPr>
        <p:grpSpPr>
          <a:xfrm>
            <a:off x="1945892" y="1235245"/>
            <a:ext cx="3789889" cy="1952414"/>
            <a:chOff x="2654167" y="1401500"/>
            <a:chExt cx="2985838" cy="1952414"/>
          </a:xfrm>
        </p:grpSpPr>
        <p:sp>
          <p:nvSpPr>
            <p:cNvPr id="163" name="Title 1"/>
            <p:cNvSpPr txBox="1"/>
            <p:nvPr/>
          </p:nvSpPr>
          <p:spPr>
            <a:xfrm>
              <a:off x="3153482" y="1401500"/>
              <a:ext cx="1306421" cy="656426"/>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6600" b="1" i="0" u="none" strike="noStrike" kern="1200" cap="none" spc="80" normalizeH="0" baseline="0" noProof="0" dirty="0">
                  <a:ln>
                    <a:noFill/>
                  </a:ln>
                  <a:solidFill>
                    <a:srgbClr val="C7EAF5"/>
                  </a:solidFill>
                  <a:effectLst/>
                  <a:uLnTx/>
                  <a:uFillTx/>
                  <a:latin typeface="+mn-lt"/>
                  <a:ea typeface="STKaiti" panose="02010600040101010101" charset="-122"/>
                  <a:cs typeface="Calibri" panose="020F0502020204030204" pitchFamily="34" charset="0"/>
                </a:rPr>
                <a:t>O1</a:t>
              </a:r>
            </a:p>
          </p:txBody>
        </p:sp>
        <p:sp>
          <p:nvSpPr>
            <p:cNvPr id="164" name="Title 1"/>
            <p:cNvSpPr txBox="1"/>
            <p:nvPr/>
          </p:nvSpPr>
          <p:spPr>
            <a:xfrm>
              <a:off x="3076326" y="2474636"/>
              <a:ext cx="2454642" cy="879278"/>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IN" sz="1400" b="0" dirty="0">
                  <a:solidFill>
                    <a:prstClr val="black"/>
                  </a:solidFill>
                  <a:latin typeface="+mn-lt"/>
                </a:rPr>
                <a:t>Our Understanding of Claim and Refund Journey</a:t>
              </a:r>
            </a:p>
          </p:txBody>
        </p:sp>
        <p:pic>
          <p:nvPicPr>
            <p:cNvPr id="165" name="Picture 16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4282489" y="1472474"/>
              <a:ext cx="886397" cy="543155"/>
            </a:xfrm>
            <a:prstGeom prst="rect">
              <a:avLst/>
            </a:prstGeom>
          </p:spPr>
        </p:pic>
        <p:grpSp>
          <p:nvGrpSpPr>
            <p:cNvPr id="188" name="Group 187"/>
            <p:cNvGrpSpPr/>
            <p:nvPr/>
          </p:nvGrpSpPr>
          <p:grpSpPr>
            <a:xfrm>
              <a:off x="2654167" y="2052426"/>
              <a:ext cx="2985838" cy="448071"/>
              <a:chOff x="2581307" y="1844795"/>
              <a:chExt cx="2985838" cy="448071"/>
            </a:xfrm>
            <a:solidFill>
              <a:srgbClr val="0070C0"/>
            </a:solidFill>
          </p:grpSpPr>
          <p:sp>
            <p:nvSpPr>
              <p:cNvPr id="189" name="Rectangle: Rounded Corners 188"/>
              <p:cNvSpPr/>
              <p:nvPr/>
            </p:nvSpPr>
            <p:spPr bwMode="auto">
              <a:xfrm>
                <a:off x="2581307" y="1844795"/>
                <a:ext cx="2985838" cy="338980"/>
              </a:xfrm>
              <a:prstGeom prst="roundRect">
                <a:avLst/>
              </a:prstGeom>
              <a:grp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FEFDFD"/>
                  </a:solidFill>
                  <a:effectLst/>
                  <a:uLnTx/>
                  <a:uFillTx/>
                  <a:ea typeface="STKaiti" panose="02010600040101010101" charset="-122"/>
                  <a:cs typeface="+mn-cs"/>
                </a:endParaRPr>
              </a:p>
            </p:txBody>
          </p:sp>
          <p:sp>
            <p:nvSpPr>
              <p:cNvPr id="190" name="Title 1"/>
              <p:cNvSpPr txBox="1"/>
              <p:nvPr/>
            </p:nvSpPr>
            <p:spPr>
              <a:xfrm>
                <a:off x="2656851" y="1909098"/>
                <a:ext cx="2910294" cy="198358"/>
              </a:xfrm>
              <a:prstGeom prst="rect">
                <a:avLst/>
              </a:prstGeom>
              <a:grpFill/>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IN" sz="1600" dirty="0">
                    <a:solidFill>
                      <a:srgbClr val="FEFDFD"/>
                    </a:solidFill>
                    <a:latin typeface="+mn-lt"/>
                  </a:rPr>
                  <a:t>Analysis of Needs</a:t>
                </a:r>
              </a:p>
            </p:txBody>
          </p:sp>
          <p:sp>
            <p:nvSpPr>
              <p:cNvPr id="191" name="Isosceles Triangle 190"/>
              <p:cNvSpPr/>
              <p:nvPr/>
            </p:nvSpPr>
            <p:spPr bwMode="auto">
              <a:xfrm rot="10800000">
                <a:off x="4052442" y="2149753"/>
                <a:ext cx="314374" cy="143113"/>
              </a:xfrm>
              <a:prstGeom prst="triangle">
                <a:avLst/>
              </a:prstGeom>
              <a:grp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7C7C7C"/>
                  </a:solidFill>
                  <a:effectLst/>
                  <a:uLnTx/>
                  <a:uFillTx/>
                  <a:ea typeface="STKaiti" panose="02010600040101010101" charset="-122"/>
                  <a:cs typeface="+mn-cs"/>
                </a:endParaRPr>
              </a:p>
            </p:txBody>
          </p:sp>
        </p:grpSp>
      </p:grpSp>
      <p:sp>
        <p:nvSpPr>
          <p:cNvPr id="166" name="Title 1"/>
          <p:cNvSpPr txBox="1"/>
          <p:nvPr/>
        </p:nvSpPr>
        <p:spPr>
          <a:xfrm>
            <a:off x="7349434" y="1235245"/>
            <a:ext cx="1306421" cy="656426"/>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6600" b="1" i="0" u="none" strike="noStrike" kern="1200" cap="none" spc="80" normalizeH="0" baseline="0" noProof="0" dirty="0">
                <a:ln>
                  <a:noFill/>
                </a:ln>
                <a:solidFill>
                  <a:srgbClr val="C7EAF5"/>
                </a:solidFill>
                <a:effectLst/>
                <a:uLnTx/>
                <a:uFillTx/>
                <a:latin typeface="+mn-lt"/>
                <a:ea typeface="STKaiti" panose="02010600040101010101" charset="-122"/>
                <a:cs typeface="Calibri" panose="020F0502020204030204" pitchFamily="34" charset="0"/>
              </a:rPr>
              <a:t>O2</a:t>
            </a:r>
          </a:p>
        </p:txBody>
      </p:sp>
      <p:sp>
        <p:nvSpPr>
          <p:cNvPr id="167" name="Title 1"/>
          <p:cNvSpPr txBox="1"/>
          <p:nvPr/>
        </p:nvSpPr>
        <p:spPr>
          <a:xfrm>
            <a:off x="6012426" y="2337639"/>
            <a:ext cx="4171146" cy="1128800"/>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IN" sz="1400" b="0" dirty="0">
                <a:solidFill>
                  <a:prstClr val="black"/>
                </a:solidFill>
                <a:latin typeface="+mn-lt"/>
              </a:rPr>
              <a:t>Proposed Solution </a:t>
            </a:r>
            <a:r>
              <a:rPr lang="en-IN" sz="1400" b="0" dirty="0">
                <a:solidFill>
                  <a:prstClr val="black"/>
                </a:solidFill>
              </a:rPr>
              <a:t>Overview</a:t>
            </a:r>
            <a:r>
              <a:rPr lang="en-IN" sz="1400" b="0" dirty="0">
                <a:solidFill>
                  <a:prstClr val="black"/>
                </a:solidFill>
                <a:latin typeface="+mn-lt"/>
              </a:rPr>
              <a:t>, </a:t>
            </a:r>
            <a:r>
              <a:rPr lang="en-US" sz="1400" b="0" dirty="0">
                <a:solidFill>
                  <a:prstClr val="black"/>
                </a:solidFill>
                <a:latin typeface="+mn-lt"/>
              </a:rPr>
              <a:t>Solution Salient Features, Proposed </a:t>
            </a:r>
            <a:r>
              <a:rPr lang="en-IN" sz="1400" b="0" dirty="0">
                <a:solidFill>
                  <a:prstClr val="black"/>
                </a:solidFill>
                <a:latin typeface="+mn-lt"/>
              </a:rPr>
              <a:t>Technical Architecture, </a:t>
            </a:r>
            <a:r>
              <a:rPr lang="en-US" sz="1400" b="0" dirty="0">
                <a:solidFill>
                  <a:prstClr val="black"/>
                </a:solidFill>
                <a:latin typeface="+mn-lt"/>
              </a:rPr>
              <a:t>Architecture Salient Features, Technology Rationale – Frontend, backend, Database, Leveraging reusable components from </a:t>
            </a:r>
            <a:r>
              <a:rPr lang="en-US" sz="1400" b="0" dirty="0" err="1">
                <a:solidFill>
                  <a:prstClr val="black"/>
                </a:solidFill>
                <a:latin typeface="+mn-lt"/>
              </a:rPr>
              <a:t>mFIN</a:t>
            </a:r>
            <a:r>
              <a:rPr lang="en-US" sz="1400" b="0" dirty="0">
                <a:solidFill>
                  <a:prstClr val="black"/>
                </a:solidFill>
                <a:latin typeface="+mn-lt"/>
              </a:rPr>
              <a:t>, Data Migration, Indicative Designs</a:t>
            </a:r>
            <a:endParaRPr lang="en-IN" sz="1400" b="0" dirty="0">
              <a:solidFill>
                <a:prstClr val="black"/>
              </a:solidFill>
              <a:latin typeface="+mn-lt"/>
            </a:endParaRPr>
          </a:p>
        </p:txBody>
      </p:sp>
      <p:pic>
        <p:nvPicPr>
          <p:cNvPr id="168" name="Picture 16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8560242" y="1169487"/>
            <a:ext cx="605421" cy="657314"/>
          </a:xfrm>
          <a:prstGeom prst="rect">
            <a:avLst/>
          </a:prstGeom>
        </p:spPr>
      </p:pic>
      <p:sp>
        <p:nvSpPr>
          <p:cNvPr id="193" name="Rectangle: Rounded Corners 192"/>
          <p:cNvSpPr/>
          <p:nvPr/>
        </p:nvSpPr>
        <p:spPr bwMode="auto">
          <a:xfrm>
            <a:off x="6012425" y="1886171"/>
            <a:ext cx="2808266" cy="317766"/>
          </a:xfrm>
          <a:prstGeom prst="roundRect">
            <a:avLst/>
          </a:prstGeom>
          <a:solidFill>
            <a:srgbClr val="0070C0"/>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FEFDFD"/>
              </a:solidFill>
              <a:effectLst/>
              <a:uLnTx/>
              <a:uFillTx/>
              <a:ea typeface="STKaiti" panose="02010600040101010101" charset="-122"/>
              <a:cs typeface="+mn-cs"/>
            </a:endParaRPr>
          </a:p>
        </p:txBody>
      </p:sp>
      <p:sp>
        <p:nvSpPr>
          <p:cNvPr id="194" name="Title 1"/>
          <p:cNvSpPr txBox="1"/>
          <p:nvPr/>
        </p:nvSpPr>
        <p:spPr>
          <a:xfrm>
            <a:off x="6012425" y="1882898"/>
            <a:ext cx="4212758" cy="317766"/>
          </a:xfrm>
          <a:prstGeom prst="rect">
            <a:avLst/>
          </a:prstGeom>
          <a:solidFill>
            <a:srgbClr val="0070C0"/>
          </a:solidFill>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IN" sz="1600" dirty="0">
                <a:solidFill>
                  <a:srgbClr val="FEFDFD"/>
                </a:solidFill>
                <a:latin typeface="+mn-lt"/>
              </a:rPr>
              <a:t>Proposed Solution Architecture</a:t>
            </a:r>
          </a:p>
        </p:txBody>
      </p:sp>
      <p:sp>
        <p:nvSpPr>
          <p:cNvPr id="195" name="Isosceles Triangle 194"/>
          <p:cNvSpPr/>
          <p:nvPr/>
        </p:nvSpPr>
        <p:spPr bwMode="auto">
          <a:xfrm rot="10800000">
            <a:off x="7980535" y="2192853"/>
            <a:ext cx="314374" cy="143113"/>
          </a:xfrm>
          <a:prstGeom prst="triangle">
            <a:avLst/>
          </a:prstGeom>
          <a:solidFill>
            <a:srgbClr val="0070C0"/>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7C7C7C"/>
              </a:solidFill>
              <a:effectLst/>
              <a:uLnTx/>
              <a:uFillTx/>
              <a:ea typeface="STKaiti" panose="02010600040101010101" charset="-122"/>
              <a:cs typeface="+mn-cs"/>
            </a:endParaRPr>
          </a:p>
        </p:txBody>
      </p:sp>
      <p:grpSp>
        <p:nvGrpSpPr>
          <p:cNvPr id="12" name="Group 11"/>
          <p:cNvGrpSpPr/>
          <p:nvPr/>
        </p:nvGrpSpPr>
        <p:grpSpPr>
          <a:xfrm>
            <a:off x="4703785" y="3741151"/>
            <a:ext cx="2670104" cy="2531045"/>
            <a:chOff x="271018" y="3741151"/>
            <a:chExt cx="2670104" cy="2531045"/>
          </a:xfrm>
        </p:grpSpPr>
        <p:sp>
          <p:nvSpPr>
            <p:cNvPr id="172" name="Title 1"/>
            <p:cNvSpPr txBox="1"/>
            <p:nvPr/>
          </p:nvSpPr>
          <p:spPr>
            <a:xfrm>
              <a:off x="597970" y="3938444"/>
              <a:ext cx="1306421" cy="656426"/>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6600" b="1" i="0" u="none" strike="noStrike" kern="1200" cap="none" spc="80" normalizeH="0" baseline="0" noProof="0" dirty="0">
                  <a:ln>
                    <a:noFill/>
                  </a:ln>
                  <a:solidFill>
                    <a:srgbClr val="C7EAF5"/>
                  </a:solidFill>
                  <a:effectLst/>
                  <a:uLnTx/>
                  <a:uFillTx/>
                  <a:latin typeface="+mn-lt"/>
                  <a:ea typeface="STKaiti" panose="02010600040101010101" charset="-122"/>
                  <a:cs typeface="Calibri" panose="020F0502020204030204" pitchFamily="34" charset="0"/>
                </a:rPr>
                <a:t>O4</a:t>
              </a:r>
            </a:p>
          </p:txBody>
        </p:sp>
        <p:sp>
          <p:nvSpPr>
            <p:cNvPr id="173" name="Title 1"/>
            <p:cNvSpPr txBox="1"/>
            <p:nvPr/>
          </p:nvSpPr>
          <p:spPr>
            <a:xfrm>
              <a:off x="309076" y="5093577"/>
              <a:ext cx="2593986" cy="1178619"/>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IN" sz="1400" b="0" dirty="0">
                  <a:solidFill>
                    <a:prstClr val="black"/>
                  </a:solidFill>
                  <a:ea typeface="STKaiti" panose="02010600040101010101" charset="-122"/>
                </a:rPr>
                <a:t>Multinational Insurance Organization, Large Insurance Companies, Financial Services &amp; FinTech Aggregators, E‑Commerce Ecosystems</a:t>
              </a:r>
            </a:p>
          </p:txBody>
        </p:sp>
        <p:pic>
          <p:nvPicPr>
            <p:cNvPr id="174" name="Picture 173"/>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1824678" y="3741151"/>
              <a:ext cx="580372" cy="842477"/>
            </a:xfrm>
            <a:prstGeom prst="rect">
              <a:avLst/>
            </a:prstGeom>
          </p:spPr>
        </p:pic>
        <p:grpSp>
          <p:nvGrpSpPr>
            <p:cNvPr id="200" name="Group 199"/>
            <p:cNvGrpSpPr/>
            <p:nvPr/>
          </p:nvGrpSpPr>
          <p:grpSpPr>
            <a:xfrm>
              <a:off x="271018" y="4600542"/>
              <a:ext cx="2670104" cy="469850"/>
              <a:chOff x="198158" y="4252232"/>
              <a:chExt cx="2670104" cy="469850"/>
            </a:xfrm>
            <a:solidFill>
              <a:srgbClr val="0070C0"/>
            </a:solidFill>
          </p:grpSpPr>
          <p:sp>
            <p:nvSpPr>
              <p:cNvPr id="201" name="Rectangle: Rounded Corners 200"/>
              <p:cNvSpPr/>
              <p:nvPr/>
            </p:nvSpPr>
            <p:spPr bwMode="auto">
              <a:xfrm>
                <a:off x="217351" y="4252232"/>
                <a:ext cx="2631718" cy="343837"/>
              </a:xfrm>
              <a:prstGeom prst="roundRect">
                <a:avLst/>
              </a:prstGeom>
              <a:grp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7C7C7C"/>
                  </a:solidFill>
                  <a:effectLst/>
                  <a:uLnTx/>
                  <a:uFillTx/>
                  <a:ea typeface="STKaiti" panose="02010600040101010101" charset="-122"/>
                  <a:cs typeface="+mn-cs"/>
                </a:endParaRPr>
              </a:p>
            </p:txBody>
          </p:sp>
          <p:sp>
            <p:nvSpPr>
              <p:cNvPr id="202" name="Title 1"/>
              <p:cNvSpPr txBox="1"/>
              <p:nvPr/>
            </p:nvSpPr>
            <p:spPr>
              <a:xfrm>
                <a:off x="198158" y="4293053"/>
                <a:ext cx="2670104" cy="262732"/>
              </a:xfrm>
              <a:prstGeom prst="rect">
                <a:avLst/>
              </a:prstGeom>
              <a:grpFill/>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IN" sz="1800" dirty="0">
                    <a:solidFill>
                      <a:srgbClr val="FEFDFD"/>
                    </a:solidFill>
                    <a:latin typeface="+mn-lt"/>
                  </a:rPr>
                  <a:t>Case Studies</a:t>
                </a:r>
              </a:p>
            </p:txBody>
          </p:sp>
          <p:sp>
            <p:nvSpPr>
              <p:cNvPr id="203" name="Isosceles Triangle 202"/>
              <p:cNvSpPr/>
              <p:nvPr/>
            </p:nvSpPr>
            <p:spPr bwMode="auto">
              <a:xfrm rot="10800000">
                <a:off x="1376023" y="4578969"/>
                <a:ext cx="314374" cy="143113"/>
              </a:xfrm>
              <a:prstGeom prst="triangle">
                <a:avLst/>
              </a:prstGeom>
              <a:grp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7C7C7C"/>
                  </a:solidFill>
                  <a:effectLst/>
                  <a:uLnTx/>
                  <a:uFillTx/>
                  <a:ea typeface="STKaiti" panose="02010600040101010101" charset="-122"/>
                  <a:cs typeface="+mn-cs"/>
                </a:endParaRPr>
              </a:p>
            </p:txBody>
          </p:sp>
        </p:grpSp>
      </p:grpSp>
      <p:grpSp>
        <p:nvGrpSpPr>
          <p:cNvPr id="11" name="Group 10"/>
          <p:cNvGrpSpPr/>
          <p:nvPr/>
        </p:nvGrpSpPr>
        <p:grpSpPr>
          <a:xfrm>
            <a:off x="7593465" y="3575472"/>
            <a:ext cx="2631718" cy="2503010"/>
            <a:chOff x="3160698" y="3575472"/>
            <a:chExt cx="2631718" cy="2503010"/>
          </a:xfrm>
        </p:grpSpPr>
        <p:sp>
          <p:nvSpPr>
            <p:cNvPr id="175" name="Title 1"/>
            <p:cNvSpPr txBox="1"/>
            <p:nvPr/>
          </p:nvSpPr>
          <p:spPr>
            <a:xfrm>
              <a:off x="3541418" y="3938444"/>
              <a:ext cx="1306421" cy="656426"/>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6600" b="1" i="0" u="none" strike="noStrike" kern="1200" cap="none" spc="80" normalizeH="0" baseline="0" noProof="0" dirty="0">
                  <a:ln>
                    <a:noFill/>
                  </a:ln>
                  <a:solidFill>
                    <a:srgbClr val="C7EAF5"/>
                  </a:solidFill>
                  <a:effectLst/>
                  <a:uLnTx/>
                  <a:uFillTx/>
                  <a:latin typeface="+mn-lt"/>
                  <a:ea typeface="STKaiti" panose="02010600040101010101" charset="-122"/>
                  <a:cs typeface="Calibri" panose="020F0502020204030204" pitchFamily="34" charset="0"/>
                </a:rPr>
                <a:t>O5</a:t>
              </a:r>
            </a:p>
          </p:txBody>
        </p:sp>
        <p:sp>
          <p:nvSpPr>
            <p:cNvPr id="176" name="Title 1"/>
            <p:cNvSpPr txBox="1"/>
            <p:nvPr/>
          </p:nvSpPr>
          <p:spPr>
            <a:xfrm>
              <a:off x="3296162" y="5052836"/>
              <a:ext cx="2496254" cy="1025646"/>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US" sz="1400" b="0" dirty="0">
                  <a:solidFill>
                    <a:prstClr val="black"/>
                  </a:solidFill>
                  <a:ea typeface="STKaiti" panose="02010600040101010101" charset="-122"/>
                </a:rPr>
                <a:t>Proposed Commercial, Expectations from IMGC and Assumptions, Benefit to IMGC stakeholders, Why </a:t>
              </a:r>
              <a:r>
                <a:rPr lang="en-US" sz="1400" b="0" dirty="0" err="1">
                  <a:solidFill>
                    <a:prstClr val="black"/>
                  </a:solidFill>
                  <a:ea typeface="STKaiti" panose="02010600040101010101" charset="-122"/>
                </a:rPr>
                <a:t>Qualtech</a:t>
              </a:r>
              <a:endParaRPr lang="en-US" sz="1400" b="0" dirty="0">
                <a:solidFill>
                  <a:prstClr val="black"/>
                </a:solidFill>
                <a:ea typeface="STKaiti" panose="02010600040101010101" charset="-122"/>
              </a:endParaRPr>
            </a:p>
          </p:txBody>
        </p:sp>
        <p:pic>
          <p:nvPicPr>
            <p:cNvPr id="177" name="Picture 176"/>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4695708" y="3575472"/>
              <a:ext cx="597807" cy="1019398"/>
            </a:xfrm>
            <a:prstGeom prst="rect">
              <a:avLst/>
            </a:prstGeom>
          </p:spPr>
        </p:pic>
        <p:grpSp>
          <p:nvGrpSpPr>
            <p:cNvPr id="204" name="Group 203"/>
            <p:cNvGrpSpPr/>
            <p:nvPr/>
          </p:nvGrpSpPr>
          <p:grpSpPr>
            <a:xfrm>
              <a:off x="3160698" y="4600542"/>
              <a:ext cx="2631718" cy="469850"/>
              <a:chOff x="3087838" y="4252232"/>
              <a:chExt cx="2631718" cy="469850"/>
            </a:xfrm>
            <a:solidFill>
              <a:srgbClr val="0070C0"/>
            </a:solidFill>
          </p:grpSpPr>
          <p:sp>
            <p:nvSpPr>
              <p:cNvPr id="205" name="Rectangle: Rounded Corners 204"/>
              <p:cNvSpPr/>
              <p:nvPr/>
            </p:nvSpPr>
            <p:spPr bwMode="auto">
              <a:xfrm>
                <a:off x="3087838" y="4252232"/>
                <a:ext cx="2631718" cy="343837"/>
              </a:xfrm>
              <a:prstGeom prst="roundRect">
                <a:avLst/>
              </a:prstGeom>
              <a:grp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7C7C7C"/>
                  </a:solidFill>
                  <a:effectLst/>
                  <a:uLnTx/>
                  <a:uFillTx/>
                  <a:ea typeface="STKaiti" panose="02010600040101010101" charset="-122"/>
                  <a:cs typeface="+mn-cs"/>
                </a:endParaRPr>
              </a:p>
            </p:txBody>
          </p:sp>
          <p:sp>
            <p:nvSpPr>
              <p:cNvPr id="206" name="Title 1"/>
              <p:cNvSpPr txBox="1"/>
              <p:nvPr/>
            </p:nvSpPr>
            <p:spPr>
              <a:xfrm>
                <a:off x="3299153" y="4293053"/>
                <a:ext cx="2209088" cy="262732"/>
              </a:xfrm>
              <a:prstGeom prst="rect">
                <a:avLst/>
              </a:prstGeom>
              <a:grpFill/>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IN" sz="1800" dirty="0">
                    <a:solidFill>
                      <a:srgbClr val="FEFDFD"/>
                    </a:solidFill>
                    <a:latin typeface="+mn-lt"/>
                  </a:rPr>
                  <a:t>Commercials</a:t>
                </a:r>
              </a:p>
            </p:txBody>
          </p:sp>
          <p:sp>
            <p:nvSpPr>
              <p:cNvPr id="207" name="Isosceles Triangle 206"/>
              <p:cNvSpPr/>
              <p:nvPr/>
            </p:nvSpPr>
            <p:spPr bwMode="auto">
              <a:xfrm rot="10800000">
                <a:off x="4246511" y="4578969"/>
                <a:ext cx="314374" cy="143113"/>
              </a:xfrm>
              <a:prstGeom prst="triangle">
                <a:avLst/>
              </a:prstGeom>
              <a:grp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7C7C7C"/>
                  </a:solidFill>
                  <a:effectLst/>
                  <a:uLnTx/>
                  <a:uFillTx/>
                  <a:ea typeface="STKaiti" panose="02010600040101010101" charset="-122"/>
                  <a:cs typeface="+mn-cs"/>
                </a:endParaRPr>
              </a:p>
            </p:txBody>
          </p:sp>
        </p:grpSp>
      </p:grpSp>
      <p:pic>
        <p:nvPicPr>
          <p:cNvPr id="3" name="Picture 2">
            <a:extLst>
              <a:ext uri="{FF2B5EF4-FFF2-40B4-BE49-F238E27FC236}">
                <a16:creationId xmlns:a16="http://schemas.microsoft.com/office/drawing/2014/main" id="{DB161420-1D74-C095-6BFA-CAFE893FD893}"/>
              </a:ext>
            </a:extLst>
          </p:cNvPr>
          <p:cNvPicPr>
            <a:picLocks noChangeAspect="1"/>
          </p:cNvPicPr>
          <p:nvPr/>
        </p:nvPicPr>
        <p:blipFill>
          <a:blip r:embed="rId3"/>
          <a:stretch>
            <a:fillRect/>
          </a:stretch>
        </p:blipFill>
        <p:spPr>
          <a:xfrm rot="16200000" flipH="1" flipV="1">
            <a:off x="655287" y="2254228"/>
            <a:ext cx="2494308" cy="148180"/>
          </a:xfrm>
          <a:prstGeom prst="rect">
            <a:avLst/>
          </a:prstGeom>
        </p:spPr>
      </p:pic>
      <p:pic>
        <p:nvPicPr>
          <p:cNvPr id="5" name="Picture 4">
            <a:extLst>
              <a:ext uri="{FF2B5EF4-FFF2-40B4-BE49-F238E27FC236}">
                <a16:creationId xmlns:a16="http://schemas.microsoft.com/office/drawing/2014/main" id="{4A7EECB2-0246-8FA6-7B17-4F5BD7BC37E6}"/>
              </a:ext>
            </a:extLst>
          </p:cNvPr>
          <p:cNvPicPr>
            <a:picLocks noChangeAspect="1"/>
          </p:cNvPicPr>
          <p:nvPr/>
        </p:nvPicPr>
        <p:blipFill>
          <a:blip r:embed="rId3"/>
          <a:stretch>
            <a:fillRect/>
          </a:stretch>
        </p:blipFill>
        <p:spPr>
          <a:xfrm rot="16200000" flipH="1" flipV="1">
            <a:off x="3269862" y="5055455"/>
            <a:ext cx="2803146" cy="166527"/>
          </a:xfrm>
          <a:prstGeom prst="rect">
            <a:avLst/>
          </a:prstGeom>
        </p:spPr>
      </p:pic>
      <p:pic>
        <p:nvPicPr>
          <p:cNvPr id="21" name="Picture 20">
            <a:extLst>
              <a:ext uri="{FF2B5EF4-FFF2-40B4-BE49-F238E27FC236}">
                <a16:creationId xmlns:a16="http://schemas.microsoft.com/office/drawing/2014/main" id="{AC2D3693-089C-108A-ABD9-2DBA765EB682}"/>
              </a:ext>
            </a:extLst>
          </p:cNvPr>
          <p:cNvPicPr>
            <a:picLocks noChangeAspect="1"/>
          </p:cNvPicPr>
          <p:nvPr/>
        </p:nvPicPr>
        <p:blipFill>
          <a:blip r:embed="rId3"/>
          <a:stretch>
            <a:fillRect/>
          </a:stretch>
        </p:blipFill>
        <p:spPr>
          <a:xfrm rot="16200000" flipH="1" flipV="1">
            <a:off x="9183234" y="2400124"/>
            <a:ext cx="2494308" cy="148180"/>
          </a:xfrm>
          <a:prstGeom prst="rect">
            <a:avLst/>
          </a:prstGeom>
        </p:spPr>
      </p:pic>
      <p:sp>
        <p:nvSpPr>
          <p:cNvPr id="22" name="Title 1"/>
          <p:cNvSpPr txBox="1"/>
          <p:nvPr/>
        </p:nvSpPr>
        <p:spPr>
          <a:xfrm>
            <a:off x="2256033" y="3950738"/>
            <a:ext cx="1306421" cy="656426"/>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6600" b="1" i="0" u="none" strike="noStrike" kern="1200" cap="none" spc="80" normalizeH="0" baseline="0" noProof="0" dirty="0">
                <a:ln>
                  <a:noFill/>
                </a:ln>
                <a:solidFill>
                  <a:srgbClr val="C7EAF5"/>
                </a:solidFill>
                <a:effectLst/>
                <a:uLnTx/>
                <a:uFillTx/>
                <a:latin typeface="+mn-lt"/>
                <a:ea typeface="STKaiti" panose="02010600040101010101" charset="-122"/>
                <a:cs typeface="Calibri" panose="020F0502020204030204" pitchFamily="34" charset="0"/>
              </a:rPr>
              <a:t>O3</a:t>
            </a:r>
          </a:p>
        </p:txBody>
      </p:sp>
      <p:pic>
        <p:nvPicPr>
          <p:cNvPr id="23" name="Picture 22"/>
          <p:cNvPicPr>
            <a:picLocks noChangeAspect="1"/>
          </p:cNvPicPr>
          <p:nvPr/>
        </p:nvPicPr>
        <p:blipFill>
          <a:blip r:embed="rId3"/>
          <a:stretch>
            <a:fillRect/>
          </a:stretch>
        </p:blipFill>
        <p:spPr>
          <a:xfrm rot="16200000" flipH="1">
            <a:off x="402570" y="5056622"/>
            <a:ext cx="2800944" cy="166396"/>
          </a:xfrm>
          <a:prstGeom prst="rect">
            <a:avLst/>
          </a:prstGeom>
        </p:spPr>
      </p:pic>
      <p:sp>
        <p:nvSpPr>
          <p:cNvPr id="25" name="Title 1"/>
          <p:cNvSpPr txBox="1"/>
          <p:nvPr/>
        </p:nvSpPr>
        <p:spPr>
          <a:xfrm>
            <a:off x="2045443" y="5028731"/>
            <a:ext cx="2405656" cy="879278"/>
          </a:xfrm>
          <a:prstGeom prst="rect">
            <a:avLst/>
          </a:prstGeom>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defRPr/>
            </a:pPr>
            <a:r>
              <a:rPr lang="en-IN" sz="1400" b="0" dirty="0">
                <a:solidFill>
                  <a:prstClr val="black"/>
                </a:solidFill>
                <a:latin typeface="+mn-lt"/>
              </a:rPr>
              <a:t>Indicative Plan, Proposed Governance Meetings</a:t>
            </a:r>
          </a:p>
        </p:txBody>
      </p:sp>
      <p:pic>
        <p:nvPicPr>
          <p:cNvPr id="26" name="Picture 25"/>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3394541" y="3879891"/>
            <a:ext cx="732559" cy="708579"/>
          </a:xfrm>
          <a:prstGeom prst="rect">
            <a:avLst/>
          </a:prstGeom>
        </p:spPr>
      </p:pic>
      <p:grpSp>
        <p:nvGrpSpPr>
          <p:cNvPr id="27" name="Group 26"/>
          <p:cNvGrpSpPr/>
          <p:nvPr/>
        </p:nvGrpSpPr>
        <p:grpSpPr>
          <a:xfrm>
            <a:off x="1968251" y="4601663"/>
            <a:ext cx="2539888" cy="461134"/>
            <a:chOff x="8949069" y="1844794"/>
            <a:chExt cx="2894890" cy="461134"/>
          </a:xfrm>
          <a:solidFill>
            <a:srgbClr val="0070C0"/>
          </a:solidFill>
        </p:grpSpPr>
        <p:sp>
          <p:nvSpPr>
            <p:cNvPr id="28" name="Rectangle: Rounded Corners 27"/>
            <p:cNvSpPr/>
            <p:nvPr/>
          </p:nvSpPr>
          <p:spPr bwMode="auto">
            <a:xfrm>
              <a:off x="8949069" y="1844794"/>
              <a:ext cx="2894890" cy="343837"/>
            </a:xfrm>
            <a:prstGeom prst="roundRect">
              <a:avLst/>
            </a:prstGeom>
            <a:grp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7C7C7C"/>
                </a:solidFill>
                <a:effectLst/>
                <a:uLnTx/>
                <a:uFillTx/>
                <a:ea typeface="STKaiti" panose="02010600040101010101" charset="-122"/>
                <a:cs typeface="+mn-cs"/>
              </a:endParaRPr>
            </a:p>
          </p:txBody>
        </p:sp>
        <p:sp>
          <p:nvSpPr>
            <p:cNvPr id="29" name="Title 1"/>
            <p:cNvSpPr txBox="1"/>
            <p:nvPr/>
          </p:nvSpPr>
          <p:spPr>
            <a:xfrm>
              <a:off x="8949069" y="1869809"/>
              <a:ext cx="2863542" cy="298506"/>
            </a:xfrm>
            <a:prstGeom prst="rect">
              <a:avLst/>
            </a:prstGeom>
            <a:grpFill/>
          </p:spPr>
          <p:txBody>
            <a:bodyPr anchor="ctr"/>
            <a:lstStyle>
              <a:lvl1pPr algn="l" defTabSz="914400" rtl="0" eaLnBrk="1" latinLnBrk="0" hangingPunct="1">
                <a:lnSpc>
                  <a:spcPct val="90000"/>
                </a:lnSpc>
                <a:spcBef>
                  <a:spcPct val="0"/>
                </a:spcBef>
                <a:buNone/>
                <a:defRPr lang="en-IN" sz="2800" b="1" i="0" kern="1200" spc="80" baseline="0" dirty="0">
                  <a:solidFill>
                    <a:srgbClr val="2E328A"/>
                  </a:solidFill>
                  <a:latin typeface="Bw Modelica SS02" panose="00000600000000000000" pitchFamily="50" charset="0"/>
                  <a:ea typeface="+mj-ea"/>
                  <a:cs typeface="+mj-cs"/>
                </a:defRPr>
              </a:lvl1pPr>
            </a:lstStyle>
            <a:p>
              <a:pPr lvl="0" algn="ctr"/>
              <a:r>
                <a:rPr lang="en-IN" sz="1600" dirty="0">
                  <a:solidFill>
                    <a:srgbClr val="FEFDFD"/>
                  </a:solidFill>
                  <a:latin typeface="+mn-lt"/>
                </a:rPr>
                <a:t>Plan &amp; Governance</a:t>
              </a:r>
            </a:p>
          </p:txBody>
        </p:sp>
        <p:sp>
          <p:nvSpPr>
            <p:cNvPr id="30" name="Isosceles Triangle 29"/>
            <p:cNvSpPr/>
            <p:nvPr/>
          </p:nvSpPr>
          <p:spPr bwMode="auto">
            <a:xfrm rot="10800000">
              <a:off x="10239327" y="2162815"/>
              <a:ext cx="314374" cy="143113"/>
            </a:xfrm>
            <a:prstGeom prst="triangle">
              <a:avLst/>
            </a:prstGeom>
            <a:grpFill/>
            <a:ln w="635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400" b="0" i="0" u="none" strike="noStrike" kern="1200" cap="none" spc="0" normalizeH="0" baseline="0" noProof="0" dirty="0">
                <a:ln>
                  <a:noFill/>
                </a:ln>
                <a:solidFill>
                  <a:srgbClr val="7C7C7C"/>
                </a:solidFill>
                <a:effectLst/>
                <a:uLnTx/>
                <a:uFillTx/>
                <a:ea typeface="STKaiti" panose="02010600040101010101" charset="-122"/>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15452" y="2936506"/>
            <a:ext cx="657379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US" sz="4000" b="1" i="0" u="none" strike="noStrike" kern="0" cap="none" spc="0" normalizeH="0" baseline="0" noProof="0" dirty="0">
                <a:ln>
                  <a:noFill/>
                </a:ln>
                <a:solidFill>
                  <a:srgbClr val="000000"/>
                </a:solidFill>
                <a:effectLst/>
                <a:uLnTx/>
                <a:uFillTx/>
                <a:latin typeface="Outfit" pitchFamily="2" charset="0"/>
                <a:cs typeface="Arial" panose="020B0604020202090204"/>
                <a:sym typeface="Arial" panose="020B0604020202090204"/>
              </a:rPr>
              <a:t>Analysis of Needs</a:t>
            </a:r>
            <a:endParaRPr kumimoji="0" lang="en-IN" sz="4000" b="1" i="0" u="none" strike="noStrike" kern="0" cap="none" spc="0" normalizeH="0" baseline="0" noProof="0" dirty="0">
              <a:ln>
                <a:noFill/>
              </a:ln>
              <a:solidFill>
                <a:srgbClr val="000000"/>
              </a:solidFill>
              <a:effectLst/>
              <a:uLnTx/>
              <a:uFillTx/>
              <a:latin typeface="Outfit" pitchFamily="2" charset="0"/>
              <a:cs typeface="Arial" panose="020B0604020202090204"/>
              <a:sym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234B5-268C-D1B1-98B7-B292317D24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8E00EF-B0F8-CB7D-C35C-D4CAF4B137FA}"/>
              </a:ext>
            </a:extLst>
          </p:cNvPr>
          <p:cNvSpPr txBox="1"/>
          <p:nvPr/>
        </p:nvSpPr>
        <p:spPr>
          <a:xfrm>
            <a:off x="2815452" y="2936506"/>
            <a:ext cx="657379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US" sz="4000" b="1" i="0" u="none" strike="noStrike" kern="0" cap="none" spc="0" normalizeH="0" baseline="0" noProof="0" dirty="0">
                <a:ln>
                  <a:noFill/>
                </a:ln>
                <a:solidFill>
                  <a:srgbClr val="000000"/>
                </a:solidFill>
                <a:effectLst/>
                <a:uLnTx/>
                <a:uFillTx/>
                <a:latin typeface="Outfit" pitchFamily="2" charset="0"/>
                <a:cs typeface="Arial" panose="020B0604020202090204"/>
                <a:sym typeface="Arial" panose="020B0604020202090204"/>
              </a:rPr>
              <a:t>MVP</a:t>
            </a:r>
            <a:endParaRPr kumimoji="0" lang="en-IN" sz="4000" b="1" i="0" u="none" strike="noStrike" kern="0" cap="none" spc="0" normalizeH="0" baseline="0" noProof="0" dirty="0">
              <a:ln>
                <a:noFill/>
              </a:ln>
              <a:solidFill>
                <a:srgbClr val="000000"/>
              </a:solidFill>
              <a:effectLst/>
              <a:uLnTx/>
              <a:uFillTx/>
              <a:latin typeface="Outfit" pitchFamily="2" charset="0"/>
              <a:cs typeface="Arial" panose="020B0604020202090204"/>
              <a:sym typeface="Arial" panose="020B0604020202090204"/>
            </a:endParaRPr>
          </a:p>
        </p:txBody>
      </p:sp>
    </p:spTree>
    <p:extLst>
      <p:ext uri="{BB962C8B-B14F-4D97-AF65-F5344CB8AC3E}">
        <p14:creationId xmlns:p14="http://schemas.microsoft.com/office/powerpoint/2010/main" val="3938783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74DEB78B-DA82-3AAA-150D-8C243E64154E}"/>
            </a:ext>
          </a:extLst>
        </p:cNvPr>
        <p:cNvGrpSpPr/>
        <p:nvPr/>
      </p:nvGrpSpPr>
      <p:grpSpPr>
        <a:xfrm>
          <a:off x="0" y="0"/>
          <a:ext cx="0" cy="0"/>
          <a:chOff x="0" y="0"/>
          <a:chExt cx="0" cy="0"/>
        </a:xfrm>
      </p:grpSpPr>
      <p:sp>
        <p:nvSpPr>
          <p:cNvPr id="4" name="Google Shape;161;p28">
            <a:extLst>
              <a:ext uri="{FF2B5EF4-FFF2-40B4-BE49-F238E27FC236}">
                <a16:creationId xmlns:a16="http://schemas.microsoft.com/office/drawing/2014/main" id="{D77BC18C-5997-5BC6-2E21-E1A270B607D2}"/>
              </a:ext>
            </a:extLst>
          </p:cNvPr>
          <p:cNvSpPr txBox="1">
            <a:spLocks noGrp="1"/>
          </p:cNvSpPr>
          <p:nvPr>
            <p:ph type="title"/>
          </p:nvPr>
        </p:nvSpPr>
        <p:spPr>
          <a:xfrm>
            <a:off x="528431" y="223887"/>
            <a:ext cx="11147838" cy="715988"/>
          </a:xfrm>
          <a:prstGeom prst="rect">
            <a:avLst/>
          </a:prstGeom>
          <a:noFill/>
          <a:ln>
            <a:noFill/>
          </a:ln>
        </p:spPr>
        <p:txBody>
          <a:bodyPr spcFirstLastPara="1" vert="horz" wrap="square" lIns="90540" tIns="45258" rIns="90540" bIns="45258" rtlCol="0" anchor="ctr" anchorCtr="0">
            <a:noAutofit/>
          </a:bodyPr>
          <a:lstStyle/>
          <a:p>
            <a:pPr>
              <a:lnSpc>
                <a:spcPct val="100000"/>
              </a:lnSpc>
              <a:buClr>
                <a:srgbClr val="000000"/>
              </a:buClr>
              <a:buFont typeface="Arial" panose="020B0604020202090204"/>
            </a:pPr>
            <a:r>
              <a:rPr lang="en-US" sz="3200" b="1" dirty="0">
                <a:solidFill>
                  <a:srgbClr val="1E2761"/>
                </a:solidFill>
                <a:latin typeface="Calibri" pitchFamily="34" charset="0"/>
                <a:ea typeface="Calibri" pitchFamily="34" charset="-122"/>
                <a:cs typeface="Calibri" pitchFamily="34" charset="-120"/>
              </a:rPr>
              <a:t>MVP Scope – End-to-End Process Swimlane</a:t>
            </a:r>
            <a:endParaRPr sz="3170" b="1" dirty="0">
              <a:solidFill>
                <a:srgbClr val="000000"/>
              </a:solidFill>
              <a:cs typeface="Arial" panose="020B0604020202090204"/>
              <a:sym typeface="Arial" panose="020B0604020202090204"/>
            </a:endParaRPr>
          </a:p>
        </p:txBody>
      </p:sp>
      <p:sp>
        <p:nvSpPr>
          <p:cNvPr id="3" name="Shape 2">
            <a:extLst>
              <a:ext uri="{FF2B5EF4-FFF2-40B4-BE49-F238E27FC236}">
                <a16:creationId xmlns:a16="http://schemas.microsoft.com/office/drawing/2014/main" id="{64097202-6105-34E8-E696-C13D50437183}"/>
              </a:ext>
            </a:extLst>
          </p:cNvPr>
          <p:cNvSpPr/>
          <p:nvPr/>
        </p:nvSpPr>
        <p:spPr>
          <a:xfrm>
            <a:off x="1405146" y="988053"/>
            <a:ext cx="1724026" cy="319217"/>
          </a:xfrm>
          <a:prstGeom prst="rect">
            <a:avLst/>
          </a:prstGeom>
          <a:solidFill>
            <a:srgbClr val="1E2761"/>
          </a:solidFill>
          <a:ln w="9525">
            <a:solidFill>
              <a:srgbClr val="1E2761"/>
            </a:solidFill>
            <a:prstDash val="solid"/>
          </a:ln>
        </p:spPr>
        <p:txBody>
          <a:bodyPr/>
          <a:lstStyle/>
          <a:p>
            <a:endParaRPr lang="en-IN" sz="1860"/>
          </a:p>
        </p:txBody>
      </p:sp>
      <p:sp>
        <p:nvSpPr>
          <p:cNvPr id="6" name="Text 3">
            <a:extLst>
              <a:ext uri="{FF2B5EF4-FFF2-40B4-BE49-F238E27FC236}">
                <a16:creationId xmlns:a16="http://schemas.microsoft.com/office/drawing/2014/main" id="{054C4222-67EC-4CE9-02CE-A2A77B9FA180}"/>
              </a:ext>
            </a:extLst>
          </p:cNvPr>
          <p:cNvSpPr txBox="1"/>
          <p:nvPr/>
        </p:nvSpPr>
        <p:spPr>
          <a:xfrm>
            <a:off x="1435548" y="988053"/>
            <a:ext cx="1663222" cy="319217"/>
          </a:xfrm>
          <a:prstGeom prst="rect">
            <a:avLst/>
          </a:prstGeom>
          <a:noFill/>
          <a:ln/>
        </p:spPr>
        <p:txBody>
          <a:bodyPr wrap="square" lIns="0" tIns="0" rIns="0" bIns="0" rtlCol="0" anchor="ctr"/>
          <a:lstStyle/>
          <a:p>
            <a:pPr algn="ctr">
              <a:lnSpc>
                <a:spcPct val="92000"/>
              </a:lnSpc>
            </a:pPr>
            <a:r>
              <a:rPr lang="en-US" sz="858" b="1" dirty="0">
                <a:solidFill>
                  <a:srgbClr val="FFFFFF"/>
                </a:solidFill>
                <a:latin typeface="Calibri" pitchFamily="34" charset="0"/>
                <a:ea typeface="Calibri" pitchFamily="34" charset="-122"/>
                <a:cs typeface="Calibri" pitchFamily="34" charset="-120"/>
              </a:rPr>
              <a:t>1  ACCESS &amp; PROVISIONING</a:t>
            </a:r>
            <a:endParaRPr lang="en-US" sz="858" dirty="0"/>
          </a:p>
        </p:txBody>
      </p:sp>
      <p:sp>
        <p:nvSpPr>
          <p:cNvPr id="9" name="Shape 4">
            <a:extLst>
              <a:ext uri="{FF2B5EF4-FFF2-40B4-BE49-F238E27FC236}">
                <a16:creationId xmlns:a16="http://schemas.microsoft.com/office/drawing/2014/main" id="{28FFB037-CDF4-DC72-C29F-F7BD53A0528F}"/>
              </a:ext>
            </a:extLst>
          </p:cNvPr>
          <p:cNvSpPr/>
          <p:nvPr/>
        </p:nvSpPr>
        <p:spPr>
          <a:xfrm>
            <a:off x="3159574" y="988053"/>
            <a:ext cx="1724026" cy="319217"/>
          </a:xfrm>
          <a:prstGeom prst="rect">
            <a:avLst/>
          </a:prstGeom>
          <a:solidFill>
            <a:srgbClr val="1E2761"/>
          </a:solidFill>
          <a:ln w="9525">
            <a:solidFill>
              <a:srgbClr val="1E2761"/>
            </a:solidFill>
            <a:prstDash val="solid"/>
          </a:ln>
        </p:spPr>
        <p:txBody>
          <a:bodyPr/>
          <a:lstStyle/>
          <a:p>
            <a:endParaRPr lang="en-IN" sz="1860"/>
          </a:p>
        </p:txBody>
      </p:sp>
      <p:sp>
        <p:nvSpPr>
          <p:cNvPr id="11" name="Text 5">
            <a:extLst>
              <a:ext uri="{FF2B5EF4-FFF2-40B4-BE49-F238E27FC236}">
                <a16:creationId xmlns:a16="http://schemas.microsoft.com/office/drawing/2014/main" id="{EF572C77-5F45-1733-0F16-80641248A6AC}"/>
              </a:ext>
            </a:extLst>
          </p:cNvPr>
          <p:cNvSpPr txBox="1"/>
          <p:nvPr/>
        </p:nvSpPr>
        <p:spPr>
          <a:xfrm>
            <a:off x="3189976" y="988053"/>
            <a:ext cx="1663222" cy="319217"/>
          </a:xfrm>
          <a:prstGeom prst="rect">
            <a:avLst/>
          </a:prstGeom>
          <a:noFill/>
          <a:ln/>
        </p:spPr>
        <p:txBody>
          <a:bodyPr wrap="square" lIns="0" tIns="0" rIns="0" bIns="0" rtlCol="0" anchor="ctr"/>
          <a:lstStyle/>
          <a:p>
            <a:pPr algn="ctr">
              <a:lnSpc>
                <a:spcPct val="92000"/>
              </a:lnSpc>
            </a:pPr>
            <a:r>
              <a:rPr lang="en-US" sz="858" b="1" dirty="0">
                <a:solidFill>
                  <a:srgbClr val="FFFFFF"/>
                </a:solidFill>
                <a:latin typeface="Calibri" pitchFamily="34" charset="0"/>
                <a:ea typeface="Calibri" pitchFamily="34" charset="-122"/>
                <a:cs typeface="Calibri" pitchFamily="34" charset="-120"/>
              </a:rPr>
              <a:t>2  ACCOUNT &amp; ACCOUNTING VALUES</a:t>
            </a:r>
            <a:endParaRPr lang="en-US" sz="858" dirty="0"/>
          </a:p>
        </p:txBody>
      </p:sp>
      <p:sp>
        <p:nvSpPr>
          <p:cNvPr id="14" name="Shape 6">
            <a:extLst>
              <a:ext uri="{FF2B5EF4-FFF2-40B4-BE49-F238E27FC236}">
                <a16:creationId xmlns:a16="http://schemas.microsoft.com/office/drawing/2014/main" id="{42412DB8-96E1-24A9-8207-2C04064BFC7C}"/>
              </a:ext>
            </a:extLst>
          </p:cNvPr>
          <p:cNvSpPr/>
          <p:nvPr/>
        </p:nvSpPr>
        <p:spPr>
          <a:xfrm>
            <a:off x="4914001" y="988053"/>
            <a:ext cx="1724026" cy="319217"/>
          </a:xfrm>
          <a:prstGeom prst="rect">
            <a:avLst/>
          </a:prstGeom>
          <a:solidFill>
            <a:srgbClr val="1E2761"/>
          </a:solidFill>
          <a:ln w="9525">
            <a:solidFill>
              <a:srgbClr val="1E2761"/>
            </a:solidFill>
            <a:prstDash val="solid"/>
          </a:ln>
        </p:spPr>
        <p:txBody>
          <a:bodyPr/>
          <a:lstStyle/>
          <a:p>
            <a:endParaRPr lang="en-IN" sz="1860"/>
          </a:p>
        </p:txBody>
      </p:sp>
      <p:sp>
        <p:nvSpPr>
          <p:cNvPr id="16" name="Text 7">
            <a:extLst>
              <a:ext uri="{FF2B5EF4-FFF2-40B4-BE49-F238E27FC236}">
                <a16:creationId xmlns:a16="http://schemas.microsoft.com/office/drawing/2014/main" id="{B2230ADC-66FA-DEDA-B6A0-16D0A097D6C2}"/>
              </a:ext>
            </a:extLst>
          </p:cNvPr>
          <p:cNvSpPr txBox="1"/>
          <p:nvPr/>
        </p:nvSpPr>
        <p:spPr>
          <a:xfrm>
            <a:off x="4944403" y="988053"/>
            <a:ext cx="1663222" cy="319217"/>
          </a:xfrm>
          <a:prstGeom prst="rect">
            <a:avLst/>
          </a:prstGeom>
          <a:noFill/>
          <a:ln/>
        </p:spPr>
        <p:txBody>
          <a:bodyPr wrap="square" lIns="0" tIns="0" rIns="0" bIns="0" rtlCol="0" anchor="ctr"/>
          <a:lstStyle/>
          <a:p>
            <a:pPr algn="ctr">
              <a:lnSpc>
                <a:spcPct val="92000"/>
              </a:lnSpc>
            </a:pPr>
            <a:r>
              <a:rPr lang="en-US" sz="858" b="1" dirty="0">
                <a:solidFill>
                  <a:srgbClr val="FFFFFF"/>
                </a:solidFill>
                <a:latin typeface="Calibri" pitchFamily="34" charset="0"/>
                <a:ea typeface="Calibri" pitchFamily="34" charset="-122"/>
                <a:cs typeface="Calibri" pitchFamily="34" charset="-120"/>
              </a:rPr>
              <a:t>3  INITIAL CLAIM – DOCUMENTS</a:t>
            </a:r>
            <a:endParaRPr lang="en-US" sz="858" dirty="0"/>
          </a:p>
        </p:txBody>
      </p:sp>
      <p:sp>
        <p:nvSpPr>
          <p:cNvPr id="19" name="Shape 8">
            <a:extLst>
              <a:ext uri="{FF2B5EF4-FFF2-40B4-BE49-F238E27FC236}">
                <a16:creationId xmlns:a16="http://schemas.microsoft.com/office/drawing/2014/main" id="{EA1800A0-2AD3-FAA6-BE27-33DA97768C8C}"/>
              </a:ext>
            </a:extLst>
          </p:cNvPr>
          <p:cNvSpPr/>
          <p:nvPr/>
        </p:nvSpPr>
        <p:spPr>
          <a:xfrm>
            <a:off x="6668428" y="988053"/>
            <a:ext cx="1724026" cy="319217"/>
          </a:xfrm>
          <a:prstGeom prst="rect">
            <a:avLst/>
          </a:prstGeom>
          <a:solidFill>
            <a:srgbClr val="1E2761"/>
          </a:solidFill>
          <a:ln w="9525">
            <a:solidFill>
              <a:srgbClr val="1E2761"/>
            </a:solidFill>
            <a:prstDash val="solid"/>
          </a:ln>
        </p:spPr>
        <p:txBody>
          <a:bodyPr/>
          <a:lstStyle/>
          <a:p>
            <a:endParaRPr lang="en-IN" sz="1860"/>
          </a:p>
        </p:txBody>
      </p:sp>
      <p:sp>
        <p:nvSpPr>
          <p:cNvPr id="21" name="Text 9">
            <a:extLst>
              <a:ext uri="{FF2B5EF4-FFF2-40B4-BE49-F238E27FC236}">
                <a16:creationId xmlns:a16="http://schemas.microsoft.com/office/drawing/2014/main" id="{5BEC1E14-33F0-3E06-9A65-7081C1BBC785}"/>
              </a:ext>
            </a:extLst>
          </p:cNvPr>
          <p:cNvSpPr txBox="1"/>
          <p:nvPr/>
        </p:nvSpPr>
        <p:spPr>
          <a:xfrm>
            <a:off x="6698830" y="988053"/>
            <a:ext cx="1663222" cy="319217"/>
          </a:xfrm>
          <a:prstGeom prst="rect">
            <a:avLst/>
          </a:prstGeom>
          <a:noFill/>
          <a:ln/>
        </p:spPr>
        <p:txBody>
          <a:bodyPr wrap="square" lIns="0" tIns="0" rIns="0" bIns="0" rtlCol="0" anchor="ctr"/>
          <a:lstStyle/>
          <a:p>
            <a:pPr algn="ctr">
              <a:lnSpc>
                <a:spcPct val="92000"/>
              </a:lnSpc>
            </a:pPr>
            <a:r>
              <a:rPr lang="en-US" sz="858" b="1" dirty="0">
                <a:solidFill>
                  <a:srgbClr val="FFFFFF"/>
                </a:solidFill>
                <a:latin typeface="Calibri" pitchFamily="34" charset="0"/>
                <a:ea typeface="Calibri" pitchFamily="34" charset="-122"/>
                <a:cs typeface="Calibri" pitchFamily="34" charset="-120"/>
              </a:rPr>
              <a:t>4  SAVE / SUBMIT</a:t>
            </a:r>
            <a:endParaRPr lang="en-US" sz="858" dirty="0"/>
          </a:p>
        </p:txBody>
      </p:sp>
      <p:sp>
        <p:nvSpPr>
          <p:cNvPr id="25" name="Shape 10">
            <a:extLst>
              <a:ext uri="{FF2B5EF4-FFF2-40B4-BE49-F238E27FC236}">
                <a16:creationId xmlns:a16="http://schemas.microsoft.com/office/drawing/2014/main" id="{D3FBF94E-6B0A-21B7-4E2D-25766947D1C2}"/>
              </a:ext>
            </a:extLst>
          </p:cNvPr>
          <p:cNvSpPr/>
          <p:nvPr/>
        </p:nvSpPr>
        <p:spPr>
          <a:xfrm>
            <a:off x="8422856" y="988053"/>
            <a:ext cx="1724026" cy="319217"/>
          </a:xfrm>
          <a:prstGeom prst="rect">
            <a:avLst/>
          </a:prstGeom>
          <a:solidFill>
            <a:srgbClr val="1E2761"/>
          </a:solidFill>
          <a:ln w="9525">
            <a:solidFill>
              <a:srgbClr val="1E2761"/>
            </a:solidFill>
            <a:prstDash val="solid"/>
          </a:ln>
        </p:spPr>
        <p:txBody>
          <a:bodyPr/>
          <a:lstStyle/>
          <a:p>
            <a:endParaRPr lang="en-IN" sz="1860"/>
          </a:p>
        </p:txBody>
      </p:sp>
      <p:sp>
        <p:nvSpPr>
          <p:cNvPr id="28" name="Text 11">
            <a:extLst>
              <a:ext uri="{FF2B5EF4-FFF2-40B4-BE49-F238E27FC236}">
                <a16:creationId xmlns:a16="http://schemas.microsoft.com/office/drawing/2014/main" id="{568F907F-743F-933F-0360-DAFB73D60F02}"/>
              </a:ext>
            </a:extLst>
          </p:cNvPr>
          <p:cNvSpPr txBox="1"/>
          <p:nvPr/>
        </p:nvSpPr>
        <p:spPr>
          <a:xfrm>
            <a:off x="8453258" y="988053"/>
            <a:ext cx="1663222" cy="319217"/>
          </a:xfrm>
          <a:prstGeom prst="rect">
            <a:avLst/>
          </a:prstGeom>
          <a:noFill/>
          <a:ln/>
        </p:spPr>
        <p:txBody>
          <a:bodyPr wrap="square" lIns="0" tIns="0" rIns="0" bIns="0" rtlCol="0" anchor="ctr"/>
          <a:lstStyle/>
          <a:p>
            <a:pPr algn="ctr">
              <a:lnSpc>
                <a:spcPct val="92000"/>
              </a:lnSpc>
            </a:pPr>
            <a:r>
              <a:rPr lang="en-US" sz="858" b="1" dirty="0">
                <a:solidFill>
                  <a:srgbClr val="FFFFFF"/>
                </a:solidFill>
                <a:latin typeface="Calibri" pitchFamily="34" charset="0"/>
                <a:ea typeface="Calibri" pitchFamily="34" charset="-122"/>
                <a:cs typeface="Calibri" pitchFamily="34" charset="-120"/>
              </a:rPr>
              <a:t>5  IMGC REVIEW &amp; PROCESSING</a:t>
            </a:r>
            <a:endParaRPr lang="en-US" sz="858" dirty="0"/>
          </a:p>
        </p:txBody>
      </p:sp>
      <p:sp>
        <p:nvSpPr>
          <p:cNvPr id="31" name="Shape 12">
            <a:extLst>
              <a:ext uri="{FF2B5EF4-FFF2-40B4-BE49-F238E27FC236}">
                <a16:creationId xmlns:a16="http://schemas.microsoft.com/office/drawing/2014/main" id="{454B6605-0D8F-628A-8BFD-F7DEB3D4F8F0}"/>
              </a:ext>
            </a:extLst>
          </p:cNvPr>
          <p:cNvSpPr/>
          <p:nvPr/>
        </p:nvSpPr>
        <p:spPr>
          <a:xfrm>
            <a:off x="10177283" y="988053"/>
            <a:ext cx="1724026" cy="319217"/>
          </a:xfrm>
          <a:prstGeom prst="rect">
            <a:avLst/>
          </a:prstGeom>
          <a:solidFill>
            <a:srgbClr val="1E2761"/>
          </a:solidFill>
          <a:ln w="9525">
            <a:solidFill>
              <a:srgbClr val="1E2761"/>
            </a:solidFill>
            <a:prstDash val="solid"/>
          </a:ln>
        </p:spPr>
        <p:txBody>
          <a:bodyPr/>
          <a:lstStyle/>
          <a:p>
            <a:endParaRPr lang="en-IN" sz="1860"/>
          </a:p>
        </p:txBody>
      </p:sp>
      <p:sp>
        <p:nvSpPr>
          <p:cNvPr id="35" name="Text 13">
            <a:extLst>
              <a:ext uri="{FF2B5EF4-FFF2-40B4-BE49-F238E27FC236}">
                <a16:creationId xmlns:a16="http://schemas.microsoft.com/office/drawing/2014/main" id="{F1209FFB-8DE8-55EC-6C4A-59A8AD3CB1EE}"/>
              </a:ext>
            </a:extLst>
          </p:cNvPr>
          <p:cNvSpPr txBox="1"/>
          <p:nvPr/>
        </p:nvSpPr>
        <p:spPr>
          <a:xfrm>
            <a:off x="10207685" y="988053"/>
            <a:ext cx="1663222" cy="319217"/>
          </a:xfrm>
          <a:prstGeom prst="rect">
            <a:avLst/>
          </a:prstGeom>
          <a:noFill/>
          <a:ln/>
        </p:spPr>
        <p:txBody>
          <a:bodyPr wrap="square" lIns="0" tIns="0" rIns="0" bIns="0" rtlCol="0" anchor="ctr"/>
          <a:lstStyle/>
          <a:p>
            <a:pPr algn="ctr">
              <a:lnSpc>
                <a:spcPct val="92000"/>
              </a:lnSpc>
            </a:pPr>
            <a:r>
              <a:rPr lang="en-US" sz="858" b="1" dirty="0">
                <a:solidFill>
                  <a:srgbClr val="FFFFFF"/>
                </a:solidFill>
                <a:latin typeface="Calibri" pitchFamily="34" charset="0"/>
                <a:ea typeface="Calibri" pitchFamily="34" charset="-122"/>
                <a:cs typeface="Calibri" pitchFamily="34" charset="-120"/>
              </a:rPr>
              <a:t>6  STATUS, CLOSURE &amp; REPORTING</a:t>
            </a:r>
            <a:endParaRPr lang="en-US" sz="858" dirty="0"/>
          </a:p>
        </p:txBody>
      </p:sp>
      <p:sp>
        <p:nvSpPr>
          <p:cNvPr id="38" name="Shape 14">
            <a:extLst>
              <a:ext uri="{FF2B5EF4-FFF2-40B4-BE49-F238E27FC236}">
                <a16:creationId xmlns:a16="http://schemas.microsoft.com/office/drawing/2014/main" id="{D331CECE-41FA-0452-707D-CD625D8A75EA}"/>
              </a:ext>
            </a:extLst>
          </p:cNvPr>
          <p:cNvSpPr/>
          <p:nvPr/>
        </p:nvSpPr>
        <p:spPr>
          <a:xfrm>
            <a:off x="287886" y="1337671"/>
            <a:ext cx="1102059" cy="1216066"/>
          </a:xfrm>
          <a:prstGeom prst="rect">
            <a:avLst/>
          </a:prstGeom>
          <a:solidFill>
            <a:srgbClr val="2C5F8A"/>
          </a:solidFill>
          <a:ln w="9525">
            <a:solidFill>
              <a:srgbClr val="2C5F8A"/>
            </a:solidFill>
            <a:prstDash val="solid"/>
          </a:ln>
        </p:spPr>
        <p:txBody>
          <a:bodyPr/>
          <a:lstStyle/>
          <a:p>
            <a:endParaRPr lang="en-IN" sz="1860"/>
          </a:p>
        </p:txBody>
      </p:sp>
      <p:sp>
        <p:nvSpPr>
          <p:cNvPr id="41" name="Text 15">
            <a:extLst>
              <a:ext uri="{FF2B5EF4-FFF2-40B4-BE49-F238E27FC236}">
                <a16:creationId xmlns:a16="http://schemas.microsoft.com/office/drawing/2014/main" id="{5D0C43A0-9C36-393B-053F-7D8F4D8F3733}"/>
              </a:ext>
            </a:extLst>
          </p:cNvPr>
          <p:cNvSpPr txBox="1"/>
          <p:nvPr/>
        </p:nvSpPr>
        <p:spPr>
          <a:xfrm>
            <a:off x="325888" y="1337671"/>
            <a:ext cx="1026055" cy="1216066"/>
          </a:xfrm>
          <a:prstGeom prst="rect">
            <a:avLst/>
          </a:prstGeom>
          <a:noFill/>
          <a:ln/>
        </p:spPr>
        <p:txBody>
          <a:bodyPr wrap="square" lIns="0" tIns="0" rIns="0" bIns="0" rtlCol="0" anchor="ctr"/>
          <a:lstStyle/>
          <a:p>
            <a:pPr algn="ctr">
              <a:lnSpc>
                <a:spcPct val="92000"/>
              </a:lnSpc>
            </a:pPr>
            <a:r>
              <a:rPr lang="en-US" sz="958" b="1" dirty="0">
                <a:solidFill>
                  <a:srgbClr val="FFFFFF"/>
                </a:solidFill>
                <a:latin typeface="Calibri" pitchFamily="34" charset="0"/>
                <a:ea typeface="Calibri" pitchFamily="34" charset="-122"/>
                <a:cs typeface="Calibri" pitchFamily="34" charset="-120"/>
              </a:rPr>
              <a:t>LENDER</a:t>
            </a:r>
            <a:endParaRPr lang="en-US" sz="958" dirty="0"/>
          </a:p>
          <a:p>
            <a:pPr algn="ctr">
              <a:lnSpc>
                <a:spcPct val="92000"/>
              </a:lnSpc>
            </a:pPr>
            <a:r>
              <a:rPr lang="en-US" sz="798" dirty="0">
                <a:solidFill>
                  <a:srgbClr val="DCE3EE"/>
                </a:solidFill>
                <a:latin typeface="Calibri" pitchFamily="34" charset="0"/>
                <a:ea typeface="Calibri" pitchFamily="34" charset="-122"/>
                <a:cs typeface="Calibri" pitchFamily="34" charset="-120"/>
              </a:rPr>
              <a:t>External User</a:t>
            </a:r>
            <a:endParaRPr lang="en-US" sz="958" dirty="0"/>
          </a:p>
        </p:txBody>
      </p:sp>
      <p:sp>
        <p:nvSpPr>
          <p:cNvPr id="44" name="Shape 16">
            <a:extLst>
              <a:ext uri="{FF2B5EF4-FFF2-40B4-BE49-F238E27FC236}">
                <a16:creationId xmlns:a16="http://schemas.microsoft.com/office/drawing/2014/main" id="{86A8D2F0-B0DE-3383-40EE-A1EBE07AE6D4}"/>
              </a:ext>
            </a:extLst>
          </p:cNvPr>
          <p:cNvSpPr/>
          <p:nvPr/>
        </p:nvSpPr>
        <p:spPr>
          <a:xfrm>
            <a:off x="1389946" y="1337671"/>
            <a:ext cx="10526564" cy="1216066"/>
          </a:xfrm>
          <a:prstGeom prst="rect">
            <a:avLst/>
          </a:prstGeom>
          <a:solidFill>
            <a:srgbClr val="FFFFFF"/>
          </a:solidFill>
          <a:ln w="9525">
            <a:solidFill>
              <a:srgbClr val="C9D0DB"/>
            </a:solidFill>
            <a:prstDash val="solid"/>
          </a:ln>
        </p:spPr>
        <p:txBody>
          <a:bodyPr/>
          <a:lstStyle/>
          <a:p>
            <a:endParaRPr lang="en-IN" sz="1860"/>
          </a:p>
        </p:txBody>
      </p:sp>
      <p:sp>
        <p:nvSpPr>
          <p:cNvPr id="47" name="Shape 17">
            <a:extLst>
              <a:ext uri="{FF2B5EF4-FFF2-40B4-BE49-F238E27FC236}">
                <a16:creationId xmlns:a16="http://schemas.microsoft.com/office/drawing/2014/main" id="{8C349866-EB0F-FAB3-681F-297C835A9E05}"/>
              </a:ext>
            </a:extLst>
          </p:cNvPr>
          <p:cNvSpPr/>
          <p:nvPr/>
        </p:nvSpPr>
        <p:spPr>
          <a:xfrm>
            <a:off x="287886" y="2553737"/>
            <a:ext cx="1102059" cy="1216066"/>
          </a:xfrm>
          <a:prstGeom prst="rect">
            <a:avLst/>
          </a:prstGeom>
          <a:solidFill>
            <a:srgbClr val="1E2761"/>
          </a:solidFill>
          <a:ln w="9525">
            <a:solidFill>
              <a:srgbClr val="1E2761"/>
            </a:solidFill>
            <a:prstDash val="solid"/>
          </a:ln>
        </p:spPr>
        <p:txBody>
          <a:bodyPr/>
          <a:lstStyle/>
          <a:p>
            <a:endParaRPr lang="en-IN" sz="1860"/>
          </a:p>
        </p:txBody>
      </p:sp>
      <p:sp>
        <p:nvSpPr>
          <p:cNvPr id="51" name="Text 18">
            <a:extLst>
              <a:ext uri="{FF2B5EF4-FFF2-40B4-BE49-F238E27FC236}">
                <a16:creationId xmlns:a16="http://schemas.microsoft.com/office/drawing/2014/main" id="{2C10876A-A4C8-F1E1-42D4-7865327A01D9}"/>
              </a:ext>
            </a:extLst>
          </p:cNvPr>
          <p:cNvSpPr txBox="1"/>
          <p:nvPr/>
        </p:nvSpPr>
        <p:spPr>
          <a:xfrm>
            <a:off x="325888" y="2553737"/>
            <a:ext cx="1026055" cy="1216066"/>
          </a:xfrm>
          <a:prstGeom prst="rect">
            <a:avLst/>
          </a:prstGeom>
          <a:noFill/>
          <a:ln/>
        </p:spPr>
        <p:txBody>
          <a:bodyPr wrap="square" lIns="0" tIns="0" rIns="0" bIns="0" rtlCol="0" anchor="ctr"/>
          <a:lstStyle/>
          <a:p>
            <a:pPr algn="ctr">
              <a:lnSpc>
                <a:spcPct val="92000"/>
              </a:lnSpc>
            </a:pPr>
            <a:r>
              <a:rPr lang="en-US" sz="958" b="1" dirty="0">
                <a:solidFill>
                  <a:srgbClr val="FFFFFF"/>
                </a:solidFill>
                <a:latin typeface="Calibri" pitchFamily="34" charset="0"/>
                <a:ea typeface="Calibri" pitchFamily="34" charset="-122"/>
                <a:cs typeface="Calibri" pitchFamily="34" charset="-120"/>
              </a:rPr>
              <a:t>IMGC CLAIMS</a:t>
            </a:r>
            <a:endParaRPr lang="en-US" sz="958" dirty="0"/>
          </a:p>
          <a:p>
            <a:pPr algn="ctr">
              <a:lnSpc>
                <a:spcPct val="92000"/>
              </a:lnSpc>
            </a:pPr>
            <a:r>
              <a:rPr lang="en-US" sz="958" b="1" dirty="0">
                <a:solidFill>
                  <a:srgbClr val="FFFFFF"/>
                </a:solidFill>
                <a:latin typeface="Calibri" pitchFamily="34" charset="0"/>
                <a:ea typeface="Calibri" pitchFamily="34" charset="-122"/>
                <a:cs typeface="Calibri" pitchFamily="34" charset="-120"/>
              </a:rPr>
              <a:t>TEAM</a:t>
            </a:r>
            <a:endParaRPr lang="en-US" sz="958" dirty="0"/>
          </a:p>
          <a:p>
            <a:pPr algn="ctr">
              <a:lnSpc>
                <a:spcPct val="92000"/>
              </a:lnSpc>
            </a:pPr>
            <a:r>
              <a:rPr lang="en-US" sz="798" dirty="0">
                <a:solidFill>
                  <a:srgbClr val="DCE3EE"/>
                </a:solidFill>
                <a:latin typeface="Calibri" pitchFamily="34" charset="0"/>
                <a:ea typeface="Calibri" pitchFamily="34" charset="-122"/>
                <a:cs typeface="Calibri" pitchFamily="34" charset="-120"/>
              </a:rPr>
              <a:t>Internal User</a:t>
            </a:r>
            <a:endParaRPr lang="en-US" sz="958" dirty="0"/>
          </a:p>
        </p:txBody>
      </p:sp>
      <p:sp>
        <p:nvSpPr>
          <p:cNvPr id="53" name="Shape 19">
            <a:extLst>
              <a:ext uri="{FF2B5EF4-FFF2-40B4-BE49-F238E27FC236}">
                <a16:creationId xmlns:a16="http://schemas.microsoft.com/office/drawing/2014/main" id="{8E4A6454-384B-C256-B18E-D35A86A0AE2D}"/>
              </a:ext>
            </a:extLst>
          </p:cNvPr>
          <p:cNvSpPr/>
          <p:nvPr/>
        </p:nvSpPr>
        <p:spPr>
          <a:xfrm>
            <a:off x="1389946" y="2553737"/>
            <a:ext cx="10526564" cy="1216066"/>
          </a:xfrm>
          <a:prstGeom prst="rect">
            <a:avLst/>
          </a:prstGeom>
          <a:solidFill>
            <a:srgbClr val="FAFBFC"/>
          </a:solidFill>
          <a:ln w="9525">
            <a:solidFill>
              <a:srgbClr val="C9D0DB"/>
            </a:solidFill>
            <a:prstDash val="solid"/>
          </a:ln>
        </p:spPr>
        <p:txBody>
          <a:bodyPr/>
          <a:lstStyle/>
          <a:p>
            <a:endParaRPr lang="en-IN" sz="1860"/>
          </a:p>
        </p:txBody>
      </p:sp>
      <p:sp>
        <p:nvSpPr>
          <p:cNvPr id="57" name="Shape 20">
            <a:extLst>
              <a:ext uri="{FF2B5EF4-FFF2-40B4-BE49-F238E27FC236}">
                <a16:creationId xmlns:a16="http://schemas.microsoft.com/office/drawing/2014/main" id="{673029E1-1CE7-9F93-4F05-0136935DEAA7}"/>
              </a:ext>
            </a:extLst>
          </p:cNvPr>
          <p:cNvSpPr/>
          <p:nvPr/>
        </p:nvSpPr>
        <p:spPr>
          <a:xfrm>
            <a:off x="287886" y="3769803"/>
            <a:ext cx="1102059" cy="836045"/>
          </a:xfrm>
          <a:prstGeom prst="rect">
            <a:avLst/>
          </a:prstGeom>
          <a:solidFill>
            <a:srgbClr val="5A6472"/>
          </a:solidFill>
          <a:ln w="9525">
            <a:solidFill>
              <a:srgbClr val="5A6472"/>
            </a:solidFill>
            <a:prstDash val="solid"/>
          </a:ln>
        </p:spPr>
        <p:txBody>
          <a:bodyPr/>
          <a:lstStyle/>
          <a:p>
            <a:endParaRPr lang="en-IN" sz="1860"/>
          </a:p>
        </p:txBody>
      </p:sp>
      <p:sp>
        <p:nvSpPr>
          <p:cNvPr id="61" name="Text 21">
            <a:extLst>
              <a:ext uri="{FF2B5EF4-FFF2-40B4-BE49-F238E27FC236}">
                <a16:creationId xmlns:a16="http://schemas.microsoft.com/office/drawing/2014/main" id="{EB6A6527-7A18-2E63-0B29-BD9ECE11AB47}"/>
              </a:ext>
            </a:extLst>
          </p:cNvPr>
          <p:cNvSpPr txBox="1"/>
          <p:nvPr/>
        </p:nvSpPr>
        <p:spPr>
          <a:xfrm>
            <a:off x="325888" y="3769803"/>
            <a:ext cx="1026055" cy="836045"/>
          </a:xfrm>
          <a:prstGeom prst="rect">
            <a:avLst/>
          </a:prstGeom>
          <a:noFill/>
          <a:ln/>
        </p:spPr>
        <p:txBody>
          <a:bodyPr wrap="square" lIns="0" tIns="0" rIns="0" bIns="0" rtlCol="0" anchor="ctr"/>
          <a:lstStyle/>
          <a:p>
            <a:pPr algn="ctr">
              <a:lnSpc>
                <a:spcPct val="92000"/>
              </a:lnSpc>
            </a:pPr>
            <a:r>
              <a:rPr lang="en-US" sz="958" b="1" dirty="0">
                <a:solidFill>
                  <a:srgbClr val="FFFFFF"/>
                </a:solidFill>
                <a:latin typeface="Calibri" pitchFamily="34" charset="0"/>
                <a:ea typeface="Calibri" pitchFamily="34" charset="-122"/>
                <a:cs typeface="Calibri" pitchFamily="34" charset="-120"/>
              </a:rPr>
              <a:t>PAS</a:t>
            </a:r>
            <a:endParaRPr lang="en-US" sz="958" dirty="0"/>
          </a:p>
          <a:p>
            <a:pPr algn="ctr">
              <a:lnSpc>
                <a:spcPct val="92000"/>
              </a:lnSpc>
            </a:pPr>
            <a:r>
              <a:rPr lang="en-US" sz="798" dirty="0">
                <a:solidFill>
                  <a:srgbClr val="DCE3EE"/>
                </a:solidFill>
                <a:latin typeface="Calibri" pitchFamily="34" charset="0"/>
                <a:ea typeface="Calibri" pitchFamily="34" charset="-122"/>
                <a:cs typeface="Calibri" pitchFamily="34" charset="-120"/>
              </a:rPr>
              <a:t>Policy Admin</a:t>
            </a:r>
            <a:endParaRPr lang="en-US" sz="958" dirty="0"/>
          </a:p>
          <a:p>
            <a:pPr algn="ctr">
              <a:lnSpc>
                <a:spcPct val="92000"/>
              </a:lnSpc>
            </a:pPr>
            <a:r>
              <a:rPr lang="en-US" sz="798" dirty="0">
                <a:solidFill>
                  <a:srgbClr val="DCE3EE"/>
                </a:solidFill>
                <a:latin typeface="Calibri" pitchFamily="34" charset="0"/>
                <a:ea typeface="Calibri" pitchFamily="34" charset="-122"/>
                <a:cs typeface="Calibri" pitchFamily="34" charset="-120"/>
              </a:rPr>
              <a:t>System</a:t>
            </a:r>
            <a:endParaRPr lang="en-US" sz="958" dirty="0"/>
          </a:p>
        </p:txBody>
      </p:sp>
      <p:sp>
        <p:nvSpPr>
          <p:cNvPr id="65" name="Shape 22">
            <a:extLst>
              <a:ext uri="{FF2B5EF4-FFF2-40B4-BE49-F238E27FC236}">
                <a16:creationId xmlns:a16="http://schemas.microsoft.com/office/drawing/2014/main" id="{EF40B101-7510-319F-4B8A-185B928830A5}"/>
              </a:ext>
            </a:extLst>
          </p:cNvPr>
          <p:cNvSpPr/>
          <p:nvPr/>
        </p:nvSpPr>
        <p:spPr>
          <a:xfrm>
            <a:off x="1389946" y="3769803"/>
            <a:ext cx="10526564" cy="836045"/>
          </a:xfrm>
          <a:prstGeom prst="rect">
            <a:avLst/>
          </a:prstGeom>
          <a:solidFill>
            <a:srgbClr val="FFFFFF"/>
          </a:solidFill>
          <a:ln w="9525">
            <a:solidFill>
              <a:srgbClr val="C9D0DB"/>
            </a:solidFill>
            <a:prstDash val="solid"/>
          </a:ln>
        </p:spPr>
        <p:txBody>
          <a:bodyPr/>
          <a:lstStyle/>
          <a:p>
            <a:endParaRPr lang="en-IN" sz="1860"/>
          </a:p>
        </p:txBody>
      </p:sp>
      <p:sp>
        <p:nvSpPr>
          <p:cNvPr id="69" name="Shape 23">
            <a:extLst>
              <a:ext uri="{FF2B5EF4-FFF2-40B4-BE49-F238E27FC236}">
                <a16:creationId xmlns:a16="http://schemas.microsoft.com/office/drawing/2014/main" id="{E7627D7F-4B2C-4231-1807-1510E2A514BA}"/>
              </a:ext>
            </a:extLst>
          </p:cNvPr>
          <p:cNvSpPr/>
          <p:nvPr/>
        </p:nvSpPr>
        <p:spPr>
          <a:xfrm>
            <a:off x="287886" y="4605848"/>
            <a:ext cx="1102059" cy="836045"/>
          </a:xfrm>
          <a:prstGeom prst="rect">
            <a:avLst/>
          </a:prstGeom>
          <a:solidFill>
            <a:srgbClr val="B4541A"/>
          </a:solidFill>
          <a:ln w="9525">
            <a:solidFill>
              <a:srgbClr val="B4541A"/>
            </a:solidFill>
            <a:prstDash val="solid"/>
          </a:ln>
        </p:spPr>
        <p:txBody>
          <a:bodyPr/>
          <a:lstStyle/>
          <a:p>
            <a:endParaRPr lang="en-IN" sz="1860"/>
          </a:p>
        </p:txBody>
      </p:sp>
      <p:sp>
        <p:nvSpPr>
          <p:cNvPr id="73" name="Text 24">
            <a:extLst>
              <a:ext uri="{FF2B5EF4-FFF2-40B4-BE49-F238E27FC236}">
                <a16:creationId xmlns:a16="http://schemas.microsoft.com/office/drawing/2014/main" id="{A0A05CEA-13C2-DB28-3138-222244780E87}"/>
              </a:ext>
            </a:extLst>
          </p:cNvPr>
          <p:cNvSpPr txBox="1"/>
          <p:nvPr/>
        </p:nvSpPr>
        <p:spPr>
          <a:xfrm>
            <a:off x="325888" y="4605848"/>
            <a:ext cx="1026055" cy="836045"/>
          </a:xfrm>
          <a:prstGeom prst="rect">
            <a:avLst/>
          </a:prstGeom>
          <a:noFill/>
          <a:ln/>
        </p:spPr>
        <p:txBody>
          <a:bodyPr wrap="square" lIns="0" tIns="0" rIns="0" bIns="0" rtlCol="0" anchor="ctr"/>
          <a:lstStyle/>
          <a:p>
            <a:pPr algn="ctr">
              <a:lnSpc>
                <a:spcPct val="92000"/>
              </a:lnSpc>
            </a:pPr>
            <a:r>
              <a:rPr lang="en-US" sz="958" b="1" dirty="0">
                <a:solidFill>
                  <a:srgbClr val="FFFFFF"/>
                </a:solidFill>
                <a:latin typeface="Calibri" pitchFamily="34" charset="0"/>
                <a:ea typeface="Calibri" pitchFamily="34" charset="-122"/>
                <a:cs typeface="Calibri" pitchFamily="34" charset="-120"/>
              </a:rPr>
              <a:t>NOTIFICATIONS</a:t>
            </a:r>
            <a:endParaRPr lang="en-US" sz="958" dirty="0"/>
          </a:p>
          <a:p>
            <a:pPr algn="ctr">
              <a:lnSpc>
                <a:spcPct val="92000"/>
              </a:lnSpc>
            </a:pPr>
            <a:r>
              <a:rPr lang="en-US" sz="798" dirty="0">
                <a:solidFill>
                  <a:srgbClr val="DCE3EE"/>
                </a:solidFill>
                <a:latin typeface="Calibri" pitchFamily="34" charset="0"/>
                <a:ea typeface="Calibri" pitchFamily="34" charset="-122"/>
                <a:cs typeface="Calibri" pitchFamily="34" charset="-120"/>
              </a:rPr>
              <a:t>Email</a:t>
            </a:r>
            <a:endParaRPr lang="en-US" sz="958" dirty="0"/>
          </a:p>
        </p:txBody>
      </p:sp>
      <p:sp>
        <p:nvSpPr>
          <p:cNvPr id="77" name="Shape 25">
            <a:extLst>
              <a:ext uri="{FF2B5EF4-FFF2-40B4-BE49-F238E27FC236}">
                <a16:creationId xmlns:a16="http://schemas.microsoft.com/office/drawing/2014/main" id="{E280C629-A35C-3301-842A-5BBA0FF1D1C2}"/>
              </a:ext>
            </a:extLst>
          </p:cNvPr>
          <p:cNvSpPr/>
          <p:nvPr/>
        </p:nvSpPr>
        <p:spPr>
          <a:xfrm>
            <a:off x="1389946" y="4605848"/>
            <a:ext cx="10526564" cy="836045"/>
          </a:xfrm>
          <a:prstGeom prst="rect">
            <a:avLst/>
          </a:prstGeom>
          <a:solidFill>
            <a:srgbClr val="FAFBFC"/>
          </a:solidFill>
          <a:ln w="9525">
            <a:solidFill>
              <a:srgbClr val="C9D0DB"/>
            </a:solidFill>
            <a:prstDash val="solid"/>
          </a:ln>
        </p:spPr>
        <p:txBody>
          <a:bodyPr/>
          <a:lstStyle/>
          <a:p>
            <a:endParaRPr lang="en-IN" sz="1860"/>
          </a:p>
        </p:txBody>
      </p:sp>
      <p:sp>
        <p:nvSpPr>
          <p:cNvPr id="81" name="Shape 26">
            <a:extLst>
              <a:ext uri="{FF2B5EF4-FFF2-40B4-BE49-F238E27FC236}">
                <a16:creationId xmlns:a16="http://schemas.microsoft.com/office/drawing/2014/main" id="{70CFE458-2A4E-5FFF-E8C5-0B4C6A53F9B7}"/>
              </a:ext>
            </a:extLst>
          </p:cNvPr>
          <p:cNvSpPr/>
          <p:nvPr/>
        </p:nvSpPr>
        <p:spPr>
          <a:xfrm>
            <a:off x="287886" y="5441892"/>
            <a:ext cx="1102059" cy="874047"/>
          </a:xfrm>
          <a:prstGeom prst="rect">
            <a:avLst/>
          </a:prstGeom>
          <a:solidFill>
            <a:srgbClr val="11736A"/>
          </a:solidFill>
          <a:ln w="9525">
            <a:solidFill>
              <a:srgbClr val="11736A"/>
            </a:solidFill>
            <a:prstDash val="solid"/>
          </a:ln>
        </p:spPr>
        <p:txBody>
          <a:bodyPr/>
          <a:lstStyle/>
          <a:p>
            <a:endParaRPr lang="en-IN" sz="1860"/>
          </a:p>
        </p:txBody>
      </p:sp>
      <p:sp>
        <p:nvSpPr>
          <p:cNvPr id="85" name="Text 27">
            <a:extLst>
              <a:ext uri="{FF2B5EF4-FFF2-40B4-BE49-F238E27FC236}">
                <a16:creationId xmlns:a16="http://schemas.microsoft.com/office/drawing/2014/main" id="{3733BE21-11CA-3786-0F31-9FA26BE82146}"/>
              </a:ext>
            </a:extLst>
          </p:cNvPr>
          <p:cNvSpPr txBox="1"/>
          <p:nvPr/>
        </p:nvSpPr>
        <p:spPr>
          <a:xfrm>
            <a:off x="325888" y="5441892"/>
            <a:ext cx="1026055" cy="874047"/>
          </a:xfrm>
          <a:prstGeom prst="rect">
            <a:avLst/>
          </a:prstGeom>
          <a:noFill/>
          <a:ln/>
        </p:spPr>
        <p:txBody>
          <a:bodyPr wrap="square" lIns="0" tIns="0" rIns="0" bIns="0" rtlCol="0" anchor="ctr"/>
          <a:lstStyle/>
          <a:p>
            <a:pPr algn="ctr">
              <a:lnSpc>
                <a:spcPct val="92000"/>
              </a:lnSpc>
            </a:pPr>
            <a:r>
              <a:rPr lang="en-US" sz="958" b="1" dirty="0">
                <a:solidFill>
                  <a:srgbClr val="FFFFFF"/>
                </a:solidFill>
                <a:latin typeface="Calibri" pitchFamily="34" charset="0"/>
                <a:ea typeface="Calibri" pitchFamily="34" charset="-122"/>
                <a:cs typeface="Calibri" pitchFamily="34" charset="-120"/>
              </a:rPr>
              <a:t>DATABASE &amp;</a:t>
            </a:r>
            <a:endParaRPr lang="en-US" sz="958" dirty="0"/>
          </a:p>
          <a:p>
            <a:pPr algn="ctr">
              <a:lnSpc>
                <a:spcPct val="92000"/>
              </a:lnSpc>
            </a:pPr>
            <a:r>
              <a:rPr lang="en-US" sz="958" b="1" dirty="0">
                <a:solidFill>
                  <a:srgbClr val="FFFFFF"/>
                </a:solidFill>
                <a:latin typeface="Calibri" pitchFamily="34" charset="0"/>
                <a:ea typeface="Calibri" pitchFamily="34" charset="-122"/>
                <a:cs typeface="Calibri" pitchFamily="34" charset="-120"/>
              </a:rPr>
              <a:t>AUDIT TRAIL</a:t>
            </a:r>
            <a:endParaRPr lang="en-US" sz="958" dirty="0"/>
          </a:p>
          <a:p>
            <a:pPr algn="ctr">
              <a:lnSpc>
                <a:spcPct val="92000"/>
              </a:lnSpc>
            </a:pPr>
            <a:endParaRPr lang="en-US" sz="958" dirty="0"/>
          </a:p>
        </p:txBody>
      </p:sp>
      <p:sp>
        <p:nvSpPr>
          <p:cNvPr id="89" name="Shape 28">
            <a:extLst>
              <a:ext uri="{FF2B5EF4-FFF2-40B4-BE49-F238E27FC236}">
                <a16:creationId xmlns:a16="http://schemas.microsoft.com/office/drawing/2014/main" id="{811E423F-7B52-DB82-C757-09A4278E47C0}"/>
              </a:ext>
            </a:extLst>
          </p:cNvPr>
          <p:cNvSpPr/>
          <p:nvPr/>
        </p:nvSpPr>
        <p:spPr>
          <a:xfrm>
            <a:off x="1389946" y="5441892"/>
            <a:ext cx="10526564" cy="874047"/>
          </a:xfrm>
          <a:prstGeom prst="rect">
            <a:avLst/>
          </a:prstGeom>
          <a:solidFill>
            <a:srgbClr val="FFFFFF"/>
          </a:solidFill>
          <a:ln w="9525">
            <a:solidFill>
              <a:srgbClr val="C9D0DB"/>
            </a:solidFill>
            <a:prstDash val="solid"/>
          </a:ln>
        </p:spPr>
        <p:txBody>
          <a:bodyPr/>
          <a:lstStyle/>
          <a:p>
            <a:endParaRPr lang="en-IN" sz="1860"/>
          </a:p>
        </p:txBody>
      </p:sp>
      <p:sp>
        <p:nvSpPr>
          <p:cNvPr id="93" name="Shape 29">
            <a:extLst>
              <a:ext uri="{FF2B5EF4-FFF2-40B4-BE49-F238E27FC236}">
                <a16:creationId xmlns:a16="http://schemas.microsoft.com/office/drawing/2014/main" id="{C978B522-C040-61AB-D396-39DBB4C141BA}"/>
              </a:ext>
            </a:extLst>
          </p:cNvPr>
          <p:cNvSpPr/>
          <p:nvPr/>
        </p:nvSpPr>
        <p:spPr>
          <a:xfrm>
            <a:off x="1453916" y="1626487"/>
            <a:ext cx="1626487" cy="638434"/>
          </a:xfrm>
          <a:prstGeom prst="roundRect">
            <a:avLst>
              <a:gd name="adj" fmla="val 7143"/>
            </a:avLst>
          </a:prstGeom>
          <a:solidFill>
            <a:srgbClr val="E8F0F8"/>
          </a:solidFill>
          <a:ln w="12700">
            <a:solidFill>
              <a:srgbClr val="2C5F8A"/>
            </a:solidFill>
            <a:prstDash val="solid"/>
          </a:ln>
        </p:spPr>
        <p:txBody>
          <a:bodyPr/>
          <a:lstStyle/>
          <a:p>
            <a:endParaRPr lang="en-IN" sz="1860"/>
          </a:p>
        </p:txBody>
      </p:sp>
      <p:sp>
        <p:nvSpPr>
          <p:cNvPr id="97" name="Text 30">
            <a:extLst>
              <a:ext uri="{FF2B5EF4-FFF2-40B4-BE49-F238E27FC236}">
                <a16:creationId xmlns:a16="http://schemas.microsoft.com/office/drawing/2014/main" id="{169F3C5E-6BBC-0E4E-5F8E-987314D8C204}"/>
              </a:ext>
            </a:extLst>
          </p:cNvPr>
          <p:cNvSpPr txBox="1"/>
          <p:nvPr/>
        </p:nvSpPr>
        <p:spPr>
          <a:xfrm>
            <a:off x="1499518" y="1626487"/>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Receives access created by IMGC; logs in via OTP sent to registered e-mail ID</a:t>
            </a:r>
            <a:endParaRPr lang="en-US" sz="938" dirty="0"/>
          </a:p>
        </p:txBody>
      </p:sp>
      <p:sp>
        <p:nvSpPr>
          <p:cNvPr id="101" name="Shape 31">
            <a:extLst>
              <a:ext uri="{FF2B5EF4-FFF2-40B4-BE49-F238E27FC236}">
                <a16:creationId xmlns:a16="http://schemas.microsoft.com/office/drawing/2014/main" id="{D88A60B4-A365-676C-FEFF-2AA0226F13F9}"/>
              </a:ext>
            </a:extLst>
          </p:cNvPr>
          <p:cNvSpPr/>
          <p:nvPr/>
        </p:nvSpPr>
        <p:spPr>
          <a:xfrm>
            <a:off x="3208343" y="1626487"/>
            <a:ext cx="1626487" cy="638434"/>
          </a:xfrm>
          <a:prstGeom prst="roundRect">
            <a:avLst>
              <a:gd name="adj" fmla="val 7143"/>
            </a:avLst>
          </a:prstGeom>
          <a:solidFill>
            <a:srgbClr val="E8F0F8"/>
          </a:solidFill>
          <a:ln w="12700">
            <a:solidFill>
              <a:srgbClr val="2C5F8A"/>
            </a:solidFill>
            <a:prstDash val="solid"/>
          </a:ln>
        </p:spPr>
        <p:txBody>
          <a:bodyPr/>
          <a:lstStyle/>
          <a:p>
            <a:endParaRPr lang="en-IN" sz="1860"/>
          </a:p>
        </p:txBody>
      </p:sp>
      <p:sp>
        <p:nvSpPr>
          <p:cNvPr id="105" name="Text 32">
            <a:extLst>
              <a:ext uri="{FF2B5EF4-FFF2-40B4-BE49-F238E27FC236}">
                <a16:creationId xmlns:a16="http://schemas.microsoft.com/office/drawing/2014/main" id="{964E13FB-92DE-6EB3-C008-3D0F5B63AACA}"/>
              </a:ext>
            </a:extLst>
          </p:cNvPr>
          <p:cNvSpPr txBox="1"/>
          <p:nvPr/>
        </p:nvSpPr>
        <p:spPr>
          <a:xfrm>
            <a:off x="3253945" y="1626487"/>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Views only own accounts (visibility driven by e-mail ID domain)</a:t>
            </a:r>
            <a:endParaRPr lang="en-US" sz="938" dirty="0"/>
          </a:p>
        </p:txBody>
      </p:sp>
      <p:sp>
        <p:nvSpPr>
          <p:cNvPr id="109" name="Shape 33">
            <a:extLst>
              <a:ext uri="{FF2B5EF4-FFF2-40B4-BE49-F238E27FC236}">
                <a16:creationId xmlns:a16="http://schemas.microsoft.com/office/drawing/2014/main" id="{31EBE6A7-532A-2D93-17E0-0EA6BAF53868}"/>
              </a:ext>
            </a:extLst>
          </p:cNvPr>
          <p:cNvSpPr/>
          <p:nvPr/>
        </p:nvSpPr>
        <p:spPr>
          <a:xfrm>
            <a:off x="4962771" y="1398476"/>
            <a:ext cx="1626487" cy="501626"/>
          </a:xfrm>
          <a:prstGeom prst="roundRect">
            <a:avLst>
              <a:gd name="adj" fmla="val 9091"/>
            </a:avLst>
          </a:prstGeom>
          <a:solidFill>
            <a:srgbClr val="E8F0F8"/>
          </a:solidFill>
          <a:ln w="12700">
            <a:solidFill>
              <a:srgbClr val="2C5F8A"/>
            </a:solidFill>
            <a:prstDash val="solid"/>
          </a:ln>
        </p:spPr>
        <p:txBody>
          <a:bodyPr/>
          <a:lstStyle/>
          <a:p>
            <a:endParaRPr lang="en-IN" sz="1860"/>
          </a:p>
        </p:txBody>
      </p:sp>
      <p:sp>
        <p:nvSpPr>
          <p:cNvPr id="113" name="Text 34">
            <a:extLst>
              <a:ext uri="{FF2B5EF4-FFF2-40B4-BE49-F238E27FC236}">
                <a16:creationId xmlns:a16="http://schemas.microsoft.com/office/drawing/2014/main" id="{E3EC5965-B093-7C15-751C-26F3686F1DE0}"/>
              </a:ext>
            </a:extLst>
          </p:cNvPr>
          <p:cNvSpPr txBox="1"/>
          <p:nvPr/>
        </p:nvSpPr>
        <p:spPr>
          <a:xfrm>
            <a:off x="5008373" y="1398476"/>
            <a:ext cx="1535283" cy="501626"/>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Opens case → master document checklist (Pending / Uploaded / Accepted)</a:t>
            </a:r>
            <a:endParaRPr lang="en-US" sz="938" dirty="0"/>
          </a:p>
        </p:txBody>
      </p:sp>
      <p:sp>
        <p:nvSpPr>
          <p:cNvPr id="117" name="Shape 35">
            <a:extLst>
              <a:ext uri="{FF2B5EF4-FFF2-40B4-BE49-F238E27FC236}">
                <a16:creationId xmlns:a16="http://schemas.microsoft.com/office/drawing/2014/main" id="{FE59BF7F-5106-1AA8-F54B-DAEE1CFF4516}"/>
              </a:ext>
            </a:extLst>
          </p:cNvPr>
          <p:cNvSpPr/>
          <p:nvPr/>
        </p:nvSpPr>
        <p:spPr>
          <a:xfrm>
            <a:off x="4962771" y="1945704"/>
            <a:ext cx="1626487" cy="471225"/>
          </a:xfrm>
          <a:prstGeom prst="roundRect">
            <a:avLst>
              <a:gd name="adj" fmla="val 9678"/>
            </a:avLst>
          </a:prstGeom>
          <a:solidFill>
            <a:srgbClr val="E8F0F8"/>
          </a:solidFill>
          <a:ln w="12700">
            <a:solidFill>
              <a:srgbClr val="2C5F8A"/>
            </a:solidFill>
            <a:prstDash val="solid"/>
          </a:ln>
        </p:spPr>
        <p:txBody>
          <a:bodyPr/>
          <a:lstStyle/>
          <a:p>
            <a:endParaRPr lang="en-IN" sz="1860"/>
          </a:p>
        </p:txBody>
      </p:sp>
      <p:sp>
        <p:nvSpPr>
          <p:cNvPr id="121" name="Text 36">
            <a:extLst>
              <a:ext uri="{FF2B5EF4-FFF2-40B4-BE49-F238E27FC236}">
                <a16:creationId xmlns:a16="http://schemas.microsoft.com/office/drawing/2014/main" id="{7E25F1A7-F2F3-BE21-9D6C-E52404FAF6ED}"/>
              </a:ext>
            </a:extLst>
          </p:cNvPr>
          <p:cNvSpPr txBox="1"/>
          <p:nvPr/>
        </p:nvSpPr>
        <p:spPr>
          <a:xfrm>
            <a:off x="5008373" y="1945704"/>
            <a:ext cx="1535283" cy="471225"/>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Uploads documents + captures remarks</a:t>
            </a:r>
            <a:endParaRPr lang="en-US" sz="938" dirty="0"/>
          </a:p>
        </p:txBody>
      </p:sp>
      <p:sp>
        <p:nvSpPr>
          <p:cNvPr id="125" name="Shape 37">
            <a:extLst>
              <a:ext uri="{FF2B5EF4-FFF2-40B4-BE49-F238E27FC236}">
                <a16:creationId xmlns:a16="http://schemas.microsoft.com/office/drawing/2014/main" id="{732F329E-C308-10DE-5661-222F9BF19827}"/>
              </a:ext>
            </a:extLst>
          </p:cNvPr>
          <p:cNvSpPr/>
          <p:nvPr/>
        </p:nvSpPr>
        <p:spPr>
          <a:xfrm>
            <a:off x="6717198" y="1626487"/>
            <a:ext cx="1626487" cy="638434"/>
          </a:xfrm>
          <a:prstGeom prst="roundRect">
            <a:avLst>
              <a:gd name="adj" fmla="val 7143"/>
            </a:avLst>
          </a:prstGeom>
          <a:solidFill>
            <a:srgbClr val="E8F0F8"/>
          </a:solidFill>
          <a:ln w="12700">
            <a:solidFill>
              <a:srgbClr val="2C5F8A"/>
            </a:solidFill>
            <a:prstDash val="solid"/>
          </a:ln>
        </p:spPr>
        <p:txBody>
          <a:bodyPr/>
          <a:lstStyle/>
          <a:p>
            <a:endParaRPr lang="en-IN" sz="1860"/>
          </a:p>
        </p:txBody>
      </p:sp>
      <p:sp>
        <p:nvSpPr>
          <p:cNvPr id="129" name="Text 38">
            <a:extLst>
              <a:ext uri="{FF2B5EF4-FFF2-40B4-BE49-F238E27FC236}">
                <a16:creationId xmlns:a16="http://schemas.microsoft.com/office/drawing/2014/main" id="{BD9DF15E-EDFA-9C66-F4E3-E2A87B4EBCD3}"/>
              </a:ext>
            </a:extLst>
          </p:cNvPr>
          <p:cNvSpPr txBox="1"/>
          <p:nvPr/>
        </p:nvSpPr>
        <p:spPr>
          <a:xfrm>
            <a:off x="6762800" y="1626487"/>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Save  ·  Save &amp; Submit  ·  Cancel</a:t>
            </a:r>
            <a:endParaRPr lang="en-US" sz="938" dirty="0"/>
          </a:p>
          <a:p>
            <a:pPr algn="ctr">
              <a:lnSpc>
                <a:spcPct val="90000"/>
              </a:lnSpc>
            </a:pPr>
            <a:r>
              <a:rPr lang="en-US" sz="938" dirty="0">
                <a:solidFill>
                  <a:srgbClr val="16233F"/>
                </a:solidFill>
                <a:latin typeface="Calibri" pitchFamily="34" charset="0"/>
                <a:ea typeface="Calibri" pitchFamily="34" charset="-122"/>
                <a:cs typeface="Calibri" pitchFamily="34" charset="-120"/>
              </a:rPr>
              <a:t>(Submit enabled only when ALL documents uploaded)</a:t>
            </a:r>
            <a:endParaRPr lang="en-US" sz="938" dirty="0"/>
          </a:p>
        </p:txBody>
      </p:sp>
      <p:sp>
        <p:nvSpPr>
          <p:cNvPr id="133" name="Shape 39">
            <a:extLst>
              <a:ext uri="{FF2B5EF4-FFF2-40B4-BE49-F238E27FC236}">
                <a16:creationId xmlns:a16="http://schemas.microsoft.com/office/drawing/2014/main" id="{C3C29B2E-21D6-6297-6595-F50A9BCFDBEB}"/>
              </a:ext>
            </a:extLst>
          </p:cNvPr>
          <p:cNvSpPr/>
          <p:nvPr/>
        </p:nvSpPr>
        <p:spPr>
          <a:xfrm>
            <a:off x="8471625" y="1626487"/>
            <a:ext cx="1626487" cy="638434"/>
          </a:xfrm>
          <a:prstGeom prst="roundRect">
            <a:avLst>
              <a:gd name="adj" fmla="val 7143"/>
            </a:avLst>
          </a:prstGeom>
          <a:solidFill>
            <a:srgbClr val="E8F0F8"/>
          </a:solidFill>
          <a:ln w="12700">
            <a:solidFill>
              <a:srgbClr val="2C5F8A"/>
            </a:solidFill>
            <a:prstDash val="solid"/>
          </a:ln>
        </p:spPr>
        <p:txBody>
          <a:bodyPr/>
          <a:lstStyle/>
          <a:p>
            <a:endParaRPr lang="en-IN" sz="1860"/>
          </a:p>
        </p:txBody>
      </p:sp>
      <p:sp>
        <p:nvSpPr>
          <p:cNvPr id="137" name="Text 40">
            <a:extLst>
              <a:ext uri="{FF2B5EF4-FFF2-40B4-BE49-F238E27FC236}">
                <a16:creationId xmlns:a16="http://schemas.microsoft.com/office/drawing/2014/main" id="{BD41F0EA-3807-FC1D-3E6B-B037010248F7}"/>
              </a:ext>
            </a:extLst>
          </p:cNvPr>
          <p:cNvSpPr txBox="1"/>
          <p:nvPr/>
        </p:nvSpPr>
        <p:spPr>
          <a:xfrm>
            <a:off x="8517227" y="1626487"/>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Uploads additional documents raised by IMGC (e.g. NOC) / re-uploads rejected documents</a:t>
            </a:r>
            <a:endParaRPr lang="en-US" sz="938" dirty="0"/>
          </a:p>
        </p:txBody>
      </p:sp>
      <p:sp>
        <p:nvSpPr>
          <p:cNvPr id="141" name="Shape 41">
            <a:extLst>
              <a:ext uri="{FF2B5EF4-FFF2-40B4-BE49-F238E27FC236}">
                <a16:creationId xmlns:a16="http://schemas.microsoft.com/office/drawing/2014/main" id="{EAE1AA5C-F395-F735-2537-D17F93829EA0}"/>
              </a:ext>
            </a:extLst>
          </p:cNvPr>
          <p:cNvSpPr/>
          <p:nvPr/>
        </p:nvSpPr>
        <p:spPr>
          <a:xfrm>
            <a:off x="10226052" y="1626487"/>
            <a:ext cx="1626487" cy="638434"/>
          </a:xfrm>
          <a:prstGeom prst="roundRect">
            <a:avLst>
              <a:gd name="adj" fmla="val 7143"/>
            </a:avLst>
          </a:prstGeom>
          <a:solidFill>
            <a:srgbClr val="E8F0F8"/>
          </a:solidFill>
          <a:ln w="12700">
            <a:solidFill>
              <a:srgbClr val="2C5F8A"/>
            </a:solidFill>
            <a:prstDash val="solid"/>
          </a:ln>
        </p:spPr>
        <p:txBody>
          <a:bodyPr/>
          <a:lstStyle/>
          <a:p>
            <a:endParaRPr lang="en-IN" sz="1860"/>
          </a:p>
        </p:txBody>
      </p:sp>
      <p:sp>
        <p:nvSpPr>
          <p:cNvPr id="145" name="Text 42">
            <a:extLst>
              <a:ext uri="{FF2B5EF4-FFF2-40B4-BE49-F238E27FC236}">
                <a16:creationId xmlns:a16="http://schemas.microsoft.com/office/drawing/2014/main" id="{34C7E96F-DF1E-7FE2-2479-0018FECB12E7}"/>
              </a:ext>
            </a:extLst>
          </p:cNvPr>
          <p:cNvSpPr txBox="1"/>
          <p:nvPr/>
        </p:nvSpPr>
        <p:spPr>
          <a:xfrm>
            <a:off x="10271654" y="1626487"/>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Views case status – Approved / Queried and IMGC remarks</a:t>
            </a:r>
            <a:endParaRPr lang="en-US" sz="938" dirty="0"/>
          </a:p>
        </p:txBody>
      </p:sp>
      <p:sp>
        <p:nvSpPr>
          <p:cNvPr id="149" name="Shape 43">
            <a:extLst>
              <a:ext uri="{FF2B5EF4-FFF2-40B4-BE49-F238E27FC236}">
                <a16:creationId xmlns:a16="http://schemas.microsoft.com/office/drawing/2014/main" id="{B0C2CDF6-7677-0A74-14D5-5C39EF54755B}"/>
              </a:ext>
            </a:extLst>
          </p:cNvPr>
          <p:cNvSpPr/>
          <p:nvPr/>
        </p:nvSpPr>
        <p:spPr>
          <a:xfrm>
            <a:off x="3095604" y="1945704"/>
            <a:ext cx="97539" cy="0"/>
          </a:xfrm>
          <a:prstGeom prst="line">
            <a:avLst/>
          </a:prstGeom>
          <a:noFill/>
          <a:ln w="15240">
            <a:solidFill>
              <a:srgbClr val="5B6472"/>
            </a:solidFill>
            <a:prstDash val="solid"/>
            <a:tailEnd type="triangle"/>
          </a:ln>
        </p:spPr>
        <p:txBody>
          <a:bodyPr/>
          <a:lstStyle/>
          <a:p>
            <a:endParaRPr lang="en-IN" sz="1860"/>
          </a:p>
        </p:txBody>
      </p:sp>
      <p:sp>
        <p:nvSpPr>
          <p:cNvPr id="153" name="Shape 44">
            <a:extLst>
              <a:ext uri="{FF2B5EF4-FFF2-40B4-BE49-F238E27FC236}">
                <a16:creationId xmlns:a16="http://schemas.microsoft.com/office/drawing/2014/main" id="{865CD0C2-5434-449B-5799-FA580657D687}"/>
              </a:ext>
            </a:extLst>
          </p:cNvPr>
          <p:cNvSpPr/>
          <p:nvPr/>
        </p:nvSpPr>
        <p:spPr>
          <a:xfrm>
            <a:off x="4850031" y="1797497"/>
            <a:ext cx="97539" cy="0"/>
          </a:xfrm>
          <a:prstGeom prst="line">
            <a:avLst/>
          </a:prstGeom>
          <a:noFill/>
          <a:ln w="15240">
            <a:solidFill>
              <a:srgbClr val="5B6472"/>
            </a:solidFill>
            <a:prstDash val="solid"/>
            <a:tailEnd type="triangle"/>
          </a:ln>
        </p:spPr>
        <p:txBody>
          <a:bodyPr/>
          <a:lstStyle/>
          <a:p>
            <a:endParaRPr lang="en-IN" sz="1860"/>
          </a:p>
        </p:txBody>
      </p:sp>
      <p:sp>
        <p:nvSpPr>
          <p:cNvPr id="157" name="Shape 45">
            <a:extLst>
              <a:ext uri="{FF2B5EF4-FFF2-40B4-BE49-F238E27FC236}">
                <a16:creationId xmlns:a16="http://schemas.microsoft.com/office/drawing/2014/main" id="{CCDF8DFB-FFD3-A9D9-3F47-C5C88F7EC4A2}"/>
              </a:ext>
            </a:extLst>
          </p:cNvPr>
          <p:cNvSpPr/>
          <p:nvPr/>
        </p:nvSpPr>
        <p:spPr>
          <a:xfrm>
            <a:off x="6604458" y="2181317"/>
            <a:ext cx="97539" cy="0"/>
          </a:xfrm>
          <a:prstGeom prst="line">
            <a:avLst/>
          </a:prstGeom>
          <a:noFill/>
          <a:ln w="15240">
            <a:solidFill>
              <a:srgbClr val="5B6472"/>
            </a:solidFill>
            <a:prstDash val="solid"/>
            <a:tailEnd type="triangle"/>
          </a:ln>
        </p:spPr>
        <p:txBody>
          <a:bodyPr/>
          <a:lstStyle/>
          <a:p>
            <a:endParaRPr lang="en-IN" sz="1860"/>
          </a:p>
        </p:txBody>
      </p:sp>
      <p:sp>
        <p:nvSpPr>
          <p:cNvPr id="161" name="Shape 46">
            <a:extLst>
              <a:ext uri="{FF2B5EF4-FFF2-40B4-BE49-F238E27FC236}">
                <a16:creationId xmlns:a16="http://schemas.microsoft.com/office/drawing/2014/main" id="{F81E4C66-0DE8-A287-9C27-CC87A631A785}"/>
              </a:ext>
            </a:extLst>
          </p:cNvPr>
          <p:cNvSpPr/>
          <p:nvPr/>
        </p:nvSpPr>
        <p:spPr>
          <a:xfrm>
            <a:off x="1453916" y="2842553"/>
            <a:ext cx="1626487" cy="638434"/>
          </a:xfrm>
          <a:prstGeom prst="roundRect">
            <a:avLst>
              <a:gd name="adj" fmla="val 7143"/>
            </a:avLst>
          </a:prstGeom>
          <a:solidFill>
            <a:srgbClr val="E7E9F6"/>
          </a:solidFill>
          <a:ln w="12700">
            <a:solidFill>
              <a:srgbClr val="1E2761"/>
            </a:solidFill>
            <a:prstDash val="solid"/>
          </a:ln>
        </p:spPr>
        <p:txBody>
          <a:bodyPr/>
          <a:lstStyle/>
          <a:p>
            <a:endParaRPr lang="en-IN" sz="1860"/>
          </a:p>
        </p:txBody>
      </p:sp>
      <p:sp>
        <p:nvSpPr>
          <p:cNvPr id="165" name="Text 47">
            <a:extLst>
              <a:ext uri="{FF2B5EF4-FFF2-40B4-BE49-F238E27FC236}">
                <a16:creationId xmlns:a16="http://schemas.microsoft.com/office/drawing/2014/main" id="{98D61B24-C2BE-7C12-A48E-A049533479D2}"/>
              </a:ext>
            </a:extLst>
          </p:cNvPr>
          <p:cNvSpPr txBox="1"/>
          <p:nvPr/>
        </p:nvSpPr>
        <p:spPr>
          <a:xfrm>
            <a:off x="1499518" y="2842553"/>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Creates lender user &amp; maps e-mail domain; holds access to complete pool of accounts</a:t>
            </a:r>
            <a:endParaRPr lang="en-US" sz="938" dirty="0"/>
          </a:p>
        </p:txBody>
      </p:sp>
      <p:sp>
        <p:nvSpPr>
          <p:cNvPr id="169" name="Shape 48">
            <a:extLst>
              <a:ext uri="{FF2B5EF4-FFF2-40B4-BE49-F238E27FC236}">
                <a16:creationId xmlns:a16="http://schemas.microsoft.com/office/drawing/2014/main" id="{C7F24E31-E2F2-07D2-30F2-54AE4FE07ABB}"/>
              </a:ext>
            </a:extLst>
          </p:cNvPr>
          <p:cNvSpPr/>
          <p:nvPr/>
        </p:nvSpPr>
        <p:spPr>
          <a:xfrm>
            <a:off x="3208343" y="2842553"/>
            <a:ext cx="1626487" cy="638434"/>
          </a:xfrm>
          <a:prstGeom prst="roundRect">
            <a:avLst>
              <a:gd name="adj" fmla="val 7143"/>
            </a:avLst>
          </a:prstGeom>
          <a:solidFill>
            <a:srgbClr val="E7E9F6"/>
          </a:solidFill>
          <a:ln w="12700">
            <a:solidFill>
              <a:srgbClr val="1E2761"/>
            </a:solidFill>
            <a:prstDash val="solid"/>
          </a:ln>
        </p:spPr>
        <p:txBody>
          <a:bodyPr/>
          <a:lstStyle/>
          <a:p>
            <a:endParaRPr lang="en-IN" sz="1860"/>
          </a:p>
        </p:txBody>
      </p:sp>
      <p:sp>
        <p:nvSpPr>
          <p:cNvPr id="173" name="Text 49">
            <a:extLst>
              <a:ext uri="{FF2B5EF4-FFF2-40B4-BE49-F238E27FC236}">
                <a16:creationId xmlns:a16="http://schemas.microsoft.com/office/drawing/2014/main" id="{538EF2A2-FA08-1240-F2A2-0184F14394AD}"/>
              </a:ext>
            </a:extLst>
          </p:cNvPr>
          <p:cNvSpPr txBox="1"/>
          <p:nvPr/>
        </p:nvSpPr>
        <p:spPr>
          <a:xfrm>
            <a:off x="3253945" y="2842553"/>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Views accounting values for all lender accounts in the portal</a:t>
            </a:r>
            <a:endParaRPr lang="en-US" sz="938" dirty="0"/>
          </a:p>
        </p:txBody>
      </p:sp>
      <p:sp>
        <p:nvSpPr>
          <p:cNvPr id="185" name="Shape 52">
            <a:extLst>
              <a:ext uri="{FF2B5EF4-FFF2-40B4-BE49-F238E27FC236}">
                <a16:creationId xmlns:a16="http://schemas.microsoft.com/office/drawing/2014/main" id="{9547C858-6387-991C-F1F1-34D4C7E512B5}"/>
              </a:ext>
            </a:extLst>
          </p:cNvPr>
          <p:cNvSpPr/>
          <p:nvPr/>
        </p:nvSpPr>
        <p:spPr>
          <a:xfrm>
            <a:off x="6717198" y="2842553"/>
            <a:ext cx="1626487" cy="638434"/>
          </a:xfrm>
          <a:prstGeom prst="roundRect">
            <a:avLst>
              <a:gd name="adj" fmla="val 7143"/>
            </a:avLst>
          </a:prstGeom>
          <a:solidFill>
            <a:srgbClr val="E7E9F6"/>
          </a:solidFill>
          <a:ln w="12700">
            <a:solidFill>
              <a:srgbClr val="1E2761"/>
            </a:solidFill>
            <a:prstDash val="solid"/>
          </a:ln>
        </p:spPr>
        <p:txBody>
          <a:bodyPr/>
          <a:lstStyle/>
          <a:p>
            <a:endParaRPr lang="en-IN" sz="1860"/>
          </a:p>
        </p:txBody>
      </p:sp>
      <p:sp>
        <p:nvSpPr>
          <p:cNvPr id="189" name="Text 53">
            <a:extLst>
              <a:ext uri="{FF2B5EF4-FFF2-40B4-BE49-F238E27FC236}">
                <a16:creationId xmlns:a16="http://schemas.microsoft.com/office/drawing/2014/main" id="{6D4DE74E-ED51-6C38-1389-B59C603B2DDE}"/>
              </a:ext>
            </a:extLst>
          </p:cNvPr>
          <p:cNvSpPr txBox="1"/>
          <p:nvPr/>
        </p:nvSpPr>
        <p:spPr>
          <a:xfrm>
            <a:off x="6762800" y="2842553"/>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Case moves to IMGC bucket on submit</a:t>
            </a:r>
            <a:endParaRPr lang="en-US" sz="938" dirty="0"/>
          </a:p>
        </p:txBody>
      </p:sp>
      <p:sp>
        <p:nvSpPr>
          <p:cNvPr id="193" name="Shape 54">
            <a:extLst>
              <a:ext uri="{FF2B5EF4-FFF2-40B4-BE49-F238E27FC236}">
                <a16:creationId xmlns:a16="http://schemas.microsoft.com/office/drawing/2014/main" id="{ABA1B05E-E796-0515-A220-593FDEAEFB65}"/>
              </a:ext>
            </a:extLst>
          </p:cNvPr>
          <p:cNvSpPr/>
          <p:nvPr/>
        </p:nvSpPr>
        <p:spPr>
          <a:xfrm>
            <a:off x="8471625" y="2614541"/>
            <a:ext cx="1626487" cy="501626"/>
          </a:xfrm>
          <a:prstGeom prst="roundRect">
            <a:avLst>
              <a:gd name="adj" fmla="val 9091"/>
            </a:avLst>
          </a:prstGeom>
          <a:solidFill>
            <a:srgbClr val="E7E9F6"/>
          </a:solidFill>
          <a:ln w="12700">
            <a:solidFill>
              <a:srgbClr val="1E2761"/>
            </a:solidFill>
            <a:prstDash val="solid"/>
          </a:ln>
        </p:spPr>
        <p:txBody>
          <a:bodyPr/>
          <a:lstStyle/>
          <a:p>
            <a:endParaRPr lang="en-IN" sz="1860"/>
          </a:p>
        </p:txBody>
      </p:sp>
      <p:sp>
        <p:nvSpPr>
          <p:cNvPr id="197" name="Text 55">
            <a:extLst>
              <a:ext uri="{FF2B5EF4-FFF2-40B4-BE49-F238E27FC236}">
                <a16:creationId xmlns:a16="http://schemas.microsoft.com/office/drawing/2014/main" id="{123ADA45-03E3-B8AA-791F-DB118267BF2C}"/>
              </a:ext>
            </a:extLst>
          </p:cNvPr>
          <p:cNvSpPr txBox="1"/>
          <p:nvPr/>
        </p:nvSpPr>
        <p:spPr>
          <a:xfrm>
            <a:off x="8517227" y="2614541"/>
            <a:ext cx="1535283" cy="501626"/>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Vets uploaded documents → Accept / Reject; records remarks</a:t>
            </a:r>
            <a:endParaRPr lang="en-US" sz="938" dirty="0"/>
          </a:p>
        </p:txBody>
      </p:sp>
      <p:sp>
        <p:nvSpPr>
          <p:cNvPr id="201" name="Shape 56">
            <a:extLst>
              <a:ext uri="{FF2B5EF4-FFF2-40B4-BE49-F238E27FC236}">
                <a16:creationId xmlns:a16="http://schemas.microsoft.com/office/drawing/2014/main" id="{A64ECD72-858F-88D4-44A2-6619A3EEDC54}"/>
              </a:ext>
            </a:extLst>
          </p:cNvPr>
          <p:cNvSpPr/>
          <p:nvPr/>
        </p:nvSpPr>
        <p:spPr>
          <a:xfrm>
            <a:off x="8471625" y="3161770"/>
            <a:ext cx="1626487" cy="471225"/>
          </a:xfrm>
          <a:prstGeom prst="roundRect">
            <a:avLst>
              <a:gd name="adj" fmla="val 9678"/>
            </a:avLst>
          </a:prstGeom>
          <a:solidFill>
            <a:srgbClr val="E7E9F6"/>
          </a:solidFill>
          <a:ln w="12700">
            <a:solidFill>
              <a:srgbClr val="1E2761"/>
            </a:solidFill>
            <a:prstDash val="solid"/>
          </a:ln>
        </p:spPr>
        <p:txBody>
          <a:bodyPr/>
          <a:lstStyle/>
          <a:p>
            <a:endParaRPr lang="en-IN" sz="1860"/>
          </a:p>
        </p:txBody>
      </p:sp>
      <p:sp>
        <p:nvSpPr>
          <p:cNvPr id="205" name="Text 57">
            <a:extLst>
              <a:ext uri="{FF2B5EF4-FFF2-40B4-BE49-F238E27FC236}">
                <a16:creationId xmlns:a16="http://schemas.microsoft.com/office/drawing/2014/main" id="{26F52702-BCF2-E2B1-3E67-6A265AB2466B}"/>
              </a:ext>
            </a:extLst>
          </p:cNvPr>
          <p:cNvSpPr txBox="1"/>
          <p:nvPr/>
        </p:nvSpPr>
        <p:spPr>
          <a:xfrm>
            <a:off x="8517227" y="3161770"/>
            <a:ext cx="1535283" cy="471225"/>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If required, adds additional document requirement to the checklist against a case</a:t>
            </a:r>
            <a:endParaRPr lang="en-US" sz="938" dirty="0"/>
          </a:p>
        </p:txBody>
      </p:sp>
      <p:sp>
        <p:nvSpPr>
          <p:cNvPr id="209" name="Shape 58">
            <a:extLst>
              <a:ext uri="{FF2B5EF4-FFF2-40B4-BE49-F238E27FC236}">
                <a16:creationId xmlns:a16="http://schemas.microsoft.com/office/drawing/2014/main" id="{DEC77BF5-A707-D6CF-5719-7FA49C39557E}"/>
              </a:ext>
            </a:extLst>
          </p:cNvPr>
          <p:cNvSpPr/>
          <p:nvPr/>
        </p:nvSpPr>
        <p:spPr>
          <a:xfrm>
            <a:off x="10226052" y="2842553"/>
            <a:ext cx="1626487" cy="638434"/>
          </a:xfrm>
          <a:prstGeom prst="roundRect">
            <a:avLst>
              <a:gd name="adj" fmla="val 7143"/>
            </a:avLst>
          </a:prstGeom>
          <a:solidFill>
            <a:srgbClr val="E7E9F6"/>
          </a:solidFill>
          <a:ln w="12700">
            <a:solidFill>
              <a:srgbClr val="1E2761"/>
            </a:solidFill>
            <a:prstDash val="solid"/>
          </a:ln>
        </p:spPr>
        <p:txBody>
          <a:bodyPr/>
          <a:lstStyle/>
          <a:p>
            <a:endParaRPr lang="en-IN" sz="1860"/>
          </a:p>
        </p:txBody>
      </p:sp>
      <p:sp>
        <p:nvSpPr>
          <p:cNvPr id="213" name="Text 59">
            <a:extLst>
              <a:ext uri="{FF2B5EF4-FFF2-40B4-BE49-F238E27FC236}">
                <a16:creationId xmlns:a16="http://schemas.microsoft.com/office/drawing/2014/main" id="{776DD098-C97B-06D2-F83A-EDE0455E682B}"/>
              </a:ext>
            </a:extLst>
          </p:cNvPr>
          <p:cNvSpPr txBox="1"/>
          <p:nvPr/>
        </p:nvSpPr>
        <p:spPr>
          <a:xfrm>
            <a:off x="10271654" y="2842553"/>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Manually updates status in portal:</a:t>
            </a:r>
            <a:endParaRPr lang="en-US" sz="938" dirty="0"/>
          </a:p>
          <a:p>
            <a:pPr algn="ctr">
              <a:lnSpc>
                <a:spcPct val="90000"/>
              </a:lnSpc>
            </a:pPr>
            <a:r>
              <a:rPr lang="en-US" sz="938" dirty="0">
                <a:solidFill>
                  <a:srgbClr val="16233F"/>
                </a:solidFill>
                <a:latin typeface="Calibri" pitchFamily="34" charset="0"/>
                <a:ea typeface="Calibri" pitchFamily="34" charset="-122"/>
                <a:cs typeface="Calibri" pitchFamily="34" charset="-120"/>
              </a:rPr>
              <a:t>Approved / Queried</a:t>
            </a:r>
            <a:endParaRPr lang="en-US" sz="938" dirty="0"/>
          </a:p>
        </p:txBody>
      </p:sp>
      <p:sp>
        <p:nvSpPr>
          <p:cNvPr id="217" name="Shape 60">
            <a:extLst>
              <a:ext uri="{FF2B5EF4-FFF2-40B4-BE49-F238E27FC236}">
                <a16:creationId xmlns:a16="http://schemas.microsoft.com/office/drawing/2014/main" id="{F928DFAE-6BC6-F84D-FA08-3FE691A16A4C}"/>
              </a:ext>
            </a:extLst>
          </p:cNvPr>
          <p:cNvSpPr/>
          <p:nvPr/>
        </p:nvSpPr>
        <p:spPr>
          <a:xfrm>
            <a:off x="3095604" y="3161770"/>
            <a:ext cx="97539" cy="0"/>
          </a:xfrm>
          <a:prstGeom prst="line">
            <a:avLst/>
          </a:prstGeom>
          <a:noFill/>
          <a:ln w="15240">
            <a:solidFill>
              <a:srgbClr val="5B6472"/>
            </a:solidFill>
            <a:prstDash val="solid"/>
            <a:tailEnd type="triangle"/>
          </a:ln>
        </p:spPr>
        <p:txBody>
          <a:bodyPr/>
          <a:lstStyle/>
          <a:p>
            <a:endParaRPr lang="en-IN" sz="1860"/>
          </a:p>
        </p:txBody>
      </p:sp>
      <p:sp>
        <p:nvSpPr>
          <p:cNvPr id="225" name="Shape 63">
            <a:extLst>
              <a:ext uri="{FF2B5EF4-FFF2-40B4-BE49-F238E27FC236}">
                <a16:creationId xmlns:a16="http://schemas.microsoft.com/office/drawing/2014/main" id="{DC3AF0D1-3E5B-3DCF-3152-A2B68FF93561}"/>
              </a:ext>
            </a:extLst>
          </p:cNvPr>
          <p:cNvSpPr/>
          <p:nvPr/>
        </p:nvSpPr>
        <p:spPr>
          <a:xfrm>
            <a:off x="8358886" y="2987274"/>
            <a:ext cx="97539" cy="0"/>
          </a:xfrm>
          <a:prstGeom prst="line">
            <a:avLst/>
          </a:prstGeom>
          <a:noFill/>
          <a:ln w="15240">
            <a:solidFill>
              <a:srgbClr val="5B6472"/>
            </a:solidFill>
            <a:prstDash val="solid"/>
            <a:tailEnd type="triangle"/>
          </a:ln>
        </p:spPr>
        <p:txBody>
          <a:bodyPr/>
          <a:lstStyle/>
          <a:p>
            <a:endParaRPr lang="en-IN" sz="1860"/>
          </a:p>
        </p:txBody>
      </p:sp>
      <p:sp>
        <p:nvSpPr>
          <p:cNvPr id="229" name="Shape 64">
            <a:extLst>
              <a:ext uri="{FF2B5EF4-FFF2-40B4-BE49-F238E27FC236}">
                <a16:creationId xmlns:a16="http://schemas.microsoft.com/office/drawing/2014/main" id="{6DBC39E3-9F55-E992-2DFF-809AC7520667}"/>
              </a:ext>
            </a:extLst>
          </p:cNvPr>
          <p:cNvSpPr/>
          <p:nvPr/>
        </p:nvSpPr>
        <p:spPr>
          <a:xfrm>
            <a:off x="10113313" y="3397382"/>
            <a:ext cx="97539" cy="0"/>
          </a:xfrm>
          <a:prstGeom prst="line">
            <a:avLst/>
          </a:prstGeom>
          <a:noFill/>
          <a:ln w="15240">
            <a:solidFill>
              <a:srgbClr val="5B6472"/>
            </a:solidFill>
            <a:prstDash val="solid"/>
            <a:tailEnd type="triangle"/>
          </a:ln>
        </p:spPr>
        <p:txBody>
          <a:bodyPr/>
          <a:lstStyle/>
          <a:p>
            <a:endParaRPr lang="en-IN" sz="1860"/>
          </a:p>
        </p:txBody>
      </p:sp>
      <p:sp>
        <p:nvSpPr>
          <p:cNvPr id="233" name="Shape 65">
            <a:extLst>
              <a:ext uri="{FF2B5EF4-FFF2-40B4-BE49-F238E27FC236}">
                <a16:creationId xmlns:a16="http://schemas.microsoft.com/office/drawing/2014/main" id="{EA6E9E0D-B984-1941-FA2F-90A717B683A2}"/>
              </a:ext>
            </a:extLst>
          </p:cNvPr>
          <p:cNvSpPr/>
          <p:nvPr/>
        </p:nvSpPr>
        <p:spPr>
          <a:xfrm>
            <a:off x="7530441" y="2280123"/>
            <a:ext cx="0" cy="547229"/>
          </a:xfrm>
          <a:prstGeom prst="line">
            <a:avLst/>
          </a:prstGeom>
          <a:noFill/>
          <a:ln w="17780">
            <a:solidFill>
              <a:srgbClr val="1E2761"/>
            </a:solidFill>
            <a:prstDash val="solid"/>
            <a:headEnd type="none"/>
            <a:tailEnd type="triangle"/>
          </a:ln>
        </p:spPr>
        <p:txBody>
          <a:bodyPr/>
          <a:lstStyle/>
          <a:p>
            <a:endParaRPr lang="en-IN" sz="1860"/>
          </a:p>
        </p:txBody>
      </p:sp>
      <p:sp>
        <p:nvSpPr>
          <p:cNvPr id="237" name="Text 66">
            <a:extLst>
              <a:ext uri="{FF2B5EF4-FFF2-40B4-BE49-F238E27FC236}">
                <a16:creationId xmlns:a16="http://schemas.microsoft.com/office/drawing/2014/main" id="{EA452FF5-71F1-E4F9-57F8-2B4EC744DA54}"/>
              </a:ext>
            </a:extLst>
          </p:cNvPr>
          <p:cNvSpPr txBox="1"/>
          <p:nvPr/>
        </p:nvSpPr>
        <p:spPr>
          <a:xfrm>
            <a:off x="7568444" y="2470133"/>
            <a:ext cx="532029" cy="167209"/>
          </a:xfrm>
          <a:prstGeom prst="rect">
            <a:avLst/>
          </a:prstGeom>
          <a:noFill/>
          <a:ln/>
        </p:spPr>
        <p:txBody>
          <a:bodyPr wrap="square" lIns="0" tIns="0" rIns="0" bIns="0" rtlCol="0" anchor="ctr"/>
          <a:lstStyle/>
          <a:p>
            <a:pPr>
              <a:lnSpc>
                <a:spcPct val="90000"/>
              </a:lnSpc>
            </a:pPr>
            <a:r>
              <a:rPr lang="en-US" sz="758" i="1" dirty="0">
                <a:solidFill>
                  <a:srgbClr val="1E2761"/>
                </a:solidFill>
                <a:latin typeface="Calibri" pitchFamily="34" charset="0"/>
                <a:ea typeface="Calibri" pitchFamily="34" charset="-122"/>
                <a:cs typeface="Calibri" pitchFamily="34" charset="-120"/>
              </a:rPr>
              <a:t>Submit</a:t>
            </a:r>
            <a:endParaRPr lang="en-US" sz="758" dirty="0"/>
          </a:p>
        </p:txBody>
      </p:sp>
      <p:sp>
        <p:nvSpPr>
          <p:cNvPr id="241" name="Shape 67">
            <a:extLst>
              <a:ext uri="{FF2B5EF4-FFF2-40B4-BE49-F238E27FC236}">
                <a16:creationId xmlns:a16="http://schemas.microsoft.com/office/drawing/2014/main" id="{E253CA80-4B1E-B535-B74A-E33BB6E8594E}"/>
              </a:ext>
            </a:extLst>
          </p:cNvPr>
          <p:cNvSpPr/>
          <p:nvPr/>
        </p:nvSpPr>
        <p:spPr>
          <a:xfrm>
            <a:off x="9543282" y="2280123"/>
            <a:ext cx="0" cy="319217"/>
          </a:xfrm>
          <a:prstGeom prst="line">
            <a:avLst/>
          </a:prstGeom>
          <a:noFill/>
          <a:ln w="16510">
            <a:solidFill>
              <a:srgbClr val="C2410C"/>
            </a:solidFill>
            <a:prstDash val="dash"/>
            <a:headEnd type="triangle"/>
            <a:tailEnd type="none"/>
          </a:ln>
        </p:spPr>
        <p:txBody>
          <a:bodyPr/>
          <a:lstStyle/>
          <a:p>
            <a:endParaRPr lang="en-IN" sz="1860"/>
          </a:p>
        </p:txBody>
      </p:sp>
      <p:sp>
        <p:nvSpPr>
          <p:cNvPr id="245" name="Text 68">
            <a:extLst>
              <a:ext uri="{FF2B5EF4-FFF2-40B4-BE49-F238E27FC236}">
                <a16:creationId xmlns:a16="http://schemas.microsoft.com/office/drawing/2014/main" id="{7D950B36-2C60-4112-CACA-62EE9986A7FE}"/>
              </a:ext>
            </a:extLst>
          </p:cNvPr>
          <p:cNvSpPr txBox="1"/>
          <p:nvPr/>
        </p:nvSpPr>
        <p:spPr>
          <a:xfrm>
            <a:off x="9581284" y="2356127"/>
            <a:ext cx="798043" cy="167209"/>
          </a:xfrm>
          <a:prstGeom prst="rect">
            <a:avLst/>
          </a:prstGeom>
          <a:noFill/>
          <a:ln/>
        </p:spPr>
        <p:txBody>
          <a:bodyPr wrap="square" lIns="0" tIns="0" rIns="0" bIns="0" rtlCol="0" anchor="ctr"/>
          <a:lstStyle/>
          <a:p>
            <a:pPr>
              <a:lnSpc>
                <a:spcPct val="90000"/>
              </a:lnSpc>
            </a:pPr>
            <a:r>
              <a:rPr lang="en-US" sz="758" i="1" dirty="0">
                <a:solidFill>
                  <a:srgbClr val="C2410C"/>
                </a:solidFill>
                <a:latin typeface="Calibri" pitchFamily="34" charset="0"/>
                <a:ea typeface="Calibri" pitchFamily="34" charset="-122"/>
                <a:cs typeface="Calibri" pitchFamily="34" charset="-120"/>
              </a:rPr>
              <a:t>Query / document</a:t>
            </a:r>
            <a:endParaRPr lang="en-US" sz="758" dirty="0"/>
          </a:p>
          <a:p>
            <a:pPr>
              <a:lnSpc>
                <a:spcPct val="90000"/>
              </a:lnSpc>
            </a:pPr>
            <a:r>
              <a:rPr lang="en-US" sz="758" i="1" dirty="0">
                <a:solidFill>
                  <a:srgbClr val="C2410C"/>
                </a:solidFill>
                <a:latin typeface="Calibri" pitchFamily="34" charset="0"/>
                <a:ea typeface="Calibri" pitchFamily="34" charset="-122"/>
                <a:cs typeface="Calibri" pitchFamily="34" charset="-120"/>
              </a:rPr>
              <a:t>rejected</a:t>
            </a:r>
            <a:endParaRPr lang="en-US" sz="758" dirty="0"/>
          </a:p>
        </p:txBody>
      </p:sp>
      <p:sp>
        <p:nvSpPr>
          <p:cNvPr id="249" name="Shape 69">
            <a:extLst>
              <a:ext uri="{FF2B5EF4-FFF2-40B4-BE49-F238E27FC236}">
                <a16:creationId xmlns:a16="http://schemas.microsoft.com/office/drawing/2014/main" id="{2FDC05E8-C40E-E1FA-06E9-6057B53DDE5B}"/>
              </a:ext>
            </a:extLst>
          </p:cNvPr>
          <p:cNvSpPr/>
          <p:nvPr/>
        </p:nvSpPr>
        <p:spPr>
          <a:xfrm>
            <a:off x="8889648" y="2280123"/>
            <a:ext cx="0" cy="319217"/>
          </a:xfrm>
          <a:prstGeom prst="line">
            <a:avLst/>
          </a:prstGeom>
          <a:noFill/>
          <a:ln w="16510">
            <a:solidFill>
              <a:srgbClr val="2C5F8A"/>
            </a:solidFill>
            <a:prstDash val="dash"/>
            <a:headEnd type="none"/>
            <a:tailEnd type="triangle"/>
          </a:ln>
        </p:spPr>
        <p:txBody>
          <a:bodyPr/>
          <a:lstStyle/>
          <a:p>
            <a:endParaRPr lang="en-IN" sz="1860"/>
          </a:p>
        </p:txBody>
      </p:sp>
      <p:sp>
        <p:nvSpPr>
          <p:cNvPr id="253" name="Shape 70">
            <a:extLst>
              <a:ext uri="{FF2B5EF4-FFF2-40B4-BE49-F238E27FC236}">
                <a16:creationId xmlns:a16="http://schemas.microsoft.com/office/drawing/2014/main" id="{9056ACCA-7203-139E-6A77-0B12AEEC4C17}"/>
              </a:ext>
            </a:extLst>
          </p:cNvPr>
          <p:cNvSpPr/>
          <p:nvPr/>
        </p:nvSpPr>
        <p:spPr>
          <a:xfrm>
            <a:off x="11039296" y="2280123"/>
            <a:ext cx="0" cy="547229"/>
          </a:xfrm>
          <a:prstGeom prst="line">
            <a:avLst/>
          </a:prstGeom>
          <a:noFill/>
          <a:ln w="16510">
            <a:solidFill>
              <a:srgbClr val="1E2761"/>
            </a:solidFill>
            <a:prstDash val="solid"/>
            <a:headEnd type="triangle"/>
            <a:tailEnd type="none"/>
          </a:ln>
        </p:spPr>
        <p:txBody>
          <a:bodyPr/>
          <a:lstStyle/>
          <a:p>
            <a:endParaRPr lang="en-IN" sz="1860"/>
          </a:p>
        </p:txBody>
      </p:sp>
      <p:sp>
        <p:nvSpPr>
          <p:cNvPr id="257" name="Text 71">
            <a:extLst>
              <a:ext uri="{FF2B5EF4-FFF2-40B4-BE49-F238E27FC236}">
                <a16:creationId xmlns:a16="http://schemas.microsoft.com/office/drawing/2014/main" id="{1A4F3BB6-4138-F200-B657-5FE34EE23083}"/>
              </a:ext>
            </a:extLst>
          </p:cNvPr>
          <p:cNvSpPr txBox="1"/>
          <p:nvPr/>
        </p:nvSpPr>
        <p:spPr>
          <a:xfrm>
            <a:off x="11077298" y="2470133"/>
            <a:ext cx="608033" cy="167209"/>
          </a:xfrm>
          <a:prstGeom prst="rect">
            <a:avLst/>
          </a:prstGeom>
          <a:noFill/>
          <a:ln/>
        </p:spPr>
        <p:txBody>
          <a:bodyPr wrap="square" lIns="0" tIns="0" rIns="0" bIns="0" rtlCol="0" anchor="ctr"/>
          <a:lstStyle/>
          <a:p>
            <a:pPr>
              <a:lnSpc>
                <a:spcPct val="90000"/>
              </a:lnSpc>
            </a:pPr>
            <a:r>
              <a:rPr lang="en-US" sz="758" i="1" dirty="0">
                <a:solidFill>
                  <a:srgbClr val="1E2761"/>
                </a:solidFill>
                <a:latin typeface="Calibri" pitchFamily="34" charset="0"/>
                <a:ea typeface="Calibri" pitchFamily="34" charset="-122"/>
                <a:cs typeface="Calibri" pitchFamily="34" charset="-120"/>
              </a:rPr>
              <a:t>Status visible</a:t>
            </a:r>
            <a:endParaRPr lang="en-US" sz="758" dirty="0"/>
          </a:p>
        </p:txBody>
      </p:sp>
      <p:sp>
        <p:nvSpPr>
          <p:cNvPr id="260" name="Shape 72">
            <a:extLst>
              <a:ext uri="{FF2B5EF4-FFF2-40B4-BE49-F238E27FC236}">
                <a16:creationId xmlns:a16="http://schemas.microsoft.com/office/drawing/2014/main" id="{EFB5FC0A-52C3-701A-7C5E-18A361A52009}"/>
              </a:ext>
            </a:extLst>
          </p:cNvPr>
          <p:cNvSpPr/>
          <p:nvPr/>
        </p:nvSpPr>
        <p:spPr>
          <a:xfrm>
            <a:off x="3208343" y="3868608"/>
            <a:ext cx="1626487" cy="638434"/>
          </a:xfrm>
          <a:prstGeom prst="roundRect">
            <a:avLst>
              <a:gd name="adj" fmla="val 7143"/>
            </a:avLst>
          </a:prstGeom>
          <a:solidFill>
            <a:srgbClr val="EFF1F4"/>
          </a:solidFill>
          <a:ln w="12700">
            <a:solidFill>
              <a:srgbClr val="5A6472"/>
            </a:solidFill>
            <a:prstDash val="solid"/>
          </a:ln>
        </p:spPr>
        <p:txBody>
          <a:bodyPr/>
          <a:lstStyle/>
          <a:p>
            <a:endParaRPr lang="en-IN" sz="1860"/>
          </a:p>
        </p:txBody>
      </p:sp>
      <p:sp>
        <p:nvSpPr>
          <p:cNvPr id="262" name="Text 73">
            <a:extLst>
              <a:ext uri="{FF2B5EF4-FFF2-40B4-BE49-F238E27FC236}">
                <a16:creationId xmlns:a16="http://schemas.microsoft.com/office/drawing/2014/main" id="{6E3425F3-CDDF-F13F-A984-FFCAAAB99518}"/>
              </a:ext>
            </a:extLst>
          </p:cNvPr>
          <p:cNvSpPr txBox="1"/>
          <p:nvPr/>
        </p:nvSpPr>
        <p:spPr>
          <a:xfrm>
            <a:off x="3253945" y="3868608"/>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Source of record for accounting values — portal pulls values from PAS</a:t>
            </a:r>
            <a:endParaRPr lang="en-US" sz="938" dirty="0"/>
          </a:p>
        </p:txBody>
      </p:sp>
      <p:sp>
        <p:nvSpPr>
          <p:cNvPr id="264" name="Shape 74">
            <a:extLst>
              <a:ext uri="{FF2B5EF4-FFF2-40B4-BE49-F238E27FC236}">
                <a16:creationId xmlns:a16="http://schemas.microsoft.com/office/drawing/2014/main" id="{FCE4EB01-7172-AC58-5499-E5E007F97FC4}"/>
              </a:ext>
            </a:extLst>
          </p:cNvPr>
          <p:cNvSpPr/>
          <p:nvPr/>
        </p:nvSpPr>
        <p:spPr>
          <a:xfrm>
            <a:off x="8471625" y="3868608"/>
            <a:ext cx="1626487" cy="638434"/>
          </a:xfrm>
          <a:prstGeom prst="roundRect">
            <a:avLst>
              <a:gd name="adj" fmla="val 7143"/>
            </a:avLst>
          </a:prstGeom>
          <a:solidFill>
            <a:srgbClr val="EFF1F4"/>
          </a:solidFill>
          <a:ln w="12700">
            <a:solidFill>
              <a:srgbClr val="5A6472"/>
            </a:solidFill>
            <a:prstDash val="solid"/>
          </a:ln>
        </p:spPr>
        <p:txBody>
          <a:bodyPr/>
          <a:lstStyle/>
          <a:p>
            <a:endParaRPr lang="en-IN" sz="1860"/>
          </a:p>
        </p:txBody>
      </p:sp>
      <p:sp>
        <p:nvSpPr>
          <p:cNvPr id="266" name="Text 75">
            <a:extLst>
              <a:ext uri="{FF2B5EF4-FFF2-40B4-BE49-F238E27FC236}">
                <a16:creationId xmlns:a16="http://schemas.microsoft.com/office/drawing/2014/main" id="{787098F1-060F-12AA-1585-42499895F47F}"/>
              </a:ext>
            </a:extLst>
          </p:cNvPr>
          <p:cNvSpPr txBox="1"/>
          <p:nvPr/>
        </p:nvSpPr>
        <p:spPr>
          <a:xfrm>
            <a:off x="8517227" y="3868608"/>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Claim processing executed in PAS (outside the portal)</a:t>
            </a:r>
            <a:endParaRPr lang="en-US" sz="938" dirty="0"/>
          </a:p>
          <a:p>
            <a:pPr algn="ctr">
              <a:lnSpc>
                <a:spcPct val="90000"/>
              </a:lnSpc>
            </a:pPr>
            <a:r>
              <a:rPr lang="en-US" sz="938" dirty="0">
                <a:solidFill>
                  <a:srgbClr val="16233F"/>
                </a:solidFill>
                <a:latin typeface="Calibri" pitchFamily="34" charset="0"/>
                <a:ea typeface="Calibri" pitchFamily="34" charset="-122"/>
                <a:cs typeface="Calibri" pitchFamily="34" charset="-120"/>
              </a:rPr>
              <a:t>; outcome (Approved / Queried) taken back to portal</a:t>
            </a:r>
            <a:endParaRPr lang="en-US" sz="938" dirty="0"/>
          </a:p>
        </p:txBody>
      </p:sp>
      <p:sp>
        <p:nvSpPr>
          <p:cNvPr id="268" name="Shape 76">
            <a:extLst>
              <a:ext uri="{FF2B5EF4-FFF2-40B4-BE49-F238E27FC236}">
                <a16:creationId xmlns:a16="http://schemas.microsoft.com/office/drawing/2014/main" id="{D96C0CC2-84FA-E0D2-D867-DE5662E8EE10}"/>
              </a:ext>
            </a:extLst>
          </p:cNvPr>
          <p:cNvSpPr/>
          <p:nvPr/>
        </p:nvSpPr>
        <p:spPr>
          <a:xfrm>
            <a:off x="10226052" y="3868608"/>
            <a:ext cx="1626487" cy="638434"/>
          </a:xfrm>
          <a:prstGeom prst="roundRect">
            <a:avLst>
              <a:gd name="adj" fmla="val 7143"/>
            </a:avLst>
          </a:prstGeom>
          <a:solidFill>
            <a:srgbClr val="EFF1F4"/>
          </a:solidFill>
          <a:ln w="12700">
            <a:solidFill>
              <a:srgbClr val="5A6472"/>
            </a:solidFill>
            <a:prstDash val="solid"/>
          </a:ln>
        </p:spPr>
        <p:txBody>
          <a:bodyPr/>
          <a:lstStyle/>
          <a:p>
            <a:endParaRPr lang="en-IN" sz="1860"/>
          </a:p>
        </p:txBody>
      </p:sp>
      <p:sp>
        <p:nvSpPr>
          <p:cNvPr id="270" name="Text 77">
            <a:extLst>
              <a:ext uri="{FF2B5EF4-FFF2-40B4-BE49-F238E27FC236}">
                <a16:creationId xmlns:a16="http://schemas.microsoft.com/office/drawing/2014/main" id="{B511EA6A-F623-23EA-B209-58D1DBFEBBD0}"/>
              </a:ext>
            </a:extLst>
          </p:cNvPr>
          <p:cNvSpPr txBox="1"/>
          <p:nvPr/>
        </p:nvSpPr>
        <p:spPr>
          <a:xfrm>
            <a:off x="10271654" y="3868608"/>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Case status kept in sync with PAS</a:t>
            </a:r>
            <a:endParaRPr lang="en-US" sz="938" dirty="0"/>
          </a:p>
        </p:txBody>
      </p:sp>
      <p:sp>
        <p:nvSpPr>
          <p:cNvPr id="272" name="Shape 78">
            <a:extLst>
              <a:ext uri="{FF2B5EF4-FFF2-40B4-BE49-F238E27FC236}">
                <a16:creationId xmlns:a16="http://schemas.microsoft.com/office/drawing/2014/main" id="{9DB7CCE1-50FA-385C-F1DA-9729D0302D8B}"/>
              </a:ext>
            </a:extLst>
          </p:cNvPr>
          <p:cNvSpPr/>
          <p:nvPr/>
        </p:nvSpPr>
        <p:spPr>
          <a:xfrm>
            <a:off x="4021587" y="3496188"/>
            <a:ext cx="0" cy="357219"/>
          </a:xfrm>
          <a:prstGeom prst="line">
            <a:avLst/>
          </a:prstGeom>
          <a:noFill/>
          <a:ln w="15240">
            <a:solidFill>
              <a:srgbClr val="5B6472"/>
            </a:solidFill>
            <a:prstDash val="dash"/>
            <a:headEnd type="triangle"/>
            <a:tailEnd type="none"/>
          </a:ln>
        </p:spPr>
        <p:txBody>
          <a:bodyPr/>
          <a:lstStyle/>
          <a:p>
            <a:endParaRPr lang="en-IN" sz="1860"/>
          </a:p>
        </p:txBody>
      </p:sp>
      <p:sp>
        <p:nvSpPr>
          <p:cNvPr id="274" name="Text 79">
            <a:extLst>
              <a:ext uri="{FF2B5EF4-FFF2-40B4-BE49-F238E27FC236}">
                <a16:creationId xmlns:a16="http://schemas.microsoft.com/office/drawing/2014/main" id="{D48DC19B-C1B1-C945-A072-B910DA20EF65}"/>
              </a:ext>
            </a:extLst>
          </p:cNvPr>
          <p:cNvSpPr txBox="1"/>
          <p:nvPr/>
        </p:nvSpPr>
        <p:spPr>
          <a:xfrm>
            <a:off x="4059589" y="3591193"/>
            <a:ext cx="342018" cy="167209"/>
          </a:xfrm>
          <a:prstGeom prst="rect">
            <a:avLst/>
          </a:prstGeom>
          <a:noFill/>
          <a:ln/>
        </p:spPr>
        <p:txBody>
          <a:bodyPr wrap="square" lIns="0" tIns="0" rIns="0" bIns="0" rtlCol="0" anchor="ctr"/>
          <a:lstStyle/>
          <a:p>
            <a:pPr>
              <a:lnSpc>
                <a:spcPct val="90000"/>
              </a:lnSpc>
            </a:pPr>
            <a:r>
              <a:rPr lang="en-US" sz="758" i="1" dirty="0">
                <a:solidFill>
                  <a:srgbClr val="5B6472"/>
                </a:solidFill>
                <a:latin typeface="Calibri" pitchFamily="34" charset="0"/>
                <a:ea typeface="Calibri" pitchFamily="34" charset="-122"/>
                <a:cs typeface="Calibri" pitchFamily="34" charset="-120"/>
              </a:rPr>
              <a:t>Pull</a:t>
            </a:r>
            <a:endParaRPr lang="en-US" sz="758" dirty="0"/>
          </a:p>
        </p:txBody>
      </p:sp>
      <p:sp>
        <p:nvSpPr>
          <p:cNvPr id="276" name="Shape 80">
            <a:extLst>
              <a:ext uri="{FF2B5EF4-FFF2-40B4-BE49-F238E27FC236}">
                <a16:creationId xmlns:a16="http://schemas.microsoft.com/office/drawing/2014/main" id="{DB1C59D5-63F5-172A-4044-0D70230360C6}"/>
              </a:ext>
            </a:extLst>
          </p:cNvPr>
          <p:cNvSpPr/>
          <p:nvPr/>
        </p:nvSpPr>
        <p:spPr>
          <a:xfrm>
            <a:off x="9284869" y="3648197"/>
            <a:ext cx="0" cy="205211"/>
          </a:xfrm>
          <a:prstGeom prst="line">
            <a:avLst/>
          </a:prstGeom>
          <a:noFill/>
          <a:ln w="15240">
            <a:solidFill>
              <a:srgbClr val="5B6472"/>
            </a:solidFill>
            <a:prstDash val="dash"/>
            <a:headEnd type="none"/>
            <a:tailEnd type="triangle"/>
          </a:ln>
        </p:spPr>
        <p:txBody>
          <a:bodyPr/>
          <a:lstStyle/>
          <a:p>
            <a:endParaRPr lang="en-IN" sz="1860"/>
          </a:p>
        </p:txBody>
      </p:sp>
      <p:sp>
        <p:nvSpPr>
          <p:cNvPr id="278" name="Shape 81">
            <a:extLst>
              <a:ext uri="{FF2B5EF4-FFF2-40B4-BE49-F238E27FC236}">
                <a16:creationId xmlns:a16="http://schemas.microsoft.com/office/drawing/2014/main" id="{2832B6AA-0AA1-FBE0-FEC1-F84825C610B3}"/>
              </a:ext>
            </a:extLst>
          </p:cNvPr>
          <p:cNvSpPr/>
          <p:nvPr/>
        </p:nvSpPr>
        <p:spPr>
          <a:xfrm flipH="1" flipV="1">
            <a:off x="11039294" y="3493654"/>
            <a:ext cx="2" cy="326818"/>
          </a:xfrm>
          <a:prstGeom prst="line">
            <a:avLst/>
          </a:prstGeom>
          <a:noFill/>
          <a:ln w="15240">
            <a:solidFill>
              <a:srgbClr val="5B6472"/>
            </a:solidFill>
            <a:prstDash val="dash"/>
            <a:headEnd type="none"/>
            <a:tailEnd type="triangle"/>
          </a:ln>
        </p:spPr>
        <p:txBody>
          <a:bodyPr/>
          <a:lstStyle/>
          <a:p>
            <a:endParaRPr lang="en-IN" sz="1860"/>
          </a:p>
        </p:txBody>
      </p:sp>
      <p:sp>
        <p:nvSpPr>
          <p:cNvPr id="280" name="Shape 82">
            <a:extLst>
              <a:ext uri="{FF2B5EF4-FFF2-40B4-BE49-F238E27FC236}">
                <a16:creationId xmlns:a16="http://schemas.microsoft.com/office/drawing/2014/main" id="{FC674453-70CD-EC78-9ECE-EE180AB06789}"/>
              </a:ext>
            </a:extLst>
          </p:cNvPr>
          <p:cNvSpPr/>
          <p:nvPr/>
        </p:nvSpPr>
        <p:spPr>
          <a:xfrm>
            <a:off x="1453916" y="4704652"/>
            <a:ext cx="1626487" cy="638434"/>
          </a:xfrm>
          <a:prstGeom prst="roundRect">
            <a:avLst>
              <a:gd name="adj" fmla="val 7143"/>
            </a:avLst>
          </a:prstGeom>
          <a:solidFill>
            <a:srgbClr val="FBEEDD"/>
          </a:solidFill>
          <a:ln w="12700">
            <a:solidFill>
              <a:srgbClr val="B4541A"/>
            </a:solidFill>
            <a:prstDash val="solid"/>
          </a:ln>
        </p:spPr>
        <p:txBody>
          <a:bodyPr/>
          <a:lstStyle/>
          <a:p>
            <a:endParaRPr lang="en-IN" sz="1860"/>
          </a:p>
        </p:txBody>
      </p:sp>
      <p:sp>
        <p:nvSpPr>
          <p:cNvPr id="282" name="Text 83">
            <a:extLst>
              <a:ext uri="{FF2B5EF4-FFF2-40B4-BE49-F238E27FC236}">
                <a16:creationId xmlns:a16="http://schemas.microsoft.com/office/drawing/2014/main" id="{EAB7CFFD-3458-A800-78F2-0906E4915406}"/>
              </a:ext>
            </a:extLst>
          </p:cNvPr>
          <p:cNvSpPr txBox="1"/>
          <p:nvPr/>
        </p:nvSpPr>
        <p:spPr>
          <a:xfrm>
            <a:off x="1499518" y="4704652"/>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OTP e-mail to lender user on every login attempt</a:t>
            </a:r>
            <a:endParaRPr lang="en-US" sz="938" dirty="0"/>
          </a:p>
        </p:txBody>
      </p:sp>
      <p:sp>
        <p:nvSpPr>
          <p:cNvPr id="284" name="Shape 84">
            <a:extLst>
              <a:ext uri="{FF2B5EF4-FFF2-40B4-BE49-F238E27FC236}">
                <a16:creationId xmlns:a16="http://schemas.microsoft.com/office/drawing/2014/main" id="{068E7B4C-213F-912F-1BE6-B9CF729BBF3A}"/>
              </a:ext>
            </a:extLst>
          </p:cNvPr>
          <p:cNvSpPr/>
          <p:nvPr/>
        </p:nvSpPr>
        <p:spPr>
          <a:xfrm>
            <a:off x="4962771" y="4704652"/>
            <a:ext cx="6889769" cy="638434"/>
          </a:xfrm>
          <a:prstGeom prst="roundRect">
            <a:avLst>
              <a:gd name="adj" fmla="val 7143"/>
            </a:avLst>
          </a:prstGeom>
          <a:solidFill>
            <a:srgbClr val="FBEEDD"/>
          </a:solidFill>
          <a:ln w="12700">
            <a:solidFill>
              <a:srgbClr val="B4541A"/>
            </a:solidFill>
            <a:prstDash val="solid"/>
          </a:ln>
        </p:spPr>
        <p:txBody>
          <a:bodyPr/>
          <a:lstStyle/>
          <a:p>
            <a:endParaRPr lang="en-IN" sz="1860"/>
          </a:p>
        </p:txBody>
      </p:sp>
      <p:sp>
        <p:nvSpPr>
          <p:cNvPr id="286" name="Text 85">
            <a:extLst>
              <a:ext uri="{FF2B5EF4-FFF2-40B4-BE49-F238E27FC236}">
                <a16:creationId xmlns:a16="http://schemas.microsoft.com/office/drawing/2014/main" id="{99BAACA5-6811-2EF4-21B8-7592474CCB5D}"/>
              </a:ext>
            </a:extLst>
          </p:cNvPr>
          <p:cNvSpPr txBox="1"/>
          <p:nvPr/>
        </p:nvSpPr>
        <p:spPr>
          <a:xfrm>
            <a:off x="5008373" y="4704652"/>
            <a:ext cx="6798565" cy="638434"/>
          </a:xfrm>
          <a:prstGeom prst="rect">
            <a:avLst/>
          </a:prstGeom>
          <a:noFill/>
          <a:ln/>
        </p:spPr>
        <p:txBody>
          <a:bodyPr wrap="square" lIns="0" tIns="0" rIns="0" bIns="0" rtlCol="0" anchor="ctr"/>
          <a:lstStyle/>
          <a:p>
            <a:pPr algn="ctr">
              <a:lnSpc>
                <a:spcPct val="90000"/>
              </a:lnSpc>
            </a:pPr>
            <a:r>
              <a:rPr lang="en-US" sz="998" dirty="0">
                <a:solidFill>
                  <a:srgbClr val="16233F"/>
                </a:solidFill>
                <a:latin typeface="Calibri" pitchFamily="34" charset="0"/>
                <a:ea typeface="Calibri" pitchFamily="34" charset="-122"/>
                <a:cs typeface="Calibri" pitchFamily="34" charset="-120"/>
              </a:rPr>
              <a:t>Generic e-mail notification to Lender &amp; IMGC stakeholders on case events — new document requirement, bucket shift (Lender ↔ IMGC), push to processor-defined mail IDs, and status change (Approved / Queried)</a:t>
            </a:r>
            <a:endParaRPr lang="en-US" sz="998" dirty="0"/>
          </a:p>
        </p:txBody>
      </p:sp>
      <p:sp>
        <p:nvSpPr>
          <p:cNvPr id="288" name="Shape 86">
            <a:extLst>
              <a:ext uri="{FF2B5EF4-FFF2-40B4-BE49-F238E27FC236}">
                <a16:creationId xmlns:a16="http://schemas.microsoft.com/office/drawing/2014/main" id="{63ACB09A-FEE7-9D8A-5E4C-166A72F56B59}"/>
              </a:ext>
            </a:extLst>
          </p:cNvPr>
          <p:cNvSpPr/>
          <p:nvPr/>
        </p:nvSpPr>
        <p:spPr>
          <a:xfrm>
            <a:off x="2267159" y="4537443"/>
            <a:ext cx="0" cy="152008"/>
          </a:xfrm>
          <a:prstGeom prst="line">
            <a:avLst/>
          </a:prstGeom>
          <a:noFill/>
          <a:ln w="13970">
            <a:solidFill>
              <a:srgbClr val="B4541A"/>
            </a:solidFill>
            <a:prstDash val="dash"/>
            <a:headEnd type="none"/>
            <a:tailEnd type="triangle"/>
          </a:ln>
        </p:spPr>
        <p:txBody>
          <a:bodyPr/>
          <a:lstStyle/>
          <a:p>
            <a:endParaRPr lang="en-IN" sz="1860"/>
          </a:p>
        </p:txBody>
      </p:sp>
      <p:sp>
        <p:nvSpPr>
          <p:cNvPr id="290" name="Shape 87">
            <a:extLst>
              <a:ext uri="{FF2B5EF4-FFF2-40B4-BE49-F238E27FC236}">
                <a16:creationId xmlns:a16="http://schemas.microsoft.com/office/drawing/2014/main" id="{AC0E805D-711F-FDC3-5F43-0E5A4ECBE3DB}"/>
              </a:ext>
            </a:extLst>
          </p:cNvPr>
          <p:cNvSpPr/>
          <p:nvPr/>
        </p:nvSpPr>
        <p:spPr>
          <a:xfrm>
            <a:off x="5776014" y="4537443"/>
            <a:ext cx="0" cy="152008"/>
          </a:xfrm>
          <a:prstGeom prst="line">
            <a:avLst/>
          </a:prstGeom>
          <a:noFill/>
          <a:ln w="13970">
            <a:solidFill>
              <a:srgbClr val="B4541A"/>
            </a:solidFill>
            <a:prstDash val="dash"/>
            <a:headEnd type="none"/>
            <a:tailEnd type="triangle"/>
          </a:ln>
        </p:spPr>
        <p:txBody>
          <a:bodyPr/>
          <a:lstStyle/>
          <a:p>
            <a:endParaRPr lang="en-IN" sz="1860"/>
          </a:p>
        </p:txBody>
      </p:sp>
      <p:sp>
        <p:nvSpPr>
          <p:cNvPr id="292" name="Shape 88">
            <a:extLst>
              <a:ext uri="{FF2B5EF4-FFF2-40B4-BE49-F238E27FC236}">
                <a16:creationId xmlns:a16="http://schemas.microsoft.com/office/drawing/2014/main" id="{1509469B-4EE4-A324-C380-D76F4C4F8CE3}"/>
              </a:ext>
            </a:extLst>
          </p:cNvPr>
          <p:cNvSpPr/>
          <p:nvPr/>
        </p:nvSpPr>
        <p:spPr>
          <a:xfrm>
            <a:off x="7530441" y="4537443"/>
            <a:ext cx="0" cy="152008"/>
          </a:xfrm>
          <a:prstGeom prst="line">
            <a:avLst/>
          </a:prstGeom>
          <a:noFill/>
          <a:ln w="13970">
            <a:solidFill>
              <a:srgbClr val="B4541A"/>
            </a:solidFill>
            <a:prstDash val="dash"/>
            <a:headEnd type="none"/>
            <a:tailEnd type="triangle"/>
          </a:ln>
        </p:spPr>
        <p:txBody>
          <a:bodyPr/>
          <a:lstStyle/>
          <a:p>
            <a:endParaRPr lang="en-IN" sz="1860"/>
          </a:p>
        </p:txBody>
      </p:sp>
      <p:sp>
        <p:nvSpPr>
          <p:cNvPr id="294" name="Shape 89">
            <a:extLst>
              <a:ext uri="{FF2B5EF4-FFF2-40B4-BE49-F238E27FC236}">
                <a16:creationId xmlns:a16="http://schemas.microsoft.com/office/drawing/2014/main" id="{14883402-139E-FF9B-68E2-A47B19B651EA}"/>
              </a:ext>
            </a:extLst>
          </p:cNvPr>
          <p:cNvSpPr/>
          <p:nvPr/>
        </p:nvSpPr>
        <p:spPr>
          <a:xfrm>
            <a:off x="9284869" y="4537443"/>
            <a:ext cx="0" cy="152008"/>
          </a:xfrm>
          <a:prstGeom prst="line">
            <a:avLst/>
          </a:prstGeom>
          <a:noFill/>
          <a:ln w="13970">
            <a:solidFill>
              <a:srgbClr val="B4541A"/>
            </a:solidFill>
            <a:prstDash val="dash"/>
            <a:headEnd type="none"/>
            <a:tailEnd type="triangle"/>
          </a:ln>
        </p:spPr>
        <p:txBody>
          <a:bodyPr/>
          <a:lstStyle/>
          <a:p>
            <a:endParaRPr lang="en-IN" sz="1860"/>
          </a:p>
        </p:txBody>
      </p:sp>
      <p:sp>
        <p:nvSpPr>
          <p:cNvPr id="296" name="Shape 90">
            <a:extLst>
              <a:ext uri="{FF2B5EF4-FFF2-40B4-BE49-F238E27FC236}">
                <a16:creationId xmlns:a16="http://schemas.microsoft.com/office/drawing/2014/main" id="{EFC6E81F-D775-96A1-515C-6C6E418AB1B9}"/>
              </a:ext>
            </a:extLst>
          </p:cNvPr>
          <p:cNvSpPr/>
          <p:nvPr/>
        </p:nvSpPr>
        <p:spPr>
          <a:xfrm>
            <a:off x="11039296" y="4537443"/>
            <a:ext cx="0" cy="152008"/>
          </a:xfrm>
          <a:prstGeom prst="line">
            <a:avLst/>
          </a:prstGeom>
          <a:noFill/>
          <a:ln w="13970">
            <a:solidFill>
              <a:srgbClr val="B4541A"/>
            </a:solidFill>
            <a:prstDash val="dash"/>
            <a:headEnd type="none"/>
            <a:tailEnd type="triangle"/>
          </a:ln>
        </p:spPr>
        <p:txBody>
          <a:bodyPr/>
          <a:lstStyle/>
          <a:p>
            <a:endParaRPr lang="en-IN" sz="1860"/>
          </a:p>
        </p:txBody>
      </p:sp>
      <p:sp>
        <p:nvSpPr>
          <p:cNvPr id="298" name="Shape 91">
            <a:extLst>
              <a:ext uri="{FF2B5EF4-FFF2-40B4-BE49-F238E27FC236}">
                <a16:creationId xmlns:a16="http://schemas.microsoft.com/office/drawing/2014/main" id="{30048C39-7704-EA1A-6C99-F9C73BAED279}"/>
              </a:ext>
            </a:extLst>
          </p:cNvPr>
          <p:cNvSpPr/>
          <p:nvPr/>
        </p:nvSpPr>
        <p:spPr>
          <a:xfrm>
            <a:off x="1453916" y="5559699"/>
            <a:ext cx="1626487" cy="638434"/>
          </a:xfrm>
          <a:prstGeom prst="roundRect">
            <a:avLst>
              <a:gd name="adj" fmla="val 7143"/>
            </a:avLst>
          </a:prstGeom>
          <a:solidFill>
            <a:srgbClr val="DFF0EC"/>
          </a:solidFill>
          <a:ln w="12700">
            <a:solidFill>
              <a:srgbClr val="11736A"/>
            </a:solidFill>
            <a:prstDash val="solid"/>
          </a:ln>
        </p:spPr>
        <p:txBody>
          <a:bodyPr/>
          <a:lstStyle/>
          <a:p>
            <a:endParaRPr lang="en-IN" sz="1860"/>
          </a:p>
        </p:txBody>
      </p:sp>
      <p:sp>
        <p:nvSpPr>
          <p:cNvPr id="300" name="Text 92">
            <a:extLst>
              <a:ext uri="{FF2B5EF4-FFF2-40B4-BE49-F238E27FC236}">
                <a16:creationId xmlns:a16="http://schemas.microsoft.com/office/drawing/2014/main" id="{F1D91EB9-5F91-A407-57DC-7DA411EC8225}"/>
              </a:ext>
            </a:extLst>
          </p:cNvPr>
          <p:cNvSpPr txBox="1"/>
          <p:nvPr/>
        </p:nvSpPr>
        <p:spPr>
          <a:xfrm>
            <a:off x="1499518" y="5559699"/>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User, access &amp; login audit log</a:t>
            </a:r>
            <a:endParaRPr lang="en-US" sz="938" dirty="0"/>
          </a:p>
        </p:txBody>
      </p:sp>
      <p:sp>
        <p:nvSpPr>
          <p:cNvPr id="302" name="Shape 93">
            <a:extLst>
              <a:ext uri="{FF2B5EF4-FFF2-40B4-BE49-F238E27FC236}">
                <a16:creationId xmlns:a16="http://schemas.microsoft.com/office/drawing/2014/main" id="{CD22F7BE-F369-186F-CB2A-881DB172922F}"/>
              </a:ext>
            </a:extLst>
          </p:cNvPr>
          <p:cNvSpPr/>
          <p:nvPr/>
        </p:nvSpPr>
        <p:spPr>
          <a:xfrm>
            <a:off x="4962771" y="5559699"/>
            <a:ext cx="1626487" cy="638434"/>
          </a:xfrm>
          <a:prstGeom prst="roundRect">
            <a:avLst>
              <a:gd name="adj" fmla="val 7143"/>
            </a:avLst>
          </a:prstGeom>
          <a:solidFill>
            <a:srgbClr val="DFF0EC"/>
          </a:solidFill>
          <a:ln w="12700">
            <a:solidFill>
              <a:srgbClr val="11736A"/>
            </a:solidFill>
            <a:prstDash val="solid"/>
          </a:ln>
        </p:spPr>
        <p:txBody>
          <a:bodyPr/>
          <a:lstStyle/>
          <a:p>
            <a:endParaRPr lang="en-IN" sz="1860"/>
          </a:p>
        </p:txBody>
      </p:sp>
      <p:sp>
        <p:nvSpPr>
          <p:cNvPr id="304" name="Text 94">
            <a:extLst>
              <a:ext uri="{FF2B5EF4-FFF2-40B4-BE49-F238E27FC236}">
                <a16:creationId xmlns:a16="http://schemas.microsoft.com/office/drawing/2014/main" id="{6BF80EEA-C333-0F8A-A196-350385C0B53B}"/>
              </a:ext>
            </a:extLst>
          </p:cNvPr>
          <p:cNvSpPr txBox="1"/>
          <p:nvPr/>
        </p:nvSpPr>
        <p:spPr>
          <a:xfrm>
            <a:off x="5008373" y="5559699"/>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Trail of every document uploaded, with version, user, date &amp; time stamp</a:t>
            </a:r>
            <a:endParaRPr lang="en-US" sz="938" dirty="0"/>
          </a:p>
        </p:txBody>
      </p:sp>
      <p:sp>
        <p:nvSpPr>
          <p:cNvPr id="306" name="Shape 95">
            <a:extLst>
              <a:ext uri="{FF2B5EF4-FFF2-40B4-BE49-F238E27FC236}">
                <a16:creationId xmlns:a16="http://schemas.microsoft.com/office/drawing/2014/main" id="{E5250701-0487-B1E6-1346-B562D656B177}"/>
              </a:ext>
            </a:extLst>
          </p:cNvPr>
          <p:cNvSpPr/>
          <p:nvPr/>
        </p:nvSpPr>
        <p:spPr>
          <a:xfrm>
            <a:off x="6717198" y="5559699"/>
            <a:ext cx="1626487" cy="638434"/>
          </a:xfrm>
          <a:prstGeom prst="roundRect">
            <a:avLst>
              <a:gd name="adj" fmla="val 7143"/>
            </a:avLst>
          </a:prstGeom>
          <a:solidFill>
            <a:srgbClr val="DFF0EC"/>
          </a:solidFill>
          <a:ln w="12700">
            <a:solidFill>
              <a:srgbClr val="11736A"/>
            </a:solidFill>
            <a:prstDash val="solid"/>
          </a:ln>
        </p:spPr>
        <p:txBody>
          <a:bodyPr/>
          <a:lstStyle/>
          <a:p>
            <a:endParaRPr lang="en-IN" sz="1860"/>
          </a:p>
        </p:txBody>
      </p:sp>
      <p:sp>
        <p:nvSpPr>
          <p:cNvPr id="308" name="Text 96">
            <a:extLst>
              <a:ext uri="{FF2B5EF4-FFF2-40B4-BE49-F238E27FC236}">
                <a16:creationId xmlns:a16="http://schemas.microsoft.com/office/drawing/2014/main" id="{C75B72BF-86DE-AE28-4051-6A7A55542ABC}"/>
              </a:ext>
            </a:extLst>
          </p:cNvPr>
          <p:cNvSpPr txBox="1"/>
          <p:nvPr/>
        </p:nvSpPr>
        <p:spPr>
          <a:xfrm>
            <a:off x="6762800" y="5559699"/>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Save / Submit / Cancel actions logged against the case</a:t>
            </a:r>
            <a:endParaRPr lang="en-US" sz="938" dirty="0"/>
          </a:p>
        </p:txBody>
      </p:sp>
      <p:sp>
        <p:nvSpPr>
          <p:cNvPr id="310" name="Shape 97">
            <a:extLst>
              <a:ext uri="{FF2B5EF4-FFF2-40B4-BE49-F238E27FC236}">
                <a16:creationId xmlns:a16="http://schemas.microsoft.com/office/drawing/2014/main" id="{6BFF191D-958B-2FFE-1110-D8708E923580}"/>
              </a:ext>
            </a:extLst>
          </p:cNvPr>
          <p:cNvSpPr/>
          <p:nvPr/>
        </p:nvSpPr>
        <p:spPr>
          <a:xfrm>
            <a:off x="8471625" y="5559699"/>
            <a:ext cx="1626487" cy="638434"/>
          </a:xfrm>
          <a:prstGeom prst="roundRect">
            <a:avLst>
              <a:gd name="adj" fmla="val 7143"/>
            </a:avLst>
          </a:prstGeom>
          <a:solidFill>
            <a:srgbClr val="DFF0EC"/>
          </a:solidFill>
          <a:ln w="12700">
            <a:solidFill>
              <a:srgbClr val="11736A"/>
            </a:solidFill>
            <a:prstDash val="solid"/>
          </a:ln>
        </p:spPr>
        <p:txBody>
          <a:bodyPr/>
          <a:lstStyle/>
          <a:p>
            <a:endParaRPr lang="en-IN" sz="1860"/>
          </a:p>
        </p:txBody>
      </p:sp>
      <p:sp>
        <p:nvSpPr>
          <p:cNvPr id="312" name="Text 98">
            <a:extLst>
              <a:ext uri="{FF2B5EF4-FFF2-40B4-BE49-F238E27FC236}">
                <a16:creationId xmlns:a16="http://schemas.microsoft.com/office/drawing/2014/main" id="{B45C1399-D90A-12B4-CA32-AB673E9478BC}"/>
              </a:ext>
            </a:extLst>
          </p:cNvPr>
          <p:cNvSpPr txBox="1"/>
          <p:nvPr/>
        </p:nvSpPr>
        <p:spPr>
          <a:xfrm>
            <a:off x="8517227" y="5559699"/>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Rejected documents retained 3 months → reinstatement allowed with approval</a:t>
            </a:r>
            <a:endParaRPr lang="en-US" sz="938" dirty="0"/>
          </a:p>
        </p:txBody>
      </p:sp>
      <p:sp>
        <p:nvSpPr>
          <p:cNvPr id="314" name="Shape 99">
            <a:extLst>
              <a:ext uri="{FF2B5EF4-FFF2-40B4-BE49-F238E27FC236}">
                <a16:creationId xmlns:a16="http://schemas.microsoft.com/office/drawing/2014/main" id="{91C81054-A962-88EB-09B1-94788F130BCC}"/>
              </a:ext>
            </a:extLst>
          </p:cNvPr>
          <p:cNvSpPr/>
          <p:nvPr/>
        </p:nvSpPr>
        <p:spPr>
          <a:xfrm>
            <a:off x="10226052" y="5559699"/>
            <a:ext cx="1626487" cy="638434"/>
          </a:xfrm>
          <a:prstGeom prst="roundRect">
            <a:avLst>
              <a:gd name="adj" fmla="val 7143"/>
            </a:avLst>
          </a:prstGeom>
          <a:solidFill>
            <a:srgbClr val="DFF0EC"/>
          </a:solidFill>
          <a:ln w="12700">
            <a:solidFill>
              <a:srgbClr val="11736A"/>
            </a:solidFill>
            <a:prstDash val="solid"/>
          </a:ln>
        </p:spPr>
        <p:txBody>
          <a:bodyPr/>
          <a:lstStyle/>
          <a:p>
            <a:endParaRPr lang="en-IN" sz="1860"/>
          </a:p>
        </p:txBody>
      </p:sp>
      <p:sp>
        <p:nvSpPr>
          <p:cNvPr id="316" name="Text 100">
            <a:extLst>
              <a:ext uri="{FF2B5EF4-FFF2-40B4-BE49-F238E27FC236}">
                <a16:creationId xmlns:a16="http://schemas.microsoft.com/office/drawing/2014/main" id="{FB2C40AC-6813-1D00-7E82-1AE5F4F6A8FB}"/>
              </a:ext>
            </a:extLst>
          </p:cNvPr>
          <p:cNvSpPr txBox="1"/>
          <p:nvPr/>
        </p:nvSpPr>
        <p:spPr>
          <a:xfrm>
            <a:off x="10271654" y="5559699"/>
            <a:ext cx="1535283" cy="638434"/>
          </a:xfrm>
          <a:prstGeom prst="rect">
            <a:avLst/>
          </a:prstGeom>
          <a:noFill/>
          <a:ln/>
        </p:spPr>
        <p:txBody>
          <a:bodyPr wrap="square" lIns="0" tIns="0" rIns="0" bIns="0" rtlCol="0" anchor="ctr"/>
          <a:lstStyle/>
          <a:p>
            <a:pPr algn="ctr">
              <a:lnSpc>
                <a:spcPct val="90000"/>
              </a:lnSpc>
            </a:pPr>
            <a:r>
              <a:rPr lang="en-US" sz="938" dirty="0">
                <a:solidFill>
                  <a:srgbClr val="16233F"/>
                </a:solidFill>
                <a:latin typeface="Calibri" pitchFamily="34" charset="0"/>
                <a:ea typeface="Calibri" pitchFamily="34" charset="-122"/>
                <a:cs typeface="Calibri" pitchFamily="34" charset="-120"/>
              </a:rPr>
              <a:t>Remarks &amp; feedback trail (Lender + IMGC)</a:t>
            </a:r>
            <a:endParaRPr lang="en-US" sz="938" dirty="0"/>
          </a:p>
          <a:p>
            <a:pPr algn="ctr">
              <a:lnSpc>
                <a:spcPct val="90000"/>
              </a:lnSpc>
            </a:pPr>
            <a:r>
              <a:rPr lang="en-US" sz="938" dirty="0">
                <a:solidFill>
                  <a:srgbClr val="16233F"/>
                </a:solidFill>
                <a:latin typeface="Calibri" pitchFamily="34" charset="0"/>
                <a:ea typeface="Calibri" pitchFamily="34" charset="-122"/>
                <a:cs typeface="Calibri" pitchFamily="34" charset="-120"/>
              </a:rPr>
              <a:t>DB &amp; MIS reports</a:t>
            </a:r>
            <a:endParaRPr lang="en-US" sz="938" dirty="0"/>
          </a:p>
        </p:txBody>
      </p:sp>
      <p:sp>
        <p:nvSpPr>
          <p:cNvPr id="318" name="Shape 101">
            <a:extLst>
              <a:ext uri="{FF2B5EF4-FFF2-40B4-BE49-F238E27FC236}">
                <a16:creationId xmlns:a16="http://schemas.microsoft.com/office/drawing/2014/main" id="{1EAC6153-4774-C7A9-6ABF-85845170E97E}"/>
              </a:ext>
            </a:extLst>
          </p:cNvPr>
          <p:cNvSpPr/>
          <p:nvPr/>
        </p:nvSpPr>
        <p:spPr>
          <a:xfrm>
            <a:off x="2267159" y="5392489"/>
            <a:ext cx="0" cy="152008"/>
          </a:xfrm>
          <a:prstGeom prst="line">
            <a:avLst/>
          </a:prstGeom>
          <a:noFill/>
          <a:ln w="13970">
            <a:solidFill>
              <a:srgbClr val="11736A"/>
            </a:solidFill>
            <a:prstDash val="dash"/>
            <a:headEnd type="none"/>
            <a:tailEnd type="triangle"/>
          </a:ln>
        </p:spPr>
        <p:txBody>
          <a:bodyPr/>
          <a:lstStyle/>
          <a:p>
            <a:endParaRPr lang="en-IN" sz="1860"/>
          </a:p>
        </p:txBody>
      </p:sp>
      <p:sp>
        <p:nvSpPr>
          <p:cNvPr id="320" name="Shape 102">
            <a:extLst>
              <a:ext uri="{FF2B5EF4-FFF2-40B4-BE49-F238E27FC236}">
                <a16:creationId xmlns:a16="http://schemas.microsoft.com/office/drawing/2014/main" id="{42C2AAE6-B2B7-68F7-6341-6EEE0E97A614}"/>
              </a:ext>
            </a:extLst>
          </p:cNvPr>
          <p:cNvSpPr/>
          <p:nvPr/>
        </p:nvSpPr>
        <p:spPr>
          <a:xfrm>
            <a:off x="5776014" y="5392489"/>
            <a:ext cx="0" cy="152008"/>
          </a:xfrm>
          <a:prstGeom prst="line">
            <a:avLst/>
          </a:prstGeom>
          <a:noFill/>
          <a:ln w="13970">
            <a:solidFill>
              <a:srgbClr val="11736A"/>
            </a:solidFill>
            <a:prstDash val="dash"/>
            <a:headEnd type="none"/>
            <a:tailEnd type="triangle"/>
          </a:ln>
        </p:spPr>
        <p:txBody>
          <a:bodyPr/>
          <a:lstStyle/>
          <a:p>
            <a:endParaRPr lang="en-IN" sz="1860"/>
          </a:p>
        </p:txBody>
      </p:sp>
      <p:sp>
        <p:nvSpPr>
          <p:cNvPr id="322" name="Shape 103">
            <a:extLst>
              <a:ext uri="{FF2B5EF4-FFF2-40B4-BE49-F238E27FC236}">
                <a16:creationId xmlns:a16="http://schemas.microsoft.com/office/drawing/2014/main" id="{6E89D7C7-8E37-D1B6-3D7E-710DCA8820C8}"/>
              </a:ext>
            </a:extLst>
          </p:cNvPr>
          <p:cNvSpPr/>
          <p:nvPr/>
        </p:nvSpPr>
        <p:spPr>
          <a:xfrm>
            <a:off x="7530441" y="5392489"/>
            <a:ext cx="0" cy="152008"/>
          </a:xfrm>
          <a:prstGeom prst="line">
            <a:avLst/>
          </a:prstGeom>
          <a:noFill/>
          <a:ln w="13970">
            <a:solidFill>
              <a:srgbClr val="11736A"/>
            </a:solidFill>
            <a:prstDash val="dash"/>
            <a:headEnd type="none"/>
            <a:tailEnd type="triangle"/>
          </a:ln>
        </p:spPr>
        <p:txBody>
          <a:bodyPr/>
          <a:lstStyle/>
          <a:p>
            <a:endParaRPr lang="en-IN" sz="1860"/>
          </a:p>
        </p:txBody>
      </p:sp>
      <p:sp>
        <p:nvSpPr>
          <p:cNvPr id="324" name="Shape 104">
            <a:extLst>
              <a:ext uri="{FF2B5EF4-FFF2-40B4-BE49-F238E27FC236}">
                <a16:creationId xmlns:a16="http://schemas.microsoft.com/office/drawing/2014/main" id="{12C6DE73-E907-23D7-0DCA-39C8FCCDEC2A}"/>
              </a:ext>
            </a:extLst>
          </p:cNvPr>
          <p:cNvSpPr/>
          <p:nvPr/>
        </p:nvSpPr>
        <p:spPr>
          <a:xfrm>
            <a:off x="9284869" y="5392489"/>
            <a:ext cx="0" cy="152008"/>
          </a:xfrm>
          <a:prstGeom prst="line">
            <a:avLst/>
          </a:prstGeom>
          <a:noFill/>
          <a:ln w="13970">
            <a:solidFill>
              <a:srgbClr val="11736A"/>
            </a:solidFill>
            <a:prstDash val="dash"/>
            <a:headEnd type="none"/>
            <a:tailEnd type="triangle"/>
          </a:ln>
        </p:spPr>
        <p:txBody>
          <a:bodyPr/>
          <a:lstStyle/>
          <a:p>
            <a:endParaRPr lang="en-IN" sz="1860"/>
          </a:p>
        </p:txBody>
      </p:sp>
      <p:sp>
        <p:nvSpPr>
          <p:cNvPr id="326" name="Shape 105">
            <a:extLst>
              <a:ext uri="{FF2B5EF4-FFF2-40B4-BE49-F238E27FC236}">
                <a16:creationId xmlns:a16="http://schemas.microsoft.com/office/drawing/2014/main" id="{566AB7DA-832E-77BE-EA3F-D1F99CAB1B35}"/>
              </a:ext>
            </a:extLst>
          </p:cNvPr>
          <p:cNvSpPr/>
          <p:nvPr/>
        </p:nvSpPr>
        <p:spPr>
          <a:xfrm>
            <a:off x="11039296" y="5392489"/>
            <a:ext cx="0" cy="152008"/>
          </a:xfrm>
          <a:prstGeom prst="line">
            <a:avLst/>
          </a:prstGeom>
          <a:noFill/>
          <a:ln w="13970">
            <a:solidFill>
              <a:srgbClr val="11736A"/>
            </a:solidFill>
            <a:prstDash val="dash"/>
            <a:headEnd type="none"/>
            <a:tailEnd type="triangle"/>
          </a:ln>
        </p:spPr>
        <p:txBody>
          <a:bodyPr/>
          <a:lstStyle/>
          <a:p>
            <a:endParaRPr lang="en-IN" sz="1860"/>
          </a:p>
        </p:txBody>
      </p:sp>
      <p:sp>
        <p:nvSpPr>
          <p:cNvPr id="328" name="Shape 106">
            <a:extLst>
              <a:ext uri="{FF2B5EF4-FFF2-40B4-BE49-F238E27FC236}">
                <a16:creationId xmlns:a16="http://schemas.microsoft.com/office/drawing/2014/main" id="{6DB0BC15-ACE9-B253-B983-2CCF26D030F8}"/>
              </a:ext>
            </a:extLst>
          </p:cNvPr>
          <p:cNvSpPr/>
          <p:nvPr/>
        </p:nvSpPr>
        <p:spPr>
          <a:xfrm>
            <a:off x="287887" y="6407143"/>
            <a:ext cx="11628623" cy="319217"/>
          </a:xfrm>
          <a:prstGeom prst="roundRect">
            <a:avLst>
              <a:gd name="adj" fmla="val 11429"/>
            </a:avLst>
          </a:prstGeom>
          <a:solidFill>
            <a:srgbClr val="F4F6F9"/>
          </a:solidFill>
          <a:ln w="12700">
            <a:solidFill>
              <a:srgbClr val="C9D0DB"/>
            </a:solidFill>
            <a:prstDash val="solid"/>
          </a:ln>
        </p:spPr>
        <p:txBody>
          <a:bodyPr/>
          <a:lstStyle/>
          <a:p>
            <a:endParaRPr lang="en-IN" sz="1860"/>
          </a:p>
        </p:txBody>
      </p:sp>
      <p:sp>
        <p:nvSpPr>
          <p:cNvPr id="330" name="Text 107">
            <a:extLst>
              <a:ext uri="{FF2B5EF4-FFF2-40B4-BE49-F238E27FC236}">
                <a16:creationId xmlns:a16="http://schemas.microsoft.com/office/drawing/2014/main" id="{7D0B296C-97A6-2174-3991-E0CC03B4E3F6}"/>
              </a:ext>
            </a:extLst>
          </p:cNvPr>
          <p:cNvSpPr txBox="1"/>
          <p:nvPr/>
        </p:nvSpPr>
        <p:spPr>
          <a:xfrm>
            <a:off x="386692" y="6407143"/>
            <a:ext cx="532029" cy="319217"/>
          </a:xfrm>
          <a:prstGeom prst="rect">
            <a:avLst/>
          </a:prstGeom>
          <a:noFill/>
          <a:ln/>
        </p:spPr>
        <p:txBody>
          <a:bodyPr wrap="square" lIns="0" tIns="0" rIns="0" bIns="0" rtlCol="0" anchor="ctr"/>
          <a:lstStyle/>
          <a:p>
            <a:pPr>
              <a:lnSpc>
                <a:spcPct val="92000"/>
              </a:lnSpc>
            </a:pPr>
            <a:r>
              <a:rPr lang="en-US" sz="858" b="1" dirty="0">
                <a:solidFill>
                  <a:srgbClr val="1E2761"/>
                </a:solidFill>
                <a:latin typeface="Calibri" pitchFamily="34" charset="0"/>
                <a:ea typeface="Calibri" pitchFamily="34" charset="-122"/>
                <a:cs typeface="Calibri" pitchFamily="34" charset="-120"/>
              </a:rPr>
              <a:t>LEGEND</a:t>
            </a:r>
            <a:endParaRPr lang="en-US" sz="858" dirty="0"/>
          </a:p>
        </p:txBody>
      </p:sp>
      <p:sp>
        <p:nvSpPr>
          <p:cNvPr id="332" name="Shape 108">
            <a:extLst>
              <a:ext uri="{FF2B5EF4-FFF2-40B4-BE49-F238E27FC236}">
                <a16:creationId xmlns:a16="http://schemas.microsoft.com/office/drawing/2014/main" id="{F7275014-0D0A-E519-6124-D24C3CBAD07A}"/>
              </a:ext>
            </a:extLst>
          </p:cNvPr>
          <p:cNvSpPr/>
          <p:nvPr/>
        </p:nvSpPr>
        <p:spPr>
          <a:xfrm>
            <a:off x="994725" y="6566752"/>
            <a:ext cx="296416" cy="0"/>
          </a:xfrm>
          <a:prstGeom prst="line">
            <a:avLst/>
          </a:prstGeom>
          <a:noFill/>
          <a:ln w="16510">
            <a:solidFill>
              <a:srgbClr val="5B6472"/>
            </a:solidFill>
            <a:prstDash val="solid"/>
            <a:tailEnd type="triangle"/>
          </a:ln>
        </p:spPr>
        <p:txBody>
          <a:bodyPr/>
          <a:lstStyle/>
          <a:p>
            <a:endParaRPr lang="en-IN" sz="1860"/>
          </a:p>
        </p:txBody>
      </p:sp>
      <p:sp>
        <p:nvSpPr>
          <p:cNvPr id="334" name="Text 109">
            <a:extLst>
              <a:ext uri="{FF2B5EF4-FFF2-40B4-BE49-F238E27FC236}">
                <a16:creationId xmlns:a16="http://schemas.microsoft.com/office/drawing/2014/main" id="{0A793549-94E8-EF73-E0FB-76D05C540709}"/>
              </a:ext>
            </a:extLst>
          </p:cNvPr>
          <p:cNvSpPr txBox="1"/>
          <p:nvPr/>
        </p:nvSpPr>
        <p:spPr>
          <a:xfrm>
            <a:off x="1351944" y="6407143"/>
            <a:ext cx="836045" cy="319217"/>
          </a:xfrm>
          <a:prstGeom prst="rect">
            <a:avLst/>
          </a:prstGeom>
          <a:noFill/>
          <a:ln/>
        </p:spPr>
        <p:txBody>
          <a:bodyPr wrap="square" lIns="0" tIns="0" rIns="0" bIns="0" rtlCol="0" anchor="ctr"/>
          <a:lstStyle/>
          <a:p>
            <a:pPr>
              <a:lnSpc>
                <a:spcPct val="92000"/>
              </a:lnSpc>
            </a:pPr>
            <a:r>
              <a:rPr lang="en-US" sz="838" dirty="0">
                <a:solidFill>
                  <a:srgbClr val="5B6472"/>
                </a:solidFill>
                <a:latin typeface="Calibri" pitchFamily="34" charset="0"/>
                <a:ea typeface="Calibri" pitchFamily="34" charset="-122"/>
                <a:cs typeface="Calibri" pitchFamily="34" charset="-120"/>
              </a:rPr>
              <a:t>process flow</a:t>
            </a:r>
            <a:endParaRPr lang="en-US" sz="838" dirty="0"/>
          </a:p>
        </p:txBody>
      </p:sp>
      <p:sp>
        <p:nvSpPr>
          <p:cNvPr id="336" name="Shape 110">
            <a:extLst>
              <a:ext uri="{FF2B5EF4-FFF2-40B4-BE49-F238E27FC236}">
                <a16:creationId xmlns:a16="http://schemas.microsoft.com/office/drawing/2014/main" id="{7278D835-1506-35BE-1F1C-13E4F044AE35}"/>
              </a:ext>
            </a:extLst>
          </p:cNvPr>
          <p:cNvSpPr/>
          <p:nvPr/>
        </p:nvSpPr>
        <p:spPr>
          <a:xfrm>
            <a:off x="2225991" y="6566752"/>
            <a:ext cx="296416" cy="0"/>
          </a:xfrm>
          <a:prstGeom prst="line">
            <a:avLst/>
          </a:prstGeom>
          <a:noFill/>
          <a:ln w="16510">
            <a:solidFill>
              <a:srgbClr val="5B6472"/>
            </a:solidFill>
            <a:prstDash val="dash"/>
            <a:tailEnd type="triangle"/>
          </a:ln>
        </p:spPr>
        <p:txBody>
          <a:bodyPr/>
          <a:lstStyle/>
          <a:p>
            <a:endParaRPr lang="en-IN" sz="1860"/>
          </a:p>
        </p:txBody>
      </p:sp>
      <p:sp>
        <p:nvSpPr>
          <p:cNvPr id="338" name="Text 111">
            <a:extLst>
              <a:ext uri="{FF2B5EF4-FFF2-40B4-BE49-F238E27FC236}">
                <a16:creationId xmlns:a16="http://schemas.microsoft.com/office/drawing/2014/main" id="{ADCA6494-8A74-E383-5250-EB245B0809CA}"/>
              </a:ext>
            </a:extLst>
          </p:cNvPr>
          <p:cNvSpPr txBox="1"/>
          <p:nvPr/>
        </p:nvSpPr>
        <p:spPr>
          <a:xfrm>
            <a:off x="2583209" y="6407143"/>
            <a:ext cx="1368074" cy="319217"/>
          </a:xfrm>
          <a:prstGeom prst="rect">
            <a:avLst/>
          </a:prstGeom>
          <a:noFill/>
          <a:ln/>
        </p:spPr>
        <p:txBody>
          <a:bodyPr wrap="square" lIns="0" tIns="0" rIns="0" bIns="0" rtlCol="0" anchor="ctr"/>
          <a:lstStyle/>
          <a:p>
            <a:pPr>
              <a:lnSpc>
                <a:spcPct val="92000"/>
              </a:lnSpc>
            </a:pPr>
            <a:r>
              <a:rPr lang="en-US" sz="838" dirty="0">
                <a:solidFill>
                  <a:srgbClr val="5B6472"/>
                </a:solidFill>
                <a:latin typeface="Calibri" pitchFamily="34" charset="0"/>
                <a:ea typeface="Calibri" pitchFamily="34" charset="-122"/>
                <a:cs typeface="Calibri" pitchFamily="34" charset="-120"/>
              </a:rPr>
              <a:t>notification / audit trigger</a:t>
            </a:r>
            <a:endParaRPr lang="en-US" sz="838" dirty="0"/>
          </a:p>
        </p:txBody>
      </p:sp>
      <p:sp>
        <p:nvSpPr>
          <p:cNvPr id="340" name="Shape 112">
            <a:extLst>
              <a:ext uri="{FF2B5EF4-FFF2-40B4-BE49-F238E27FC236}">
                <a16:creationId xmlns:a16="http://schemas.microsoft.com/office/drawing/2014/main" id="{43E9E17C-E349-ECFD-F568-229A07206C55}"/>
              </a:ext>
            </a:extLst>
          </p:cNvPr>
          <p:cNvSpPr/>
          <p:nvPr/>
        </p:nvSpPr>
        <p:spPr>
          <a:xfrm>
            <a:off x="3974085" y="6566752"/>
            <a:ext cx="296416" cy="0"/>
          </a:xfrm>
          <a:prstGeom prst="line">
            <a:avLst/>
          </a:prstGeom>
          <a:noFill/>
          <a:ln w="16510">
            <a:solidFill>
              <a:srgbClr val="C2410C"/>
            </a:solidFill>
            <a:prstDash val="dash"/>
            <a:tailEnd type="triangle"/>
          </a:ln>
        </p:spPr>
        <p:txBody>
          <a:bodyPr/>
          <a:lstStyle/>
          <a:p>
            <a:endParaRPr lang="en-IN" sz="1860"/>
          </a:p>
        </p:txBody>
      </p:sp>
      <p:sp>
        <p:nvSpPr>
          <p:cNvPr id="342" name="Text 113">
            <a:extLst>
              <a:ext uri="{FF2B5EF4-FFF2-40B4-BE49-F238E27FC236}">
                <a16:creationId xmlns:a16="http://schemas.microsoft.com/office/drawing/2014/main" id="{BFC8A93B-2CCC-19C6-6AA8-5C2D6A8B55AE}"/>
              </a:ext>
            </a:extLst>
          </p:cNvPr>
          <p:cNvSpPr txBox="1"/>
          <p:nvPr/>
        </p:nvSpPr>
        <p:spPr>
          <a:xfrm>
            <a:off x="4331303" y="6407143"/>
            <a:ext cx="1140061" cy="319217"/>
          </a:xfrm>
          <a:prstGeom prst="rect">
            <a:avLst/>
          </a:prstGeom>
          <a:noFill/>
          <a:ln/>
        </p:spPr>
        <p:txBody>
          <a:bodyPr wrap="square" lIns="0" tIns="0" rIns="0" bIns="0" rtlCol="0" anchor="ctr"/>
          <a:lstStyle/>
          <a:p>
            <a:pPr>
              <a:lnSpc>
                <a:spcPct val="92000"/>
              </a:lnSpc>
            </a:pPr>
            <a:r>
              <a:rPr lang="en-US" sz="838" dirty="0">
                <a:solidFill>
                  <a:srgbClr val="5B6472"/>
                </a:solidFill>
                <a:latin typeface="Calibri" pitchFamily="34" charset="0"/>
                <a:ea typeface="Calibri" pitchFamily="34" charset="-122"/>
                <a:cs typeface="Calibri" pitchFamily="34" charset="-120"/>
              </a:rPr>
              <a:t>query / rejection loop</a:t>
            </a:r>
            <a:endParaRPr lang="en-US" sz="838" dirty="0"/>
          </a:p>
        </p:txBody>
      </p:sp>
    </p:spTree>
    <p:extLst>
      <p:ext uri="{BB962C8B-B14F-4D97-AF65-F5344CB8AC3E}">
        <p14:creationId xmlns:p14="http://schemas.microsoft.com/office/powerpoint/2010/main" val="3045474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BFC45-067F-FA49-13AD-E37F196CFD39}"/>
            </a:ext>
          </a:extLst>
        </p:cNvPr>
        <p:cNvGrpSpPr/>
        <p:nvPr/>
      </p:nvGrpSpPr>
      <p:grpSpPr>
        <a:xfrm>
          <a:off x="0" y="0"/>
          <a:ext cx="0" cy="0"/>
          <a:chOff x="0" y="0"/>
          <a:chExt cx="0" cy="0"/>
        </a:xfrm>
      </p:grpSpPr>
      <p:sp>
        <p:nvSpPr>
          <p:cNvPr id="4" name="Google Shape;161;p28">
            <a:extLst>
              <a:ext uri="{FF2B5EF4-FFF2-40B4-BE49-F238E27FC236}">
                <a16:creationId xmlns:a16="http://schemas.microsoft.com/office/drawing/2014/main" id="{80F3BB6C-8484-453C-A3BE-080ED7E5AC3E}"/>
              </a:ext>
            </a:extLst>
          </p:cNvPr>
          <p:cNvSpPr txBox="1">
            <a:spLocks noGrp="1"/>
          </p:cNvSpPr>
          <p:nvPr/>
        </p:nvSpPr>
        <p:spPr>
          <a:xfrm>
            <a:off x="508383" y="292428"/>
            <a:ext cx="11187938" cy="581084"/>
          </a:xfrm>
          <a:prstGeom prst="rect">
            <a:avLst/>
          </a:prstGeom>
          <a:noFill/>
          <a:ln>
            <a:noFill/>
          </a:ln>
        </p:spPr>
        <p:txBody>
          <a:bodyPr vert="horz" wrap="square" lIns="90866" tIns="45421" rIns="90866" bIns="45421" rtlCol="0" anchor="ctr" anchorCtr="0">
            <a:noAutofit/>
          </a:bodyPr>
          <a:lstStyle>
            <a:lvl1pPr lvl="0" algn="l" defTabSz="914400" rtl="0" eaLnBrk="1" latinLnBrk="0" hangingPunct="1">
              <a:lnSpc>
                <a:spcPct val="90000"/>
              </a:lnSpc>
              <a:spcBef>
                <a:spcPts val="0"/>
              </a:spcBef>
              <a:spcAft>
                <a:spcPts val="0"/>
              </a:spcAft>
              <a:buClr>
                <a:schemeClr val="dk1"/>
              </a:buClr>
              <a:buSzPts val="3600"/>
              <a:buFont typeface="Outfit"/>
              <a:buNone/>
              <a:defRPr sz="3585" kern="1200">
                <a:solidFill>
                  <a:schemeClr val="tx1"/>
                </a:solidFill>
                <a:latin typeface="+mj-lt"/>
                <a:ea typeface="+mj-ea"/>
                <a:cs typeface="+mj-cs"/>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pPr>
              <a:lnSpc>
                <a:spcPct val="100000"/>
              </a:lnSpc>
              <a:buClr>
                <a:srgbClr val="000000"/>
              </a:buClr>
              <a:buFont typeface="Arial" panose="020B0604020202090204"/>
            </a:pPr>
            <a:r>
              <a:rPr lang="en-US" sz="3180" b="1" dirty="0">
                <a:solidFill>
                  <a:srgbClr val="000000"/>
                </a:solidFill>
                <a:latin typeface="Outfit" pitchFamily="2" charset="0"/>
                <a:cs typeface="Arial" panose="020B0604020202090204"/>
              </a:rPr>
              <a:t>MVP Technical Architecture</a:t>
            </a:r>
            <a:endParaRPr sz="3180" b="1" dirty="0">
              <a:solidFill>
                <a:srgbClr val="000000"/>
              </a:solidFill>
              <a:latin typeface="Outfit" pitchFamily="2" charset="0"/>
              <a:cs typeface="Arial" panose="020B0604020202090204"/>
            </a:endParaRPr>
          </a:p>
        </p:txBody>
      </p:sp>
      <p:sp>
        <p:nvSpPr>
          <p:cNvPr id="6" name="Shape 3">
            <a:extLst>
              <a:ext uri="{FF2B5EF4-FFF2-40B4-BE49-F238E27FC236}">
                <a16:creationId xmlns:a16="http://schemas.microsoft.com/office/drawing/2014/main" id="{D0AA2079-EAA1-9121-8956-710D4C74560A}"/>
              </a:ext>
            </a:extLst>
          </p:cNvPr>
          <p:cNvSpPr/>
          <p:nvPr/>
        </p:nvSpPr>
        <p:spPr>
          <a:xfrm>
            <a:off x="9537582" y="339617"/>
            <a:ext cx="2173717" cy="501626"/>
          </a:xfrm>
          <a:prstGeom prst="roundRect">
            <a:avLst>
              <a:gd name="adj" fmla="val 9091"/>
            </a:avLst>
          </a:prstGeom>
          <a:solidFill>
            <a:srgbClr val="E4F2FB"/>
          </a:solidFill>
          <a:ln w="12700">
            <a:solidFill>
              <a:srgbClr val="9CCBE8"/>
            </a:solidFill>
            <a:prstDash val="solid"/>
          </a:ln>
        </p:spPr>
        <p:txBody>
          <a:bodyPr/>
          <a:lstStyle/>
          <a:p>
            <a:endParaRPr lang="en-IN"/>
          </a:p>
        </p:txBody>
      </p:sp>
      <p:sp>
        <p:nvSpPr>
          <p:cNvPr id="8" name="Text 4">
            <a:extLst>
              <a:ext uri="{FF2B5EF4-FFF2-40B4-BE49-F238E27FC236}">
                <a16:creationId xmlns:a16="http://schemas.microsoft.com/office/drawing/2014/main" id="{5F9BA012-7044-5B8B-83B2-56D772934714}"/>
              </a:ext>
            </a:extLst>
          </p:cNvPr>
          <p:cNvSpPr txBox="1"/>
          <p:nvPr/>
        </p:nvSpPr>
        <p:spPr>
          <a:xfrm>
            <a:off x="9537582" y="339617"/>
            <a:ext cx="2112913" cy="501626"/>
          </a:xfrm>
          <a:prstGeom prst="rect">
            <a:avLst/>
          </a:prstGeom>
          <a:noFill/>
          <a:ln/>
        </p:spPr>
        <p:txBody>
          <a:bodyPr wrap="square" lIns="0" tIns="0" rIns="0" bIns="0" rtlCol="0" anchor="ctr"/>
          <a:lstStyle/>
          <a:p>
            <a:pPr algn="ctr">
              <a:lnSpc>
                <a:spcPct val="94000"/>
              </a:lnSpc>
            </a:pPr>
            <a:r>
              <a:rPr lang="en-US" sz="878" b="1" dirty="0">
                <a:solidFill>
                  <a:srgbClr val="11397C"/>
                </a:solidFill>
                <a:latin typeface="Calibri" pitchFamily="34" charset="0"/>
                <a:ea typeface="Calibri" pitchFamily="34" charset="-122"/>
                <a:cs typeface="Calibri" pitchFamily="34" charset="-120"/>
              </a:rPr>
              <a:t>Java 25 + Spring Boot 4</a:t>
            </a:r>
            <a:endParaRPr lang="en-US" sz="878" dirty="0"/>
          </a:p>
          <a:p>
            <a:pPr algn="ctr">
              <a:lnSpc>
                <a:spcPct val="94000"/>
              </a:lnSpc>
            </a:pPr>
            <a:r>
              <a:rPr lang="en-US" sz="878" b="1" dirty="0">
                <a:solidFill>
                  <a:srgbClr val="11397C"/>
                </a:solidFill>
                <a:latin typeface="Calibri" pitchFamily="34" charset="0"/>
                <a:ea typeface="Calibri" pitchFamily="34" charset="-122"/>
                <a:cs typeface="Calibri" pitchFamily="34" charset="-120"/>
              </a:rPr>
              <a:t>Microservices on Managed Kubernetes</a:t>
            </a:r>
            <a:endParaRPr lang="en-US" sz="878" dirty="0"/>
          </a:p>
        </p:txBody>
      </p:sp>
      <p:sp>
        <p:nvSpPr>
          <p:cNvPr id="3" name="Text 5">
            <a:extLst>
              <a:ext uri="{FF2B5EF4-FFF2-40B4-BE49-F238E27FC236}">
                <a16:creationId xmlns:a16="http://schemas.microsoft.com/office/drawing/2014/main" id="{ECD790F6-B2B2-55BE-9C07-890A2CE34E33}"/>
              </a:ext>
            </a:extLst>
          </p:cNvPr>
          <p:cNvSpPr txBox="1"/>
          <p:nvPr/>
        </p:nvSpPr>
        <p:spPr>
          <a:xfrm>
            <a:off x="439895" y="1059644"/>
            <a:ext cx="1140061" cy="288816"/>
          </a:xfrm>
          <a:prstGeom prst="rect">
            <a:avLst/>
          </a:prstGeom>
          <a:noFill/>
          <a:ln/>
        </p:spPr>
        <p:txBody>
          <a:bodyPr wrap="square" lIns="0" tIns="0" rIns="0" bIns="0" rtlCol="0" anchor="ctr"/>
          <a:lstStyle/>
          <a:p>
            <a:pPr>
              <a:lnSpc>
                <a:spcPct val="90000"/>
              </a:lnSpc>
            </a:pPr>
            <a:r>
              <a:rPr lang="en-US" sz="858" b="1" dirty="0">
                <a:solidFill>
                  <a:srgbClr val="1B4F8A"/>
                </a:solidFill>
                <a:latin typeface="Calibri" pitchFamily="34" charset="0"/>
                <a:ea typeface="Calibri" pitchFamily="34" charset="-122"/>
                <a:cs typeface="Calibri" pitchFamily="34" charset="-120"/>
              </a:rPr>
              <a:t>Architecture</a:t>
            </a:r>
            <a:endParaRPr lang="en-US" sz="858" dirty="0"/>
          </a:p>
          <a:p>
            <a:pPr>
              <a:lnSpc>
                <a:spcPct val="90000"/>
              </a:lnSpc>
            </a:pPr>
            <a:r>
              <a:rPr lang="en-US" sz="858" b="1" dirty="0">
                <a:solidFill>
                  <a:srgbClr val="1B4F8A"/>
                </a:solidFill>
                <a:latin typeface="Calibri" pitchFamily="34" charset="0"/>
                <a:ea typeface="Calibri" pitchFamily="34" charset="-122"/>
                <a:cs typeface="Calibri" pitchFamily="34" charset="-120"/>
              </a:rPr>
              <a:t>Evolution</a:t>
            </a:r>
            <a:endParaRPr lang="en-US" sz="858" dirty="0"/>
          </a:p>
        </p:txBody>
      </p:sp>
      <p:sp>
        <p:nvSpPr>
          <p:cNvPr id="7" name="Shape 6">
            <a:extLst>
              <a:ext uri="{FF2B5EF4-FFF2-40B4-BE49-F238E27FC236}">
                <a16:creationId xmlns:a16="http://schemas.microsoft.com/office/drawing/2014/main" id="{8A44083F-C6A9-37F6-62CB-144740C711AF}"/>
              </a:ext>
            </a:extLst>
          </p:cNvPr>
          <p:cNvSpPr/>
          <p:nvPr/>
        </p:nvSpPr>
        <p:spPr>
          <a:xfrm>
            <a:off x="1655960" y="1029242"/>
            <a:ext cx="1748093" cy="273615"/>
          </a:xfrm>
          <a:prstGeom prst="roundRect">
            <a:avLst>
              <a:gd name="adj" fmla="val 46668"/>
            </a:avLst>
          </a:prstGeom>
          <a:solidFill>
            <a:srgbClr val="11397C"/>
          </a:solidFill>
          <a:ln w="12700">
            <a:solidFill>
              <a:srgbClr val="11397C"/>
            </a:solidFill>
            <a:prstDash val="solid"/>
          </a:ln>
        </p:spPr>
        <p:txBody>
          <a:bodyPr/>
          <a:lstStyle/>
          <a:p>
            <a:endParaRPr lang="en-IN"/>
          </a:p>
        </p:txBody>
      </p:sp>
      <p:sp>
        <p:nvSpPr>
          <p:cNvPr id="10" name="Text 7">
            <a:extLst>
              <a:ext uri="{FF2B5EF4-FFF2-40B4-BE49-F238E27FC236}">
                <a16:creationId xmlns:a16="http://schemas.microsoft.com/office/drawing/2014/main" id="{C066B174-57AE-0DDF-821A-499784CA8A4F}"/>
              </a:ext>
            </a:extLst>
          </p:cNvPr>
          <p:cNvSpPr txBox="1"/>
          <p:nvPr/>
        </p:nvSpPr>
        <p:spPr>
          <a:xfrm>
            <a:off x="170156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FFFFFF"/>
                </a:solidFill>
                <a:latin typeface="Calibri" pitchFamily="34" charset="0"/>
                <a:ea typeface="Calibri" pitchFamily="34" charset="-122"/>
                <a:cs typeface="Calibri" pitchFamily="34" charset="-120"/>
              </a:rPr>
              <a:t>Phase 1</a:t>
            </a:r>
            <a:endParaRPr lang="en-US" sz="838" dirty="0"/>
          </a:p>
          <a:p>
            <a:pPr algn="ctr">
              <a:lnSpc>
                <a:spcPct val="90000"/>
              </a:lnSpc>
            </a:pPr>
            <a:r>
              <a:rPr lang="en-US" sz="778" dirty="0">
                <a:solidFill>
                  <a:srgbClr val="FFFFFF"/>
                </a:solidFill>
                <a:latin typeface="Calibri" pitchFamily="34" charset="0"/>
                <a:ea typeface="Calibri" pitchFamily="34" charset="-122"/>
                <a:cs typeface="Calibri" pitchFamily="34" charset="-120"/>
              </a:rPr>
              <a:t>Lean MVP Foundation</a:t>
            </a:r>
            <a:endParaRPr lang="en-US" sz="838" dirty="0"/>
          </a:p>
        </p:txBody>
      </p:sp>
      <p:sp>
        <p:nvSpPr>
          <p:cNvPr id="12" name="Shape 8">
            <a:extLst>
              <a:ext uri="{FF2B5EF4-FFF2-40B4-BE49-F238E27FC236}">
                <a16:creationId xmlns:a16="http://schemas.microsoft.com/office/drawing/2014/main" id="{928482E6-D015-A512-A82D-79EC024157FC}"/>
              </a:ext>
            </a:extLst>
          </p:cNvPr>
          <p:cNvSpPr/>
          <p:nvPr/>
        </p:nvSpPr>
        <p:spPr>
          <a:xfrm>
            <a:off x="3449656" y="1166049"/>
            <a:ext cx="212812" cy="0"/>
          </a:xfrm>
          <a:prstGeom prst="line">
            <a:avLst/>
          </a:prstGeom>
          <a:noFill/>
          <a:ln w="17780">
            <a:solidFill>
              <a:srgbClr val="9CB0C6"/>
            </a:solidFill>
            <a:prstDash val="solid"/>
            <a:tailEnd type="triangle"/>
          </a:ln>
        </p:spPr>
        <p:txBody>
          <a:bodyPr/>
          <a:lstStyle/>
          <a:p>
            <a:endParaRPr lang="en-IN"/>
          </a:p>
        </p:txBody>
      </p:sp>
      <p:sp>
        <p:nvSpPr>
          <p:cNvPr id="14" name="Shape 9">
            <a:extLst>
              <a:ext uri="{FF2B5EF4-FFF2-40B4-BE49-F238E27FC236}">
                <a16:creationId xmlns:a16="http://schemas.microsoft.com/office/drawing/2014/main" id="{2AC04752-4982-D20D-2DFD-E309CE50A7F9}"/>
              </a:ext>
            </a:extLst>
          </p:cNvPr>
          <p:cNvSpPr/>
          <p:nvPr/>
        </p:nvSpPr>
        <p:spPr>
          <a:xfrm>
            <a:off x="3708070" y="1029242"/>
            <a:ext cx="1748093" cy="273615"/>
          </a:xfrm>
          <a:prstGeom prst="roundRect">
            <a:avLst>
              <a:gd name="adj" fmla="val 46668"/>
            </a:avLst>
          </a:prstGeom>
          <a:solidFill>
            <a:srgbClr val="F2F6FB"/>
          </a:solidFill>
          <a:ln w="12700">
            <a:solidFill>
              <a:srgbClr val="C6D5E4"/>
            </a:solidFill>
            <a:prstDash val="solid"/>
          </a:ln>
        </p:spPr>
        <p:txBody>
          <a:bodyPr/>
          <a:lstStyle/>
          <a:p>
            <a:endParaRPr lang="en-IN"/>
          </a:p>
        </p:txBody>
      </p:sp>
      <p:sp>
        <p:nvSpPr>
          <p:cNvPr id="16" name="Text 10">
            <a:extLst>
              <a:ext uri="{FF2B5EF4-FFF2-40B4-BE49-F238E27FC236}">
                <a16:creationId xmlns:a16="http://schemas.microsoft.com/office/drawing/2014/main" id="{7F2F18FD-4A64-0CF2-57D5-DB133C8CD25B}"/>
              </a:ext>
            </a:extLst>
          </p:cNvPr>
          <p:cNvSpPr txBox="1"/>
          <p:nvPr/>
        </p:nvSpPr>
        <p:spPr>
          <a:xfrm>
            <a:off x="375367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7E8CA0"/>
                </a:solidFill>
                <a:latin typeface="Calibri" pitchFamily="34" charset="0"/>
                <a:ea typeface="Calibri" pitchFamily="34" charset="-122"/>
                <a:cs typeface="Calibri" pitchFamily="34" charset="-120"/>
              </a:rPr>
              <a:t>Phase 2</a:t>
            </a:r>
            <a:endParaRPr lang="en-US" sz="838" dirty="0"/>
          </a:p>
          <a:p>
            <a:pPr algn="ctr">
              <a:lnSpc>
                <a:spcPct val="90000"/>
              </a:lnSpc>
            </a:pPr>
            <a:r>
              <a:rPr lang="en-US" sz="778" dirty="0">
                <a:solidFill>
                  <a:srgbClr val="7E8CA0"/>
                </a:solidFill>
                <a:latin typeface="Calibri" pitchFamily="34" charset="0"/>
                <a:ea typeface="Calibri" pitchFamily="34" charset="-122"/>
                <a:cs typeface="Calibri" pitchFamily="34" charset="-120"/>
              </a:rPr>
              <a:t>Shared Platform Capabilities</a:t>
            </a:r>
            <a:endParaRPr lang="en-US" sz="838" dirty="0"/>
          </a:p>
        </p:txBody>
      </p:sp>
      <p:sp>
        <p:nvSpPr>
          <p:cNvPr id="18" name="Shape 11">
            <a:extLst>
              <a:ext uri="{FF2B5EF4-FFF2-40B4-BE49-F238E27FC236}">
                <a16:creationId xmlns:a16="http://schemas.microsoft.com/office/drawing/2014/main" id="{C7F82D5B-52D5-F735-DEA3-897033328DF6}"/>
              </a:ext>
            </a:extLst>
          </p:cNvPr>
          <p:cNvSpPr/>
          <p:nvPr/>
        </p:nvSpPr>
        <p:spPr>
          <a:xfrm>
            <a:off x="5501767" y="1166049"/>
            <a:ext cx="212812" cy="0"/>
          </a:xfrm>
          <a:prstGeom prst="line">
            <a:avLst/>
          </a:prstGeom>
          <a:noFill/>
          <a:ln w="17780">
            <a:solidFill>
              <a:srgbClr val="9CB0C6"/>
            </a:solidFill>
            <a:prstDash val="solid"/>
            <a:tailEnd type="triangle"/>
          </a:ln>
        </p:spPr>
        <p:txBody>
          <a:bodyPr/>
          <a:lstStyle/>
          <a:p>
            <a:endParaRPr lang="en-IN"/>
          </a:p>
        </p:txBody>
      </p:sp>
      <p:sp>
        <p:nvSpPr>
          <p:cNvPr id="20" name="Shape 12">
            <a:extLst>
              <a:ext uri="{FF2B5EF4-FFF2-40B4-BE49-F238E27FC236}">
                <a16:creationId xmlns:a16="http://schemas.microsoft.com/office/drawing/2014/main" id="{C761BF01-4904-5B84-4C12-09662CA7F3FD}"/>
              </a:ext>
            </a:extLst>
          </p:cNvPr>
          <p:cNvSpPr/>
          <p:nvPr/>
        </p:nvSpPr>
        <p:spPr>
          <a:xfrm>
            <a:off x="5760180" y="1029242"/>
            <a:ext cx="1748093" cy="273615"/>
          </a:xfrm>
          <a:prstGeom prst="roundRect">
            <a:avLst>
              <a:gd name="adj" fmla="val 46668"/>
            </a:avLst>
          </a:prstGeom>
          <a:solidFill>
            <a:srgbClr val="F2F6FB"/>
          </a:solidFill>
          <a:ln w="12700">
            <a:solidFill>
              <a:srgbClr val="C6D5E4"/>
            </a:solidFill>
            <a:prstDash val="solid"/>
          </a:ln>
        </p:spPr>
        <p:txBody>
          <a:bodyPr/>
          <a:lstStyle/>
          <a:p>
            <a:endParaRPr lang="en-IN"/>
          </a:p>
        </p:txBody>
      </p:sp>
      <p:sp>
        <p:nvSpPr>
          <p:cNvPr id="22" name="Text 13">
            <a:extLst>
              <a:ext uri="{FF2B5EF4-FFF2-40B4-BE49-F238E27FC236}">
                <a16:creationId xmlns:a16="http://schemas.microsoft.com/office/drawing/2014/main" id="{AB4D060B-1AC3-E942-3A18-F39EB4B464D7}"/>
              </a:ext>
            </a:extLst>
          </p:cNvPr>
          <p:cNvSpPr txBox="1"/>
          <p:nvPr/>
        </p:nvSpPr>
        <p:spPr>
          <a:xfrm>
            <a:off x="580578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7E8CA0"/>
                </a:solidFill>
                <a:latin typeface="Calibri" pitchFamily="34" charset="0"/>
                <a:ea typeface="Calibri" pitchFamily="34" charset="-122"/>
                <a:cs typeface="Calibri" pitchFamily="34" charset="-120"/>
              </a:rPr>
              <a:t>Phase 3</a:t>
            </a:r>
            <a:endParaRPr lang="en-US" sz="838" dirty="0"/>
          </a:p>
          <a:p>
            <a:pPr algn="ctr">
              <a:lnSpc>
                <a:spcPct val="90000"/>
              </a:lnSpc>
            </a:pPr>
            <a:r>
              <a:rPr lang="en-US" sz="778" dirty="0">
                <a:solidFill>
                  <a:srgbClr val="7E8CA0"/>
                </a:solidFill>
                <a:latin typeface="Calibri" pitchFamily="34" charset="0"/>
                <a:ea typeface="Calibri" pitchFamily="34" charset="-122"/>
                <a:cs typeface="Calibri" pitchFamily="34" charset="-120"/>
              </a:rPr>
              <a:t>Enterprise Platform  ·  Portal + PAS</a:t>
            </a:r>
            <a:endParaRPr lang="en-US" sz="838" dirty="0"/>
          </a:p>
        </p:txBody>
      </p:sp>
      <p:sp>
        <p:nvSpPr>
          <p:cNvPr id="24" name="Text 14">
            <a:extLst>
              <a:ext uri="{FF2B5EF4-FFF2-40B4-BE49-F238E27FC236}">
                <a16:creationId xmlns:a16="http://schemas.microsoft.com/office/drawing/2014/main" id="{A681B868-FECB-F1A8-EA72-546EA27F6ED7}"/>
              </a:ext>
            </a:extLst>
          </p:cNvPr>
          <p:cNvSpPr txBox="1"/>
          <p:nvPr/>
        </p:nvSpPr>
        <p:spPr>
          <a:xfrm>
            <a:off x="7622280" y="998840"/>
            <a:ext cx="4142222" cy="334418"/>
          </a:xfrm>
          <a:prstGeom prst="rect">
            <a:avLst/>
          </a:prstGeom>
          <a:noFill/>
          <a:ln/>
        </p:spPr>
        <p:txBody>
          <a:bodyPr wrap="square" lIns="0" tIns="0" rIns="0" bIns="0" rtlCol="0" anchor="ctr"/>
          <a:lstStyle/>
          <a:p>
            <a:pPr>
              <a:lnSpc>
                <a:spcPct val="95000"/>
              </a:lnSpc>
            </a:pPr>
            <a:r>
              <a:rPr lang="en-US" sz="798" i="1" dirty="0">
                <a:solidFill>
                  <a:srgbClr val="5B6472"/>
                </a:solidFill>
                <a:latin typeface="Calibri" pitchFamily="34" charset="0"/>
                <a:ea typeface="Calibri" pitchFamily="34" charset="-122"/>
                <a:cs typeface="Calibri" pitchFamily="34" charset="-120"/>
              </a:rPr>
              <a:t>Leanest viable footprint: application ingress instead of a gateway, a single relational store, direct synchronous integration to PAS. Nothing added that MVP scale does not require.</a:t>
            </a:r>
            <a:endParaRPr lang="en-US" sz="798" dirty="0"/>
          </a:p>
        </p:txBody>
      </p:sp>
      <p:sp>
        <p:nvSpPr>
          <p:cNvPr id="26" name="Shape 15">
            <a:extLst>
              <a:ext uri="{FF2B5EF4-FFF2-40B4-BE49-F238E27FC236}">
                <a16:creationId xmlns:a16="http://schemas.microsoft.com/office/drawing/2014/main" id="{133786AE-6EB5-A469-8C58-67E8BC483256}"/>
              </a:ext>
            </a:extLst>
          </p:cNvPr>
          <p:cNvSpPr/>
          <p:nvPr/>
        </p:nvSpPr>
        <p:spPr>
          <a:xfrm>
            <a:off x="439895" y="2382115"/>
            <a:ext cx="912049" cy="3192171"/>
          </a:xfrm>
          <a:prstGeom prst="roundRect">
            <a:avLst>
              <a:gd name="adj" fmla="val 5000"/>
            </a:avLst>
          </a:prstGeom>
          <a:solidFill>
            <a:srgbClr val="F2F7FC"/>
          </a:solidFill>
          <a:ln w="12700">
            <a:solidFill>
              <a:srgbClr val="C2DCF0"/>
            </a:solidFill>
            <a:prstDash val="solid"/>
          </a:ln>
        </p:spPr>
        <p:txBody>
          <a:bodyPr/>
          <a:lstStyle/>
          <a:p>
            <a:endParaRPr lang="en-IN"/>
          </a:p>
        </p:txBody>
      </p:sp>
      <p:sp>
        <p:nvSpPr>
          <p:cNvPr id="28" name="Text 16">
            <a:extLst>
              <a:ext uri="{FF2B5EF4-FFF2-40B4-BE49-F238E27FC236}">
                <a16:creationId xmlns:a16="http://schemas.microsoft.com/office/drawing/2014/main" id="{D31E98E7-9D90-BAE4-16ED-32DD513F270E}"/>
              </a:ext>
            </a:extLst>
          </p:cNvPr>
          <p:cNvSpPr txBox="1"/>
          <p:nvPr/>
        </p:nvSpPr>
        <p:spPr>
          <a:xfrm>
            <a:off x="439895" y="2442917"/>
            <a:ext cx="912049" cy="167209"/>
          </a:xfrm>
          <a:prstGeom prst="rect">
            <a:avLst/>
          </a:prstGeom>
          <a:noFill/>
          <a:ln/>
        </p:spPr>
        <p:txBody>
          <a:bodyPr wrap="square" lIns="0" tIns="0" rIns="0" bIns="0" rtlCol="0" anchor="ctr"/>
          <a:lstStyle/>
          <a:p>
            <a:pPr algn="ctr">
              <a:lnSpc>
                <a:spcPct val="93000"/>
              </a:lnSpc>
            </a:pPr>
            <a:r>
              <a:rPr lang="en-US" sz="1047" b="1" dirty="0">
                <a:solidFill>
                  <a:srgbClr val="1B4F8A"/>
                </a:solidFill>
                <a:latin typeface="Calibri" pitchFamily="34" charset="0"/>
                <a:ea typeface="Calibri" pitchFamily="34" charset="-122"/>
                <a:cs typeface="Calibri" pitchFamily="34" charset="-120"/>
              </a:rPr>
              <a:t>Users</a:t>
            </a:r>
            <a:endParaRPr lang="en-US" sz="1047" dirty="0"/>
          </a:p>
        </p:txBody>
      </p:sp>
      <p:pic>
        <p:nvPicPr>
          <p:cNvPr id="30" name="Image 0" descr="preencoded.png">
            <a:extLst>
              <a:ext uri="{FF2B5EF4-FFF2-40B4-BE49-F238E27FC236}">
                <a16:creationId xmlns:a16="http://schemas.microsoft.com/office/drawing/2014/main" id="{052929CE-492E-E860-5664-C469D608DF39}"/>
              </a:ext>
            </a:extLst>
          </p:cNvPr>
          <p:cNvPicPr>
            <a:picLocks noChangeAspect="1"/>
          </p:cNvPicPr>
          <p:nvPr/>
        </p:nvPicPr>
        <p:blipFill>
          <a:blip r:embed="rId2"/>
          <a:stretch>
            <a:fillRect/>
          </a:stretch>
        </p:blipFill>
        <p:spPr>
          <a:xfrm>
            <a:off x="743911" y="2807737"/>
            <a:ext cx="304016" cy="304016"/>
          </a:xfrm>
          <a:prstGeom prst="rect">
            <a:avLst/>
          </a:prstGeom>
        </p:spPr>
      </p:pic>
      <p:sp>
        <p:nvSpPr>
          <p:cNvPr id="32" name="Text 17">
            <a:extLst>
              <a:ext uri="{FF2B5EF4-FFF2-40B4-BE49-F238E27FC236}">
                <a16:creationId xmlns:a16="http://schemas.microsoft.com/office/drawing/2014/main" id="{23A8E89E-DF74-D013-E178-5FD58E383F48}"/>
              </a:ext>
            </a:extLst>
          </p:cNvPr>
          <p:cNvSpPr txBox="1"/>
          <p:nvPr/>
        </p:nvSpPr>
        <p:spPr>
          <a:xfrm>
            <a:off x="470297" y="3142155"/>
            <a:ext cx="851246" cy="243213"/>
          </a:xfrm>
          <a:prstGeom prst="rect">
            <a:avLst/>
          </a:prstGeom>
          <a:noFill/>
          <a:ln/>
        </p:spPr>
        <p:txBody>
          <a:bodyPr wrap="square" lIns="0" tIns="0" rIns="0" bIns="0" rtlCol="0" anchor="ctr"/>
          <a:lstStyle/>
          <a:p>
            <a:pPr algn="ctr">
              <a:lnSpc>
                <a:spcPct val="93000"/>
              </a:lnSpc>
            </a:pPr>
            <a:r>
              <a:rPr lang="en-US" sz="858" b="1" dirty="0">
                <a:solidFill>
                  <a:srgbClr val="1B3A66"/>
                </a:solidFill>
                <a:latin typeface="Calibri" pitchFamily="34" charset="0"/>
                <a:ea typeface="Calibri" pitchFamily="34" charset="-122"/>
                <a:cs typeface="Calibri" pitchFamily="34" charset="-120"/>
              </a:rPr>
              <a:t>Lender Users</a:t>
            </a:r>
            <a:endParaRPr lang="en-US" sz="858" dirty="0"/>
          </a:p>
          <a:p>
            <a:pPr algn="ctr">
              <a:lnSpc>
                <a:spcPct val="93000"/>
              </a:lnSpc>
            </a:pPr>
            <a:r>
              <a:rPr lang="en-US" sz="858" b="1" dirty="0">
                <a:solidFill>
                  <a:srgbClr val="1B3A66"/>
                </a:solidFill>
                <a:latin typeface="Calibri" pitchFamily="34" charset="0"/>
                <a:ea typeface="Calibri" pitchFamily="34" charset="-122"/>
                <a:cs typeface="Calibri" pitchFamily="34" charset="-120"/>
              </a:rPr>
              <a:t>(External)</a:t>
            </a:r>
            <a:endParaRPr lang="en-US" sz="858" dirty="0"/>
          </a:p>
        </p:txBody>
      </p:sp>
      <p:pic>
        <p:nvPicPr>
          <p:cNvPr id="34" name="Image 1" descr="preencoded.png">
            <a:extLst>
              <a:ext uri="{FF2B5EF4-FFF2-40B4-BE49-F238E27FC236}">
                <a16:creationId xmlns:a16="http://schemas.microsoft.com/office/drawing/2014/main" id="{86FD2D77-34C7-AD85-EA5D-51EC64D8E3F3}"/>
              </a:ext>
            </a:extLst>
          </p:cNvPr>
          <p:cNvPicPr>
            <a:picLocks noChangeAspect="1"/>
          </p:cNvPicPr>
          <p:nvPr/>
        </p:nvPicPr>
        <p:blipFill>
          <a:blip r:embed="rId2"/>
          <a:stretch>
            <a:fillRect/>
          </a:stretch>
        </p:blipFill>
        <p:spPr>
          <a:xfrm>
            <a:off x="743911" y="3522175"/>
            <a:ext cx="304016" cy="304016"/>
          </a:xfrm>
          <a:prstGeom prst="rect">
            <a:avLst/>
          </a:prstGeom>
        </p:spPr>
      </p:pic>
      <p:sp>
        <p:nvSpPr>
          <p:cNvPr id="36" name="Text 18">
            <a:extLst>
              <a:ext uri="{FF2B5EF4-FFF2-40B4-BE49-F238E27FC236}">
                <a16:creationId xmlns:a16="http://schemas.microsoft.com/office/drawing/2014/main" id="{1136B4B7-67C1-5C6B-DE31-F5C55AEAE998}"/>
              </a:ext>
            </a:extLst>
          </p:cNvPr>
          <p:cNvSpPr txBox="1"/>
          <p:nvPr/>
        </p:nvSpPr>
        <p:spPr>
          <a:xfrm>
            <a:off x="470297" y="3856594"/>
            <a:ext cx="851246" cy="243213"/>
          </a:xfrm>
          <a:prstGeom prst="rect">
            <a:avLst/>
          </a:prstGeom>
          <a:noFill/>
          <a:ln/>
        </p:spPr>
        <p:txBody>
          <a:bodyPr wrap="square" lIns="0" tIns="0" rIns="0" bIns="0" rtlCol="0" anchor="ctr"/>
          <a:lstStyle/>
          <a:p>
            <a:pPr algn="ctr">
              <a:lnSpc>
                <a:spcPct val="93000"/>
              </a:lnSpc>
            </a:pPr>
            <a:r>
              <a:rPr lang="en-US" sz="858" b="1" dirty="0">
                <a:solidFill>
                  <a:srgbClr val="1B3A66"/>
                </a:solidFill>
                <a:latin typeface="Calibri" pitchFamily="34" charset="0"/>
                <a:ea typeface="Calibri" pitchFamily="34" charset="-122"/>
                <a:cs typeface="Calibri" pitchFamily="34" charset="-120"/>
              </a:rPr>
              <a:t>IMGC Users</a:t>
            </a:r>
            <a:endParaRPr lang="en-US" sz="858" dirty="0"/>
          </a:p>
          <a:p>
            <a:pPr algn="ctr">
              <a:lnSpc>
                <a:spcPct val="93000"/>
              </a:lnSpc>
            </a:pPr>
            <a:r>
              <a:rPr lang="en-US" sz="858" b="1" dirty="0">
                <a:solidFill>
                  <a:srgbClr val="1B3A66"/>
                </a:solidFill>
                <a:latin typeface="Calibri" pitchFamily="34" charset="0"/>
                <a:ea typeface="Calibri" pitchFamily="34" charset="-122"/>
                <a:cs typeface="Calibri" pitchFamily="34" charset="-120"/>
              </a:rPr>
              <a:t>(Internal)</a:t>
            </a:r>
            <a:endParaRPr lang="en-US" sz="858" dirty="0"/>
          </a:p>
        </p:txBody>
      </p:sp>
      <p:sp>
        <p:nvSpPr>
          <p:cNvPr id="38" name="Shape 19">
            <a:extLst>
              <a:ext uri="{FF2B5EF4-FFF2-40B4-BE49-F238E27FC236}">
                <a16:creationId xmlns:a16="http://schemas.microsoft.com/office/drawing/2014/main" id="{54277FDE-4C0F-75F2-CEB7-B04B6D4E9789}"/>
              </a:ext>
            </a:extLst>
          </p:cNvPr>
          <p:cNvSpPr/>
          <p:nvPr/>
        </p:nvSpPr>
        <p:spPr>
          <a:xfrm>
            <a:off x="895919" y="4191011"/>
            <a:ext cx="0" cy="212812"/>
          </a:xfrm>
          <a:prstGeom prst="line">
            <a:avLst/>
          </a:prstGeom>
          <a:noFill/>
          <a:ln w="16510">
            <a:solidFill>
              <a:srgbClr val="1B4F8C"/>
            </a:solidFill>
            <a:prstDash val="solid"/>
            <a:headEnd type="none"/>
            <a:tailEnd type="triangle"/>
          </a:ln>
        </p:spPr>
        <p:txBody>
          <a:bodyPr/>
          <a:lstStyle/>
          <a:p>
            <a:endParaRPr lang="en-IN"/>
          </a:p>
        </p:txBody>
      </p:sp>
      <p:pic>
        <p:nvPicPr>
          <p:cNvPr id="40" name="Image 2" descr="preencoded.png">
            <a:extLst>
              <a:ext uri="{FF2B5EF4-FFF2-40B4-BE49-F238E27FC236}">
                <a16:creationId xmlns:a16="http://schemas.microsoft.com/office/drawing/2014/main" id="{D8EEE3EB-3CEE-0047-95ED-63FCF4421265}"/>
              </a:ext>
            </a:extLst>
          </p:cNvPr>
          <p:cNvPicPr>
            <a:picLocks noChangeAspect="1"/>
          </p:cNvPicPr>
          <p:nvPr/>
        </p:nvPicPr>
        <p:blipFill>
          <a:blip r:embed="rId3"/>
          <a:stretch>
            <a:fillRect/>
          </a:stretch>
        </p:blipFill>
        <p:spPr>
          <a:xfrm>
            <a:off x="743911" y="4464625"/>
            <a:ext cx="304016" cy="304016"/>
          </a:xfrm>
          <a:prstGeom prst="rect">
            <a:avLst/>
          </a:prstGeom>
        </p:spPr>
      </p:pic>
      <p:sp>
        <p:nvSpPr>
          <p:cNvPr id="42" name="Text 20">
            <a:extLst>
              <a:ext uri="{FF2B5EF4-FFF2-40B4-BE49-F238E27FC236}">
                <a16:creationId xmlns:a16="http://schemas.microsoft.com/office/drawing/2014/main" id="{23EA40AC-0BDC-15E8-7EF6-196C86F97E38}"/>
              </a:ext>
            </a:extLst>
          </p:cNvPr>
          <p:cNvSpPr txBox="1"/>
          <p:nvPr/>
        </p:nvSpPr>
        <p:spPr>
          <a:xfrm>
            <a:off x="470297" y="4799044"/>
            <a:ext cx="851246" cy="197611"/>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Internet / HTTPS</a:t>
            </a:r>
            <a:endParaRPr lang="en-US" sz="838" dirty="0"/>
          </a:p>
        </p:txBody>
      </p:sp>
      <p:sp>
        <p:nvSpPr>
          <p:cNvPr id="44" name="Shape 21">
            <a:extLst>
              <a:ext uri="{FF2B5EF4-FFF2-40B4-BE49-F238E27FC236}">
                <a16:creationId xmlns:a16="http://schemas.microsoft.com/office/drawing/2014/main" id="{5F508818-CB5C-31E0-A627-0DA7BCB266EA}"/>
              </a:ext>
            </a:extLst>
          </p:cNvPr>
          <p:cNvSpPr/>
          <p:nvPr/>
        </p:nvSpPr>
        <p:spPr>
          <a:xfrm>
            <a:off x="1731964" y="2382115"/>
            <a:ext cx="1140061" cy="3192171"/>
          </a:xfrm>
          <a:prstGeom prst="roundRect">
            <a:avLst>
              <a:gd name="adj" fmla="val 4000"/>
            </a:avLst>
          </a:prstGeom>
          <a:solidFill>
            <a:srgbClr val="FFFFFF"/>
          </a:solidFill>
          <a:ln w="12700">
            <a:solidFill>
              <a:srgbClr val="C2DCF0"/>
            </a:solidFill>
            <a:prstDash val="solid"/>
          </a:ln>
        </p:spPr>
        <p:txBody>
          <a:bodyPr/>
          <a:lstStyle/>
          <a:p>
            <a:endParaRPr lang="en-IN"/>
          </a:p>
        </p:txBody>
      </p:sp>
      <p:sp>
        <p:nvSpPr>
          <p:cNvPr id="46" name="Text 22">
            <a:extLst>
              <a:ext uri="{FF2B5EF4-FFF2-40B4-BE49-F238E27FC236}">
                <a16:creationId xmlns:a16="http://schemas.microsoft.com/office/drawing/2014/main" id="{AE7974DF-936B-954F-44F9-1CD313404A44}"/>
              </a:ext>
            </a:extLst>
          </p:cNvPr>
          <p:cNvSpPr txBox="1"/>
          <p:nvPr/>
        </p:nvSpPr>
        <p:spPr>
          <a:xfrm>
            <a:off x="1731964" y="2442917"/>
            <a:ext cx="1140061" cy="167209"/>
          </a:xfrm>
          <a:prstGeom prst="rect">
            <a:avLst/>
          </a:prstGeom>
          <a:noFill/>
          <a:ln/>
        </p:spPr>
        <p:txBody>
          <a:bodyPr wrap="square" lIns="0" tIns="0" rIns="0" bIns="0" rtlCol="0" anchor="ctr"/>
          <a:lstStyle/>
          <a:p>
            <a:pPr algn="ctr">
              <a:lnSpc>
                <a:spcPct val="93000"/>
              </a:lnSpc>
            </a:pPr>
            <a:r>
              <a:rPr lang="en-US" sz="1047" b="1" dirty="0">
                <a:solidFill>
                  <a:srgbClr val="1B4F8A"/>
                </a:solidFill>
                <a:latin typeface="Calibri" pitchFamily="34" charset="0"/>
                <a:ea typeface="Calibri" pitchFamily="34" charset="-122"/>
                <a:cs typeface="Calibri" pitchFamily="34" charset="-120"/>
              </a:rPr>
              <a:t>Edge &amp; Security</a:t>
            </a:r>
            <a:endParaRPr lang="en-US" sz="1047" dirty="0"/>
          </a:p>
        </p:txBody>
      </p:sp>
      <p:sp>
        <p:nvSpPr>
          <p:cNvPr id="48" name="Shape 23">
            <a:extLst>
              <a:ext uri="{FF2B5EF4-FFF2-40B4-BE49-F238E27FC236}">
                <a16:creationId xmlns:a16="http://schemas.microsoft.com/office/drawing/2014/main" id="{C072B692-A806-4C9C-D354-2C5E9132B9A6}"/>
              </a:ext>
            </a:extLst>
          </p:cNvPr>
          <p:cNvSpPr/>
          <p:nvPr/>
        </p:nvSpPr>
        <p:spPr>
          <a:xfrm>
            <a:off x="1792768" y="2701332"/>
            <a:ext cx="1018454" cy="1413676"/>
          </a:xfrm>
          <a:prstGeom prst="roundRect">
            <a:avLst>
              <a:gd name="adj" fmla="val 4478"/>
            </a:avLst>
          </a:prstGeom>
          <a:solidFill>
            <a:srgbClr val="FFFFFF"/>
          </a:solidFill>
          <a:ln w="12700">
            <a:solidFill>
              <a:srgbClr val="C2DCF0"/>
            </a:solidFill>
            <a:prstDash val="solid"/>
          </a:ln>
        </p:spPr>
        <p:txBody>
          <a:bodyPr/>
          <a:lstStyle/>
          <a:p>
            <a:endParaRPr lang="en-IN"/>
          </a:p>
        </p:txBody>
      </p:sp>
      <p:pic>
        <p:nvPicPr>
          <p:cNvPr id="50" name="Image 3" descr="preencoded.png">
            <a:extLst>
              <a:ext uri="{FF2B5EF4-FFF2-40B4-BE49-F238E27FC236}">
                <a16:creationId xmlns:a16="http://schemas.microsoft.com/office/drawing/2014/main" id="{0B6B707E-C0E5-6D2B-D117-E37E86AC0909}"/>
              </a:ext>
            </a:extLst>
          </p:cNvPr>
          <p:cNvPicPr>
            <a:picLocks noChangeAspect="1"/>
          </p:cNvPicPr>
          <p:nvPr/>
        </p:nvPicPr>
        <p:blipFill>
          <a:blip r:embed="rId4"/>
          <a:stretch>
            <a:fillRect/>
          </a:stretch>
        </p:blipFill>
        <p:spPr>
          <a:xfrm>
            <a:off x="2119584" y="2777336"/>
            <a:ext cx="334418" cy="334418"/>
          </a:xfrm>
          <a:prstGeom prst="rect">
            <a:avLst/>
          </a:prstGeom>
        </p:spPr>
      </p:pic>
      <p:sp>
        <p:nvSpPr>
          <p:cNvPr id="52" name="Text 24">
            <a:extLst>
              <a:ext uri="{FF2B5EF4-FFF2-40B4-BE49-F238E27FC236}">
                <a16:creationId xmlns:a16="http://schemas.microsoft.com/office/drawing/2014/main" id="{474AD2FA-DC09-FC33-DF33-72B7A6D16FB8}"/>
              </a:ext>
            </a:extLst>
          </p:cNvPr>
          <p:cNvSpPr txBox="1"/>
          <p:nvPr/>
        </p:nvSpPr>
        <p:spPr>
          <a:xfrm>
            <a:off x="1823169" y="3157356"/>
            <a:ext cx="957651" cy="243213"/>
          </a:xfrm>
          <a:prstGeom prst="rect">
            <a:avLst/>
          </a:prstGeom>
          <a:noFill/>
          <a:ln/>
        </p:spPr>
        <p:txBody>
          <a:bodyPr wrap="square" lIns="0" tIns="0" rIns="0" bIns="0" rtlCol="0" anchor="ctr"/>
          <a:lstStyle/>
          <a:p>
            <a:pPr algn="ctr">
              <a:lnSpc>
                <a:spcPct val="93000"/>
              </a:lnSpc>
            </a:pPr>
            <a:r>
              <a:rPr lang="en-US" sz="918" b="1" dirty="0">
                <a:solidFill>
                  <a:srgbClr val="11397C"/>
                </a:solidFill>
                <a:latin typeface="Calibri" pitchFamily="34" charset="0"/>
                <a:ea typeface="Calibri" pitchFamily="34" charset="-122"/>
                <a:cs typeface="Calibri" pitchFamily="34" charset="-120"/>
              </a:rPr>
              <a:t>Global Edge /</a:t>
            </a:r>
            <a:endParaRPr lang="en-US" sz="918" dirty="0"/>
          </a:p>
          <a:p>
            <a:pPr algn="ctr">
              <a:lnSpc>
                <a:spcPct val="93000"/>
              </a:lnSpc>
            </a:pPr>
            <a:r>
              <a:rPr lang="en-US" sz="918" b="1" dirty="0">
                <a:solidFill>
                  <a:srgbClr val="11397C"/>
                </a:solidFill>
                <a:latin typeface="Calibri" pitchFamily="34" charset="0"/>
                <a:ea typeface="Calibri" pitchFamily="34" charset="-122"/>
                <a:cs typeface="Calibri" pitchFamily="34" charset="-120"/>
              </a:rPr>
              <a:t>Load Balancer</a:t>
            </a:r>
            <a:endParaRPr lang="en-US" sz="918" dirty="0"/>
          </a:p>
        </p:txBody>
      </p:sp>
      <p:sp>
        <p:nvSpPr>
          <p:cNvPr id="54" name="Text 25">
            <a:extLst>
              <a:ext uri="{FF2B5EF4-FFF2-40B4-BE49-F238E27FC236}">
                <a16:creationId xmlns:a16="http://schemas.microsoft.com/office/drawing/2014/main" id="{DDD18D87-CA1F-4D15-199F-08AC5920C9BF}"/>
              </a:ext>
            </a:extLst>
          </p:cNvPr>
          <p:cNvSpPr txBox="1"/>
          <p:nvPr/>
        </p:nvSpPr>
        <p:spPr>
          <a:xfrm>
            <a:off x="1838370" y="3430970"/>
            <a:ext cx="927250" cy="608033"/>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WAF (Web Application Firewall)</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DDoS Protection</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Global Routing</a:t>
            </a:r>
            <a:endParaRPr lang="en-US" sz="778" dirty="0"/>
          </a:p>
        </p:txBody>
      </p:sp>
      <p:sp>
        <p:nvSpPr>
          <p:cNvPr id="56" name="Shape 26">
            <a:extLst>
              <a:ext uri="{FF2B5EF4-FFF2-40B4-BE49-F238E27FC236}">
                <a16:creationId xmlns:a16="http://schemas.microsoft.com/office/drawing/2014/main" id="{14168EB0-97EB-D356-7F49-4BB7A86177C1}"/>
              </a:ext>
            </a:extLst>
          </p:cNvPr>
          <p:cNvSpPr/>
          <p:nvPr/>
        </p:nvSpPr>
        <p:spPr>
          <a:xfrm>
            <a:off x="1792768" y="4221414"/>
            <a:ext cx="1018454" cy="1064057"/>
          </a:xfrm>
          <a:prstGeom prst="roundRect">
            <a:avLst>
              <a:gd name="adj" fmla="val 4478"/>
            </a:avLst>
          </a:prstGeom>
          <a:solidFill>
            <a:srgbClr val="FFFFFF"/>
          </a:solidFill>
          <a:ln w="12700">
            <a:solidFill>
              <a:srgbClr val="C2DCF0"/>
            </a:solidFill>
            <a:prstDash val="solid"/>
          </a:ln>
        </p:spPr>
        <p:txBody>
          <a:bodyPr/>
          <a:lstStyle/>
          <a:p>
            <a:endParaRPr lang="en-IN"/>
          </a:p>
        </p:txBody>
      </p:sp>
      <p:pic>
        <p:nvPicPr>
          <p:cNvPr id="58" name="Image 4" descr="preencoded.png">
            <a:extLst>
              <a:ext uri="{FF2B5EF4-FFF2-40B4-BE49-F238E27FC236}">
                <a16:creationId xmlns:a16="http://schemas.microsoft.com/office/drawing/2014/main" id="{7AB94891-87CB-9473-A628-58F1BDEAA4C3}"/>
              </a:ext>
            </a:extLst>
          </p:cNvPr>
          <p:cNvPicPr>
            <a:picLocks noChangeAspect="1"/>
          </p:cNvPicPr>
          <p:nvPr/>
        </p:nvPicPr>
        <p:blipFill>
          <a:blip r:embed="rId3"/>
          <a:stretch>
            <a:fillRect/>
          </a:stretch>
        </p:blipFill>
        <p:spPr>
          <a:xfrm>
            <a:off x="2149987" y="4312618"/>
            <a:ext cx="273615" cy="273615"/>
          </a:xfrm>
          <a:prstGeom prst="rect">
            <a:avLst/>
          </a:prstGeom>
        </p:spPr>
      </p:pic>
      <p:sp>
        <p:nvSpPr>
          <p:cNvPr id="60" name="Text 27">
            <a:extLst>
              <a:ext uri="{FF2B5EF4-FFF2-40B4-BE49-F238E27FC236}">
                <a16:creationId xmlns:a16="http://schemas.microsoft.com/office/drawing/2014/main" id="{5BCA940C-D12F-8148-FADC-BC7FFDBEDB46}"/>
              </a:ext>
            </a:extLst>
          </p:cNvPr>
          <p:cNvSpPr txBox="1"/>
          <p:nvPr/>
        </p:nvSpPr>
        <p:spPr>
          <a:xfrm>
            <a:off x="1823169" y="4631835"/>
            <a:ext cx="957651" cy="152008"/>
          </a:xfrm>
          <a:prstGeom prst="rect">
            <a:avLst/>
          </a:prstGeom>
          <a:noFill/>
          <a:ln/>
        </p:spPr>
        <p:txBody>
          <a:bodyPr wrap="square" lIns="0" tIns="0" rIns="0" bIns="0" rtlCol="0" anchor="ctr"/>
          <a:lstStyle/>
          <a:p>
            <a:pPr algn="ctr">
              <a:lnSpc>
                <a:spcPct val="93000"/>
              </a:lnSpc>
            </a:pPr>
            <a:r>
              <a:rPr lang="en-US" sz="918" b="1" dirty="0">
                <a:solidFill>
                  <a:srgbClr val="11397C"/>
                </a:solidFill>
                <a:latin typeface="Calibri" pitchFamily="34" charset="0"/>
                <a:ea typeface="Calibri" pitchFamily="34" charset="-122"/>
                <a:cs typeface="Calibri" pitchFamily="34" charset="-120"/>
              </a:rPr>
              <a:t>Custom Domain</a:t>
            </a:r>
            <a:endParaRPr lang="en-US" sz="918" dirty="0"/>
          </a:p>
        </p:txBody>
      </p:sp>
      <p:sp>
        <p:nvSpPr>
          <p:cNvPr id="62" name="Text 28">
            <a:extLst>
              <a:ext uri="{FF2B5EF4-FFF2-40B4-BE49-F238E27FC236}">
                <a16:creationId xmlns:a16="http://schemas.microsoft.com/office/drawing/2014/main" id="{69A102E6-A9E7-FFB5-27AA-BE51B19B3BB0}"/>
              </a:ext>
            </a:extLst>
          </p:cNvPr>
          <p:cNvSpPr txBox="1"/>
          <p:nvPr/>
        </p:nvSpPr>
        <p:spPr>
          <a:xfrm>
            <a:off x="1838370" y="4829445"/>
            <a:ext cx="927250" cy="395221"/>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DNS</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SSL / TLS (HTTPS)</a:t>
            </a:r>
            <a:endParaRPr lang="en-US" sz="778" dirty="0"/>
          </a:p>
        </p:txBody>
      </p:sp>
      <p:sp>
        <p:nvSpPr>
          <p:cNvPr id="576" name="Shape 29">
            <a:extLst>
              <a:ext uri="{FF2B5EF4-FFF2-40B4-BE49-F238E27FC236}">
                <a16:creationId xmlns:a16="http://schemas.microsoft.com/office/drawing/2014/main" id="{28B75563-BBFB-0C0B-80F7-14952936AE3E}"/>
              </a:ext>
            </a:extLst>
          </p:cNvPr>
          <p:cNvSpPr/>
          <p:nvPr/>
        </p:nvSpPr>
        <p:spPr>
          <a:xfrm>
            <a:off x="439895" y="5650290"/>
            <a:ext cx="11324607" cy="516828"/>
          </a:xfrm>
          <a:prstGeom prst="roundRect">
            <a:avLst>
              <a:gd name="adj" fmla="val 8824"/>
            </a:avLst>
          </a:prstGeom>
          <a:solidFill>
            <a:srgbClr val="F8FBFE"/>
          </a:solidFill>
          <a:ln w="12700">
            <a:solidFill>
              <a:srgbClr val="A9C6DF"/>
            </a:solidFill>
            <a:prstDash val="dash"/>
          </a:ln>
        </p:spPr>
        <p:txBody>
          <a:bodyPr/>
          <a:lstStyle/>
          <a:p>
            <a:endParaRPr lang="en-IN"/>
          </a:p>
        </p:txBody>
      </p:sp>
      <p:sp>
        <p:nvSpPr>
          <p:cNvPr id="578" name="Text 30">
            <a:extLst>
              <a:ext uri="{FF2B5EF4-FFF2-40B4-BE49-F238E27FC236}">
                <a16:creationId xmlns:a16="http://schemas.microsoft.com/office/drawing/2014/main" id="{43CC3370-74D6-67DD-092C-9B68E622D560}"/>
              </a:ext>
            </a:extLst>
          </p:cNvPr>
          <p:cNvSpPr txBox="1"/>
          <p:nvPr/>
        </p:nvSpPr>
        <p:spPr>
          <a:xfrm>
            <a:off x="508299" y="5665490"/>
            <a:ext cx="1140061" cy="167209"/>
          </a:xfrm>
          <a:prstGeom prst="rect">
            <a:avLst/>
          </a:prstGeom>
          <a:noFill/>
          <a:ln/>
        </p:spPr>
        <p:txBody>
          <a:bodyPr wrap="square" lIns="0" tIns="0" rIns="0" bIns="0" rtlCol="0" anchor="ctr"/>
          <a:lstStyle/>
          <a:p>
            <a:pPr>
              <a:lnSpc>
                <a:spcPct val="93000"/>
              </a:lnSpc>
            </a:pPr>
            <a:r>
              <a:rPr lang="en-US" sz="958" b="1" dirty="0">
                <a:solidFill>
                  <a:srgbClr val="1B4F8A"/>
                </a:solidFill>
                <a:latin typeface="Calibri" pitchFamily="34" charset="0"/>
                <a:ea typeface="Calibri" pitchFamily="34" charset="-122"/>
                <a:cs typeface="Calibri" pitchFamily="34" charset="-120"/>
              </a:rPr>
              <a:t>Cross-Cutting Services</a:t>
            </a:r>
            <a:endParaRPr lang="en-US" sz="958" dirty="0"/>
          </a:p>
        </p:txBody>
      </p:sp>
      <p:sp>
        <p:nvSpPr>
          <p:cNvPr id="580" name="Text 31">
            <a:extLst>
              <a:ext uri="{FF2B5EF4-FFF2-40B4-BE49-F238E27FC236}">
                <a16:creationId xmlns:a16="http://schemas.microsoft.com/office/drawing/2014/main" id="{7FE4BC98-318D-01F7-412F-888E06D39B6B}"/>
              </a:ext>
            </a:extLst>
          </p:cNvPr>
          <p:cNvSpPr txBox="1"/>
          <p:nvPr/>
        </p:nvSpPr>
        <p:spPr>
          <a:xfrm>
            <a:off x="508299" y="5817499"/>
            <a:ext cx="1140061" cy="304016"/>
          </a:xfrm>
          <a:prstGeom prst="rect">
            <a:avLst/>
          </a:prstGeom>
          <a:noFill/>
          <a:ln/>
        </p:spPr>
        <p:txBody>
          <a:bodyPr wrap="square" lIns="0" tIns="0" rIns="0" bIns="0" rtlCol="0" anchor="ctr"/>
          <a:lstStyle/>
          <a:p>
            <a:pPr>
              <a:lnSpc>
                <a:spcPct val="95000"/>
              </a:lnSpc>
            </a:pPr>
            <a:r>
              <a:rPr lang="en-US" sz="678" i="1" dirty="0">
                <a:solidFill>
                  <a:srgbClr val="5B6472"/>
                </a:solidFill>
                <a:latin typeface="Calibri" pitchFamily="34" charset="0"/>
                <a:ea typeface="Calibri" pitchFamily="34" charset="-122"/>
                <a:cs typeface="Calibri" pitchFamily="34" charset="-120"/>
              </a:rPr>
              <a:t>shared across all layers</a:t>
            </a:r>
            <a:endParaRPr lang="en-US" sz="678" dirty="0"/>
          </a:p>
          <a:p>
            <a:pPr>
              <a:lnSpc>
                <a:spcPct val="95000"/>
              </a:lnSpc>
            </a:pPr>
            <a:r>
              <a:rPr lang="en-US" sz="678" i="1" dirty="0">
                <a:solidFill>
                  <a:srgbClr val="5B6472"/>
                </a:solidFill>
                <a:latin typeface="Calibri" pitchFamily="34" charset="0"/>
                <a:ea typeface="Calibri" pitchFamily="34" charset="-122"/>
                <a:cs typeface="Calibri" pitchFamily="34" charset="-120"/>
              </a:rPr>
              <a:t>separate non-prod &amp; production environments</a:t>
            </a:r>
            <a:endParaRPr lang="en-US" sz="678" dirty="0"/>
          </a:p>
        </p:txBody>
      </p:sp>
      <p:sp>
        <p:nvSpPr>
          <p:cNvPr id="582" name="Shape 32">
            <a:extLst>
              <a:ext uri="{FF2B5EF4-FFF2-40B4-BE49-F238E27FC236}">
                <a16:creationId xmlns:a16="http://schemas.microsoft.com/office/drawing/2014/main" id="{0200A5B9-F723-7500-4B53-E239D7216CCD}"/>
              </a:ext>
            </a:extLst>
          </p:cNvPr>
          <p:cNvSpPr/>
          <p:nvPr/>
        </p:nvSpPr>
        <p:spPr>
          <a:xfrm>
            <a:off x="1709163"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584" name="Image 5" descr="preencoded.png">
            <a:extLst>
              <a:ext uri="{FF2B5EF4-FFF2-40B4-BE49-F238E27FC236}">
                <a16:creationId xmlns:a16="http://schemas.microsoft.com/office/drawing/2014/main" id="{6E6E7A2A-CBB9-E097-50CB-192C269479F6}"/>
              </a:ext>
            </a:extLst>
          </p:cNvPr>
          <p:cNvPicPr>
            <a:picLocks noChangeAspect="1"/>
          </p:cNvPicPr>
          <p:nvPr/>
        </p:nvPicPr>
        <p:blipFill>
          <a:blip r:embed="rId5"/>
          <a:stretch>
            <a:fillRect/>
          </a:stretch>
        </p:blipFill>
        <p:spPr>
          <a:xfrm>
            <a:off x="1769966" y="5802298"/>
            <a:ext cx="167209" cy="167209"/>
          </a:xfrm>
          <a:prstGeom prst="rect">
            <a:avLst/>
          </a:prstGeom>
        </p:spPr>
      </p:pic>
      <p:sp>
        <p:nvSpPr>
          <p:cNvPr id="586" name="Text 33">
            <a:extLst>
              <a:ext uri="{FF2B5EF4-FFF2-40B4-BE49-F238E27FC236}">
                <a16:creationId xmlns:a16="http://schemas.microsoft.com/office/drawing/2014/main" id="{11D1E234-3902-C995-C480-E035CFB0134D}"/>
              </a:ext>
            </a:extLst>
          </p:cNvPr>
          <p:cNvSpPr txBox="1"/>
          <p:nvPr/>
        </p:nvSpPr>
        <p:spPr>
          <a:xfrm>
            <a:off x="1967577"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Secrets &amp; Key Management</a:t>
            </a:r>
            <a:endParaRPr lang="en-US" sz="738" dirty="0"/>
          </a:p>
        </p:txBody>
      </p:sp>
      <p:sp>
        <p:nvSpPr>
          <p:cNvPr id="588" name="Text 34">
            <a:extLst>
              <a:ext uri="{FF2B5EF4-FFF2-40B4-BE49-F238E27FC236}">
                <a16:creationId xmlns:a16="http://schemas.microsoft.com/office/drawing/2014/main" id="{FAF5ACED-6AE3-DFBD-9491-C46F498219BA}"/>
              </a:ext>
            </a:extLst>
          </p:cNvPr>
          <p:cNvSpPr txBox="1"/>
          <p:nvPr/>
        </p:nvSpPr>
        <p:spPr>
          <a:xfrm>
            <a:off x="1967577"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(Secrets / Certificates / Keys)</a:t>
            </a:r>
            <a:endParaRPr lang="en-US" sz="658" dirty="0"/>
          </a:p>
        </p:txBody>
      </p:sp>
      <p:sp>
        <p:nvSpPr>
          <p:cNvPr id="590" name="Shape 35">
            <a:extLst>
              <a:ext uri="{FF2B5EF4-FFF2-40B4-BE49-F238E27FC236}">
                <a16:creationId xmlns:a16="http://schemas.microsoft.com/office/drawing/2014/main" id="{A84C381E-37F8-1CE7-5086-82D99276E7F9}"/>
              </a:ext>
            </a:extLst>
          </p:cNvPr>
          <p:cNvSpPr/>
          <p:nvPr/>
        </p:nvSpPr>
        <p:spPr>
          <a:xfrm>
            <a:off x="3396453"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592" name="Image 6" descr="preencoded.png">
            <a:extLst>
              <a:ext uri="{FF2B5EF4-FFF2-40B4-BE49-F238E27FC236}">
                <a16:creationId xmlns:a16="http://schemas.microsoft.com/office/drawing/2014/main" id="{7185F215-2C04-4F54-04BF-059F8C91F501}"/>
              </a:ext>
            </a:extLst>
          </p:cNvPr>
          <p:cNvPicPr>
            <a:picLocks noChangeAspect="1"/>
          </p:cNvPicPr>
          <p:nvPr/>
        </p:nvPicPr>
        <p:blipFill>
          <a:blip r:embed="rId6"/>
          <a:stretch>
            <a:fillRect/>
          </a:stretch>
        </p:blipFill>
        <p:spPr>
          <a:xfrm>
            <a:off x="3457256" y="5802298"/>
            <a:ext cx="167209" cy="167209"/>
          </a:xfrm>
          <a:prstGeom prst="rect">
            <a:avLst/>
          </a:prstGeom>
        </p:spPr>
      </p:pic>
      <p:sp>
        <p:nvSpPr>
          <p:cNvPr id="594" name="Text 36">
            <a:extLst>
              <a:ext uri="{FF2B5EF4-FFF2-40B4-BE49-F238E27FC236}">
                <a16:creationId xmlns:a16="http://schemas.microsoft.com/office/drawing/2014/main" id="{EF6B3CD2-70A1-514A-660A-C507D6F64684}"/>
              </a:ext>
            </a:extLst>
          </p:cNvPr>
          <p:cNvSpPr txBox="1"/>
          <p:nvPr/>
        </p:nvSpPr>
        <p:spPr>
          <a:xfrm>
            <a:off x="3654867"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Observability Platform</a:t>
            </a:r>
            <a:endParaRPr lang="en-US" sz="738" dirty="0"/>
          </a:p>
        </p:txBody>
      </p:sp>
      <p:sp>
        <p:nvSpPr>
          <p:cNvPr id="596" name="Text 37">
            <a:extLst>
              <a:ext uri="{FF2B5EF4-FFF2-40B4-BE49-F238E27FC236}">
                <a16:creationId xmlns:a16="http://schemas.microsoft.com/office/drawing/2014/main" id="{E85D67EB-63F7-2F45-3319-637DFAE666BC}"/>
              </a:ext>
            </a:extLst>
          </p:cNvPr>
          <p:cNvSpPr txBox="1"/>
          <p:nvPr/>
        </p:nvSpPr>
        <p:spPr>
          <a:xfrm>
            <a:off x="3654867"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(Logs / Metrics  —  basic)</a:t>
            </a:r>
            <a:endParaRPr lang="en-US" sz="658" dirty="0"/>
          </a:p>
        </p:txBody>
      </p:sp>
      <p:sp>
        <p:nvSpPr>
          <p:cNvPr id="598" name="Shape 38">
            <a:extLst>
              <a:ext uri="{FF2B5EF4-FFF2-40B4-BE49-F238E27FC236}">
                <a16:creationId xmlns:a16="http://schemas.microsoft.com/office/drawing/2014/main" id="{588923B4-C816-6581-4798-2CC7FE279599}"/>
              </a:ext>
            </a:extLst>
          </p:cNvPr>
          <p:cNvSpPr/>
          <p:nvPr/>
        </p:nvSpPr>
        <p:spPr>
          <a:xfrm>
            <a:off x="5083744"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600" name="Image 7" descr="preencoded.png">
            <a:extLst>
              <a:ext uri="{FF2B5EF4-FFF2-40B4-BE49-F238E27FC236}">
                <a16:creationId xmlns:a16="http://schemas.microsoft.com/office/drawing/2014/main" id="{7D802582-F7A6-D31F-1B83-B9A071EF0375}"/>
              </a:ext>
            </a:extLst>
          </p:cNvPr>
          <p:cNvPicPr>
            <a:picLocks noChangeAspect="1"/>
          </p:cNvPicPr>
          <p:nvPr/>
        </p:nvPicPr>
        <p:blipFill>
          <a:blip r:embed="rId7"/>
          <a:stretch>
            <a:fillRect/>
          </a:stretch>
        </p:blipFill>
        <p:spPr>
          <a:xfrm>
            <a:off x="5144547" y="5802298"/>
            <a:ext cx="167209" cy="167209"/>
          </a:xfrm>
          <a:prstGeom prst="rect">
            <a:avLst/>
          </a:prstGeom>
        </p:spPr>
      </p:pic>
      <p:sp>
        <p:nvSpPr>
          <p:cNvPr id="602" name="Text 39">
            <a:extLst>
              <a:ext uri="{FF2B5EF4-FFF2-40B4-BE49-F238E27FC236}">
                <a16:creationId xmlns:a16="http://schemas.microsoft.com/office/drawing/2014/main" id="{38D8BF5E-D0F2-D863-2857-C5884C083F07}"/>
              </a:ext>
            </a:extLst>
          </p:cNvPr>
          <p:cNvSpPr txBox="1"/>
          <p:nvPr/>
        </p:nvSpPr>
        <p:spPr>
          <a:xfrm>
            <a:off x="534215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Container Registry</a:t>
            </a:r>
            <a:endParaRPr lang="en-US" sz="738" dirty="0"/>
          </a:p>
        </p:txBody>
      </p:sp>
      <p:sp>
        <p:nvSpPr>
          <p:cNvPr id="604" name="Text 40">
            <a:extLst>
              <a:ext uri="{FF2B5EF4-FFF2-40B4-BE49-F238E27FC236}">
                <a16:creationId xmlns:a16="http://schemas.microsoft.com/office/drawing/2014/main" id="{09DE98DA-D835-8F60-E5D9-13A09E0AC1EB}"/>
              </a:ext>
            </a:extLst>
          </p:cNvPr>
          <p:cNvSpPr txBox="1"/>
          <p:nvPr/>
        </p:nvSpPr>
        <p:spPr>
          <a:xfrm>
            <a:off x="534215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(Container Images)</a:t>
            </a:r>
            <a:endParaRPr lang="en-US" sz="658" dirty="0"/>
          </a:p>
        </p:txBody>
      </p:sp>
      <p:sp>
        <p:nvSpPr>
          <p:cNvPr id="606" name="Shape 41">
            <a:extLst>
              <a:ext uri="{FF2B5EF4-FFF2-40B4-BE49-F238E27FC236}">
                <a16:creationId xmlns:a16="http://schemas.microsoft.com/office/drawing/2014/main" id="{4E0D1FF0-8517-A109-3855-1E46F7296C33}"/>
              </a:ext>
            </a:extLst>
          </p:cNvPr>
          <p:cNvSpPr/>
          <p:nvPr/>
        </p:nvSpPr>
        <p:spPr>
          <a:xfrm>
            <a:off x="6771034"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608" name="Image 8" descr="preencoded.png">
            <a:extLst>
              <a:ext uri="{FF2B5EF4-FFF2-40B4-BE49-F238E27FC236}">
                <a16:creationId xmlns:a16="http://schemas.microsoft.com/office/drawing/2014/main" id="{870F6F6E-F31C-0A62-4BD8-29146A2B0E95}"/>
              </a:ext>
            </a:extLst>
          </p:cNvPr>
          <p:cNvPicPr>
            <a:picLocks noChangeAspect="1"/>
          </p:cNvPicPr>
          <p:nvPr/>
        </p:nvPicPr>
        <p:blipFill>
          <a:blip r:embed="rId8"/>
          <a:stretch>
            <a:fillRect/>
          </a:stretch>
        </p:blipFill>
        <p:spPr>
          <a:xfrm>
            <a:off x="6831837" y="5802298"/>
            <a:ext cx="167209" cy="167209"/>
          </a:xfrm>
          <a:prstGeom prst="rect">
            <a:avLst/>
          </a:prstGeom>
        </p:spPr>
      </p:pic>
      <p:sp>
        <p:nvSpPr>
          <p:cNvPr id="610" name="Text 42">
            <a:extLst>
              <a:ext uri="{FF2B5EF4-FFF2-40B4-BE49-F238E27FC236}">
                <a16:creationId xmlns:a16="http://schemas.microsoft.com/office/drawing/2014/main" id="{7CDB9446-0C57-29A5-BB6A-8BF3C11ECB88}"/>
              </a:ext>
            </a:extLst>
          </p:cNvPr>
          <p:cNvSpPr txBox="1"/>
          <p:nvPr/>
        </p:nvSpPr>
        <p:spPr>
          <a:xfrm>
            <a:off x="702944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CI/CD Pipeline</a:t>
            </a:r>
            <a:endParaRPr lang="en-US" sz="738" dirty="0"/>
          </a:p>
        </p:txBody>
      </p:sp>
      <p:sp>
        <p:nvSpPr>
          <p:cNvPr id="612" name="Text 43">
            <a:extLst>
              <a:ext uri="{FF2B5EF4-FFF2-40B4-BE49-F238E27FC236}">
                <a16:creationId xmlns:a16="http://schemas.microsoft.com/office/drawing/2014/main" id="{F8381EE0-BE43-3661-0139-25534E24F779}"/>
              </a:ext>
            </a:extLst>
          </p:cNvPr>
          <p:cNvSpPr txBox="1"/>
          <p:nvPr/>
        </p:nvSpPr>
        <p:spPr>
          <a:xfrm>
            <a:off x="702944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(Build / Test / Scan / Deploy)</a:t>
            </a:r>
            <a:endParaRPr lang="en-US" sz="658" dirty="0"/>
          </a:p>
        </p:txBody>
      </p:sp>
      <p:sp>
        <p:nvSpPr>
          <p:cNvPr id="614" name="Shape 44">
            <a:extLst>
              <a:ext uri="{FF2B5EF4-FFF2-40B4-BE49-F238E27FC236}">
                <a16:creationId xmlns:a16="http://schemas.microsoft.com/office/drawing/2014/main" id="{F96D465B-BC0C-9046-0113-C622BCA2AE9C}"/>
              </a:ext>
            </a:extLst>
          </p:cNvPr>
          <p:cNvSpPr/>
          <p:nvPr/>
        </p:nvSpPr>
        <p:spPr>
          <a:xfrm>
            <a:off x="8458325"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616" name="Image 9" descr="preencoded.png">
            <a:extLst>
              <a:ext uri="{FF2B5EF4-FFF2-40B4-BE49-F238E27FC236}">
                <a16:creationId xmlns:a16="http://schemas.microsoft.com/office/drawing/2014/main" id="{C513EFF6-51F7-67A5-106C-B4526AC145A0}"/>
              </a:ext>
            </a:extLst>
          </p:cNvPr>
          <p:cNvPicPr>
            <a:picLocks noChangeAspect="1"/>
          </p:cNvPicPr>
          <p:nvPr/>
        </p:nvPicPr>
        <p:blipFill>
          <a:blip r:embed="rId9"/>
          <a:stretch>
            <a:fillRect/>
          </a:stretch>
        </p:blipFill>
        <p:spPr>
          <a:xfrm>
            <a:off x="8519128" y="5802298"/>
            <a:ext cx="167209" cy="167209"/>
          </a:xfrm>
          <a:prstGeom prst="rect">
            <a:avLst/>
          </a:prstGeom>
        </p:spPr>
      </p:pic>
      <p:sp>
        <p:nvSpPr>
          <p:cNvPr id="618" name="Text 45">
            <a:extLst>
              <a:ext uri="{FF2B5EF4-FFF2-40B4-BE49-F238E27FC236}">
                <a16:creationId xmlns:a16="http://schemas.microsoft.com/office/drawing/2014/main" id="{5739A1E9-FA22-2937-54A3-87140EC648D2}"/>
              </a:ext>
            </a:extLst>
          </p:cNvPr>
          <p:cNvSpPr txBox="1"/>
          <p:nvPr/>
        </p:nvSpPr>
        <p:spPr>
          <a:xfrm>
            <a:off x="871673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Cloud Network Security</a:t>
            </a:r>
            <a:endParaRPr lang="en-US" sz="738" dirty="0"/>
          </a:p>
        </p:txBody>
      </p:sp>
      <p:sp>
        <p:nvSpPr>
          <p:cNvPr id="620" name="Text 46">
            <a:extLst>
              <a:ext uri="{FF2B5EF4-FFF2-40B4-BE49-F238E27FC236}">
                <a16:creationId xmlns:a16="http://schemas.microsoft.com/office/drawing/2014/main" id="{B228DB84-FAFA-87A7-D29E-D3C73F2DEB18}"/>
              </a:ext>
            </a:extLst>
          </p:cNvPr>
          <p:cNvSpPr txBox="1"/>
          <p:nvPr/>
        </p:nvSpPr>
        <p:spPr>
          <a:xfrm>
            <a:off x="871673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(Network / Firewall / Private Endpoints)</a:t>
            </a:r>
            <a:endParaRPr lang="en-US" sz="658" dirty="0"/>
          </a:p>
        </p:txBody>
      </p:sp>
      <p:sp>
        <p:nvSpPr>
          <p:cNvPr id="622" name="Shape 47">
            <a:extLst>
              <a:ext uri="{FF2B5EF4-FFF2-40B4-BE49-F238E27FC236}">
                <a16:creationId xmlns:a16="http://schemas.microsoft.com/office/drawing/2014/main" id="{9F18A1FA-B3F4-B1EC-D616-7BBEFEE93794}"/>
              </a:ext>
            </a:extLst>
          </p:cNvPr>
          <p:cNvSpPr/>
          <p:nvPr/>
        </p:nvSpPr>
        <p:spPr>
          <a:xfrm>
            <a:off x="10145615"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624" name="Image 10" descr="preencoded.png">
            <a:extLst>
              <a:ext uri="{FF2B5EF4-FFF2-40B4-BE49-F238E27FC236}">
                <a16:creationId xmlns:a16="http://schemas.microsoft.com/office/drawing/2014/main" id="{887C34D8-5DDE-FD38-318E-6C1500E3DA92}"/>
              </a:ext>
            </a:extLst>
          </p:cNvPr>
          <p:cNvPicPr>
            <a:picLocks noChangeAspect="1"/>
          </p:cNvPicPr>
          <p:nvPr/>
        </p:nvPicPr>
        <p:blipFill>
          <a:blip r:embed="rId10"/>
          <a:stretch>
            <a:fillRect/>
          </a:stretch>
        </p:blipFill>
        <p:spPr>
          <a:xfrm>
            <a:off x="10206418" y="5802298"/>
            <a:ext cx="167209" cy="167209"/>
          </a:xfrm>
          <a:prstGeom prst="rect">
            <a:avLst/>
          </a:prstGeom>
        </p:spPr>
      </p:pic>
      <p:sp>
        <p:nvSpPr>
          <p:cNvPr id="626" name="Text 48">
            <a:extLst>
              <a:ext uri="{FF2B5EF4-FFF2-40B4-BE49-F238E27FC236}">
                <a16:creationId xmlns:a16="http://schemas.microsoft.com/office/drawing/2014/main" id="{040EBA8D-CDCD-4A5A-68FD-D2A7763EF2C7}"/>
              </a:ext>
            </a:extLst>
          </p:cNvPr>
          <p:cNvSpPr txBox="1"/>
          <p:nvPr/>
        </p:nvSpPr>
        <p:spPr>
          <a:xfrm>
            <a:off x="10404029"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Backup &amp; Disaster Recovery</a:t>
            </a:r>
            <a:endParaRPr lang="en-US" sz="738" dirty="0"/>
          </a:p>
        </p:txBody>
      </p:sp>
      <p:sp>
        <p:nvSpPr>
          <p:cNvPr id="628" name="Text 49">
            <a:extLst>
              <a:ext uri="{FF2B5EF4-FFF2-40B4-BE49-F238E27FC236}">
                <a16:creationId xmlns:a16="http://schemas.microsoft.com/office/drawing/2014/main" id="{DD81A6E6-C511-2599-321F-02858128A6E7}"/>
              </a:ext>
            </a:extLst>
          </p:cNvPr>
          <p:cNvSpPr txBox="1"/>
          <p:nvPr/>
        </p:nvSpPr>
        <p:spPr>
          <a:xfrm>
            <a:off x="10404029"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(Snapshots / Restore / RPO-RTO)</a:t>
            </a:r>
            <a:endParaRPr lang="en-US" sz="658" dirty="0"/>
          </a:p>
        </p:txBody>
      </p:sp>
      <p:sp>
        <p:nvSpPr>
          <p:cNvPr id="630" name="Shape 50">
            <a:extLst>
              <a:ext uri="{FF2B5EF4-FFF2-40B4-BE49-F238E27FC236}">
                <a16:creationId xmlns:a16="http://schemas.microsoft.com/office/drawing/2014/main" id="{8BF57D5D-38FB-92D4-FF8F-CFD55A78E8DB}"/>
              </a:ext>
            </a:extLst>
          </p:cNvPr>
          <p:cNvSpPr/>
          <p:nvPr/>
        </p:nvSpPr>
        <p:spPr>
          <a:xfrm>
            <a:off x="439895" y="6243122"/>
            <a:ext cx="6688358" cy="440824"/>
          </a:xfrm>
          <a:prstGeom prst="roundRect">
            <a:avLst>
              <a:gd name="adj" fmla="val 10345"/>
            </a:avLst>
          </a:prstGeom>
          <a:solidFill>
            <a:srgbClr val="FFFFFF"/>
          </a:solidFill>
          <a:ln w="12700">
            <a:solidFill>
              <a:srgbClr val="C2DCF0"/>
            </a:solidFill>
            <a:prstDash val="solid"/>
          </a:ln>
        </p:spPr>
        <p:txBody>
          <a:bodyPr/>
          <a:lstStyle/>
          <a:p>
            <a:endParaRPr lang="en-IN"/>
          </a:p>
        </p:txBody>
      </p:sp>
      <p:sp>
        <p:nvSpPr>
          <p:cNvPr id="634" name="Text 51">
            <a:extLst>
              <a:ext uri="{FF2B5EF4-FFF2-40B4-BE49-F238E27FC236}">
                <a16:creationId xmlns:a16="http://schemas.microsoft.com/office/drawing/2014/main" id="{98C4A27D-9BC7-F616-87B5-7B2A4578EF85}"/>
              </a:ext>
            </a:extLst>
          </p:cNvPr>
          <p:cNvSpPr txBox="1"/>
          <p:nvPr/>
        </p:nvSpPr>
        <p:spPr>
          <a:xfrm>
            <a:off x="523499" y="6243122"/>
            <a:ext cx="456025" cy="440824"/>
          </a:xfrm>
          <a:prstGeom prst="rect">
            <a:avLst/>
          </a:prstGeom>
          <a:noFill/>
          <a:ln/>
        </p:spPr>
        <p:txBody>
          <a:bodyPr wrap="square" lIns="0" tIns="0" rIns="0" bIns="0" rtlCol="0" anchor="ctr"/>
          <a:lstStyle/>
          <a:p>
            <a:pPr>
              <a:lnSpc>
                <a:spcPct val="93000"/>
              </a:lnSpc>
            </a:pPr>
            <a:r>
              <a:rPr lang="en-US" sz="878" b="1" dirty="0">
                <a:solidFill>
                  <a:srgbClr val="1B4F8A"/>
                </a:solidFill>
                <a:latin typeface="Calibri" pitchFamily="34" charset="0"/>
                <a:ea typeface="Calibri" pitchFamily="34" charset="-122"/>
                <a:cs typeface="Calibri" pitchFamily="34" charset="-120"/>
              </a:rPr>
              <a:t>Legend</a:t>
            </a:r>
            <a:endParaRPr lang="en-US" sz="878" dirty="0"/>
          </a:p>
        </p:txBody>
      </p:sp>
      <p:sp>
        <p:nvSpPr>
          <p:cNvPr id="638" name="Shape 52">
            <a:extLst>
              <a:ext uri="{FF2B5EF4-FFF2-40B4-BE49-F238E27FC236}">
                <a16:creationId xmlns:a16="http://schemas.microsoft.com/office/drawing/2014/main" id="{3F961124-F771-648C-D8EE-4A8C940531E6}"/>
              </a:ext>
            </a:extLst>
          </p:cNvPr>
          <p:cNvSpPr/>
          <p:nvPr/>
        </p:nvSpPr>
        <p:spPr>
          <a:xfrm>
            <a:off x="1055528" y="6463533"/>
            <a:ext cx="258414" cy="0"/>
          </a:xfrm>
          <a:prstGeom prst="line">
            <a:avLst/>
          </a:prstGeom>
          <a:noFill/>
          <a:ln w="30480">
            <a:solidFill>
              <a:srgbClr val="1B4F8C"/>
            </a:solidFill>
            <a:prstDash val="solid"/>
            <a:tailEnd type="triangle"/>
          </a:ln>
        </p:spPr>
        <p:txBody>
          <a:bodyPr/>
          <a:lstStyle/>
          <a:p>
            <a:endParaRPr lang="en-IN"/>
          </a:p>
        </p:txBody>
      </p:sp>
      <p:sp>
        <p:nvSpPr>
          <p:cNvPr id="642" name="Text 53">
            <a:extLst>
              <a:ext uri="{FF2B5EF4-FFF2-40B4-BE49-F238E27FC236}">
                <a16:creationId xmlns:a16="http://schemas.microsoft.com/office/drawing/2014/main" id="{DFE9BC82-D2C8-443C-A61A-8C8EBE48E454}"/>
              </a:ext>
            </a:extLst>
          </p:cNvPr>
          <p:cNvSpPr txBox="1"/>
          <p:nvPr/>
        </p:nvSpPr>
        <p:spPr>
          <a:xfrm>
            <a:off x="1367144" y="6243122"/>
            <a:ext cx="790442"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Primary user flow</a:t>
            </a:r>
            <a:endParaRPr lang="en-US" sz="798" dirty="0"/>
          </a:p>
        </p:txBody>
      </p:sp>
      <p:sp>
        <p:nvSpPr>
          <p:cNvPr id="646" name="Shape 54">
            <a:extLst>
              <a:ext uri="{FF2B5EF4-FFF2-40B4-BE49-F238E27FC236}">
                <a16:creationId xmlns:a16="http://schemas.microsoft.com/office/drawing/2014/main" id="{053536A3-32B3-850F-D7F4-BB3D781FD6D1}"/>
              </a:ext>
            </a:extLst>
          </p:cNvPr>
          <p:cNvSpPr/>
          <p:nvPr/>
        </p:nvSpPr>
        <p:spPr>
          <a:xfrm>
            <a:off x="2301995" y="6463533"/>
            <a:ext cx="258414" cy="0"/>
          </a:xfrm>
          <a:prstGeom prst="line">
            <a:avLst/>
          </a:prstGeom>
          <a:noFill/>
          <a:ln w="20320">
            <a:solidFill>
              <a:srgbClr val="1B4F8C"/>
            </a:solidFill>
            <a:prstDash val="solid"/>
            <a:tailEnd type="triangle"/>
          </a:ln>
        </p:spPr>
        <p:txBody>
          <a:bodyPr/>
          <a:lstStyle/>
          <a:p>
            <a:endParaRPr lang="en-IN"/>
          </a:p>
        </p:txBody>
      </p:sp>
      <p:sp>
        <p:nvSpPr>
          <p:cNvPr id="650" name="Text 55">
            <a:extLst>
              <a:ext uri="{FF2B5EF4-FFF2-40B4-BE49-F238E27FC236}">
                <a16:creationId xmlns:a16="http://schemas.microsoft.com/office/drawing/2014/main" id="{6DAF8D0E-F682-6C9F-99F0-227363CAB965}"/>
              </a:ext>
            </a:extLst>
          </p:cNvPr>
          <p:cNvSpPr txBox="1"/>
          <p:nvPr/>
        </p:nvSpPr>
        <p:spPr>
          <a:xfrm>
            <a:off x="2613611" y="6243122"/>
            <a:ext cx="1018454"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Synchronous call / query</a:t>
            </a:r>
            <a:endParaRPr lang="en-US" sz="798" dirty="0"/>
          </a:p>
        </p:txBody>
      </p:sp>
      <p:sp>
        <p:nvSpPr>
          <p:cNvPr id="654" name="Shape 56">
            <a:extLst>
              <a:ext uri="{FF2B5EF4-FFF2-40B4-BE49-F238E27FC236}">
                <a16:creationId xmlns:a16="http://schemas.microsoft.com/office/drawing/2014/main" id="{224BE78F-6F79-97A3-DF3D-1C496CC17D62}"/>
              </a:ext>
            </a:extLst>
          </p:cNvPr>
          <p:cNvSpPr/>
          <p:nvPr/>
        </p:nvSpPr>
        <p:spPr>
          <a:xfrm>
            <a:off x="3822076" y="6463533"/>
            <a:ext cx="258414" cy="0"/>
          </a:xfrm>
          <a:prstGeom prst="line">
            <a:avLst/>
          </a:prstGeom>
          <a:noFill/>
          <a:ln w="19050">
            <a:solidFill>
              <a:srgbClr val="0E7C6B"/>
            </a:solidFill>
            <a:prstDash val="solid"/>
            <a:tailEnd type="triangle"/>
          </a:ln>
        </p:spPr>
        <p:txBody>
          <a:bodyPr/>
          <a:lstStyle/>
          <a:p>
            <a:endParaRPr lang="en-IN"/>
          </a:p>
        </p:txBody>
      </p:sp>
      <p:sp>
        <p:nvSpPr>
          <p:cNvPr id="658" name="Text 57">
            <a:extLst>
              <a:ext uri="{FF2B5EF4-FFF2-40B4-BE49-F238E27FC236}">
                <a16:creationId xmlns:a16="http://schemas.microsoft.com/office/drawing/2014/main" id="{0071B398-1717-AD10-5088-848B005FFCCE}"/>
              </a:ext>
            </a:extLst>
          </p:cNvPr>
          <p:cNvSpPr txBox="1"/>
          <p:nvPr/>
        </p:nvSpPr>
        <p:spPr>
          <a:xfrm>
            <a:off x="4133693" y="6243122"/>
            <a:ext cx="653635"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Authentication</a:t>
            </a:r>
            <a:endParaRPr lang="en-US" sz="798" dirty="0"/>
          </a:p>
        </p:txBody>
      </p:sp>
      <p:sp>
        <p:nvSpPr>
          <p:cNvPr id="662" name="Shape 58">
            <a:extLst>
              <a:ext uri="{FF2B5EF4-FFF2-40B4-BE49-F238E27FC236}">
                <a16:creationId xmlns:a16="http://schemas.microsoft.com/office/drawing/2014/main" id="{6EC8C1DB-0710-C81C-D9F7-71DFE2E905EC}"/>
              </a:ext>
            </a:extLst>
          </p:cNvPr>
          <p:cNvSpPr/>
          <p:nvPr/>
        </p:nvSpPr>
        <p:spPr>
          <a:xfrm>
            <a:off x="7242259" y="6243122"/>
            <a:ext cx="4522243" cy="440824"/>
          </a:xfrm>
          <a:prstGeom prst="roundRect">
            <a:avLst>
              <a:gd name="adj" fmla="val 10345"/>
            </a:avLst>
          </a:prstGeom>
          <a:solidFill>
            <a:srgbClr val="F4F7FA"/>
          </a:solidFill>
          <a:ln w="12700">
            <a:solidFill>
              <a:srgbClr val="B9CBDD"/>
            </a:solidFill>
            <a:prstDash val="solid"/>
          </a:ln>
        </p:spPr>
        <p:txBody>
          <a:bodyPr/>
          <a:lstStyle/>
          <a:p>
            <a:endParaRPr lang="en-IN"/>
          </a:p>
        </p:txBody>
      </p:sp>
      <p:sp>
        <p:nvSpPr>
          <p:cNvPr id="666" name="Text 59">
            <a:extLst>
              <a:ext uri="{FF2B5EF4-FFF2-40B4-BE49-F238E27FC236}">
                <a16:creationId xmlns:a16="http://schemas.microsoft.com/office/drawing/2014/main" id="{5D40BC80-25C5-7651-1BDF-CC2CF41807D6}"/>
              </a:ext>
            </a:extLst>
          </p:cNvPr>
          <p:cNvSpPr txBox="1"/>
          <p:nvPr/>
        </p:nvSpPr>
        <p:spPr>
          <a:xfrm>
            <a:off x="7333465" y="6258322"/>
            <a:ext cx="4339832" cy="152008"/>
          </a:xfrm>
          <a:prstGeom prst="rect">
            <a:avLst/>
          </a:prstGeom>
          <a:noFill/>
          <a:ln/>
        </p:spPr>
        <p:txBody>
          <a:bodyPr wrap="square" lIns="0" tIns="0" rIns="0" bIns="0" rtlCol="0" anchor="ctr"/>
          <a:lstStyle/>
          <a:p>
            <a:pPr>
              <a:lnSpc>
                <a:spcPct val="93000"/>
              </a:lnSpc>
            </a:pPr>
            <a:r>
              <a:rPr lang="en-US" sz="838" b="1" dirty="0">
                <a:solidFill>
                  <a:srgbClr val="1B4F8A"/>
                </a:solidFill>
                <a:latin typeface="Calibri" pitchFamily="34" charset="0"/>
                <a:ea typeface="Calibri" pitchFamily="34" charset="-122"/>
                <a:cs typeface="Calibri" pitchFamily="34" charset="-120"/>
              </a:rPr>
              <a:t>Deployment Options:  Microsoft Azure  |  AWS</a:t>
            </a:r>
            <a:endParaRPr lang="en-US" sz="838" dirty="0"/>
          </a:p>
        </p:txBody>
      </p:sp>
      <p:sp>
        <p:nvSpPr>
          <p:cNvPr id="670" name="Text 60">
            <a:extLst>
              <a:ext uri="{FF2B5EF4-FFF2-40B4-BE49-F238E27FC236}">
                <a16:creationId xmlns:a16="http://schemas.microsoft.com/office/drawing/2014/main" id="{C22DDDE7-E5D2-EED4-8C19-606C74598910}"/>
              </a:ext>
            </a:extLst>
          </p:cNvPr>
          <p:cNvSpPr txBox="1"/>
          <p:nvPr/>
        </p:nvSpPr>
        <p:spPr>
          <a:xfrm>
            <a:off x="7333465" y="6410331"/>
            <a:ext cx="4339832" cy="258414"/>
          </a:xfrm>
          <a:prstGeom prst="rect">
            <a:avLst/>
          </a:prstGeom>
          <a:noFill/>
          <a:ln/>
        </p:spPr>
        <p:txBody>
          <a:bodyPr wrap="square" lIns="0" tIns="0" rIns="0" bIns="0" rtlCol="0" anchor="ctr"/>
          <a:lstStyle/>
          <a:p>
            <a:pPr>
              <a:lnSpc>
                <a:spcPct val="95000"/>
              </a:lnSpc>
            </a:pPr>
            <a:r>
              <a:rPr lang="en-US" sz="718" i="1" dirty="0">
                <a:solidFill>
                  <a:srgbClr val="5B6472"/>
                </a:solidFill>
                <a:latin typeface="Calibri" pitchFamily="34" charset="0"/>
                <a:ea typeface="Calibri" pitchFamily="34" charset="-122"/>
                <a:cs typeface="Calibri" pitchFamily="34" charset="-120"/>
              </a:rPr>
              <a:t>Core application architecture remains cloud agnostic; equivalent managed services can be used on the selected cloud platform.</a:t>
            </a:r>
            <a:endParaRPr lang="en-US" sz="718" dirty="0"/>
          </a:p>
        </p:txBody>
      </p:sp>
      <p:sp>
        <p:nvSpPr>
          <p:cNvPr id="674" name="Shape 61">
            <a:extLst>
              <a:ext uri="{FF2B5EF4-FFF2-40B4-BE49-F238E27FC236}">
                <a16:creationId xmlns:a16="http://schemas.microsoft.com/office/drawing/2014/main" id="{1F8936CC-14AD-C190-3AE6-F6612CB79556}"/>
              </a:ext>
            </a:extLst>
          </p:cNvPr>
          <p:cNvSpPr/>
          <p:nvPr/>
        </p:nvSpPr>
        <p:spPr>
          <a:xfrm>
            <a:off x="3252045" y="1409262"/>
            <a:ext cx="1178063" cy="668836"/>
          </a:xfrm>
          <a:prstGeom prst="roundRect">
            <a:avLst>
              <a:gd name="adj" fmla="val 6818"/>
            </a:avLst>
          </a:prstGeom>
          <a:solidFill>
            <a:srgbClr val="F2FAF8"/>
          </a:solidFill>
          <a:ln w="12700">
            <a:solidFill>
              <a:srgbClr val="9BCEC4"/>
            </a:solidFill>
            <a:prstDash val="solid"/>
          </a:ln>
        </p:spPr>
        <p:txBody>
          <a:bodyPr/>
          <a:lstStyle/>
          <a:p>
            <a:endParaRPr lang="en-IN"/>
          </a:p>
        </p:txBody>
      </p:sp>
      <p:pic>
        <p:nvPicPr>
          <p:cNvPr id="678" name="Image 11" descr="preencoded.png">
            <a:extLst>
              <a:ext uri="{FF2B5EF4-FFF2-40B4-BE49-F238E27FC236}">
                <a16:creationId xmlns:a16="http://schemas.microsoft.com/office/drawing/2014/main" id="{7D130607-50C7-91C6-496C-A9F652C72FBE}"/>
              </a:ext>
            </a:extLst>
          </p:cNvPr>
          <p:cNvPicPr>
            <a:picLocks noChangeAspect="1"/>
          </p:cNvPicPr>
          <p:nvPr/>
        </p:nvPicPr>
        <p:blipFill>
          <a:blip r:embed="rId11"/>
          <a:stretch>
            <a:fillRect/>
          </a:stretch>
        </p:blipFill>
        <p:spPr>
          <a:xfrm>
            <a:off x="3734672" y="1470066"/>
            <a:ext cx="212812" cy="212812"/>
          </a:xfrm>
          <a:prstGeom prst="rect">
            <a:avLst/>
          </a:prstGeom>
        </p:spPr>
      </p:pic>
      <p:sp>
        <p:nvSpPr>
          <p:cNvPr id="682" name="Text 62">
            <a:extLst>
              <a:ext uri="{FF2B5EF4-FFF2-40B4-BE49-F238E27FC236}">
                <a16:creationId xmlns:a16="http://schemas.microsoft.com/office/drawing/2014/main" id="{BAD58A90-93C1-2191-5F6C-C27991BE99A7}"/>
              </a:ext>
            </a:extLst>
          </p:cNvPr>
          <p:cNvSpPr txBox="1"/>
          <p:nvPr/>
        </p:nvSpPr>
        <p:spPr>
          <a:xfrm>
            <a:off x="3282447" y="1713278"/>
            <a:ext cx="1117260" cy="136808"/>
          </a:xfrm>
          <a:prstGeom prst="rect">
            <a:avLst/>
          </a:prstGeom>
          <a:noFill/>
          <a:ln/>
        </p:spPr>
        <p:txBody>
          <a:bodyPr wrap="square" lIns="0" tIns="0" rIns="0" bIns="0" rtlCol="0" anchor="ctr"/>
          <a:lstStyle/>
          <a:p>
            <a:pPr algn="ctr">
              <a:lnSpc>
                <a:spcPct val="93000"/>
              </a:lnSpc>
            </a:pPr>
            <a:r>
              <a:rPr lang="en-US" sz="918" b="1" dirty="0">
                <a:solidFill>
                  <a:srgbClr val="0E5F52"/>
                </a:solidFill>
                <a:latin typeface="Calibri" pitchFamily="34" charset="0"/>
                <a:ea typeface="Calibri" pitchFamily="34" charset="-122"/>
                <a:cs typeface="Calibri" pitchFamily="34" charset="-120"/>
              </a:rPr>
              <a:t>Identity Provider</a:t>
            </a:r>
            <a:endParaRPr lang="en-US" sz="918" dirty="0"/>
          </a:p>
        </p:txBody>
      </p:sp>
      <p:sp>
        <p:nvSpPr>
          <p:cNvPr id="686" name="Text 63">
            <a:extLst>
              <a:ext uri="{FF2B5EF4-FFF2-40B4-BE49-F238E27FC236}">
                <a16:creationId xmlns:a16="http://schemas.microsoft.com/office/drawing/2014/main" id="{04FB053D-1864-4C64-9802-90C1699890F3}"/>
              </a:ext>
            </a:extLst>
          </p:cNvPr>
          <p:cNvSpPr txBox="1"/>
          <p:nvPr/>
        </p:nvSpPr>
        <p:spPr>
          <a:xfrm>
            <a:off x="3282447" y="1850086"/>
            <a:ext cx="1117260" cy="212812"/>
          </a:xfrm>
          <a:prstGeom prst="rect">
            <a:avLst/>
          </a:prstGeom>
          <a:noFill/>
          <a:ln/>
        </p:spPr>
        <p:txBody>
          <a:bodyPr wrap="square" lIns="0" tIns="0" rIns="0" bIns="0" rtlCol="0" anchor="ctr"/>
          <a:lstStyle/>
          <a:p>
            <a:pPr algn="ctr">
              <a:lnSpc>
                <a:spcPct val="93000"/>
              </a:lnSpc>
            </a:pPr>
            <a:r>
              <a:rPr lang="en-US" sz="758" dirty="0">
                <a:solidFill>
                  <a:srgbClr val="2C6F63"/>
                </a:solidFill>
                <a:latin typeface="Calibri" pitchFamily="34" charset="0"/>
                <a:ea typeface="Calibri" pitchFamily="34" charset="-122"/>
                <a:cs typeface="Calibri" pitchFamily="34" charset="-120"/>
              </a:rPr>
              <a:t>OAuth2 / OIDC / JWT</a:t>
            </a:r>
            <a:endParaRPr lang="en-US" sz="758" dirty="0"/>
          </a:p>
          <a:p>
            <a:pPr algn="ctr">
              <a:lnSpc>
                <a:spcPct val="93000"/>
              </a:lnSpc>
            </a:pPr>
            <a:r>
              <a:rPr lang="en-US" sz="758" dirty="0">
                <a:solidFill>
                  <a:srgbClr val="2C6F63"/>
                </a:solidFill>
                <a:latin typeface="Calibri" pitchFamily="34" charset="0"/>
                <a:ea typeface="Calibri" pitchFamily="34" charset="-122"/>
                <a:cs typeface="Calibri" pitchFamily="34" charset="-120"/>
              </a:rPr>
              <a:t>MFA / SSO</a:t>
            </a:r>
            <a:endParaRPr lang="en-US" sz="758" dirty="0"/>
          </a:p>
        </p:txBody>
      </p:sp>
      <p:sp>
        <p:nvSpPr>
          <p:cNvPr id="690" name="Shape 64">
            <a:extLst>
              <a:ext uri="{FF2B5EF4-FFF2-40B4-BE49-F238E27FC236}">
                <a16:creationId xmlns:a16="http://schemas.microsoft.com/office/drawing/2014/main" id="{FACB5244-AC6F-1A0B-82E7-055878BEB13A}"/>
              </a:ext>
            </a:extLst>
          </p:cNvPr>
          <p:cNvSpPr/>
          <p:nvPr/>
        </p:nvSpPr>
        <p:spPr>
          <a:xfrm>
            <a:off x="3252046" y="2382115"/>
            <a:ext cx="912049" cy="3192171"/>
          </a:xfrm>
          <a:prstGeom prst="roundRect">
            <a:avLst>
              <a:gd name="adj" fmla="val 5000"/>
            </a:avLst>
          </a:prstGeom>
          <a:solidFill>
            <a:srgbClr val="F7FAFD"/>
          </a:solidFill>
          <a:ln w="12700">
            <a:solidFill>
              <a:srgbClr val="C2DCF0"/>
            </a:solidFill>
            <a:prstDash val="solid"/>
          </a:ln>
        </p:spPr>
        <p:txBody>
          <a:bodyPr/>
          <a:lstStyle/>
          <a:p>
            <a:endParaRPr lang="en-IN"/>
          </a:p>
        </p:txBody>
      </p:sp>
      <p:pic>
        <p:nvPicPr>
          <p:cNvPr id="694" name="Image 12" descr="preencoded.png">
            <a:extLst>
              <a:ext uri="{FF2B5EF4-FFF2-40B4-BE49-F238E27FC236}">
                <a16:creationId xmlns:a16="http://schemas.microsoft.com/office/drawing/2014/main" id="{196CAB94-5115-A34A-7903-947D196DAC8E}"/>
              </a:ext>
            </a:extLst>
          </p:cNvPr>
          <p:cNvPicPr>
            <a:picLocks noChangeAspect="1"/>
          </p:cNvPicPr>
          <p:nvPr/>
        </p:nvPicPr>
        <p:blipFill>
          <a:blip r:embed="rId12"/>
          <a:stretch>
            <a:fillRect/>
          </a:stretch>
        </p:blipFill>
        <p:spPr>
          <a:xfrm>
            <a:off x="3540861" y="2488520"/>
            <a:ext cx="334418" cy="334418"/>
          </a:xfrm>
          <a:prstGeom prst="rect">
            <a:avLst/>
          </a:prstGeom>
        </p:spPr>
      </p:pic>
      <p:sp>
        <p:nvSpPr>
          <p:cNvPr id="698" name="Text 65">
            <a:extLst>
              <a:ext uri="{FF2B5EF4-FFF2-40B4-BE49-F238E27FC236}">
                <a16:creationId xmlns:a16="http://schemas.microsoft.com/office/drawing/2014/main" id="{5D7CE1B6-3E40-C701-AE1C-663C3F1D0984}"/>
              </a:ext>
            </a:extLst>
          </p:cNvPr>
          <p:cNvSpPr txBox="1"/>
          <p:nvPr/>
        </p:nvSpPr>
        <p:spPr>
          <a:xfrm>
            <a:off x="3282447" y="2868540"/>
            <a:ext cx="851246" cy="152008"/>
          </a:xfrm>
          <a:prstGeom prst="rect">
            <a:avLst/>
          </a:prstGeom>
          <a:noFill/>
          <a:ln/>
        </p:spPr>
        <p:txBody>
          <a:bodyPr wrap="square" lIns="0" tIns="0" rIns="0" bIns="0" rtlCol="0" anchor="ctr"/>
          <a:lstStyle/>
          <a:p>
            <a:pPr algn="ctr">
              <a:lnSpc>
                <a:spcPct val="93000"/>
              </a:lnSpc>
            </a:pPr>
            <a:r>
              <a:rPr lang="en-US" sz="958" b="1" dirty="0">
                <a:solidFill>
                  <a:srgbClr val="11397C"/>
                </a:solidFill>
                <a:latin typeface="Calibri" pitchFamily="34" charset="0"/>
                <a:ea typeface="Calibri" pitchFamily="34" charset="-122"/>
                <a:cs typeface="Calibri" pitchFamily="34" charset="-120"/>
              </a:rPr>
              <a:t>Frontend</a:t>
            </a:r>
            <a:endParaRPr lang="en-US" sz="958" dirty="0"/>
          </a:p>
        </p:txBody>
      </p:sp>
      <p:sp>
        <p:nvSpPr>
          <p:cNvPr id="702" name="Text 66">
            <a:extLst>
              <a:ext uri="{FF2B5EF4-FFF2-40B4-BE49-F238E27FC236}">
                <a16:creationId xmlns:a16="http://schemas.microsoft.com/office/drawing/2014/main" id="{4EED9492-046C-08A9-7655-0E64617CE1B9}"/>
              </a:ext>
            </a:extLst>
          </p:cNvPr>
          <p:cNvSpPr txBox="1"/>
          <p:nvPr/>
        </p:nvSpPr>
        <p:spPr>
          <a:xfrm>
            <a:off x="3282447" y="3020549"/>
            <a:ext cx="851246" cy="136808"/>
          </a:xfrm>
          <a:prstGeom prst="rect">
            <a:avLst/>
          </a:prstGeom>
          <a:noFill/>
          <a:ln/>
        </p:spPr>
        <p:txBody>
          <a:bodyPr wrap="square" lIns="0" tIns="0" rIns="0" bIns="0" rtlCol="0" anchor="ctr"/>
          <a:lstStyle/>
          <a:p>
            <a:pPr algn="ctr">
              <a:lnSpc>
                <a:spcPct val="93000"/>
              </a:lnSpc>
            </a:pPr>
            <a:r>
              <a:rPr lang="en-US" sz="858" dirty="0">
                <a:solidFill>
                  <a:srgbClr val="2A6099"/>
                </a:solidFill>
                <a:latin typeface="Calibri" pitchFamily="34" charset="0"/>
                <a:ea typeface="Calibri" pitchFamily="34" charset="-122"/>
                <a:cs typeface="Calibri" pitchFamily="34" charset="-120"/>
              </a:rPr>
              <a:t>Next.js 14+</a:t>
            </a:r>
            <a:endParaRPr lang="en-US" sz="858" dirty="0"/>
          </a:p>
        </p:txBody>
      </p:sp>
      <p:sp>
        <p:nvSpPr>
          <p:cNvPr id="706" name="Text 67">
            <a:extLst>
              <a:ext uri="{FF2B5EF4-FFF2-40B4-BE49-F238E27FC236}">
                <a16:creationId xmlns:a16="http://schemas.microsoft.com/office/drawing/2014/main" id="{31429AD5-99D5-234D-05F6-D95A16E89724}"/>
              </a:ext>
            </a:extLst>
          </p:cNvPr>
          <p:cNvSpPr txBox="1"/>
          <p:nvPr/>
        </p:nvSpPr>
        <p:spPr>
          <a:xfrm>
            <a:off x="3312849" y="3233360"/>
            <a:ext cx="790442" cy="456025"/>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Responsive UI</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Secure Communication</a:t>
            </a:r>
            <a:endParaRPr lang="en-US" sz="818" dirty="0"/>
          </a:p>
        </p:txBody>
      </p:sp>
      <p:sp>
        <p:nvSpPr>
          <p:cNvPr id="710" name="Shape 68">
            <a:extLst>
              <a:ext uri="{FF2B5EF4-FFF2-40B4-BE49-F238E27FC236}">
                <a16:creationId xmlns:a16="http://schemas.microsoft.com/office/drawing/2014/main" id="{CF57C51B-1DE8-6399-B506-7310DEAE02BD}"/>
              </a:ext>
            </a:extLst>
          </p:cNvPr>
          <p:cNvSpPr/>
          <p:nvPr/>
        </p:nvSpPr>
        <p:spPr>
          <a:xfrm>
            <a:off x="3692869" y="2078098"/>
            <a:ext cx="0" cy="304016"/>
          </a:xfrm>
          <a:prstGeom prst="line">
            <a:avLst/>
          </a:prstGeom>
          <a:noFill/>
          <a:ln w="19050">
            <a:solidFill>
              <a:srgbClr val="0E7C6B"/>
            </a:solidFill>
            <a:prstDash val="solid"/>
            <a:headEnd type="triangle"/>
            <a:tailEnd type="triangle"/>
          </a:ln>
        </p:spPr>
        <p:txBody>
          <a:bodyPr/>
          <a:lstStyle/>
          <a:p>
            <a:endParaRPr lang="en-IN"/>
          </a:p>
        </p:txBody>
      </p:sp>
      <p:sp>
        <p:nvSpPr>
          <p:cNvPr id="714" name="Text 69">
            <a:extLst>
              <a:ext uri="{FF2B5EF4-FFF2-40B4-BE49-F238E27FC236}">
                <a16:creationId xmlns:a16="http://schemas.microsoft.com/office/drawing/2014/main" id="{4E4ECF54-1BDB-B751-6E74-93066DD61E64}"/>
              </a:ext>
            </a:extLst>
          </p:cNvPr>
          <p:cNvSpPr txBox="1"/>
          <p:nvPr/>
        </p:nvSpPr>
        <p:spPr>
          <a:xfrm>
            <a:off x="3723271" y="2138901"/>
            <a:ext cx="425622" cy="228012"/>
          </a:xfrm>
          <a:prstGeom prst="rect">
            <a:avLst/>
          </a:prstGeom>
          <a:noFill/>
          <a:ln/>
        </p:spPr>
        <p:txBody>
          <a:bodyPr wrap="square" lIns="0" tIns="0" rIns="0" bIns="0" rtlCol="0" anchor="ctr"/>
          <a:lstStyle/>
          <a:p>
            <a:pPr algn="ctr">
              <a:lnSpc>
                <a:spcPct val="88000"/>
              </a:lnSpc>
            </a:pPr>
            <a:r>
              <a:rPr lang="en-US" sz="678" dirty="0">
                <a:solidFill>
                  <a:srgbClr val="0E7C6B"/>
                </a:solidFill>
                <a:latin typeface="Calibri" pitchFamily="34" charset="0"/>
                <a:ea typeface="Calibri" pitchFamily="34" charset="-122"/>
                <a:cs typeface="Calibri" pitchFamily="34" charset="-120"/>
              </a:rPr>
              <a:t>OAuth2 /</a:t>
            </a:r>
            <a:endParaRPr lang="en-US" sz="678" dirty="0"/>
          </a:p>
          <a:p>
            <a:pPr algn="ctr">
              <a:lnSpc>
                <a:spcPct val="88000"/>
              </a:lnSpc>
            </a:pPr>
            <a:r>
              <a:rPr lang="en-US" sz="678" dirty="0">
                <a:solidFill>
                  <a:srgbClr val="0E7C6B"/>
                </a:solidFill>
                <a:latin typeface="Calibri" pitchFamily="34" charset="0"/>
                <a:ea typeface="Calibri" pitchFamily="34" charset="-122"/>
                <a:cs typeface="Calibri" pitchFamily="34" charset="-120"/>
              </a:rPr>
              <a:t>OIDC / JWT</a:t>
            </a:r>
            <a:endParaRPr lang="en-US" sz="678" dirty="0"/>
          </a:p>
        </p:txBody>
      </p:sp>
      <p:sp>
        <p:nvSpPr>
          <p:cNvPr id="718" name="Shape 70">
            <a:extLst>
              <a:ext uri="{FF2B5EF4-FFF2-40B4-BE49-F238E27FC236}">
                <a16:creationId xmlns:a16="http://schemas.microsoft.com/office/drawing/2014/main" id="{D0AA6C91-DD93-D009-886F-095C9C5D0D33}"/>
              </a:ext>
            </a:extLst>
          </p:cNvPr>
          <p:cNvSpPr/>
          <p:nvPr/>
        </p:nvSpPr>
        <p:spPr>
          <a:xfrm>
            <a:off x="4544115" y="1409262"/>
            <a:ext cx="4028216" cy="4165024"/>
          </a:xfrm>
          <a:prstGeom prst="roundRect">
            <a:avLst>
              <a:gd name="adj" fmla="val 1132"/>
            </a:avLst>
          </a:prstGeom>
          <a:solidFill>
            <a:srgbClr val="FFFFFF"/>
          </a:solidFill>
          <a:ln w="12700">
            <a:solidFill>
              <a:srgbClr val="C2DCF0"/>
            </a:solidFill>
            <a:prstDash val="solid"/>
          </a:ln>
        </p:spPr>
        <p:txBody>
          <a:bodyPr/>
          <a:lstStyle/>
          <a:p>
            <a:endParaRPr lang="en-IN"/>
          </a:p>
        </p:txBody>
      </p:sp>
      <p:pic>
        <p:nvPicPr>
          <p:cNvPr id="722" name="Image 13" descr="preencoded.png">
            <a:extLst>
              <a:ext uri="{FF2B5EF4-FFF2-40B4-BE49-F238E27FC236}">
                <a16:creationId xmlns:a16="http://schemas.microsoft.com/office/drawing/2014/main" id="{5B227E30-25D9-E04E-9475-9B72FC6BC716}"/>
              </a:ext>
            </a:extLst>
          </p:cNvPr>
          <p:cNvPicPr>
            <a:picLocks noChangeAspect="1"/>
          </p:cNvPicPr>
          <p:nvPr/>
        </p:nvPicPr>
        <p:blipFill>
          <a:blip r:embed="rId13"/>
          <a:stretch>
            <a:fillRect/>
          </a:stretch>
        </p:blipFill>
        <p:spPr>
          <a:xfrm>
            <a:off x="4680922" y="1500467"/>
            <a:ext cx="243213" cy="243213"/>
          </a:xfrm>
          <a:prstGeom prst="rect">
            <a:avLst/>
          </a:prstGeom>
        </p:spPr>
      </p:pic>
      <p:sp>
        <p:nvSpPr>
          <p:cNvPr id="726" name="Text 71">
            <a:extLst>
              <a:ext uri="{FF2B5EF4-FFF2-40B4-BE49-F238E27FC236}">
                <a16:creationId xmlns:a16="http://schemas.microsoft.com/office/drawing/2014/main" id="{96EFBECA-733B-AFF4-EA57-17D5C3E4BBE6}"/>
              </a:ext>
            </a:extLst>
          </p:cNvPr>
          <p:cNvSpPr txBox="1"/>
          <p:nvPr/>
        </p:nvSpPr>
        <p:spPr>
          <a:xfrm>
            <a:off x="4984939" y="1485266"/>
            <a:ext cx="2280122" cy="167209"/>
          </a:xfrm>
          <a:prstGeom prst="rect">
            <a:avLst/>
          </a:prstGeom>
          <a:noFill/>
          <a:ln/>
        </p:spPr>
        <p:txBody>
          <a:bodyPr wrap="square" lIns="0" tIns="0" rIns="0" bIns="0" rtlCol="0" anchor="ctr"/>
          <a:lstStyle/>
          <a:p>
            <a:pPr>
              <a:lnSpc>
                <a:spcPct val="93000"/>
              </a:lnSpc>
            </a:pPr>
            <a:r>
              <a:rPr lang="en-US" sz="1097" b="1" dirty="0">
                <a:solidFill>
                  <a:srgbClr val="11397C"/>
                </a:solidFill>
                <a:latin typeface="Calibri" pitchFamily="34" charset="0"/>
                <a:ea typeface="Calibri" pitchFamily="34" charset="-122"/>
                <a:cs typeface="Calibri" pitchFamily="34" charset="-120"/>
              </a:rPr>
              <a:t>Managed Kubernetes</a:t>
            </a:r>
            <a:endParaRPr lang="en-US" sz="1097" dirty="0"/>
          </a:p>
        </p:txBody>
      </p:sp>
      <p:sp>
        <p:nvSpPr>
          <p:cNvPr id="730" name="Text 72">
            <a:extLst>
              <a:ext uri="{FF2B5EF4-FFF2-40B4-BE49-F238E27FC236}">
                <a16:creationId xmlns:a16="http://schemas.microsoft.com/office/drawing/2014/main" id="{8B9A1D84-9E33-F4E4-EDE3-0A24026090C7}"/>
              </a:ext>
            </a:extLst>
          </p:cNvPr>
          <p:cNvSpPr txBox="1"/>
          <p:nvPr/>
        </p:nvSpPr>
        <p:spPr>
          <a:xfrm>
            <a:off x="4604918" y="1789283"/>
            <a:ext cx="3906609" cy="136808"/>
          </a:xfrm>
          <a:prstGeom prst="rect">
            <a:avLst/>
          </a:prstGeom>
          <a:noFill/>
          <a:ln/>
        </p:spPr>
        <p:txBody>
          <a:bodyPr wrap="square" lIns="0" tIns="0" rIns="0" bIns="0" rtlCol="0" anchor="ctr"/>
          <a:lstStyle/>
          <a:p>
            <a:pPr algn="ctr">
              <a:lnSpc>
                <a:spcPct val="93000"/>
              </a:lnSpc>
            </a:pPr>
            <a:r>
              <a:rPr lang="en-US" sz="858" b="1" dirty="0">
                <a:solidFill>
                  <a:srgbClr val="5B6472"/>
                </a:solidFill>
                <a:latin typeface="Calibri" pitchFamily="34" charset="0"/>
                <a:ea typeface="Calibri" pitchFamily="34" charset="-122"/>
                <a:cs typeface="Calibri" pitchFamily="34" charset="-120"/>
              </a:rPr>
              <a:t>Java 25 + Spring Boot 4  ·  Containerised Microservices</a:t>
            </a:r>
            <a:endParaRPr lang="en-US" sz="858" dirty="0"/>
          </a:p>
        </p:txBody>
      </p:sp>
      <p:sp>
        <p:nvSpPr>
          <p:cNvPr id="734" name="Shape 73">
            <a:extLst>
              <a:ext uri="{FF2B5EF4-FFF2-40B4-BE49-F238E27FC236}">
                <a16:creationId xmlns:a16="http://schemas.microsoft.com/office/drawing/2014/main" id="{36E90E72-96CA-AC0A-0710-CE6D020AFE79}"/>
              </a:ext>
            </a:extLst>
          </p:cNvPr>
          <p:cNvSpPr/>
          <p:nvPr/>
        </p:nvSpPr>
        <p:spPr>
          <a:xfrm>
            <a:off x="4635319" y="1986894"/>
            <a:ext cx="3845806" cy="395221"/>
          </a:xfrm>
          <a:prstGeom prst="roundRect">
            <a:avLst>
              <a:gd name="adj" fmla="val 11539"/>
            </a:avLst>
          </a:prstGeom>
          <a:solidFill>
            <a:srgbClr val="F2F7FC"/>
          </a:solidFill>
          <a:ln w="12700">
            <a:solidFill>
              <a:srgbClr val="C4DEF5"/>
            </a:solidFill>
            <a:prstDash val="solid"/>
          </a:ln>
        </p:spPr>
        <p:txBody>
          <a:bodyPr/>
          <a:lstStyle/>
          <a:p>
            <a:endParaRPr lang="en-IN"/>
          </a:p>
        </p:txBody>
      </p:sp>
      <p:pic>
        <p:nvPicPr>
          <p:cNvPr id="738" name="Image 14" descr="preencoded.png">
            <a:extLst>
              <a:ext uri="{FF2B5EF4-FFF2-40B4-BE49-F238E27FC236}">
                <a16:creationId xmlns:a16="http://schemas.microsoft.com/office/drawing/2014/main" id="{EDAC9BA4-EEFB-A0CC-7FBF-8C147BB1D58E}"/>
              </a:ext>
            </a:extLst>
          </p:cNvPr>
          <p:cNvPicPr>
            <a:picLocks noChangeAspect="1"/>
          </p:cNvPicPr>
          <p:nvPr/>
        </p:nvPicPr>
        <p:blipFill>
          <a:blip r:embed="rId14"/>
          <a:stretch>
            <a:fillRect/>
          </a:stretch>
        </p:blipFill>
        <p:spPr>
          <a:xfrm>
            <a:off x="4772127" y="2078098"/>
            <a:ext cx="212812" cy="212812"/>
          </a:xfrm>
          <a:prstGeom prst="rect">
            <a:avLst/>
          </a:prstGeom>
        </p:spPr>
      </p:pic>
      <p:sp>
        <p:nvSpPr>
          <p:cNvPr id="742" name="Text 74">
            <a:extLst>
              <a:ext uri="{FF2B5EF4-FFF2-40B4-BE49-F238E27FC236}">
                <a16:creationId xmlns:a16="http://schemas.microsoft.com/office/drawing/2014/main" id="{7CA2AF53-B50C-2FEA-CF00-438978ECDB29}"/>
              </a:ext>
            </a:extLst>
          </p:cNvPr>
          <p:cNvSpPr txBox="1"/>
          <p:nvPr/>
        </p:nvSpPr>
        <p:spPr>
          <a:xfrm>
            <a:off x="5076143" y="2017295"/>
            <a:ext cx="2280122" cy="167209"/>
          </a:xfrm>
          <a:prstGeom prst="rect">
            <a:avLst/>
          </a:prstGeom>
          <a:noFill/>
          <a:ln/>
        </p:spPr>
        <p:txBody>
          <a:bodyPr wrap="square" lIns="0" tIns="0" rIns="0" bIns="0" rtlCol="0" anchor="ctr"/>
          <a:lstStyle/>
          <a:p>
            <a:pPr>
              <a:lnSpc>
                <a:spcPct val="93000"/>
              </a:lnSpc>
            </a:pPr>
            <a:r>
              <a:rPr lang="en-US" sz="958" b="1" dirty="0">
                <a:solidFill>
                  <a:srgbClr val="11397C"/>
                </a:solidFill>
                <a:latin typeface="Calibri" pitchFamily="34" charset="0"/>
                <a:ea typeface="Calibri" pitchFamily="34" charset="-122"/>
                <a:cs typeface="Calibri" pitchFamily="34" charset="-120"/>
              </a:rPr>
              <a:t>Ingress / Reverse Proxy</a:t>
            </a:r>
            <a:endParaRPr lang="en-US" sz="958" dirty="0"/>
          </a:p>
        </p:txBody>
      </p:sp>
      <p:sp>
        <p:nvSpPr>
          <p:cNvPr id="746" name="Text 75">
            <a:extLst>
              <a:ext uri="{FF2B5EF4-FFF2-40B4-BE49-F238E27FC236}">
                <a16:creationId xmlns:a16="http://schemas.microsoft.com/office/drawing/2014/main" id="{47E183F7-B758-8C53-389E-A37127187904}"/>
              </a:ext>
            </a:extLst>
          </p:cNvPr>
          <p:cNvSpPr txBox="1"/>
          <p:nvPr/>
        </p:nvSpPr>
        <p:spPr>
          <a:xfrm>
            <a:off x="5076143" y="2169303"/>
            <a:ext cx="3268175" cy="152008"/>
          </a:xfrm>
          <a:prstGeom prst="rect">
            <a:avLst/>
          </a:prstGeom>
          <a:noFill/>
          <a:ln/>
        </p:spPr>
        <p:txBody>
          <a:bodyPr wrap="square" lIns="0" tIns="0" rIns="0" bIns="0" rtlCol="0" anchor="ctr"/>
          <a:lstStyle/>
          <a:p>
            <a:pPr>
              <a:lnSpc>
                <a:spcPct val="93000"/>
              </a:lnSpc>
            </a:pPr>
            <a:r>
              <a:rPr lang="en-US" sz="798" dirty="0">
                <a:solidFill>
                  <a:srgbClr val="2A6099"/>
                </a:solidFill>
                <a:latin typeface="Calibri" pitchFamily="34" charset="0"/>
                <a:ea typeface="Calibri" pitchFamily="34" charset="-122"/>
                <a:cs typeface="Calibri" pitchFamily="34" charset="-120"/>
              </a:rPr>
              <a:t>TLS termination  ·  path-based routing  —  no dedicated API gateway at MVP scale</a:t>
            </a:r>
            <a:endParaRPr lang="en-US" sz="798" dirty="0"/>
          </a:p>
        </p:txBody>
      </p:sp>
      <p:sp>
        <p:nvSpPr>
          <p:cNvPr id="750" name="Shape 76">
            <a:extLst>
              <a:ext uri="{FF2B5EF4-FFF2-40B4-BE49-F238E27FC236}">
                <a16:creationId xmlns:a16="http://schemas.microsoft.com/office/drawing/2014/main" id="{B56F5974-B5B9-F4C8-479C-A3A57DEDE600}"/>
              </a:ext>
            </a:extLst>
          </p:cNvPr>
          <p:cNvSpPr/>
          <p:nvPr/>
        </p:nvSpPr>
        <p:spPr>
          <a:xfrm>
            <a:off x="6558222" y="2397315"/>
            <a:ext cx="0" cy="136808"/>
          </a:xfrm>
          <a:prstGeom prst="line">
            <a:avLst/>
          </a:prstGeom>
          <a:noFill/>
          <a:ln w="17780">
            <a:solidFill>
              <a:srgbClr val="1B4F8C"/>
            </a:solidFill>
            <a:prstDash val="solid"/>
            <a:headEnd type="none"/>
            <a:tailEnd type="triangle"/>
          </a:ln>
        </p:spPr>
        <p:txBody>
          <a:bodyPr/>
          <a:lstStyle/>
          <a:p>
            <a:endParaRPr lang="en-IN"/>
          </a:p>
        </p:txBody>
      </p:sp>
      <p:sp>
        <p:nvSpPr>
          <p:cNvPr id="754" name="Shape 77">
            <a:extLst>
              <a:ext uri="{FF2B5EF4-FFF2-40B4-BE49-F238E27FC236}">
                <a16:creationId xmlns:a16="http://schemas.microsoft.com/office/drawing/2014/main" id="{462D84B7-050F-CD7A-A5D9-0A769442B1AD}"/>
              </a:ext>
            </a:extLst>
          </p:cNvPr>
          <p:cNvSpPr/>
          <p:nvPr/>
        </p:nvSpPr>
        <p:spPr>
          <a:xfrm>
            <a:off x="4635319" y="2549323"/>
            <a:ext cx="3845806" cy="1368074"/>
          </a:xfrm>
          <a:prstGeom prst="roundRect">
            <a:avLst>
              <a:gd name="adj" fmla="val 3333"/>
            </a:avLst>
          </a:prstGeom>
          <a:solidFill>
            <a:srgbClr val="EAF6EE"/>
          </a:solidFill>
          <a:ln w="12700">
            <a:solidFill>
              <a:srgbClr val="A9D6B7"/>
            </a:solidFill>
            <a:prstDash val="solid"/>
          </a:ln>
        </p:spPr>
        <p:txBody>
          <a:bodyPr/>
          <a:lstStyle/>
          <a:p>
            <a:endParaRPr lang="en-IN"/>
          </a:p>
        </p:txBody>
      </p:sp>
      <p:sp>
        <p:nvSpPr>
          <p:cNvPr id="758" name="Text 78">
            <a:extLst>
              <a:ext uri="{FF2B5EF4-FFF2-40B4-BE49-F238E27FC236}">
                <a16:creationId xmlns:a16="http://schemas.microsoft.com/office/drawing/2014/main" id="{322C37CC-E9E9-F1A5-4CC0-FE237232CE9E}"/>
              </a:ext>
            </a:extLst>
          </p:cNvPr>
          <p:cNvSpPr txBox="1"/>
          <p:nvPr/>
        </p:nvSpPr>
        <p:spPr>
          <a:xfrm>
            <a:off x="4635319" y="2594925"/>
            <a:ext cx="3845806" cy="167209"/>
          </a:xfrm>
          <a:prstGeom prst="rect">
            <a:avLst/>
          </a:prstGeom>
          <a:noFill/>
          <a:ln/>
        </p:spPr>
        <p:txBody>
          <a:bodyPr wrap="square" lIns="0" tIns="0" rIns="0" bIns="0" rtlCol="0" anchor="ctr"/>
          <a:lstStyle/>
          <a:p>
            <a:pPr algn="ctr">
              <a:lnSpc>
                <a:spcPct val="93000"/>
              </a:lnSpc>
            </a:pPr>
            <a:r>
              <a:rPr lang="en-US" sz="998" b="1" dirty="0">
                <a:solidFill>
                  <a:srgbClr val="1E6B3B"/>
                </a:solidFill>
                <a:latin typeface="Calibri" pitchFamily="34" charset="0"/>
                <a:ea typeface="Calibri" pitchFamily="34" charset="-122"/>
                <a:cs typeface="Calibri" pitchFamily="34" charset="-120"/>
              </a:rPr>
              <a:t>Application Services</a:t>
            </a:r>
            <a:endParaRPr lang="en-US" sz="998" dirty="0"/>
          </a:p>
        </p:txBody>
      </p:sp>
      <p:sp>
        <p:nvSpPr>
          <p:cNvPr id="762" name="Shape 79">
            <a:extLst>
              <a:ext uri="{FF2B5EF4-FFF2-40B4-BE49-F238E27FC236}">
                <a16:creationId xmlns:a16="http://schemas.microsoft.com/office/drawing/2014/main" id="{0DD5057A-F4FE-8C4E-2E2A-EC4568D9A59F}"/>
              </a:ext>
            </a:extLst>
          </p:cNvPr>
          <p:cNvSpPr/>
          <p:nvPr/>
        </p:nvSpPr>
        <p:spPr>
          <a:xfrm>
            <a:off x="4726524" y="2807737"/>
            <a:ext cx="3663396" cy="1018454"/>
          </a:xfrm>
          <a:prstGeom prst="roundRect">
            <a:avLst>
              <a:gd name="adj" fmla="val 3582"/>
            </a:avLst>
          </a:prstGeom>
          <a:solidFill>
            <a:srgbClr val="FFFFFF"/>
          </a:solidFill>
          <a:ln w="12700">
            <a:solidFill>
              <a:srgbClr val="CFE3D6"/>
            </a:solidFill>
            <a:prstDash val="solid"/>
          </a:ln>
        </p:spPr>
        <p:txBody>
          <a:bodyPr/>
          <a:lstStyle/>
          <a:p>
            <a:endParaRPr lang="en-IN"/>
          </a:p>
        </p:txBody>
      </p:sp>
      <p:pic>
        <p:nvPicPr>
          <p:cNvPr id="766" name="Image 15" descr="preencoded.png">
            <a:extLst>
              <a:ext uri="{FF2B5EF4-FFF2-40B4-BE49-F238E27FC236}">
                <a16:creationId xmlns:a16="http://schemas.microsoft.com/office/drawing/2014/main" id="{65FECA88-EE06-A370-FFA0-46C1BB3AED7F}"/>
              </a:ext>
            </a:extLst>
          </p:cNvPr>
          <p:cNvPicPr>
            <a:picLocks noChangeAspect="1"/>
          </p:cNvPicPr>
          <p:nvPr/>
        </p:nvPicPr>
        <p:blipFill>
          <a:blip r:embed="rId15"/>
          <a:stretch>
            <a:fillRect/>
          </a:stretch>
        </p:blipFill>
        <p:spPr>
          <a:xfrm>
            <a:off x="6421416" y="2914143"/>
            <a:ext cx="273615" cy="273615"/>
          </a:xfrm>
          <a:prstGeom prst="rect">
            <a:avLst/>
          </a:prstGeom>
        </p:spPr>
      </p:pic>
      <p:sp>
        <p:nvSpPr>
          <p:cNvPr id="770" name="Text 80">
            <a:extLst>
              <a:ext uri="{FF2B5EF4-FFF2-40B4-BE49-F238E27FC236}">
                <a16:creationId xmlns:a16="http://schemas.microsoft.com/office/drawing/2014/main" id="{F4A75120-EA73-805C-E352-4BF4F5FAB3AB}"/>
              </a:ext>
            </a:extLst>
          </p:cNvPr>
          <p:cNvSpPr txBox="1"/>
          <p:nvPr/>
        </p:nvSpPr>
        <p:spPr>
          <a:xfrm>
            <a:off x="4756926" y="3233360"/>
            <a:ext cx="3602593" cy="167209"/>
          </a:xfrm>
          <a:prstGeom prst="rect">
            <a:avLst/>
          </a:prstGeom>
          <a:noFill/>
          <a:ln/>
        </p:spPr>
        <p:txBody>
          <a:bodyPr wrap="square" lIns="0" tIns="0" rIns="0" bIns="0" rtlCol="0" anchor="ctr"/>
          <a:lstStyle/>
          <a:p>
            <a:pPr algn="ctr">
              <a:lnSpc>
                <a:spcPct val="93000"/>
              </a:lnSpc>
            </a:pPr>
            <a:r>
              <a:rPr lang="en-US" sz="1097" b="1" dirty="0">
                <a:solidFill>
                  <a:srgbClr val="11397C"/>
                </a:solidFill>
                <a:latin typeface="Calibri" pitchFamily="34" charset="0"/>
                <a:ea typeface="Calibri" pitchFamily="34" charset="-122"/>
                <a:cs typeface="Calibri" pitchFamily="34" charset="-120"/>
              </a:rPr>
              <a:t>Backend Services</a:t>
            </a:r>
            <a:endParaRPr lang="en-US" sz="1097" dirty="0"/>
          </a:p>
        </p:txBody>
      </p:sp>
      <p:sp>
        <p:nvSpPr>
          <p:cNvPr id="774" name="Text 81">
            <a:extLst>
              <a:ext uri="{FF2B5EF4-FFF2-40B4-BE49-F238E27FC236}">
                <a16:creationId xmlns:a16="http://schemas.microsoft.com/office/drawing/2014/main" id="{01CF6B23-E446-76E7-1FB9-1EFC26604342}"/>
              </a:ext>
            </a:extLst>
          </p:cNvPr>
          <p:cNvSpPr txBox="1"/>
          <p:nvPr/>
        </p:nvSpPr>
        <p:spPr>
          <a:xfrm>
            <a:off x="4756926" y="3400569"/>
            <a:ext cx="3602593" cy="136808"/>
          </a:xfrm>
          <a:prstGeom prst="rect">
            <a:avLst/>
          </a:prstGeom>
          <a:noFill/>
          <a:ln/>
        </p:spPr>
        <p:txBody>
          <a:bodyPr wrap="square" lIns="0" tIns="0" rIns="0" bIns="0" rtlCol="0" anchor="ctr"/>
          <a:lstStyle/>
          <a:p>
            <a:pPr algn="ctr">
              <a:lnSpc>
                <a:spcPct val="93000"/>
              </a:lnSpc>
            </a:pPr>
            <a:r>
              <a:rPr lang="en-US" sz="838" dirty="0">
                <a:solidFill>
                  <a:srgbClr val="2A6099"/>
                </a:solidFill>
                <a:latin typeface="Calibri" pitchFamily="34" charset="0"/>
                <a:ea typeface="Calibri" pitchFamily="34" charset="-122"/>
                <a:cs typeface="Calibri" pitchFamily="34" charset="-120"/>
              </a:rPr>
              <a:t>Stateless  ·  containerised  ·  horizontally scalable</a:t>
            </a:r>
            <a:endParaRPr lang="en-US" sz="838" dirty="0"/>
          </a:p>
        </p:txBody>
      </p:sp>
      <p:sp>
        <p:nvSpPr>
          <p:cNvPr id="778" name="Text 82">
            <a:extLst>
              <a:ext uri="{FF2B5EF4-FFF2-40B4-BE49-F238E27FC236}">
                <a16:creationId xmlns:a16="http://schemas.microsoft.com/office/drawing/2014/main" id="{35F5A77B-58F8-2FB1-D1AF-667023A5922F}"/>
              </a:ext>
            </a:extLst>
          </p:cNvPr>
          <p:cNvSpPr txBox="1"/>
          <p:nvPr/>
        </p:nvSpPr>
        <p:spPr>
          <a:xfrm>
            <a:off x="4756926" y="3552577"/>
            <a:ext cx="3602593" cy="136808"/>
          </a:xfrm>
          <a:prstGeom prst="rect">
            <a:avLst/>
          </a:prstGeom>
          <a:noFill/>
          <a:ln/>
        </p:spPr>
        <p:txBody>
          <a:bodyPr wrap="square" lIns="0" tIns="0" rIns="0" bIns="0" rtlCol="0" anchor="ctr"/>
          <a:lstStyle/>
          <a:p>
            <a:pPr algn="ctr">
              <a:lnSpc>
                <a:spcPct val="93000"/>
              </a:lnSpc>
            </a:pPr>
            <a:r>
              <a:rPr lang="en-US" sz="798" i="1" dirty="0">
                <a:solidFill>
                  <a:srgbClr val="5B6472"/>
                </a:solidFill>
                <a:latin typeface="Calibri" pitchFamily="34" charset="0"/>
                <a:ea typeface="Calibri" pitchFamily="34" charset="-122"/>
                <a:cs typeface="Calibri" pitchFamily="34" charset="-120"/>
              </a:rPr>
              <a:t>In-process orchestration  ·  local database transactions</a:t>
            </a:r>
            <a:endParaRPr lang="en-US" sz="798" dirty="0"/>
          </a:p>
        </p:txBody>
      </p:sp>
      <p:sp>
        <p:nvSpPr>
          <p:cNvPr id="782" name="Shape 83">
            <a:extLst>
              <a:ext uri="{FF2B5EF4-FFF2-40B4-BE49-F238E27FC236}">
                <a16:creationId xmlns:a16="http://schemas.microsoft.com/office/drawing/2014/main" id="{C70F8068-89EE-59D2-C6F3-081BA1EB858E}"/>
              </a:ext>
            </a:extLst>
          </p:cNvPr>
          <p:cNvSpPr/>
          <p:nvPr/>
        </p:nvSpPr>
        <p:spPr>
          <a:xfrm>
            <a:off x="6558222" y="3932598"/>
            <a:ext cx="0" cy="136808"/>
          </a:xfrm>
          <a:prstGeom prst="line">
            <a:avLst/>
          </a:prstGeom>
          <a:noFill/>
          <a:ln w="17780">
            <a:solidFill>
              <a:srgbClr val="1B4F8C"/>
            </a:solidFill>
            <a:prstDash val="solid"/>
            <a:headEnd type="none"/>
            <a:tailEnd type="triangle"/>
          </a:ln>
        </p:spPr>
        <p:txBody>
          <a:bodyPr/>
          <a:lstStyle/>
          <a:p>
            <a:endParaRPr lang="en-IN"/>
          </a:p>
        </p:txBody>
      </p:sp>
      <p:sp>
        <p:nvSpPr>
          <p:cNvPr id="786" name="Shape 84">
            <a:extLst>
              <a:ext uri="{FF2B5EF4-FFF2-40B4-BE49-F238E27FC236}">
                <a16:creationId xmlns:a16="http://schemas.microsoft.com/office/drawing/2014/main" id="{97F6FB42-0FA9-C2EE-2023-AF4E4406C4A5}"/>
              </a:ext>
            </a:extLst>
          </p:cNvPr>
          <p:cNvSpPr/>
          <p:nvPr/>
        </p:nvSpPr>
        <p:spPr>
          <a:xfrm>
            <a:off x="4635319" y="4084606"/>
            <a:ext cx="3845806" cy="1383274"/>
          </a:xfrm>
          <a:prstGeom prst="roundRect">
            <a:avLst>
              <a:gd name="adj" fmla="val 3297"/>
            </a:avLst>
          </a:prstGeom>
          <a:solidFill>
            <a:srgbClr val="EFF6FD"/>
          </a:solidFill>
          <a:ln w="12700">
            <a:solidFill>
              <a:srgbClr val="C4DEF5"/>
            </a:solidFill>
            <a:prstDash val="solid"/>
          </a:ln>
        </p:spPr>
        <p:txBody>
          <a:bodyPr/>
          <a:lstStyle/>
          <a:p>
            <a:endParaRPr lang="en-IN"/>
          </a:p>
        </p:txBody>
      </p:sp>
      <p:sp>
        <p:nvSpPr>
          <p:cNvPr id="790" name="Text 85">
            <a:extLst>
              <a:ext uri="{FF2B5EF4-FFF2-40B4-BE49-F238E27FC236}">
                <a16:creationId xmlns:a16="http://schemas.microsoft.com/office/drawing/2014/main" id="{89B7D27F-D927-0A88-4047-5C4CC65D26FD}"/>
              </a:ext>
            </a:extLst>
          </p:cNvPr>
          <p:cNvSpPr txBox="1"/>
          <p:nvPr/>
        </p:nvSpPr>
        <p:spPr>
          <a:xfrm>
            <a:off x="4635319" y="4130208"/>
            <a:ext cx="3845806" cy="167209"/>
          </a:xfrm>
          <a:prstGeom prst="rect">
            <a:avLst/>
          </a:prstGeom>
          <a:noFill/>
          <a:ln/>
        </p:spPr>
        <p:txBody>
          <a:bodyPr wrap="square" lIns="0" tIns="0" rIns="0" bIns="0" rtlCol="0" anchor="ctr"/>
          <a:lstStyle/>
          <a:p>
            <a:pPr algn="ctr">
              <a:lnSpc>
                <a:spcPct val="93000"/>
              </a:lnSpc>
            </a:pPr>
            <a:r>
              <a:rPr lang="en-US" sz="998" b="1" dirty="0">
                <a:solidFill>
                  <a:srgbClr val="1B4F8A"/>
                </a:solidFill>
                <a:latin typeface="Calibri" pitchFamily="34" charset="0"/>
                <a:ea typeface="Calibri" pitchFamily="34" charset="-122"/>
                <a:cs typeface="Calibri" pitchFamily="34" charset="-120"/>
              </a:rPr>
              <a:t>Platform Services</a:t>
            </a:r>
            <a:endParaRPr lang="en-US" sz="998" dirty="0"/>
          </a:p>
        </p:txBody>
      </p:sp>
      <p:sp>
        <p:nvSpPr>
          <p:cNvPr id="794" name="Shape 86">
            <a:extLst>
              <a:ext uri="{FF2B5EF4-FFF2-40B4-BE49-F238E27FC236}">
                <a16:creationId xmlns:a16="http://schemas.microsoft.com/office/drawing/2014/main" id="{75C55807-B35B-D016-C84D-E45A9C9C8B9C}"/>
              </a:ext>
            </a:extLst>
          </p:cNvPr>
          <p:cNvSpPr/>
          <p:nvPr/>
        </p:nvSpPr>
        <p:spPr>
          <a:xfrm>
            <a:off x="4726524" y="4343020"/>
            <a:ext cx="3663396" cy="1033655"/>
          </a:xfrm>
          <a:prstGeom prst="roundRect">
            <a:avLst>
              <a:gd name="adj" fmla="val 3530"/>
            </a:avLst>
          </a:prstGeom>
          <a:solidFill>
            <a:srgbClr val="FFFFFF"/>
          </a:solidFill>
          <a:ln w="12700">
            <a:solidFill>
              <a:srgbClr val="CFE0F0"/>
            </a:solidFill>
            <a:prstDash val="solid"/>
          </a:ln>
        </p:spPr>
        <p:txBody>
          <a:bodyPr/>
          <a:lstStyle/>
          <a:p>
            <a:endParaRPr lang="en-IN"/>
          </a:p>
        </p:txBody>
      </p:sp>
      <p:pic>
        <p:nvPicPr>
          <p:cNvPr id="798" name="Image 16" descr="preencoded.png">
            <a:extLst>
              <a:ext uri="{FF2B5EF4-FFF2-40B4-BE49-F238E27FC236}">
                <a16:creationId xmlns:a16="http://schemas.microsoft.com/office/drawing/2014/main" id="{4B022CA1-67DD-9F2A-6931-73E803E871E3}"/>
              </a:ext>
            </a:extLst>
          </p:cNvPr>
          <p:cNvPicPr>
            <a:picLocks noChangeAspect="1"/>
          </p:cNvPicPr>
          <p:nvPr/>
        </p:nvPicPr>
        <p:blipFill>
          <a:blip r:embed="rId16"/>
          <a:stretch>
            <a:fillRect/>
          </a:stretch>
        </p:blipFill>
        <p:spPr>
          <a:xfrm>
            <a:off x="6421416" y="4449425"/>
            <a:ext cx="273615" cy="273615"/>
          </a:xfrm>
          <a:prstGeom prst="rect">
            <a:avLst/>
          </a:prstGeom>
        </p:spPr>
      </p:pic>
      <p:sp>
        <p:nvSpPr>
          <p:cNvPr id="802" name="Text 87">
            <a:extLst>
              <a:ext uri="{FF2B5EF4-FFF2-40B4-BE49-F238E27FC236}">
                <a16:creationId xmlns:a16="http://schemas.microsoft.com/office/drawing/2014/main" id="{42B284C9-8A9E-747F-4640-CC787C154C28}"/>
              </a:ext>
            </a:extLst>
          </p:cNvPr>
          <p:cNvSpPr txBox="1"/>
          <p:nvPr/>
        </p:nvSpPr>
        <p:spPr>
          <a:xfrm>
            <a:off x="4756926" y="4768642"/>
            <a:ext cx="3602593" cy="167209"/>
          </a:xfrm>
          <a:prstGeom prst="rect">
            <a:avLst/>
          </a:prstGeom>
          <a:noFill/>
          <a:ln/>
        </p:spPr>
        <p:txBody>
          <a:bodyPr wrap="square" lIns="0" tIns="0" rIns="0" bIns="0" rtlCol="0" anchor="ctr"/>
          <a:lstStyle/>
          <a:p>
            <a:pPr algn="ctr">
              <a:lnSpc>
                <a:spcPct val="93000"/>
              </a:lnSpc>
            </a:pPr>
            <a:r>
              <a:rPr lang="en-US" sz="1047" b="1" dirty="0">
                <a:solidFill>
                  <a:srgbClr val="11397C"/>
                </a:solidFill>
                <a:latin typeface="Calibri" pitchFamily="34" charset="0"/>
                <a:ea typeface="Calibri" pitchFamily="34" charset="-122"/>
                <a:cs typeface="Calibri" pitchFamily="34" charset="-120"/>
              </a:rPr>
              <a:t>Basic Integration Services</a:t>
            </a:r>
            <a:endParaRPr lang="en-US" sz="1047" dirty="0"/>
          </a:p>
        </p:txBody>
      </p:sp>
      <p:sp>
        <p:nvSpPr>
          <p:cNvPr id="806" name="Text 88">
            <a:extLst>
              <a:ext uri="{FF2B5EF4-FFF2-40B4-BE49-F238E27FC236}">
                <a16:creationId xmlns:a16="http://schemas.microsoft.com/office/drawing/2014/main" id="{E002B7DE-364B-A142-D3E6-F8B00B635BA2}"/>
              </a:ext>
            </a:extLst>
          </p:cNvPr>
          <p:cNvSpPr txBox="1"/>
          <p:nvPr/>
        </p:nvSpPr>
        <p:spPr>
          <a:xfrm>
            <a:off x="4756926" y="4951052"/>
            <a:ext cx="3602593" cy="152008"/>
          </a:xfrm>
          <a:prstGeom prst="rect">
            <a:avLst/>
          </a:prstGeom>
          <a:noFill/>
          <a:ln/>
        </p:spPr>
        <p:txBody>
          <a:bodyPr wrap="square" lIns="0" tIns="0" rIns="0" bIns="0" rtlCol="0" anchor="ctr"/>
          <a:lstStyle/>
          <a:p>
            <a:pPr algn="ctr">
              <a:lnSpc>
                <a:spcPct val="93000"/>
              </a:lnSpc>
            </a:pPr>
            <a:r>
              <a:rPr lang="en-US" sz="838" dirty="0">
                <a:solidFill>
                  <a:srgbClr val="2A6099"/>
                </a:solidFill>
                <a:latin typeface="Calibri" pitchFamily="34" charset="0"/>
                <a:ea typeface="Calibri" pitchFamily="34" charset="-122"/>
                <a:cs typeface="Calibri" pitchFamily="34" charset="-120"/>
              </a:rPr>
              <a:t>Direct synchronous REST / HTTPS calls to the PAS application</a:t>
            </a:r>
            <a:endParaRPr lang="en-US" sz="838" dirty="0"/>
          </a:p>
        </p:txBody>
      </p:sp>
      <p:sp>
        <p:nvSpPr>
          <p:cNvPr id="810" name="Shape 89">
            <a:extLst>
              <a:ext uri="{FF2B5EF4-FFF2-40B4-BE49-F238E27FC236}">
                <a16:creationId xmlns:a16="http://schemas.microsoft.com/office/drawing/2014/main" id="{BCD4D037-5BB6-2A62-527D-65183DD05E3F}"/>
              </a:ext>
            </a:extLst>
          </p:cNvPr>
          <p:cNvSpPr/>
          <p:nvPr/>
        </p:nvSpPr>
        <p:spPr>
          <a:xfrm>
            <a:off x="9028355" y="1409262"/>
            <a:ext cx="2736146" cy="942450"/>
          </a:xfrm>
          <a:prstGeom prst="roundRect">
            <a:avLst>
              <a:gd name="adj" fmla="val 4839"/>
            </a:avLst>
          </a:prstGeom>
          <a:solidFill>
            <a:srgbClr val="FFFFFF"/>
          </a:solidFill>
          <a:ln w="12700">
            <a:solidFill>
              <a:srgbClr val="C2DCF0"/>
            </a:solidFill>
            <a:prstDash val="solid"/>
          </a:ln>
        </p:spPr>
        <p:txBody>
          <a:bodyPr/>
          <a:lstStyle/>
          <a:p>
            <a:endParaRPr lang="en-IN"/>
          </a:p>
        </p:txBody>
      </p:sp>
      <p:sp>
        <p:nvSpPr>
          <p:cNvPr id="814" name="Text 90">
            <a:extLst>
              <a:ext uri="{FF2B5EF4-FFF2-40B4-BE49-F238E27FC236}">
                <a16:creationId xmlns:a16="http://schemas.microsoft.com/office/drawing/2014/main" id="{FE3522EC-4DE9-BEDE-DED0-C1C46F9E7B63}"/>
              </a:ext>
            </a:extLst>
          </p:cNvPr>
          <p:cNvSpPr txBox="1"/>
          <p:nvPr/>
        </p:nvSpPr>
        <p:spPr>
          <a:xfrm>
            <a:off x="9119560" y="1454865"/>
            <a:ext cx="2280122" cy="167209"/>
          </a:xfrm>
          <a:prstGeom prst="rect">
            <a:avLst/>
          </a:prstGeom>
          <a:noFill/>
          <a:ln/>
        </p:spPr>
        <p:txBody>
          <a:bodyPr wrap="square" lIns="0" tIns="0" rIns="0" bIns="0" rtlCol="0" anchor="ctr"/>
          <a:lstStyle/>
          <a:p>
            <a:pPr>
              <a:lnSpc>
                <a:spcPct val="93000"/>
              </a:lnSpc>
            </a:pPr>
            <a:r>
              <a:rPr lang="en-US" sz="1047" b="1" dirty="0">
                <a:solidFill>
                  <a:srgbClr val="1B4F8A"/>
                </a:solidFill>
                <a:latin typeface="Calibri" pitchFamily="34" charset="0"/>
                <a:ea typeface="Calibri" pitchFamily="34" charset="-122"/>
                <a:cs typeface="Calibri" pitchFamily="34" charset="-120"/>
              </a:rPr>
              <a:t>External Integration</a:t>
            </a:r>
            <a:endParaRPr lang="en-US" sz="1047" dirty="0"/>
          </a:p>
        </p:txBody>
      </p:sp>
      <p:sp>
        <p:nvSpPr>
          <p:cNvPr id="818" name="Shape 91">
            <a:extLst>
              <a:ext uri="{FF2B5EF4-FFF2-40B4-BE49-F238E27FC236}">
                <a16:creationId xmlns:a16="http://schemas.microsoft.com/office/drawing/2014/main" id="{C9DF04F5-3E16-169D-3E6F-046551CB1DE5}"/>
              </a:ext>
            </a:extLst>
          </p:cNvPr>
          <p:cNvSpPr/>
          <p:nvPr/>
        </p:nvSpPr>
        <p:spPr>
          <a:xfrm>
            <a:off x="9119560" y="1637274"/>
            <a:ext cx="2553737" cy="319217"/>
          </a:xfrm>
          <a:prstGeom prst="roundRect">
            <a:avLst>
              <a:gd name="adj" fmla="val 14286"/>
            </a:avLst>
          </a:prstGeom>
          <a:solidFill>
            <a:srgbClr val="FFFFFF"/>
          </a:solidFill>
          <a:ln w="12700">
            <a:solidFill>
              <a:srgbClr val="C2DCF0"/>
            </a:solidFill>
            <a:prstDash val="solid"/>
          </a:ln>
        </p:spPr>
        <p:txBody>
          <a:bodyPr/>
          <a:lstStyle/>
          <a:p>
            <a:endParaRPr lang="en-IN"/>
          </a:p>
        </p:txBody>
      </p:sp>
      <p:pic>
        <p:nvPicPr>
          <p:cNvPr id="822" name="Image 17" descr="preencoded.png">
            <a:extLst>
              <a:ext uri="{FF2B5EF4-FFF2-40B4-BE49-F238E27FC236}">
                <a16:creationId xmlns:a16="http://schemas.microsoft.com/office/drawing/2014/main" id="{32F2B07D-6E08-DD57-86FE-ABB1C5F1E6EA}"/>
              </a:ext>
            </a:extLst>
          </p:cNvPr>
          <p:cNvPicPr>
            <a:picLocks noChangeAspect="1"/>
          </p:cNvPicPr>
          <p:nvPr/>
        </p:nvPicPr>
        <p:blipFill>
          <a:blip r:embed="rId17"/>
          <a:stretch>
            <a:fillRect/>
          </a:stretch>
        </p:blipFill>
        <p:spPr>
          <a:xfrm>
            <a:off x="9210765" y="1698078"/>
            <a:ext cx="197611" cy="197611"/>
          </a:xfrm>
          <a:prstGeom prst="rect">
            <a:avLst/>
          </a:prstGeom>
        </p:spPr>
      </p:pic>
      <p:sp>
        <p:nvSpPr>
          <p:cNvPr id="826" name="Text 92">
            <a:extLst>
              <a:ext uri="{FF2B5EF4-FFF2-40B4-BE49-F238E27FC236}">
                <a16:creationId xmlns:a16="http://schemas.microsoft.com/office/drawing/2014/main" id="{D511715B-5FF0-B5CA-94A4-71CD0692D0B8}"/>
              </a:ext>
            </a:extLst>
          </p:cNvPr>
          <p:cNvSpPr txBox="1"/>
          <p:nvPr/>
        </p:nvSpPr>
        <p:spPr>
          <a:xfrm>
            <a:off x="9469178" y="1637274"/>
            <a:ext cx="2082512" cy="319217"/>
          </a:xfrm>
          <a:prstGeom prst="rect">
            <a:avLst/>
          </a:prstGeom>
          <a:noFill/>
          <a:ln/>
        </p:spPr>
        <p:txBody>
          <a:bodyPr wrap="square" lIns="0" tIns="0" rIns="0" bIns="0" rtlCol="0" anchor="ctr"/>
          <a:lstStyle/>
          <a:p>
            <a:pPr>
              <a:lnSpc>
                <a:spcPct val="93000"/>
              </a:lnSpc>
            </a:pPr>
            <a:r>
              <a:rPr lang="en-US" sz="878" b="1" dirty="0">
                <a:solidFill>
                  <a:srgbClr val="11397C"/>
                </a:solidFill>
                <a:latin typeface="Calibri" pitchFamily="34" charset="0"/>
                <a:ea typeface="Calibri" pitchFamily="34" charset="-122"/>
                <a:cs typeface="Calibri" pitchFamily="34" charset="-120"/>
              </a:rPr>
              <a:t>PAS Application  (external)</a:t>
            </a:r>
            <a:endParaRPr lang="en-US" sz="878" dirty="0"/>
          </a:p>
        </p:txBody>
      </p:sp>
      <p:sp>
        <p:nvSpPr>
          <p:cNvPr id="830" name="Shape 93">
            <a:extLst>
              <a:ext uri="{FF2B5EF4-FFF2-40B4-BE49-F238E27FC236}">
                <a16:creationId xmlns:a16="http://schemas.microsoft.com/office/drawing/2014/main" id="{6691FA9F-EB0E-8E4B-979C-936FC645EB82}"/>
              </a:ext>
            </a:extLst>
          </p:cNvPr>
          <p:cNvSpPr/>
          <p:nvPr/>
        </p:nvSpPr>
        <p:spPr>
          <a:xfrm>
            <a:off x="9119560" y="1986894"/>
            <a:ext cx="2553737" cy="319217"/>
          </a:xfrm>
          <a:prstGeom prst="roundRect">
            <a:avLst>
              <a:gd name="adj" fmla="val 14286"/>
            </a:avLst>
          </a:prstGeom>
          <a:solidFill>
            <a:srgbClr val="FFFFFF"/>
          </a:solidFill>
          <a:ln w="12700">
            <a:solidFill>
              <a:srgbClr val="C2DCF0"/>
            </a:solidFill>
            <a:prstDash val="solid"/>
          </a:ln>
        </p:spPr>
        <p:txBody>
          <a:bodyPr/>
          <a:lstStyle/>
          <a:p>
            <a:endParaRPr lang="en-IN"/>
          </a:p>
        </p:txBody>
      </p:sp>
      <p:pic>
        <p:nvPicPr>
          <p:cNvPr id="834" name="Image 18" descr="preencoded.png">
            <a:extLst>
              <a:ext uri="{FF2B5EF4-FFF2-40B4-BE49-F238E27FC236}">
                <a16:creationId xmlns:a16="http://schemas.microsoft.com/office/drawing/2014/main" id="{4BE36D91-4008-B803-45CF-040FA4383C53}"/>
              </a:ext>
            </a:extLst>
          </p:cNvPr>
          <p:cNvPicPr>
            <a:picLocks noChangeAspect="1"/>
          </p:cNvPicPr>
          <p:nvPr/>
        </p:nvPicPr>
        <p:blipFill>
          <a:blip r:embed="rId18"/>
          <a:stretch>
            <a:fillRect/>
          </a:stretch>
        </p:blipFill>
        <p:spPr>
          <a:xfrm>
            <a:off x="9210765" y="2047697"/>
            <a:ext cx="197611" cy="197611"/>
          </a:xfrm>
          <a:prstGeom prst="rect">
            <a:avLst/>
          </a:prstGeom>
        </p:spPr>
      </p:pic>
      <p:sp>
        <p:nvSpPr>
          <p:cNvPr id="838" name="Text 94">
            <a:extLst>
              <a:ext uri="{FF2B5EF4-FFF2-40B4-BE49-F238E27FC236}">
                <a16:creationId xmlns:a16="http://schemas.microsoft.com/office/drawing/2014/main" id="{A6D9E468-C196-834A-04D9-90787635A091}"/>
              </a:ext>
            </a:extLst>
          </p:cNvPr>
          <p:cNvSpPr txBox="1"/>
          <p:nvPr/>
        </p:nvSpPr>
        <p:spPr>
          <a:xfrm>
            <a:off x="9469178" y="1986894"/>
            <a:ext cx="2082512" cy="319217"/>
          </a:xfrm>
          <a:prstGeom prst="rect">
            <a:avLst/>
          </a:prstGeom>
          <a:noFill/>
          <a:ln/>
        </p:spPr>
        <p:txBody>
          <a:bodyPr wrap="square" lIns="0" tIns="0" rIns="0" bIns="0" rtlCol="0" anchor="ctr"/>
          <a:lstStyle/>
          <a:p>
            <a:pPr>
              <a:lnSpc>
                <a:spcPct val="93000"/>
              </a:lnSpc>
            </a:pPr>
            <a:r>
              <a:rPr lang="en-US" sz="878" b="1" dirty="0">
                <a:solidFill>
                  <a:srgbClr val="11397C"/>
                </a:solidFill>
                <a:latin typeface="Calibri" pitchFamily="34" charset="0"/>
                <a:ea typeface="Calibri" pitchFamily="34" charset="-122"/>
                <a:cs typeface="Calibri" pitchFamily="34" charset="-120"/>
              </a:rPr>
              <a:t>Email / Notification Gateway</a:t>
            </a:r>
            <a:endParaRPr lang="en-US" sz="878" dirty="0"/>
          </a:p>
        </p:txBody>
      </p:sp>
      <p:sp>
        <p:nvSpPr>
          <p:cNvPr id="842" name="Shape 95">
            <a:extLst>
              <a:ext uri="{FF2B5EF4-FFF2-40B4-BE49-F238E27FC236}">
                <a16:creationId xmlns:a16="http://schemas.microsoft.com/office/drawing/2014/main" id="{614E7013-DC64-1161-8297-2061F6127192}"/>
              </a:ext>
            </a:extLst>
          </p:cNvPr>
          <p:cNvSpPr/>
          <p:nvPr/>
        </p:nvSpPr>
        <p:spPr>
          <a:xfrm>
            <a:off x="9028355" y="2442918"/>
            <a:ext cx="2736146" cy="1383274"/>
          </a:xfrm>
          <a:prstGeom prst="roundRect">
            <a:avLst>
              <a:gd name="adj" fmla="val 3297"/>
            </a:avLst>
          </a:prstGeom>
          <a:solidFill>
            <a:srgbClr val="F4F2FC"/>
          </a:solidFill>
          <a:ln w="12700">
            <a:solidFill>
              <a:srgbClr val="CFC7EC"/>
            </a:solidFill>
            <a:prstDash val="solid"/>
          </a:ln>
        </p:spPr>
        <p:txBody>
          <a:bodyPr/>
          <a:lstStyle/>
          <a:p>
            <a:endParaRPr lang="en-IN"/>
          </a:p>
        </p:txBody>
      </p:sp>
      <p:sp>
        <p:nvSpPr>
          <p:cNvPr id="846" name="Text 96">
            <a:extLst>
              <a:ext uri="{FF2B5EF4-FFF2-40B4-BE49-F238E27FC236}">
                <a16:creationId xmlns:a16="http://schemas.microsoft.com/office/drawing/2014/main" id="{1651CEDD-65F3-6581-E707-0453A022B2C8}"/>
              </a:ext>
            </a:extLst>
          </p:cNvPr>
          <p:cNvSpPr txBox="1"/>
          <p:nvPr/>
        </p:nvSpPr>
        <p:spPr>
          <a:xfrm>
            <a:off x="9119560" y="2488521"/>
            <a:ext cx="2280122" cy="182409"/>
          </a:xfrm>
          <a:prstGeom prst="rect">
            <a:avLst/>
          </a:prstGeom>
          <a:noFill/>
          <a:ln/>
        </p:spPr>
        <p:txBody>
          <a:bodyPr wrap="square" lIns="0" tIns="0" rIns="0" bIns="0" rtlCol="0" anchor="ctr"/>
          <a:lstStyle/>
          <a:p>
            <a:pPr>
              <a:lnSpc>
                <a:spcPct val="93000"/>
              </a:lnSpc>
            </a:pPr>
            <a:r>
              <a:rPr lang="en-US" sz="1047" b="1" dirty="0">
                <a:solidFill>
                  <a:srgbClr val="4B3E8E"/>
                </a:solidFill>
                <a:latin typeface="Calibri" pitchFamily="34" charset="0"/>
                <a:ea typeface="Calibri" pitchFamily="34" charset="-122"/>
                <a:cs typeface="Calibri" pitchFamily="34" charset="-120"/>
              </a:rPr>
              <a:t>Data Layer</a:t>
            </a:r>
            <a:endParaRPr lang="en-US" sz="1047" dirty="0"/>
          </a:p>
        </p:txBody>
      </p:sp>
      <p:sp>
        <p:nvSpPr>
          <p:cNvPr id="850" name="Shape 97">
            <a:extLst>
              <a:ext uri="{FF2B5EF4-FFF2-40B4-BE49-F238E27FC236}">
                <a16:creationId xmlns:a16="http://schemas.microsoft.com/office/drawing/2014/main" id="{AD1C309F-E59F-723B-7F23-5197DC0C9E19}"/>
              </a:ext>
            </a:extLst>
          </p:cNvPr>
          <p:cNvSpPr/>
          <p:nvPr/>
        </p:nvSpPr>
        <p:spPr>
          <a:xfrm>
            <a:off x="9119560" y="2686131"/>
            <a:ext cx="2553737" cy="562430"/>
          </a:xfrm>
          <a:prstGeom prst="roundRect">
            <a:avLst>
              <a:gd name="adj" fmla="val 6487"/>
            </a:avLst>
          </a:prstGeom>
          <a:solidFill>
            <a:srgbClr val="FFFFFF"/>
          </a:solidFill>
          <a:ln w="12700">
            <a:solidFill>
              <a:srgbClr val="D8D2F0"/>
            </a:solidFill>
            <a:prstDash val="solid"/>
          </a:ln>
        </p:spPr>
        <p:txBody>
          <a:bodyPr/>
          <a:lstStyle/>
          <a:p>
            <a:endParaRPr lang="en-IN"/>
          </a:p>
        </p:txBody>
      </p:sp>
      <p:pic>
        <p:nvPicPr>
          <p:cNvPr id="854" name="Image 19" descr="preencoded.png">
            <a:extLst>
              <a:ext uri="{FF2B5EF4-FFF2-40B4-BE49-F238E27FC236}">
                <a16:creationId xmlns:a16="http://schemas.microsoft.com/office/drawing/2014/main" id="{54594A1C-13CC-2359-B10B-014246A5FA0F}"/>
              </a:ext>
            </a:extLst>
          </p:cNvPr>
          <p:cNvPicPr>
            <a:picLocks noChangeAspect="1"/>
          </p:cNvPicPr>
          <p:nvPr/>
        </p:nvPicPr>
        <p:blipFill>
          <a:blip r:embed="rId19"/>
          <a:stretch>
            <a:fillRect/>
          </a:stretch>
        </p:blipFill>
        <p:spPr>
          <a:xfrm>
            <a:off x="9210765" y="2838139"/>
            <a:ext cx="212812" cy="212812"/>
          </a:xfrm>
          <a:prstGeom prst="rect">
            <a:avLst/>
          </a:prstGeom>
        </p:spPr>
      </p:pic>
      <p:sp>
        <p:nvSpPr>
          <p:cNvPr id="858" name="Text 98">
            <a:extLst>
              <a:ext uri="{FF2B5EF4-FFF2-40B4-BE49-F238E27FC236}">
                <a16:creationId xmlns:a16="http://schemas.microsoft.com/office/drawing/2014/main" id="{B48B6875-BBE5-3394-71A3-D22268760D49}"/>
              </a:ext>
            </a:extLst>
          </p:cNvPr>
          <p:cNvSpPr txBox="1"/>
          <p:nvPr/>
        </p:nvSpPr>
        <p:spPr>
          <a:xfrm>
            <a:off x="9484379" y="2716532"/>
            <a:ext cx="2006508" cy="152008"/>
          </a:xfrm>
          <a:prstGeom prst="rect">
            <a:avLst/>
          </a:prstGeom>
          <a:noFill/>
          <a:ln/>
        </p:spPr>
        <p:txBody>
          <a:bodyPr wrap="square" lIns="0" tIns="0" rIns="0" bIns="0" rtlCol="0" anchor="ctr"/>
          <a:lstStyle/>
          <a:p>
            <a:pPr>
              <a:lnSpc>
                <a:spcPct val="93000"/>
              </a:lnSpc>
            </a:pPr>
            <a:r>
              <a:rPr lang="en-US" sz="918" b="1" dirty="0">
                <a:solidFill>
                  <a:srgbClr val="11397C"/>
                </a:solidFill>
                <a:latin typeface="Calibri" pitchFamily="34" charset="0"/>
                <a:ea typeface="Calibri" pitchFamily="34" charset="-122"/>
                <a:cs typeface="Calibri" pitchFamily="34" charset="-120"/>
              </a:rPr>
              <a:t>Managed PostgreSQL</a:t>
            </a:r>
            <a:endParaRPr lang="en-US" sz="918" dirty="0"/>
          </a:p>
        </p:txBody>
      </p:sp>
      <p:sp>
        <p:nvSpPr>
          <p:cNvPr id="862" name="Text 99">
            <a:extLst>
              <a:ext uri="{FF2B5EF4-FFF2-40B4-BE49-F238E27FC236}">
                <a16:creationId xmlns:a16="http://schemas.microsoft.com/office/drawing/2014/main" id="{4D146146-74A6-8631-0F55-D0A12CE4ADBA}"/>
              </a:ext>
            </a:extLst>
          </p:cNvPr>
          <p:cNvSpPr txBox="1"/>
          <p:nvPr/>
        </p:nvSpPr>
        <p:spPr>
          <a:xfrm>
            <a:off x="9484379" y="2883741"/>
            <a:ext cx="2006508" cy="136808"/>
          </a:xfrm>
          <a:prstGeom prst="rect">
            <a:avLst/>
          </a:prstGeom>
          <a:noFill/>
          <a:ln/>
        </p:spPr>
        <p:txBody>
          <a:bodyPr wrap="square" lIns="0" tIns="0" rIns="0" bIns="0" rtlCol="0" anchor="ctr"/>
          <a:lstStyle/>
          <a:p>
            <a:pPr>
              <a:lnSpc>
                <a:spcPct val="93000"/>
              </a:lnSpc>
            </a:pPr>
            <a:r>
              <a:rPr lang="en-US" sz="798" dirty="0">
                <a:solidFill>
                  <a:srgbClr val="2A6099"/>
                </a:solidFill>
                <a:latin typeface="Calibri" pitchFamily="34" charset="0"/>
                <a:ea typeface="Calibri" pitchFamily="34" charset="-122"/>
                <a:cs typeface="Calibri" pitchFamily="34" charset="-120"/>
              </a:rPr>
              <a:t>Single instance  ·  application &amp; audit data</a:t>
            </a:r>
            <a:endParaRPr lang="en-US" sz="798" dirty="0"/>
          </a:p>
        </p:txBody>
      </p:sp>
      <p:sp>
        <p:nvSpPr>
          <p:cNvPr id="864" name="Shape 100">
            <a:extLst>
              <a:ext uri="{FF2B5EF4-FFF2-40B4-BE49-F238E27FC236}">
                <a16:creationId xmlns:a16="http://schemas.microsoft.com/office/drawing/2014/main" id="{92488135-E780-99DA-574A-709FAE698040}"/>
              </a:ext>
            </a:extLst>
          </p:cNvPr>
          <p:cNvSpPr/>
          <p:nvPr/>
        </p:nvSpPr>
        <p:spPr>
          <a:xfrm>
            <a:off x="9119560" y="3309364"/>
            <a:ext cx="2553737" cy="471225"/>
          </a:xfrm>
          <a:prstGeom prst="roundRect">
            <a:avLst>
              <a:gd name="adj" fmla="val 7742"/>
            </a:avLst>
          </a:prstGeom>
          <a:solidFill>
            <a:srgbClr val="FFFFFF"/>
          </a:solidFill>
          <a:ln w="12700">
            <a:solidFill>
              <a:srgbClr val="D8D2F0"/>
            </a:solidFill>
            <a:prstDash val="solid"/>
          </a:ln>
        </p:spPr>
        <p:txBody>
          <a:bodyPr/>
          <a:lstStyle/>
          <a:p>
            <a:endParaRPr lang="en-IN"/>
          </a:p>
        </p:txBody>
      </p:sp>
      <p:pic>
        <p:nvPicPr>
          <p:cNvPr id="866" name="Image 20" descr="preencoded.png">
            <a:extLst>
              <a:ext uri="{FF2B5EF4-FFF2-40B4-BE49-F238E27FC236}">
                <a16:creationId xmlns:a16="http://schemas.microsoft.com/office/drawing/2014/main" id="{85A6D4E0-B445-A4E4-9BAE-E472292E6FB0}"/>
              </a:ext>
            </a:extLst>
          </p:cNvPr>
          <p:cNvPicPr>
            <a:picLocks noChangeAspect="1"/>
          </p:cNvPicPr>
          <p:nvPr/>
        </p:nvPicPr>
        <p:blipFill>
          <a:blip r:embed="rId20"/>
          <a:stretch>
            <a:fillRect/>
          </a:stretch>
        </p:blipFill>
        <p:spPr>
          <a:xfrm>
            <a:off x="9210765" y="3430970"/>
            <a:ext cx="212812" cy="212812"/>
          </a:xfrm>
          <a:prstGeom prst="rect">
            <a:avLst/>
          </a:prstGeom>
        </p:spPr>
      </p:pic>
      <p:sp>
        <p:nvSpPr>
          <p:cNvPr id="868" name="Text 101">
            <a:extLst>
              <a:ext uri="{FF2B5EF4-FFF2-40B4-BE49-F238E27FC236}">
                <a16:creationId xmlns:a16="http://schemas.microsoft.com/office/drawing/2014/main" id="{04E51205-99D4-A5B0-C0D5-7DF52FDD03D7}"/>
              </a:ext>
            </a:extLst>
          </p:cNvPr>
          <p:cNvSpPr txBox="1"/>
          <p:nvPr/>
        </p:nvSpPr>
        <p:spPr>
          <a:xfrm>
            <a:off x="9484379" y="3339766"/>
            <a:ext cx="2006508" cy="136808"/>
          </a:xfrm>
          <a:prstGeom prst="rect">
            <a:avLst/>
          </a:prstGeom>
          <a:noFill/>
          <a:ln/>
        </p:spPr>
        <p:txBody>
          <a:bodyPr wrap="square" lIns="0" tIns="0" rIns="0" bIns="0" rtlCol="0" anchor="ctr"/>
          <a:lstStyle/>
          <a:p>
            <a:pPr>
              <a:lnSpc>
                <a:spcPct val="93000"/>
              </a:lnSpc>
            </a:pPr>
            <a:r>
              <a:rPr lang="en-US" sz="918" b="1" dirty="0">
                <a:solidFill>
                  <a:srgbClr val="11397C"/>
                </a:solidFill>
                <a:latin typeface="Calibri" pitchFamily="34" charset="0"/>
                <a:ea typeface="Calibri" pitchFamily="34" charset="-122"/>
                <a:cs typeface="Calibri" pitchFamily="34" charset="-120"/>
              </a:rPr>
              <a:t>Object Storage</a:t>
            </a:r>
            <a:endParaRPr lang="en-US" sz="918" dirty="0"/>
          </a:p>
        </p:txBody>
      </p:sp>
      <p:sp>
        <p:nvSpPr>
          <p:cNvPr id="870" name="Text 102">
            <a:extLst>
              <a:ext uri="{FF2B5EF4-FFF2-40B4-BE49-F238E27FC236}">
                <a16:creationId xmlns:a16="http://schemas.microsoft.com/office/drawing/2014/main" id="{E6FB2DC1-7521-3C9E-3AB5-569F18DD811F}"/>
              </a:ext>
            </a:extLst>
          </p:cNvPr>
          <p:cNvSpPr txBox="1"/>
          <p:nvPr/>
        </p:nvSpPr>
        <p:spPr>
          <a:xfrm>
            <a:off x="9484379" y="3491774"/>
            <a:ext cx="2006508" cy="136808"/>
          </a:xfrm>
          <a:prstGeom prst="rect">
            <a:avLst/>
          </a:prstGeom>
          <a:noFill/>
          <a:ln/>
        </p:spPr>
        <p:txBody>
          <a:bodyPr wrap="square" lIns="0" tIns="0" rIns="0" bIns="0" rtlCol="0" anchor="ctr"/>
          <a:lstStyle/>
          <a:p>
            <a:pPr>
              <a:lnSpc>
                <a:spcPct val="93000"/>
              </a:lnSpc>
            </a:pPr>
            <a:r>
              <a:rPr lang="en-US" sz="798" dirty="0">
                <a:solidFill>
                  <a:srgbClr val="2A6099"/>
                </a:solidFill>
                <a:latin typeface="Calibri" pitchFamily="34" charset="0"/>
                <a:ea typeface="Calibri" pitchFamily="34" charset="-122"/>
                <a:cs typeface="Calibri" pitchFamily="34" charset="-120"/>
              </a:rPr>
              <a:t>Documents &amp; artefacts  ·  retention policy</a:t>
            </a:r>
            <a:endParaRPr lang="en-US" sz="798" dirty="0"/>
          </a:p>
        </p:txBody>
      </p:sp>
      <p:sp>
        <p:nvSpPr>
          <p:cNvPr id="872" name="Shape 103">
            <a:extLst>
              <a:ext uri="{FF2B5EF4-FFF2-40B4-BE49-F238E27FC236}">
                <a16:creationId xmlns:a16="http://schemas.microsoft.com/office/drawing/2014/main" id="{2A1A2BF6-B6FE-3E97-674B-960CCCDC0C27}"/>
              </a:ext>
            </a:extLst>
          </p:cNvPr>
          <p:cNvSpPr/>
          <p:nvPr/>
        </p:nvSpPr>
        <p:spPr>
          <a:xfrm>
            <a:off x="9028355" y="3932598"/>
            <a:ext cx="2736146" cy="1641688"/>
          </a:xfrm>
          <a:prstGeom prst="roundRect">
            <a:avLst>
              <a:gd name="adj" fmla="val 2778"/>
            </a:avLst>
          </a:prstGeom>
          <a:solidFill>
            <a:srgbClr val="FDFBF4"/>
          </a:solidFill>
          <a:ln w="12700">
            <a:solidFill>
              <a:srgbClr val="E2CE9A"/>
            </a:solidFill>
            <a:prstDash val="solid"/>
          </a:ln>
        </p:spPr>
        <p:txBody>
          <a:bodyPr/>
          <a:lstStyle/>
          <a:p>
            <a:endParaRPr lang="en-IN"/>
          </a:p>
        </p:txBody>
      </p:sp>
      <p:sp>
        <p:nvSpPr>
          <p:cNvPr id="874" name="Text 104">
            <a:extLst>
              <a:ext uri="{FF2B5EF4-FFF2-40B4-BE49-F238E27FC236}">
                <a16:creationId xmlns:a16="http://schemas.microsoft.com/office/drawing/2014/main" id="{9FB161BD-3A5C-4DBB-9272-35F6093B5042}"/>
              </a:ext>
            </a:extLst>
          </p:cNvPr>
          <p:cNvSpPr txBox="1"/>
          <p:nvPr/>
        </p:nvSpPr>
        <p:spPr>
          <a:xfrm>
            <a:off x="9119560" y="3978200"/>
            <a:ext cx="2280122" cy="167209"/>
          </a:xfrm>
          <a:prstGeom prst="rect">
            <a:avLst/>
          </a:prstGeom>
          <a:noFill/>
          <a:ln/>
        </p:spPr>
        <p:txBody>
          <a:bodyPr wrap="square" lIns="0" tIns="0" rIns="0" bIns="0" rtlCol="0" anchor="ctr"/>
          <a:lstStyle/>
          <a:p>
            <a:pPr>
              <a:lnSpc>
                <a:spcPct val="93000"/>
              </a:lnSpc>
            </a:pPr>
            <a:r>
              <a:rPr lang="en-US" sz="958" b="1" dirty="0">
                <a:solidFill>
                  <a:srgbClr val="8A6A16"/>
                </a:solidFill>
                <a:latin typeface="Calibri" pitchFamily="34" charset="0"/>
                <a:ea typeface="Calibri" pitchFamily="34" charset="-122"/>
                <a:cs typeface="Calibri" pitchFamily="34" charset="-120"/>
              </a:rPr>
              <a:t>Deliberately deferred to Phase 2</a:t>
            </a:r>
            <a:endParaRPr lang="en-US" sz="958" dirty="0"/>
          </a:p>
        </p:txBody>
      </p:sp>
      <p:sp>
        <p:nvSpPr>
          <p:cNvPr id="876" name="Text 105">
            <a:extLst>
              <a:ext uri="{FF2B5EF4-FFF2-40B4-BE49-F238E27FC236}">
                <a16:creationId xmlns:a16="http://schemas.microsoft.com/office/drawing/2014/main" id="{ABDF3926-8A76-E916-32A0-0473D1D48471}"/>
              </a:ext>
            </a:extLst>
          </p:cNvPr>
          <p:cNvSpPr txBox="1"/>
          <p:nvPr/>
        </p:nvSpPr>
        <p:spPr>
          <a:xfrm>
            <a:off x="9149961" y="4191011"/>
            <a:ext cx="2492934" cy="1337671"/>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78" dirty="0">
                <a:solidFill>
                  <a:srgbClr val="6B5B2E"/>
                </a:solidFill>
                <a:latin typeface="Calibri" pitchFamily="34" charset="0"/>
                <a:ea typeface="Calibri" pitchFamily="34" charset="-122"/>
                <a:cs typeface="Calibri" pitchFamily="34" charset="-120"/>
              </a:rPr>
              <a:t>API Gateway  —  API security, throttling, routing, versioning</a:t>
            </a:r>
            <a:endParaRPr lang="en-US" sz="778" dirty="0"/>
          </a:p>
          <a:p>
            <a:pPr marL="114014" indent="-114014">
              <a:lnSpc>
                <a:spcPct val="95000"/>
              </a:lnSpc>
              <a:spcAft>
                <a:spcPts val="200"/>
              </a:spcAft>
              <a:buSzPct val="100000"/>
              <a:buChar char="•"/>
            </a:pPr>
            <a:r>
              <a:rPr lang="en-US" sz="778" dirty="0">
                <a:solidFill>
                  <a:srgbClr val="6B5B2E"/>
                </a:solidFill>
                <a:latin typeface="Calibri" pitchFamily="34" charset="0"/>
                <a:ea typeface="Calibri" pitchFamily="34" charset="-122"/>
                <a:cs typeface="Calibri" pitchFamily="34" charset="-120"/>
              </a:rPr>
              <a:t>Distributed Cache  —  session and read-path performance</a:t>
            </a:r>
            <a:endParaRPr lang="en-US" sz="778" dirty="0"/>
          </a:p>
          <a:p>
            <a:pPr marL="114014" indent="-114014">
              <a:lnSpc>
                <a:spcPct val="95000"/>
              </a:lnSpc>
              <a:spcAft>
                <a:spcPts val="200"/>
              </a:spcAft>
              <a:buSzPct val="100000"/>
              <a:buChar char="•"/>
            </a:pPr>
            <a:r>
              <a:rPr lang="en-US" sz="778" dirty="0">
                <a:solidFill>
                  <a:srgbClr val="6B5B2E"/>
                </a:solidFill>
                <a:latin typeface="Calibri" pitchFamily="34" charset="0"/>
                <a:ea typeface="Calibri" pitchFamily="34" charset="-122"/>
                <a:cs typeface="Calibri" pitchFamily="34" charset="-120"/>
              </a:rPr>
              <a:t>Event Streaming Platform  —  asynchronous, event-driven communication</a:t>
            </a:r>
            <a:endParaRPr lang="en-US" sz="778" dirty="0"/>
          </a:p>
          <a:p>
            <a:pPr marL="114014" indent="-114014">
              <a:lnSpc>
                <a:spcPct val="95000"/>
              </a:lnSpc>
              <a:spcAft>
                <a:spcPts val="200"/>
              </a:spcAft>
              <a:buSzPct val="100000"/>
              <a:buChar char="•"/>
            </a:pPr>
            <a:r>
              <a:rPr lang="en-US" sz="778" dirty="0">
                <a:solidFill>
                  <a:srgbClr val="6B5B2E"/>
                </a:solidFill>
                <a:latin typeface="Calibri" pitchFamily="34" charset="0"/>
                <a:ea typeface="Calibri" pitchFamily="34" charset="-122"/>
                <a:cs typeface="Calibri" pitchFamily="34" charset="-120"/>
              </a:rPr>
              <a:t>Saga Orchestration  —  distributed transaction consistency</a:t>
            </a:r>
            <a:endParaRPr lang="en-US" sz="778" dirty="0"/>
          </a:p>
          <a:p>
            <a:pPr marL="114014" indent="-114014">
              <a:lnSpc>
                <a:spcPct val="95000"/>
              </a:lnSpc>
              <a:spcAft>
                <a:spcPts val="200"/>
              </a:spcAft>
              <a:buSzPct val="100000"/>
              <a:buChar char="•"/>
            </a:pPr>
            <a:r>
              <a:rPr lang="en-US" sz="778" dirty="0">
                <a:solidFill>
                  <a:srgbClr val="6B5B2E"/>
                </a:solidFill>
                <a:latin typeface="Calibri" pitchFamily="34" charset="0"/>
                <a:ea typeface="Calibri" pitchFamily="34" charset="-122"/>
                <a:cs typeface="Calibri" pitchFamily="34" charset="-120"/>
              </a:rPr>
              <a:t>Integration / adapter services  —  beyond direct synchronous calls</a:t>
            </a:r>
            <a:endParaRPr lang="en-US" sz="778" dirty="0"/>
          </a:p>
          <a:p>
            <a:pPr marL="114014" indent="-114014">
              <a:lnSpc>
                <a:spcPct val="95000"/>
              </a:lnSpc>
              <a:spcAft>
                <a:spcPts val="200"/>
              </a:spcAft>
              <a:buSzPct val="100000"/>
              <a:buChar char="•"/>
            </a:pPr>
            <a:r>
              <a:rPr lang="en-US" sz="778" dirty="0">
                <a:solidFill>
                  <a:srgbClr val="6B5B2E"/>
                </a:solidFill>
                <a:latin typeface="Calibri" pitchFamily="34" charset="0"/>
                <a:ea typeface="Calibri" pitchFamily="34" charset="-122"/>
                <a:cs typeface="Calibri" pitchFamily="34" charset="-120"/>
              </a:rPr>
              <a:t>Enhanced observability  —  distributed tracing and alerting</a:t>
            </a:r>
            <a:endParaRPr lang="en-US" sz="778" dirty="0"/>
          </a:p>
        </p:txBody>
      </p:sp>
      <p:sp>
        <p:nvSpPr>
          <p:cNvPr id="878" name="Shape 106">
            <a:extLst>
              <a:ext uri="{FF2B5EF4-FFF2-40B4-BE49-F238E27FC236}">
                <a16:creationId xmlns:a16="http://schemas.microsoft.com/office/drawing/2014/main" id="{B54FBF4D-B822-7F3C-667C-354B64A2CD6E}"/>
              </a:ext>
            </a:extLst>
          </p:cNvPr>
          <p:cNvSpPr/>
          <p:nvPr/>
        </p:nvSpPr>
        <p:spPr>
          <a:xfrm>
            <a:off x="8572331" y="1796883"/>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880" name="Text 107">
            <a:extLst>
              <a:ext uri="{FF2B5EF4-FFF2-40B4-BE49-F238E27FC236}">
                <a16:creationId xmlns:a16="http://schemas.microsoft.com/office/drawing/2014/main" id="{294BA14D-5359-0671-F553-114455792FC6}"/>
              </a:ext>
            </a:extLst>
          </p:cNvPr>
          <p:cNvSpPr txBox="1"/>
          <p:nvPr/>
        </p:nvSpPr>
        <p:spPr>
          <a:xfrm>
            <a:off x="8572331" y="1614473"/>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REST / HTTPS</a:t>
            </a:r>
            <a:endParaRPr lang="en-US" sz="678" dirty="0"/>
          </a:p>
        </p:txBody>
      </p:sp>
      <p:sp>
        <p:nvSpPr>
          <p:cNvPr id="882" name="Shape 108">
            <a:extLst>
              <a:ext uri="{FF2B5EF4-FFF2-40B4-BE49-F238E27FC236}">
                <a16:creationId xmlns:a16="http://schemas.microsoft.com/office/drawing/2014/main" id="{61CD70C7-E277-D47D-89DF-288B33B72E2C}"/>
              </a:ext>
            </a:extLst>
          </p:cNvPr>
          <p:cNvSpPr/>
          <p:nvPr/>
        </p:nvSpPr>
        <p:spPr>
          <a:xfrm>
            <a:off x="8572331" y="2146502"/>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884" name="Text 109">
            <a:extLst>
              <a:ext uri="{FF2B5EF4-FFF2-40B4-BE49-F238E27FC236}">
                <a16:creationId xmlns:a16="http://schemas.microsoft.com/office/drawing/2014/main" id="{DECD31F2-89F4-F10F-4F10-3ECB18C5E3F3}"/>
              </a:ext>
            </a:extLst>
          </p:cNvPr>
          <p:cNvSpPr txBox="1"/>
          <p:nvPr/>
        </p:nvSpPr>
        <p:spPr>
          <a:xfrm>
            <a:off x="8572331" y="1964092"/>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SMTP / API</a:t>
            </a:r>
            <a:endParaRPr lang="en-US" sz="678" dirty="0"/>
          </a:p>
        </p:txBody>
      </p:sp>
      <p:sp>
        <p:nvSpPr>
          <p:cNvPr id="886" name="Shape 110">
            <a:extLst>
              <a:ext uri="{FF2B5EF4-FFF2-40B4-BE49-F238E27FC236}">
                <a16:creationId xmlns:a16="http://schemas.microsoft.com/office/drawing/2014/main" id="{ADBE6C17-A5BD-F2C7-F64C-68FE4224995F}"/>
              </a:ext>
            </a:extLst>
          </p:cNvPr>
          <p:cNvSpPr/>
          <p:nvPr/>
        </p:nvSpPr>
        <p:spPr>
          <a:xfrm>
            <a:off x="8572331" y="2967346"/>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888" name="Text 111">
            <a:extLst>
              <a:ext uri="{FF2B5EF4-FFF2-40B4-BE49-F238E27FC236}">
                <a16:creationId xmlns:a16="http://schemas.microsoft.com/office/drawing/2014/main" id="{517EB66A-BCF7-C3A0-EFAA-4ED28D0C829B}"/>
              </a:ext>
            </a:extLst>
          </p:cNvPr>
          <p:cNvSpPr txBox="1"/>
          <p:nvPr/>
        </p:nvSpPr>
        <p:spPr>
          <a:xfrm>
            <a:off x="8572331" y="2784936"/>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Read / Write</a:t>
            </a:r>
            <a:endParaRPr lang="en-US" sz="678" dirty="0"/>
          </a:p>
        </p:txBody>
      </p:sp>
      <p:sp>
        <p:nvSpPr>
          <p:cNvPr id="890" name="Shape 112">
            <a:extLst>
              <a:ext uri="{FF2B5EF4-FFF2-40B4-BE49-F238E27FC236}">
                <a16:creationId xmlns:a16="http://schemas.microsoft.com/office/drawing/2014/main" id="{B580037A-0C3F-FD0F-D914-3C2E1C70DA58}"/>
              </a:ext>
            </a:extLst>
          </p:cNvPr>
          <p:cNvSpPr/>
          <p:nvPr/>
        </p:nvSpPr>
        <p:spPr>
          <a:xfrm>
            <a:off x="8572331" y="3544977"/>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892" name="Text 113">
            <a:extLst>
              <a:ext uri="{FF2B5EF4-FFF2-40B4-BE49-F238E27FC236}">
                <a16:creationId xmlns:a16="http://schemas.microsoft.com/office/drawing/2014/main" id="{309ED392-8132-617B-71C4-C4ADFAA0888B}"/>
              </a:ext>
            </a:extLst>
          </p:cNvPr>
          <p:cNvSpPr txBox="1"/>
          <p:nvPr/>
        </p:nvSpPr>
        <p:spPr>
          <a:xfrm>
            <a:off x="8572331" y="3362567"/>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Upload / Read</a:t>
            </a:r>
            <a:endParaRPr lang="en-US" sz="678" dirty="0"/>
          </a:p>
        </p:txBody>
      </p:sp>
    </p:spTree>
    <p:extLst>
      <p:ext uri="{BB962C8B-B14F-4D97-AF65-F5344CB8AC3E}">
        <p14:creationId xmlns:p14="http://schemas.microsoft.com/office/powerpoint/2010/main" val="619113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31349708-C61A-45F3-E936-67335898FB4E}"/>
            </a:ext>
          </a:extLst>
        </p:cNvPr>
        <p:cNvGrpSpPr/>
        <p:nvPr/>
      </p:nvGrpSpPr>
      <p:grpSpPr>
        <a:xfrm>
          <a:off x="0" y="0"/>
          <a:ext cx="0" cy="0"/>
          <a:chOff x="0" y="0"/>
          <a:chExt cx="0" cy="0"/>
        </a:xfrm>
      </p:grpSpPr>
      <p:sp>
        <p:nvSpPr>
          <p:cNvPr id="4" name="Google Shape;161;p28">
            <a:extLst>
              <a:ext uri="{FF2B5EF4-FFF2-40B4-BE49-F238E27FC236}">
                <a16:creationId xmlns:a16="http://schemas.microsoft.com/office/drawing/2014/main" id="{BA4D8E17-FB91-74D0-21D3-0DFC19F5F4F7}"/>
              </a:ext>
            </a:extLst>
          </p:cNvPr>
          <p:cNvSpPr txBox="1">
            <a:spLocks noGrp="1"/>
          </p:cNvSpPr>
          <p:nvPr>
            <p:ph type="title"/>
          </p:nvPr>
        </p:nvSpPr>
        <p:spPr>
          <a:xfrm>
            <a:off x="528433" y="322573"/>
            <a:ext cx="11147838" cy="579001"/>
          </a:xfrm>
          <a:prstGeom prst="rect">
            <a:avLst/>
          </a:prstGeom>
          <a:noFill/>
          <a:ln>
            <a:noFill/>
          </a:ln>
        </p:spPr>
        <p:txBody>
          <a:bodyPr spcFirstLastPara="1" vert="horz" wrap="square" lIns="90540" tIns="45258" rIns="90540" bIns="45258" rtlCol="0" anchor="ctr" anchorCtr="0">
            <a:noAutofit/>
          </a:bodyPr>
          <a:lstStyle/>
          <a:p>
            <a:pPr>
              <a:lnSpc>
                <a:spcPct val="100000"/>
              </a:lnSpc>
              <a:buClr>
                <a:srgbClr val="000000"/>
              </a:buClr>
              <a:buFont typeface="Arial" panose="020B0604020202090204"/>
            </a:pPr>
            <a:r>
              <a:rPr lang="en-US" sz="3170" b="1" dirty="0">
                <a:solidFill>
                  <a:srgbClr val="000000"/>
                </a:solidFill>
                <a:latin typeface="Outfit" pitchFamily="2" charset="0"/>
                <a:cs typeface="Arial" panose="020B0604020202090204"/>
                <a:sym typeface="Arial" panose="020B0604020202090204"/>
              </a:rPr>
              <a:t>Indicative Plan</a:t>
            </a:r>
            <a:endParaRPr sz="3170" b="1" dirty="0">
              <a:solidFill>
                <a:srgbClr val="000000"/>
              </a:solidFill>
              <a:latin typeface="Outfit" pitchFamily="2" charset="0"/>
              <a:cs typeface="Arial" panose="020B0604020202090204"/>
              <a:sym typeface="Arial" panose="020B0604020202090204"/>
            </a:endParaRPr>
          </a:p>
        </p:txBody>
      </p:sp>
      <p:sp>
        <p:nvSpPr>
          <p:cNvPr id="5" name="Text 4">
            <a:extLst>
              <a:ext uri="{FF2B5EF4-FFF2-40B4-BE49-F238E27FC236}">
                <a16:creationId xmlns:a16="http://schemas.microsoft.com/office/drawing/2014/main" id="{9039D5BF-5165-B098-8AF6-8B268F70A3BD}"/>
              </a:ext>
            </a:extLst>
          </p:cNvPr>
          <p:cNvSpPr txBox="1"/>
          <p:nvPr/>
        </p:nvSpPr>
        <p:spPr>
          <a:xfrm>
            <a:off x="2986986" y="939784"/>
            <a:ext cx="1523962" cy="152396"/>
          </a:xfrm>
          <a:prstGeom prst="rect">
            <a:avLst/>
          </a:prstGeom>
          <a:noFill/>
          <a:ln/>
        </p:spPr>
        <p:txBody>
          <a:bodyPr wrap="square" lIns="0" tIns="0" rIns="0" bIns="0" rtlCol="0" anchor="ctr"/>
          <a:lstStyle/>
          <a:p>
            <a:pPr marL="0" indent="0" algn="r">
              <a:lnSpc>
                <a:spcPct val="95000"/>
              </a:lnSpc>
              <a:buNone/>
            </a:pPr>
            <a:r>
              <a:rPr lang="en-US" sz="1150" i="1" dirty="0">
                <a:solidFill>
                  <a:srgbClr val="8B2500"/>
                </a:solidFill>
                <a:latin typeface="Calibri" pitchFamily="34" charset="0"/>
                <a:ea typeface="Calibri" pitchFamily="34" charset="-122"/>
                <a:cs typeface="Calibri" pitchFamily="34" charset="-120"/>
              </a:rPr>
              <a:t>FSD / Prototype Sign-off</a:t>
            </a:r>
            <a:endParaRPr lang="en-US" sz="1150" dirty="0"/>
          </a:p>
        </p:txBody>
      </p:sp>
      <p:sp>
        <p:nvSpPr>
          <p:cNvPr id="7" name="Text 5">
            <a:extLst>
              <a:ext uri="{FF2B5EF4-FFF2-40B4-BE49-F238E27FC236}">
                <a16:creationId xmlns:a16="http://schemas.microsoft.com/office/drawing/2014/main" id="{D1B65B90-8D33-0DC5-136D-027E17346D97}"/>
              </a:ext>
            </a:extLst>
          </p:cNvPr>
          <p:cNvSpPr txBox="1"/>
          <p:nvPr/>
        </p:nvSpPr>
        <p:spPr>
          <a:xfrm>
            <a:off x="5029086" y="949944"/>
            <a:ext cx="1523962" cy="152396"/>
          </a:xfrm>
          <a:prstGeom prst="rect">
            <a:avLst/>
          </a:prstGeom>
          <a:noFill/>
          <a:ln/>
        </p:spPr>
        <p:txBody>
          <a:bodyPr wrap="square" lIns="0" tIns="0" rIns="0" bIns="0" rtlCol="0" anchor="ctr"/>
          <a:lstStyle/>
          <a:p>
            <a:pPr marL="0" indent="0" algn="r">
              <a:lnSpc>
                <a:spcPct val="95000"/>
              </a:lnSpc>
              <a:buNone/>
            </a:pPr>
            <a:r>
              <a:rPr lang="en-US" sz="1150" i="1" dirty="0">
                <a:solidFill>
                  <a:srgbClr val="8B2500"/>
                </a:solidFill>
                <a:latin typeface="Calibri" pitchFamily="34" charset="0"/>
                <a:ea typeface="Calibri" pitchFamily="34" charset="-122"/>
                <a:cs typeface="Calibri" pitchFamily="34" charset="-120"/>
              </a:rPr>
              <a:t>UI Sign-off</a:t>
            </a:r>
            <a:endParaRPr lang="en-US" sz="1150" dirty="0"/>
          </a:p>
        </p:txBody>
      </p:sp>
      <p:sp>
        <p:nvSpPr>
          <p:cNvPr id="11" name="Text 6">
            <a:extLst>
              <a:ext uri="{FF2B5EF4-FFF2-40B4-BE49-F238E27FC236}">
                <a16:creationId xmlns:a16="http://schemas.microsoft.com/office/drawing/2014/main" id="{1047AC08-B0ED-7060-41AD-747BDAD3A54F}"/>
              </a:ext>
            </a:extLst>
          </p:cNvPr>
          <p:cNvSpPr txBox="1"/>
          <p:nvPr/>
        </p:nvSpPr>
        <p:spPr>
          <a:xfrm>
            <a:off x="9171725" y="949944"/>
            <a:ext cx="1523962" cy="152396"/>
          </a:xfrm>
          <a:prstGeom prst="rect">
            <a:avLst/>
          </a:prstGeom>
          <a:noFill/>
          <a:ln/>
        </p:spPr>
        <p:txBody>
          <a:bodyPr wrap="square" lIns="0" tIns="0" rIns="0" bIns="0" rtlCol="0" anchor="ctr"/>
          <a:lstStyle/>
          <a:p>
            <a:pPr marL="0" indent="0" algn="r">
              <a:lnSpc>
                <a:spcPct val="95000"/>
              </a:lnSpc>
              <a:buNone/>
            </a:pPr>
            <a:r>
              <a:rPr lang="en-US" sz="1150" i="1" dirty="0">
                <a:solidFill>
                  <a:srgbClr val="8B2500"/>
                </a:solidFill>
                <a:latin typeface="Calibri" pitchFamily="34" charset="0"/>
                <a:ea typeface="Calibri" pitchFamily="34" charset="-122"/>
                <a:cs typeface="Calibri" pitchFamily="34" charset="-120"/>
              </a:rPr>
              <a:t>Dev Completion</a:t>
            </a:r>
            <a:endParaRPr lang="en-US" sz="1150" dirty="0"/>
          </a:p>
        </p:txBody>
      </p:sp>
      <p:sp>
        <p:nvSpPr>
          <p:cNvPr id="13" name="Text 7">
            <a:extLst>
              <a:ext uri="{FF2B5EF4-FFF2-40B4-BE49-F238E27FC236}">
                <a16:creationId xmlns:a16="http://schemas.microsoft.com/office/drawing/2014/main" id="{DE26C789-FEDD-49A0-88CA-F769AB2D2A92}"/>
              </a:ext>
            </a:extLst>
          </p:cNvPr>
          <p:cNvSpPr txBox="1"/>
          <p:nvPr/>
        </p:nvSpPr>
        <p:spPr>
          <a:xfrm>
            <a:off x="10362948" y="970259"/>
            <a:ext cx="1523962" cy="152396"/>
          </a:xfrm>
          <a:prstGeom prst="rect">
            <a:avLst/>
          </a:prstGeom>
          <a:noFill/>
          <a:ln/>
        </p:spPr>
        <p:txBody>
          <a:bodyPr wrap="square" lIns="0" tIns="0" rIns="0" bIns="0" rtlCol="0" anchor="ctr"/>
          <a:lstStyle/>
          <a:p>
            <a:pPr marL="0" indent="0" algn="r">
              <a:lnSpc>
                <a:spcPct val="95000"/>
              </a:lnSpc>
              <a:buNone/>
            </a:pPr>
            <a:r>
              <a:rPr lang="en-US" sz="1150" i="1" dirty="0">
                <a:solidFill>
                  <a:srgbClr val="8B2500"/>
                </a:solidFill>
                <a:latin typeface="Calibri" pitchFamily="34" charset="0"/>
                <a:ea typeface="Calibri" pitchFamily="34" charset="-122"/>
                <a:cs typeface="Calibri" pitchFamily="34" charset="-120"/>
              </a:rPr>
              <a:t>UAT Release</a:t>
            </a:r>
            <a:endParaRPr lang="en-US" sz="1150" dirty="0"/>
          </a:p>
        </p:txBody>
      </p:sp>
      <p:sp>
        <p:nvSpPr>
          <p:cNvPr id="15" name="Shape 8">
            <a:extLst>
              <a:ext uri="{FF2B5EF4-FFF2-40B4-BE49-F238E27FC236}">
                <a16:creationId xmlns:a16="http://schemas.microsoft.com/office/drawing/2014/main" id="{93A2E28E-59E0-BB75-891D-2F1AC8FB6E34}"/>
              </a:ext>
            </a:extLst>
          </p:cNvPr>
          <p:cNvSpPr/>
          <p:nvPr/>
        </p:nvSpPr>
        <p:spPr>
          <a:xfrm>
            <a:off x="419090" y="1259812"/>
            <a:ext cx="1409665" cy="487668"/>
          </a:xfrm>
          <a:prstGeom prst="rect">
            <a:avLst/>
          </a:prstGeom>
          <a:solidFill>
            <a:srgbClr val="20209E"/>
          </a:solidFill>
          <a:ln w="9525">
            <a:solidFill>
              <a:srgbClr val="2222A0"/>
            </a:solidFill>
            <a:prstDash val="solid"/>
          </a:ln>
        </p:spPr>
        <p:txBody>
          <a:bodyPr/>
          <a:lstStyle/>
          <a:p>
            <a:endParaRPr lang="en-IN"/>
          </a:p>
        </p:txBody>
      </p:sp>
      <p:sp>
        <p:nvSpPr>
          <p:cNvPr id="17" name="Text 9">
            <a:extLst>
              <a:ext uri="{FF2B5EF4-FFF2-40B4-BE49-F238E27FC236}">
                <a16:creationId xmlns:a16="http://schemas.microsoft.com/office/drawing/2014/main" id="{EA5F2429-7142-030D-B5BD-37975139D966}"/>
              </a:ext>
            </a:extLst>
          </p:cNvPr>
          <p:cNvSpPr txBox="1"/>
          <p:nvPr/>
        </p:nvSpPr>
        <p:spPr>
          <a:xfrm>
            <a:off x="419090" y="1259812"/>
            <a:ext cx="1409665" cy="487668"/>
          </a:xfrm>
          <a:prstGeom prst="rect">
            <a:avLst/>
          </a:prstGeom>
          <a:noFill/>
          <a:ln/>
        </p:spPr>
        <p:txBody>
          <a:bodyPr wrap="square" lIns="0" tIns="0" rIns="0" bIns="0" rtlCol="0" anchor="ctr"/>
          <a:lstStyle/>
          <a:p>
            <a:pPr marL="0" indent="0" algn="ctr">
              <a:lnSpc>
                <a:spcPct val="95000"/>
              </a:lnSpc>
              <a:buNone/>
            </a:pPr>
            <a:r>
              <a:rPr lang="en-US" sz="1400" b="1" dirty="0">
                <a:solidFill>
                  <a:srgbClr val="FFFFFF"/>
                </a:solidFill>
                <a:latin typeface="Calibri" pitchFamily="34" charset="0"/>
                <a:ea typeface="Calibri" pitchFamily="34" charset="-122"/>
                <a:cs typeface="Calibri" pitchFamily="34" charset="-120"/>
              </a:rPr>
              <a:t>Phases</a:t>
            </a:r>
            <a:endParaRPr lang="en-US" sz="1400" dirty="0"/>
          </a:p>
        </p:txBody>
      </p:sp>
      <p:sp>
        <p:nvSpPr>
          <p:cNvPr id="19" name="Shape 10">
            <a:extLst>
              <a:ext uri="{FF2B5EF4-FFF2-40B4-BE49-F238E27FC236}">
                <a16:creationId xmlns:a16="http://schemas.microsoft.com/office/drawing/2014/main" id="{C3D43D4F-EA1B-4A32-BC71-E675E466BCE3}"/>
              </a:ext>
            </a:extLst>
          </p:cNvPr>
          <p:cNvSpPr/>
          <p:nvPr/>
        </p:nvSpPr>
        <p:spPr>
          <a:xfrm>
            <a:off x="1828754" y="1259812"/>
            <a:ext cx="1981150" cy="243834"/>
          </a:xfrm>
          <a:prstGeom prst="rect">
            <a:avLst/>
          </a:prstGeom>
          <a:solidFill>
            <a:srgbClr val="20209E"/>
          </a:solidFill>
          <a:ln w="9525">
            <a:solidFill>
              <a:srgbClr val="2222A0"/>
            </a:solidFill>
            <a:prstDash val="solid"/>
          </a:ln>
        </p:spPr>
        <p:txBody>
          <a:bodyPr/>
          <a:lstStyle/>
          <a:p>
            <a:endParaRPr lang="en-IN"/>
          </a:p>
        </p:txBody>
      </p:sp>
      <p:sp>
        <p:nvSpPr>
          <p:cNvPr id="21" name="Text 11">
            <a:extLst>
              <a:ext uri="{FF2B5EF4-FFF2-40B4-BE49-F238E27FC236}">
                <a16:creationId xmlns:a16="http://schemas.microsoft.com/office/drawing/2014/main" id="{75F159B4-3FB8-3B71-6C87-39555E6F5CEF}"/>
              </a:ext>
            </a:extLst>
          </p:cNvPr>
          <p:cNvSpPr txBox="1"/>
          <p:nvPr/>
        </p:nvSpPr>
        <p:spPr>
          <a:xfrm>
            <a:off x="1828754" y="1259812"/>
            <a:ext cx="1981150" cy="243834"/>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PRE-DEVELOPMENT</a:t>
            </a:r>
            <a:endParaRPr lang="en-US" sz="1150" dirty="0"/>
          </a:p>
        </p:txBody>
      </p:sp>
      <p:sp>
        <p:nvSpPr>
          <p:cNvPr id="23" name="Shape 12">
            <a:extLst>
              <a:ext uri="{FF2B5EF4-FFF2-40B4-BE49-F238E27FC236}">
                <a16:creationId xmlns:a16="http://schemas.microsoft.com/office/drawing/2014/main" id="{654D03C9-CB96-6BB0-CAFD-951A21AF236C}"/>
              </a:ext>
            </a:extLst>
          </p:cNvPr>
          <p:cNvSpPr/>
          <p:nvPr/>
        </p:nvSpPr>
        <p:spPr>
          <a:xfrm>
            <a:off x="3809905" y="1259812"/>
            <a:ext cx="7924602" cy="243834"/>
          </a:xfrm>
          <a:prstGeom prst="rect">
            <a:avLst/>
          </a:prstGeom>
          <a:solidFill>
            <a:srgbClr val="20209E"/>
          </a:solidFill>
          <a:ln w="9525">
            <a:solidFill>
              <a:srgbClr val="2222A0"/>
            </a:solidFill>
            <a:prstDash val="solid"/>
          </a:ln>
        </p:spPr>
        <p:txBody>
          <a:bodyPr/>
          <a:lstStyle/>
          <a:p>
            <a:endParaRPr lang="en-IN"/>
          </a:p>
        </p:txBody>
      </p:sp>
      <p:sp>
        <p:nvSpPr>
          <p:cNvPr id="26" name="Text 13">
            <a:extLst>
              <a:ext uri="{FF2B5EF4-FFF2-40B4-BE49-F238E27FC236}">
                <a16:creationId xmlns:a16="http://schemas.microsoft.com/office/drawing/2014/main" id="{A50D0B03-343B-5288-0C75-45A9F3C81D8D}"/>
              </a:ext>
            </a:extLst>
          </p:cNvPr>
          <p:cNvSpPr txBox="1"/>
          <p:nvPr/>
        </p:nvSpPr>
        <p:spPr>
          <a:xfrm>
            <a:off x="3809905" y="1259812"/>
            <a:ext cx="7924602" cy="243834"/>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MVP EXECUTION   ·   4 WEEKS</a:t>
            </a:r>
            <a:endParaRPr lang="en-US" sz="1150" dirty="0"/>
          </a:p>
        </p:txBody>
      </p:sp>
      <p:sp>
        <p:nvSpPr>
          <p:cNvPr id="29" name="Shape 14">
            <a:extLst>
              <a:ext uri="{FF2B5EF4-FFF2-40B4-BE49-F238E27FC236}">
                <a16:creationId xmlns:a16="http://schemas.microsoft.com/office/drawing/2014/main" id="{A4C3271C-2B93-2CC7-7735-7C50FAD7BC76}"/>
              </a:ext>
            </a:extLst>
          </p:cNvPr>
          <p:cNvSpPr/>
          <p:nvPr/>
        </p:nvSpPr>
        <p:spPr>
          <a:xfrm>
            <a:off x="1828754" y="1503646"/>
            <a:ext cx="1981150" cy="243834"/>
          </a:xfrm>
          <a:prstGeom prst="rect">
            <a:avLst/>
          </a:prstGeom>
          <a:solidFill>
            <a:srgbClr val="2A2AB8"/>
          </a:solidFill>
          <a:ln w="9525">
            <a:solidFill>
              <a:srgbClr val="2222A0"/>
            </a:solidFill>
            <a:prstDash val="solid"/>
          </a:ln>
        </p:spPr>
        <p:txBody>
          <a:bodyPr/>
          <a:lstStyle/>
          <a:p>
            <a:endParaRPr lang="en-IN"/>
          </a:p>
        </p:txBody>
      </p:sp>
      <p:sp>
        <p:nvSpPr>
          <p:cNvPr id="33" name="Text 15">
            <a:extLst>
              <a:ext uri="{FF2B5EF4-FFF2-40B4-BE49-F238E27FC236}">
                <a16:creationId xmlns:a16="http://schemas.microsoft.com/office/drawing/2014/main" id="{AB48BB58-F4F6-A46D-9C59-4B63517EFE99}"/>
              </a:ext>
            </a:extLst>
          </p:cNvPr>
          <p:cNvSpPr txBox="1"/>
          <p:nvPr/>
        </p:nvSpPr>
        <p:spPr>
          <a:xfrm>
            <a:off x="1828754" y="1503646"/>
            <a:ext cx="1981150" cy="243834"/>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W0</a:t>
            </a:r>
            <a:endParaRPr lang="en-US" sz="1100" dirty="0"/>
          </a:p>
        </p:txBody>
      </p:sp>
      <p:sp>
        <p:nvSpPr>
          <p:cNvPr id="36" name="Shape 16">
            <a:extLst>
              <a:ext uri="{FF2B5EF4-FFF2-40B4-BE49-F238E27FC236}">
                <a16:creationId xmlns:a16="http://schemas.microsoft.com/office/drawing/2014/main" id="{896B25BF-9FFD-628A-80CF-845FA7AF8B62}"/>
              </a:ext>
            </a:extLst>
          </p:cNvPr>
          <p:cNvSpPr/>
          <p:nvPr/>
        </p:nvSpPr>
        <p:spPr>
          <a:xfrm>
            <a:off x="3809905" y="1503646"/>
            <a:ext cx="1981150" cy="243834"/>
          </a:xfrm>
          <a:prstGeom prst="rect">
            <a:avLst/>
          </a:prstGeom>
          <a:solidFill>
            <a:srgbClr val="2A2AB8"/>
          </a:solidFill>
          <a:ln w="9525">
            <a:solidFill>
              <a:srgbClr val="2222A0"/>
            </a:solidFill>
            <a:prstDash val="solid"/>
          </a:ln>
        </p:spPr>
        <p:txBody>
          <a:bodyPr/>
          <a:lstStyle/>
          <a:p>
            <a:endParaRPr lang="en-IN"/>
          </a:p>
        </p:txBody>
      </p:sp>
      <p:sp>
        <p:nvSpPr>
          <p:cNvPr id="39" name="Text 17">
            <a:extLst>
              <a:ext uri="{FF2B5EF4-FFF2-40B4-BE49-F238E27FC236}">
                <a16:creationId xmlns:a16="http://schemas.microsoft.com/office/drawing/2014/main" id="{BB2AD327-37CA-E7DF-2ECE-8FA697FF8DFA}"/>
              </a:ext>
            </a:extLst>
          </p:cNvPr>
          <p:cNvSpPr txBox="1"/>
          <p:nvPr/>
        </p:nvSpPr>
        <p:spPr>
          <a:xfrm>
            <a:off x="3809905" y="1503646"/>
            <a:ext cx="1981150" cy="243834"/>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W1</a:t>
            </a:r>
            <a:endParaRPr lang="en-US" sz="1100" dirty="0"/>
          </a:p>
        </p:txBody>
      </p:sp>
      <p:sp>
        <p:nvSpPr>
          <p:cNvPr id="42" name="Shape 18">
            <a:extLst>
              <a:ext uri="{FF2B5EF4-FFF2-40B4-BE49-F238E27FC236}">
                <a16:creationId xmlns:a16="http://schemas.microsoft.com/office/drawing/2014/main" id="{9A6A471C-F6EB-4672-B444-1EB679127D82}"/>
              </a:ext>
            </a:extLst>
          </p:cNvPr>
          <p:cNvSpPr/>
          <p:nvPr/>
        </p:nvSpPr>
        <p:spPr>
          <a:xfrm>
            <a:off x="5791055" y="1503646"/>
            <a:ext cx="1981150" cy="243834"/>
          </a:xfrm>
          <a:prstGeom prst="rect">
            <a:avLst/>
          </a:prstGeom>
          <a:solidFill>
            <a:srgbClr val="2A2AB8"/>
          </a:solidFill>
          <a:ln w="9525">
            <a:solidFill>
              <a:srgbClr val="2222A0"/>
            </a:solidFill>
            <a:prstDash val="solid"/>
          </a:ln>
        </p:spPr>
        <p:txBody>
          <a:bodyPr/>
          <a:lstStyle/>
          <a:p>
            <a:endParaRPr lang="en-IN"/>
          </a:p>
        </p:txBody>
      </p:sp>
      <p:sp>
        <p:nvSpPr>
          <p:cNvPr id="46" name="Text 19">
            <a:extLst>
              <a:ext uri="{FF2B5EF4-FFF2-40B4-BE49-F238E27FC236}">
                <a16:creationId xmlns:a16="http://schemas.microsoft.com/office/drawing/2014/main" id="{D75A00B4-6549-C74F-C201-BC5CA8174F93}"/>
              </a:ext>
            </a:extLst>
          </p:cNvPr>
          <p:cNvSpPr txBox="1"/>
          <p:nvPr/>
        </p:nvSpPr>
        <p:spPr>
          <a:xfrm>
            <a:off x="5791055" y="1503646"/>
            <a:ext cx="1981150" cy="243834"/>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W2</a:t>
            </a:r>
            <a:endParaRPr lang="en-US" sz="1100" dirty="0"/>
          </a:p>
        </p:txBody>
      </p:sp>
      <p:sp>
        <p:nvSpPr>
          <p:cNvPr id="49" name="Shape 20">
            <a:extLst>
              <a:ext uri="{FF2B5EF4-FFF2-40B4-BE49-F238E27FC236}">
                <a16:creationId xmlns:a16="http://schemas.microsoft.com/office/drawing/2014/main" id="{B8AA3EDD-2CD5-B2FA-F110-D8EEE713A249}"/>
              </a:ext>
            </a:extLst>
          </p:cNvPr>
          <p:cNvSpPr/>
          <p:nvPr/>
        </p:nvSpPr>
        <p:spPr>
          <a:xfrm>
            <a:off x="7772206" y="1503646"/>
            <a:ext cx="1981150" cy="243834"/>
          </a:xfrm>
          <a:prstGeom prst="rect">
            <a:avLst/>
          </a:prstGeom>
          <a:solidFill>
            <a:srgbClr val="2A2AB8"/>
          </a:solidFill>
          <a:ln w="9525">
            <a:solidFill>
              <a:srgbClr val="2222A0"/>
            </a:solidFill>
            <a:prstDash val="solid"/>
          </a:ln>
        </p:spPr>
        <p:txBody>
          <a:bodyPr/>
          <a:lstStyle/>
          <a:p>
            <a:endParaRPr lang="en-IN"/>
          </a:p>
        </p:txBody>
      </p:sp>
      <p:sp>
        <p:nvSpPr>
          <p:cNvPr id="52" name="Text 21">
            <a:extLst>
              <a:ext uri="{FF2B5EF4-FFF2-40B4-BE49-F238E27FC236}">
                <a16:creationId xmlns:a16="http://schemas.microsoft.com/office/drawing/2014/main" id="{24C82397-11F2-BC86-A110-21106D31F46B}"/>
              </a:ext>
            </a:extLst>
          </p:cNvPr>
          <p:cNvSpPr txBox="1"/>
          <p:nvPr/>
        </p:nvSpPr>
        <p:spPr>
          <a:xfrm>
            <a:off x="7772206" y="1503646"/>
            <a:ext cx="1981150" cy="243834"/>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W3</a:t>
            </a:r>
            <a:endParaRPr lang="en-US" sz="1100" dirty="0"/>
          </a:p>
        </p:txBody>
      </p:sp>
      <p:sp>
        <p:nvSpPr>
          <p:cNvPr id="55" name="Shape 22">
            <a:extLst>
              <a:ext uri="{FF2B5EF4-FFF2-40B4-BE49-F238E27FC236}">
                <a16:creationId xmlns:a16="http://schemas.microsoft.com/office/drawing/2014/main" id="{D38A3F7D-3FA9-8575-30DB-DEC2DA657124}"/>
              </a:ext>
            </a:extLst>
          </p:cNvPr>
          <p:cNvSpPr/>
          <p:nvPr/>
        </p:nvSpPr>
        <p:spPr>
          <a:xfrm>
            <a:off x="9753356" y="1503646"/>
            <a:ext cx="1981150" cy="243834"/>
          </a:xfrm>
          <a:prstGeom prst="rect">
            <a:avLst/>
          </a:prstGeom>
          <a:solidFill>
            <a:srgbClr val="2A2AB8"/>
          </a:solidFill>
          <a:ln w="9525">
            <a:solidFill>
              <a:srgbClr val="2222A0"/>
            </a:solidFill>
            <a:prstDash val="solid"/>
          </a:ln>
        </p:spPr>
        <p:txBody>
          <a:bodyPr/>
          <a:lstStyle/>
          <a:p>
            <a:endParaRPr lang="en-IN"/>
          </a:p>
        </p:txBody>
      </p:sp>
      <p:sp>
        <p:nvSpPr>
          <p:cNvPr id="58" name="Text 23">
            <a:extLst>
              <a:ext uri="{FF2B5EF4-FFF2-40B4-BE49-F238E27FC236}">
                <a16:creationId xmlns:a16="http://schemas.microsoft.com/office/drawing/2014/main" id="{59181313-AAE4-7ED2-F5AC-22BDBAE27538}"/>
              </a:ext>
            </a:extLst>
          </p:cNvPr>
          <p:cNvSpPr txBox="1"/>
          <p:nvPr/>
        </p:nvSpPr>
        <p:spPr>
          <a:xfrm>
            <a:off x="9753356" y="1503646"/>
            <a:ext cx="1981150" cy="243834"/>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W4</a:t>
            </a:r>
            <a:endParaRPr lang="en-US" sz="1100" dirty="0"/>
          </a:p>
        </p:txBody>
      </p:sp>
      <p:sp>
        <p:nvSpPr>
          <p:cNvPr id="61" name="Shape 24">
            <a:extLst>
              <a:ext uri="{FF2B5EF4-FFF2-40B4-BE49-F238E27FC236}">
                <a16:creationId xmlns:a16="http://schemas.microsoft.com/office/drawing/2014/main" id="{7652FB1C-5916-53AA-75FE-8541EAA8E9D4}"/>
              </a:ext>
            </a:extLst>
          </p:cNvPr>
          <p:cNvSpPr/>
          <p:nvPr/>
        </p:nvSpPr>
        <p:spPr>
          <a:xfrm>
            <a:off x="1828754" y="1747480"/>
            <a:ext cx="9905752" cy="2971726"/>
          </a:xfrm>
          <a:prstGeom prst="rect">
            <a:avLst/>
          </a:prstGeom>
          <a:solidFill>
            <a:srgbClr val="FFFFFF"/>
          </a:solidFill>
          <a:ln w="12700">
            <a:solidFill>
              <a:srgbClr val="2222A0"/>
            </a:solidFill>
            <a:prstDash val="solid"/>
          </a:ln>
        </p:spPr>
        <p:txBody>
          <a:bodyPr/>
          <a:lstStyle/>
          <a:p>
            <a:endParaRPr lang="en-IN"/>
          </a:p>
        </p:txBody>
      </p:sp>
      <p:sp>
        <p:nvSpPr>
          <p:cNvPr id="65" name="Shape 25">
            <a:extLst>
              <a:ext uri="{FF2B5EF4-FFF2-40B4-BE49-F238E27FC236}">
                <a16:creationId xmlns:a16="http://schemas.microsoft.com/office/drawing/2014/main" id="{98DECE1F-DA19-B407-D049-C5A3BC22D5B9}"/>
              </a:ext>
            </a:extLst>
          </p:cNvPr>
          <p:cNvSpPr/>
          <p:nvPr/>
        </p:nvSpPr>
        <p:spPr>
          <a:xfrm>
            <a:off x="419090" y="1747480"/>
            <a:ext cx="1409665" cy="594345"/>
          </a:xfrm>
          <a:prstGeom prst="rect">
            <a:avLst/>
          </a:prstGeom>
          <a:solidFill>
            <a:srgbClr val="808080"/>
          </a:solidFill>
          <a:ln w="12700">
            <a:solidFill>
              <a:srgbClr val="FFFFFF"/>
            </a:solidFill>
            <a:prstDash val="solid"/>
          </a:ln>
        </p:spPr>
        <p:txBody>
          <a:bodyPr/>
          <a:lstStyle/>
          <a:p>
            <a:endParaRPr lang="en-IN"/>
          </a:p>
        </p:txBody>
      </p:sp>
      <p:sp>
        <p:nvSpPr>
          <p:cNvPr id="69" name="Text 26">
            <a:extLst>
              <a:ext uri="{FF2B5EF4-FFF2-40B4-BE49-F238E27FC236}">
                <a16:creationId xmlns:a16="http://schemas.microsoft.com/office/drawing/2014/main" id="{41F7E5C2-5420-C574-CABA-4E5504888B88}"/>
              </a:ext>
            </a:extLst>
          </p:cNvPr>
          <p:cNvSpPr txBox="1"/>
          <p:nvPr/>
        </p:nvSpPr>
        <p:spPr>
          <a:xfrm>
            <a:off x="419090" y="1747480"/>
            <a:ext cx="1409665" cy="594345"/>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Initiation</a:t>
            </a:r>
            <a:endParaRPr lang="en-US" sz="1300" dirty="0"/>
          </a:p>
        </p:txBody>
      </p:sp>
      <p:sp>
        <p:nvSpPr>
          <p:cNvPr id="73" name="Shape 27">
            <a:extLst>
              <a:ext uri="{FF2B5EF4-FFF2-40B4-BE49-F238E27FC236}">
                <a16:creationId xmlns:a16="http://schemas.microsoft.com/office/drawing/2014/main" id="{828AE81E-A014-4099-94AC-478A829AD0EE}"/>
              </a:ext>
            </a:extLst>
          </p:cNvPr>
          <p:cNvSpPr/>
          <p:nvPr/>
        </p:nvSpPr>
        <p:spPr>
          <a:xfrm>
            <a:off x="1828754" y="2341825"/>
            <a:ext cx="9905752" cy="0"/>
          </a:xfrm>
          <a:prstGeom prst="line">
            <a:avLst/>
          </a:prstGeom>
          <a:noFill/>
          <a:ln w="12700">
            <a:solidFill>
              <a:srgbClr val="9AA6B8"/>
            </a:solidFill>
            <a:prstDash val="dash"/>
          </a:ln>
        </p:spPr>
        <p:txBody>
          <a:bodyPr/>
          <a:lstStyle/>
          <a:p>
            <a:endParaRPr lang="en-IN"/>
          </a:p>
        </p:txBody>
      </p:sp>
      <p:sp>
        <p:nvSpPr>
          <p:cNvPr id="77" name="Text 28">
            <a:extLst>
              <a:ext uri="{FF2B5EF4-FFF2-40B4-BE49-F238E27FC236}">
                <a16:creationId xmlns:a16="http://schemas.microsoft.com/office/drawing/2014/main" id="{A77A851E-0120-9268-9AEC-AFB3A31DD3E9}"/>
              </a:ext>
            </a:extLst>
          </p:cNvPr>
          <p:cNvSpPr txBox="1"/>
          <p:nvPr/>
        </p:nvSpPr>
        <p:spPr>
          <a:xfrm>
            <a:off x="1904952" y="1838917"/>
            <a:ext cx="3962301" cy="228594"/>
          </a:xfrm>
          <a:prstGeom prst="rect">
            <a:avLst/>
          </a:prstGeom>
          <a:noFill/>
          <a:ln/>
        </p:spPr>
        <p:txBody>
          <a:bodyPr wrap="square" lIns="0" tIns="0" rIns="0" bIns="0" rtlCol="0" anchor="ctr"/>
          <a:lstStyle/>
          <a:p>
            <a:pPr marL="0" indent="0" algn="l">
              <a:buNone/>
            </a:pPr>
            <a:r>
              <a:rPr lang="en-US" sz="1400" i="1" dirty="0">
                <a:solidFill>
                  <a:srgbClr val="1A1A1A"/>
                </a:solidFill>
                <a:latin typeface="Calibri" pitchFamily="34" charset="0"/>
                <a:ea typeface="Calibri" pitchFamily="34" charset="-122"/>
                <a:cs typeface="Calibri" pitchFamily="34" charset="-120"/>
              </a:rPr>
              <a:t>Preparatory Activities </a:t>
            </a:r>
            <a:r>
              <a:rPr lang="en-US" sz="1400" b="1" i="1" dirty="0">
                <a:solidFill>
                  <a:srgbClr val="1A1A1A"/>
                </a:solidFill>
                <a:latin typeface="Calibri" pitchFamily="34" charset="0"/>
                <a:ea typeface="Calibri" pitchFamily="34" charset="-122"/>
                <a:cs typeface="Calibri" pitchFamily="34" charset="-120"/>
              </a:rPr>
              <a:t>(W0)</a:t>
            </a:r>
            <a:endParaRPr lang="en-US" sz="1400" dirty="0"/>
          </a:p>
        </p:txBody>
      </p:sp>
      <p:sp>
        <p:nvSpPr>
          <p:cNvPr id="80" name="Shape 29">
            <a:extLst>
              <a:ext uri="{FF2B5EF4-FFF2-40B4-BE49-F238E27FC236}">
                <a16:creationId xmlns:a16="http://schemas.microsoft.com/office/drawing/2014/main" id="{341428A6-4B81-D409-B1EE-7E0FDE781DF9}"/>
              </a:ext>
            </a:extLst>
          </p:cNvPr>
          <p:cNvSpPr/>
          <p:nvPr/>
        </p:nvSpPr>
        <p:spPr>
          <a:xfrm>
            <a:off x="1859234" y="2189429"/>
            <a:ext cx="1920192" cy="0"/>
          </a:xfrm>
          <a:prstGeom prst="line">
            <a:avLst/>
          </a:prstGeom>
          <a:noFill/>
          <a:ln w="19050">
            <a:solidFill>
              <a:srgbClr val="808080"/>
            </a:solidFill>
            <a:prstDash val="solid"/>
            <a:headEnd type="triangle"/>
            <a:tailEnd type="triangle"/>
          </a:ln>
        </p:spPr>
        <p:txBody>
          <a:bodyPr/>
          <a:lstStyle/>
          <a:p>
            <a:endParaRPr lang="en-IN"/>
          </a:p>
        </p:txBody>
      </p:sp>
      <p:sp>
        <p:nvSpPr>
          <p:cNvPr id="83" name="Shape 30">
            <a:extLst>
              <a:ext uri="{FF2B5EF4-FFF2-40B4-BE49-F238E27FC236}">
                <a16:creationId xmlns:a16="http://schemas.microsoft.com/office/drawing/2014/main" id="{35461D6E-22F9-06AC-EDAD-2DDCAD7C40EC}"/>
              </a:ext>
            </a:extLst>
          </p:cNvPr>
          <p:cNvSpPr/>
          <p:nvPr/>
        </p:nvSpPr>
        <p:spPr>
          <a:xfrm>
            <a:off x="419090" y="2341825"/>
            <a:ext cx="1409665" cy="594345"/>
          </a:xfrm>
          <a:prstGeom prst="rect">
            <a:avLst/>
          </a:prstGeom>
          <a:solidFill>
            <a:srgbClr val="2E9BD6"/>
          </a:solidFill>
          <a:ln w="12700">
            <a:solidFill>
              <a:srgbClr val="FFFFFF"/>
            </a:solidFill>
            <a:prstDash val="solid"/>
          </a:ln>
        </p:spPr>
        <p:txBody>
          <a:bodyPr/>
          <a:lstStyle/>
          <a:p>
            <a:endParaRPr lang="en-IN"/>
          </a:p>
        </p:txBody>
      </p:sp>
      <p:sp>
        <p:nvSpPr>
          <p:cNvPr id="87" name="Text 31">
            <a:extLst>
              <a:ext uri="{FF2B5EF4-FFF2-40B4-BE49-F238E27FC236}">
                <a16:creationId xmlns:a16="http://schemas.microsoft.com/office/drawing/2014/main" id="{A633C450-D140-C8A5-A31F-509F2E678565}"/>
              </a:ext>
            </a:extLst>
          </p:cNvPr>
          <p:cNvSpPr txBox="1"/>
          <p:nvPr/>
        </p:nvSpPr>
        <p:spPr>
          <a:xfrm>
            <a:off x="419090" y="2341825"/>
            <a:ext cx="1409665" cy="594345"/>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Definition and</a:t>
            </a:r>
            <a:endParaRPr lang="en-US" sz="1300" dirty="0"/>
          </a:p>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Plan</a:t>
            </a:r>
            <a:endParaRPr lang="en-US" sz="1300" dirty="0"/>
          </a:p>
        </p:txBody>
      </p:sp>
      <p:sp>
        <p:nvSpPr>
          <p:cNvPr id="91" name="Shape 32">
            <a:extLst>
              <a:ext uri="{FF2B5EF4-FFF2-40B4-BE49-F238E27FC236}">
                <a16:creationId xmlns:a16="http://schemas.microsoft.com/office/drawing/2014/main" id="{F54892B1-1AF6-5BA0-7506-4BF5074D2E84}"/>
              </a:ext>
            </a:extLst>
          </p:cNvPr>
          <p:cNvSpPr/>
          <p:nvPr/>
        </p:nvSpPr>
        <p:spPr>
          <a:xfrm>
            <a:off x="1828754" y="2936170"/>
            <a:ext cx="9905752" cy="0"/>
          </a:xfrm>
          <a:prstGeom prst="line">
            <a:avLst/>
          </a:prstGeom>
          <a:noFill/>
          <a:ln w="12700">
            <a:solidFill>
              <a:srgbClr val="9AA6B8"/>
            </a:solidFill>
            <a:prstDash val="dash"/>
          </a:ln>
        </p:spPr>
        <p:txBody>
          <a:bodyPr/>
          <a:lstStyle/>
          <a:p>
            <a:endParaRPr lang="en-IN"/>
          </a:p>
        </p:txBody>
      </p:sp>
      <p:sp>
        <p:nvSpPr>
          <p:cNvPr id="95" name="Text 33">
            <a:extLst>
              <a:ext uri="{FF2B5EF4-FFF2-40B4-BE49-F238E27FC236}">
                <a16:creationId xmlns:a16="http://schemas.microsoft.com/office/drawing/2014/main" id="{D0D4677B-D56C-69E5-6B73-C34F27647F8B}"/>
              </a:ext>
            </a:extLst>
          </p:cNvPr>
          <p:cNvSpPr txBox="1"/>
          <p:nvPr/>
        </p:nvSpPr>
        <p:spPr>
          <a:xfrm>
            <a:off x="1904952" y="2433262"/>
            <a:ext cx="5029074" cy="228594"/>
          </a:xfrm>
          <a:prstGeom prst="rect">
            <a:avLst/>
          </a:prstGeom>
          <a:noFill/>
          <a:ln/>
        </p:spPr>
        <p:txBody>
          <a:bodyPr wrap="square" lIns="0" tIns="0" rIns="0" bIns="0" rtlCol="0" anchor="ctr"/>
          <a:lstStyle/>
          <a:p>
            <a:pPr marL="0" indent="0" algn="l">
              <a:buNone/>
            </a:pPr>
            <a:r>
              <a:rPr lang="en-US" sz="1400" i="1" dirty="0">
                <a:solidFill>
                  <a:srgbClr val="1A1A1A"/>
                </a:solidFill>
                <a:latin typeface="Calibri" pitchFamily="34" charset="0"/>
                <a:ea typeface="Calibri" pitchFamily="34" charset="-122"/>
                <a:cs typeface="Calibri" pitchFamily="34" charset="-120"/>
              </a:rPr>
              <a:t>Refinement &amp; FSD / Prototype Finalisation </a:t>
            </a:r>
            <a:r>
              <a:rPr lang="en-US" sz="1400" b="1" i="1" dirty="0">
                <a:solidFill>
                  <a:srgbClr val="1A1A1A"/>
                </a:solidFill>
                <a:latin typeface="Calibri" pitchFamily="34" charset="0"/>
                <a:ea typeface="Calibri" pitchFamily="34" charset="-122"/>
                <a:cs typeface="Calibri" pitchFamily="34" charset="-120"/>
              </a:rPr>
              <a:t>(W0)</a:t>
            </a:r>
            <a:endParaRPr lang="en-US" sz="1400" dirty="0"/>
          </a:p>
        </p:txBody>
      </p:sp>
      <p:sp>
        <p:nvSpPr>
          <p:cNvPr id="99" name="Shape 34">
            <a:extLst>
              <a:ext uri="{FF2B5EF4-FFF2-40B4-BE49-F238E27FC236}">
                <a16:creationId xmlns:a16="http://schemas.microsoft.com/office/drawing/2014/main" id="{E842AD44-FFB4-2260-43FA-EE2AFF34BBBE}"/>
              </a:ext>
            </a:extLst>
          </p:cNvPr>
          <p:cNvSpPr/>
          <p:nvPr/>
        </p:nvSpPr>
        <p:spPr>
          <a:xfrm>
            <a:off x="1859234" y="2783774"/>
            <a:ext cx="1920192" cy="0"/>
          </a:xfrm>
          <a:prstGeom prst="line">
            <a:avLst/>
          </a:prstGeom>
          <a:noFill/>
          <a:ln w="19050">
            <a:solidFill>
              <a:srgbClr val="2E75B6"/>
            </a:solidFill>
            <a:prstDash val="solid"/>
            <a:headEnd type="triangle"/>
            <a:tailEnd type="triangle"/>
          </a:ln>
        </p:spPr>
        <p:txBody>
          <a:bodyPr/>
          <a:lstStyle/>
          <a:p>
            <a:endParaRPr lang="en-IN"/>
          </a:p>
        </p:txBody>
      </p:sp>
      <p:sp>
        <p:nvSpPr>
          <p:cNvPr id="103" name="Shape 35">
            <a:extLst>
              <a:ext uri="{FF2B5EF4-FFF2-40B4-BE49-F238E27FC236}">
                <a16:creationId xmlns:a16="http://schemas.microsoft.com/office/drawing/2014/main" id="{A3BBE61C-C11D-583D-CF29-46B75BA8DD59}"/>
              </a:ext>
            </a:extLst>
          </p:cNvPr>
          <p:cNvSpPr/>
          <p:nvPr/>
        </p:nvSpPr>
        <p:spPr>
          <a:xfrm>
            <a:off x="419090" y="2936170"/>
            <a:ext cx="1409665" cy="594345"/>
          </a:xfrm>
          <a:prstGeom prst="rect">
            <a:avLst/>
          </a:prstGeom>
          <a:solidFill>
            <a:srgbClr val="2F5597"/>
          </a:solidFill>
          <a:ln w="12700">
            <a:solidFill>
              <a:srgbClr val="FFFFFF"/>
            </a:solidFill>
            <a:prstDash val="solid"/>
          </a:ln>
        </p:spPr>
        <p:txBody>
          <a:bodyPr/>
          <a:lstStyle/>
          <a:p>
            <a:endParaRPr lang="en-IN"/>
          </a:p>
        </p:txBody>
      </p:sp>
      <p:sp>
        <p:nvSpPr>
          <p:cNvPr id="107" name="Text 36">
            <a:extLst>
              <a:ext uri="{FF2B5EF4-FFF2-40B4-BE49-F238E27FC236}">
                <a16:creationId xmlns:a16="http://schemas.microsoft.com/office/drawing/2014/main" id="{21E6DC18-B37F-A3B0-2C52-FEE6B3B26F72}"/>
              </a:ext>
            </a:extLst>
          </p:cNvPr>
          <p:cNvSpPr txBox="1"/>
          <p:nvPr/>
        </p:nvSpPr>
        <p:spPr>
          <a:xfrm>
            <a:off x="419090" y="2936170"/>
            <a:ext cx="1409665" cy="594345"/>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Design</a:t>
            </a:r>
            <a:endParaRPr lang="en-US" sz="1300" dirty="0"/>
          </a:p>
        </p:txBody>
      </p:sp>
      <p:sp>
        <p:nvSpPr>
          <p:cNvPr id="110" name="Shape 37">
            <a:extLst>
              <a:ext uri="{FF2B5EF4-FFF2-40B4-BE49-F238E27FC236}">
                <a16:creationId xmlns:a16="http://schemas.microsoft.com/office/drawing/2014/main" id="{49A90EE9-2615-C07D-971F-6A629D20EC3F}"/>
              </a:ext>
            </a:extLst>
          </p:cNvPr>
          <p:cNvSpPr/>
          <p:nvPr/>
        </p:nvSpPr>
        <p:spPr>
          <a:xfrm>
            <a:off x="1828754" y="3530515"/>
            <a:ext cx="9905752" cy="0"/>
          </a:xfrm>
          <a:prstGeom prst="line">
            <a:avLst/>
          </a:prstGeom>
          <a:noFill/>
          <a:ln w="12700">
            <a:solidFill>
              <a:srgbClr val="9AA6B8"/>
            </a:solidFill>
            <a:prstDash val="dash"/>
          </a:ln>
        </p:spPr>
        <p:txBody>
          <a:bodyPr/>
          <a:lstStyle/>
          <a:p>
            <a:endParaRPr lang="en-IN"/>
          </a:p>
        </p:txBody>
      </p:sp>
      <p:sp>
        <p:nvSpPr>
          <p:cNvPr id="113" name="Text 38">
            <a:extLst>
              <a:ext uri="{FF2B5EF4-FFF2-40B4-BE49-F238E27FC236}">
                <a16:creationId xmlns:a16="http://schemas.microsoft.com/office/drawing/2014/main" id="{B616D3F5-12A2-71FA-E98E-3FE12195CE3C}"/>
              </a:ext>
            </a:extLst>
          </p:cNvPr>
          <p:cNvSpPr txBox="1"/>
          <p:nvPr/>
        </p:nvSpPr>
        <p:spPr>
          <a:xfrm>
            <a:off x="3848004" y="3027608"/>
            <a:ext cx="5029074" cy="228594"/>
          </a:xfrm>
          <a:prstGeom prst="rect">
            <a:avLst/>
          </a:prstGeom>
          <a:noFill/>
          <a:ln/>
        </p:spPr>
        <p:txBody>
          <a:bodyPr wrap="square" lIns="0" tIns="0" rIns="0" bIns="0" rtlCol="0" anchor="ctr"/>
          <a:lstStyle/>
          <a:p>
            <a:pPr marL="0" indent="0" algn="l">
              <a:buNone/>
            </a:pPr>
            <a:r>
              <a:rPr lang="en-US" sz="1400" i="1" dirty="0">
                <a:solidFill>
                  <a:srgbClr val="1A1A1A"/>
                </a:solidFill>
                <a:latin typeface="Calibri" pitchFamily="34" charset="0"/>
                <a:ea typeface="Calibri" pitchFamily="34" charset="-122"/>
                <a:cs typeface="Calibri" pitchFamily="34" charset="-120"/>
              </a:rPr>
              <a:t>Architecture, DB &amp; UI Finalisation </a:t>
            </a:r>
            <a:r>
              <a:rPr lang="en-US" sz="1400" b="1" i="1" dirty="0">
                <a:solidFill>
                  <a:srgbClr val="1A1A1A"/>
                </a:solidFill>
                <a:latin typeface="Calibri" pitchFamily="34" charset="0"/>
                <a:ea typeface="Calibri" pitchFamily="34" charset="-122"/>
                <a:cs typeface="Calibri" pitchFamily="34" charset="-120"/>
              </a:rPr>
              <a:t>(W1 to W2)</a:t>
            </a:r>
            <a:endParaRPr lang="en-US" sz="1400" dirty="0"/>
          </a:p>
        </p:txBody>
      </p:sp>
      <p:sp>
        <p:nvSpPr>
          <p:cNvPr id="116" name="Shape 39">
            <a:extLst>
              <a:ext uri="{FF2B5EF4-FFF2-40B4-BE49-F238E27FC236}">
                <a16:creationId xmlns:a16="http://schemas.microsoft.com/office/drawing/2014/main" id="{554100D5-335C-C1DB-2ACC-89D2B40DD99D}"/>
              </a:ext>
            </a:extLst>
          </p:cNvPr>
          <p:cNvSpPr/>
          <p:nvPr/>
        </p:nvSpPr>
        <p:spPr>
          <a:xfrm>
            <a:off x="3840384" y="3378119"/>
            <a:ext cx="3901342" cy="0"/>
          </a:xfrm>
          <a:prstGeom prst="line">
            <a:avLst/>
          </a:prstGeom>
          <a:noFill/>
          <a:ln w="19050">
            <a:solidFill>
              <a:srgbClr val="2E75B6"/>
            </a:solidFill>
            <a:prstDash val="solid"/>
            <a:headEnd type="triangle"/>
            <a:tailEnd type="triangle"/>
          </a:ln>
        </p:spPr>
        <p:txBody>
          <a:bodyPr/>
          <a:lstStyle/>
          <a:p>
            <a:endParaRPr lang="en-IN"/>
          </a:p>
        </p:txBody>
      </p:sp>
      <p:sp>
        <p:nvSpPr>
          <p:cNvPr id="120" name="Shape 40">
            <a:extLst>
              <a:ext uri="{FF2B5EF4-FFF2-40B4-BE49-F238E27FC236}">
                <a16:creationId xmlns:a16="http://schemas.microsoft.com/office/drawing/2014/main" id="{A019679D-4A14-DE3B-0883-BA176CB3A0D8}"/>
              </a:ext>
            </a:extLst>
          </p:cNvPr>
          <p:cNvSpPr/>
          <p:nvPr/>
        </p:nvSpPr>
        <p:spPr>
          <a:xfrm>
            <a:off x="419090" y="3530515"/>
            <a:ext cx="1409665" cy="594345"/>
          </a:xfrm>
          <a:prstGeom prst="rect">
            <a:avLst/>
          </a:prstGeom>
          <a:solidFill>
            <a:srgbClr val="548235"/>
          </a:solidFill>
          <a:ln w="12700">
            <a:solidFill>
              <a:srgbClr val="FFFFFF"/>
            </a:solidFill>
            <a:prstDash val="solid"/>
          </a:ln>
        </p:spPr>
        <p:txBody>
          <a:bodyPr/>
          <a:lstStyle/>
          <a:p>
            <a:endParaRPr lang="en-IN"/>
          </a:p>
        </p:txBody>
      </p:sp>
      <p:sp>
        <p:nvSpPr>
          <p:cNvPr id="123" name="Text 41">
            <a:extLst>
              <a:ext uri="{FF2B5EF4-FFF2-40B4-BE49-F238E27FC236}">
                <a16:creationId xmlns:a16="http://schemas.microsoft.com/office/drawing/2014/main" id="{12EBBDAE-151D-BBF7-EFBB-7FD79C7E792D}"/>
              </a:ext>
            </a:extLst>
          </p:cNvPr>
          <p:cNvSpPr txBox="1"/>
          <p:nvPr/>
        </p:nvSpPr>
        <p:spPr>
          <a:xfrm>
            <a:off x="419090" y="3530515"/>
            <a:ext cx="1409665" cy="594345"/>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Development</a:t>
            </a:r>
            <a:endParaRPr lang="en-US" sz="1300" dirty="0"/>
          </a:p>
        </p:txBody>
      </p:sp>
      <p:sp>
        <p:nvSpPr>
          <p:cNvPr id="126" name="Shape 42">
            <a:extLst>
              <a:ext uri="{FF2B5EF4-FFF2-40B4-BE49-F238E27FC236}">
                <a16:creationId xmlns:a16="http://schemas.microsoft.com/office/drawing/2014/main" id="{80AE9629-9466-0F37-966D-8DD6EBF6EABC}"/>
              </a:ext>
            </a:extLst>
          </p:cNvPr>
          <p:cNvSpPr/>
          <p:nvPr/>
        </p:nvSpPr>
        <p:spPr>
          <a:xfrm>
            <a:off x="1828754" y="4124860"/>
            <a:ext cx="9905752" cy="0"/>
          </a:xfrm>
          <a:prstGeom prst="line">
            <a:avLst/>
          </a:prstGeom>
          <a:noFill/>
          <a:ln w="12700">
            <a:solidFill>
              <a:srgbClr val="9AA6B8"/>
            </a:solidFill>
            <a:prstDash val="dash"/>
          </a:ln>
        </p:spPr>
        <p:txBody>
          <a:bodyPr/>
          <a:lstStyle/>
          <a:p>
            <a:endParaRPr lang="en-IN"/>
          </a:p>
        </p:txBody>
      </p:sp>
      <p:sp>
        <p:nvSpPr>
          <p:cNvPr id="129" name="Text 43">
            <a:extLst>
              <a:ext uri="{FF2B5EF4-FFF2-40B4-BE49-F238E27FC236}">
                <a16:creationId xmlns:a16="http://schemas.microsoft.com/office/drawing/2014/main" id="{FA722D68-CB01-B9CB-8A0E-78431D067080}"/>
              </a:ext>
            </a:extLst>
          </p:cNvPr>
          <p:cNvSpPr txBox="1"/>
          <p:nvPr/>
        </p:nvSpPr>
        <p:spPr>
          <a:xfrm>
            <a:off x="3809905" y="3621953"/>
            <a:ext cx="7924602" cy="228594"/>
          </a:xfrm>
          <a:prstGeom prst="rect">
            <a:avLst/>
          </a:prstGeom>
          <a:noFill/>
          <a:ln/>
        </p:spPr>
        <p:txBody>
          <a:bodyPr wrap="square" lIns="0" tIns="0" rIns="0" bIns="0" rtlCol="0" anchor="ctr"/>
          <a:lstStyle/>
          <a:p>
            <a:pPr marL="0" indent="0" algn="ctr">
              <a:buNone/>
            </a:pPr>
            <a:r>
              <a:rPr lang="en-US" sz="1400" i="1" dirty="0">
                <a:solidFill>
                  <a:srgbClr val="1A1A1A"/>
                </a:solidFill>
                <a:latin typeface="Calibri" pitchFamily="34" charset="0"/>
                <a:ea typeface="Calibri" pitchFamily="34" charset="-122"/>
                <a:cs typeface="Calibri" pitchFamily="34" charset="-120"/>
              </a:rPr>
              <a:t>Frontend, Backend &amp; DB Development + Unit Testing </a:t>
            </a:r>
            <a:r>
              <a:rPr lang="en-US" sz="1400" b="1" i="1" dirty="0">
                <a:solidFill>
                  <a:srgbClr val="1A1A1A"/>
                </a:solidFill>
                <a:latin typeface="Calibri" pitchFamily="34" charset="0"/>
                <a:ea typeface="Calibri" pitchFamily="34" charset="-122"/>
                <a:cs typeface="Calibri" pitchFamily="34" charset="-120"/>
              </a:rPr>
              <a:t>(W1 to W4)</a:t>
            </a:r>
            <a:endParaRPr lang="en-US" sz="1400" dirty="0"/>
          </a:p>
        </p:txBody>
      </p:sp>
      <p:sp>
        <p:nvSpPr>
          <p:cNvPr id="133" name="Shape 44">
            <a:extLst>
              <a:ext uri="{FF2B5EF4-FFF2-40B4-BE49-F238E27FC236}">
                <a16:creationId xmlns:a16="http://schemas.microsoft.com/office/drawing/2014/main" id="{3729BA38-1508-C1EA-CB14-B93826F88613}"/>
              </a:ext>
            </a:extLst>
          </p:cNvPr>
          <p:cNvSpPr/>
          <p:nvPr/>
        </p:nvSpPr>
        <p:spPr>
          <a:xfrm>
            <a:off x="3840384" y="3972464"/>
            <a:ext cx="6377781" cy="0"/>
          </a:xfrm>
          <a:prstGeom prst="line">
            <a:avLst/>
          </a:prstGeom>
          <a:noFill/>
          <a:ln w="19050">
            <a:solidFill>
              <a:srgbClr val="548235"/>
            </a:solidFill>
            <a:prstDash val="solid"/>
            <a:headEnd type="triangle"/>
            <a:tailEnd type="triangle"/>
          </a:ln>
        </p:spPr>
        <p:txBody>
          <a:bodyPr/>
          <a:lstStyle/>
          <a:p>
            <a:endParaRPr lang="en-IN"/>
          </a:p>
        </p:txBody>
      </p:sp>
      <p:sp>
        <p:nvSpPr>
          <p:cNvPr id="137" name="Shape 45">
            <a:extLst>
              <a:ext uri="{FF2B5EF4-FFF2-40B4-BE49-F238E27FC236}">
                <a16:creationId xmlns:a16="http://schemas.microsoft.com/office/drawing/2014/main" id="{B6B9C516-3327-6996-FBC7-5E39980032ED}"/>
              </a:ext>
            </a:extLst>
          </p:cNvPr>
          <p:cNvSpPr/>
          <p:nvPr/>
        </p:nvSpPr>
        <p:spPr>
          <a:xfrm>
            <a:off x="419090" y="4124860"/>
            <a:ext cx="1409665" cy="594345"/>
          </a:xfrm>
          <a:prstGeom prst="rect">
            <a:avLst/>
          </a:prstGeom>
          <a:solidFill>
            <a:srgbClr val="808080"/>
          </a:solidFill>
          <a:ln w="12700">
            <a:solidFill>
              <a:srgbClr val="FFFFFF"/>
            </a:solidFill>
            <a:prstDash val="solid"/>
          </a:ln>
        </p:spPr>
        <p:txBody>
          <a:bodyPr/>
          <a:lstStyle/>
          <a:p>
            <a:endParaRPr lang="en-IN"/>
          </a:p>
        </p:txBody>
      </p:sp>
      <p:sp>
        <p:nvSpPr>
          <p:cNvPr id="141" name="Text 46">
            <a:extLst>
              <a:ext uri="{FF2B5EF4-FFF2-40B4-BE49-F238E27FC236}">
                <a16:creationId xmlns:a16="http://schemas.microsoft.com/office/drawing/2014/main" id="{B01AE0DC-7152-2F54-6CE5-9BFE84B26469}"/>
              </a:ext>
            </a:extLst>
          </p:cNvPr>
          <p:cNvSpPr txBox="1"/>
          <p:nvPr/>
        </p:nvSpPr>
        <p:spPr>
          <a:xfrm>
            <a:off x="419090" y="4124860"/>
            <a:ext cx="1409665" cy="594345"/>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Testing</a:t>
            </a:r>
            <a:endParaRPr lang="en-US" sz="1300" dirty="0"/>
          </a:p>
        </p:txBody>
      </p:sp>
      <p:sp>
        <p:nvSpPr>
          <p:cNvPr id="145" name="Text 47">
            <a:extLst>
              <a:ext uri="{FF2B5EF4-FFF2-40B4-BE49-F238E27FC236}">
                <a16:creationId xmlns:a16="http://schemas.microsoft.com/office/drawing/2014/main" id="{F052F215-7A24-D701-2D6F-46C710CCF3B3}"/>
              </a:ext>
            </a:extLst>
          </p:cNvPr>
          <p:cNvSpPr txBox="1"/>
          <p:nvPr/>
        </p:nvSpPr>
        <p:spPr>
          <a:xfrm>
            <a:off x="6857829" y="4216298"/>
            <a:ext cx="4800480" cy="228594"/>
          </a:xfrm>
          <a:prstGeom prst="rect">
            <a:avLst/>
          </a:prstGeom>
          <a:noFill/>
          <a:ln/>
        </p:spPr>
        <p:txBody>
          <a:bodyPr wrap="square" lIns="0" tIns="0" rIns="0" bIns="0" rtlCol="0" anchor="ctr"/>
          <a:lstStyle/>
          <a:p>
            <a:pPr marL="0" indent="0" algn="r">
              <a:buNone/>
            </a:pPr>
            <a:r>
              <a:rPr lang="en-US" sz="1400" i="1" dirty="0">
                <a:solidFill>
                  <a:srgbClr val="1A1A1A"/>
                </a:solidFill>
                <a:latin typeface="Calibri" pitchFamily="34" charset="0"/>
                <a:ea typeface="Calibri" pitchFamily="34" charset="-122"/>
                <a:cs typeface="Calibri" pitchFamily="34" charset="-120"/>
              </a:rPr>
              <a:t>SIT, Integration Testing &amp; Bug Fixes </a:t>
            </a:r>
            <a:r>
              <a:rPr lang="en-US" sz="1400" b="1" i="1" dirty="0">
                <a:solidFill>
                  <a:srgbClr val="1A1A1A"/>
                </a:solidFill>
                <a:latin typeface="Calibri" pitchFamily="34" charset="0"/>
                <a:ea typeface="Calibri" pitchFamily="34" charset="-122"/>
                <a:cs typeface="Calibri" pitchFamily="34" charset="-120"/>
              </a:rPr>
              <a:t>(W4)</a:t>
            </a:r>
            <a:endParaRPr lang="en-US" sz="1400" dirty="0"/>
          </a:p>
        </p:txBody>
      </p:sp>
      <p:sp>
        <p:nvSpPr>
          <p:cNvPr id="149" name="Shape 48">
            <a:extLst>
              <a:ext uri="{FF2B5EF4-FFF2-40B4-BE49-F238E27FC236}">
                <a16:creationId xmlns:a16="http://schemas.microsoft.com/office/drawing/2014/main" id="{F39DFA5D-4EF7-9CE9-3887-328BDBC5FD72}"/>
              </a:ext>
            </a:extLst>
          </p:cNvPr>
          <p:cNvSpPr/>
          <p:nvPr/>
        </p:nvSpPr>
        <p:spPr>
          <a:xfrm>
            <a:off x="10279123" y="4566809"/>
            <a:ext cx="1424904" cy="0"/>
          </a:xfrm>
          <a:prstGeom prst="line">
            <a:avLst/>
          </a:prstGeom>
          <a:noFill/>
          <a:ln w="19050">
            <a:solidFill>
              <a:srgbClr val="808080"/>
            </a:solidFill>
            <a:prstDash val="solid"/>
            <a:headEnd type="triangle"/>
            <a:tailEnd type="triangle"/>
          </a:ln>
        </p:spPr>
        <p:txBody>
          <a:bodyPr/>
          <a:lstStyle/>
          <a:p>
            <a:endParaRPr lang="en-IN"/>
          </a:p>
        </p:txBody>
      </p:sp>
      <p:sp>
        <p:nvSpPr>
          <p:cNvPr id="153" name="Shape 49">
            <a:extLst>
              <a:ext uri="{FF2B5EF4-FFF2-40B4-BE49-F238E27FC236}">
                <a16:creationId xmlns:a16="http://schemas.microsoft.com/office/drawing/2014/main" id="{B5C27A42-593D-8AAF-C064-660757B5DFE3}"/>
              </a:ext>
            </a:extLst>
          </p:cNvPr>
          <p:cNvSpPr/>
          <p:nvPr/>
        </p:nvSpPr>
        <p:spPr>
          <a:xfrm>
            <a:off x="419090" y="4917320"/>
            <a:ext cx="1333467" cy="243834"/>
          </a:xfrm>
          <a:prstGeom prst="rect">
            <a:avLst/>
          </a:prstGeom>
          <a:solidFill>
            <a:srgbClr val="20209E"/>
          </a:solidFill>
          <a:ln w="9525">
            <a:solidFill>
              <a:srgbClr val="2222A0"/>
            </a:solidFill>
            <a:prstDash val="solid"/>
          </a:ln>
        </p:spPr>
        <p:txBody>
          <a:bodyPr/>
          <a:lstStyle/>
          <a:p>
            <a:endParaRPr lang="en-IN"/>
          </a:p>
        </p:txBody>
      </p:sp>
      <p:sp>
        <p:nvSpPr>
          <p:cNvPr id="157" name="Text 50">
            <a:extLst>
              <a:ext uri="{FF2B5EF4-FFF2-40B4-BE49-F238E27FC236}">
                <a16:creationId xmlns:a16="http://schemas.microsoft.com/office/drawing/2014/main" id="{36B8D834-38DF-5FD3-B45E-34D9C7006555}"/>
              </a:ext>
            </a:extLst>
          </p:cNvPr>
          <p:cNvSpPr txBox="1"/>
          <p:nvPr/>
        </p:nvSpPr>
        <p:spPr>
          <a:xfrm>
            <a:off x="419090" y="4917320"/>
            <a:ext cx="1333467" cy="243834"/>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Stages</a:t>
            </a:r>
            <a:endParaRPr lang="en-US" sz="1100" dirty="0"/>
          </a:p>
        </p:txBody>
      </p:sp>
      <p:sp>
        <p:nvSpPr>
          <p:cNvPr id="161" name="Shape 51">
            <a:extLst>
              <a:ext uri="{FF2B5EF4-FFF2-40B4-BE49-F238E27FC236}">
                <a16:creationId xmlns:a16="http://schemas.microsoft.com/office/drawing/2014/main" id="{7E2C0453-7371-2398-56BF-EFE0688C1FF8}"/>
              </a:ext>
            </a:extLst>
          </p:cNvPr>
          <p:cNvSpPr/>
          <p:nvPr/>
        </p:nvSpPr>
        <p:spPr>
          <a:xfrm>
            <a:off x="1752556" y="4917320"/>
            <a:ext cx="320032" cy="243834"/>
          </a:xfrm>
          <a:prstGeom prst="rect">
            <a:avLst/>
          </a:prstGeom>
          <a:solidFill>
            <a:srgbClr val="20209E"/>
          </a:solidFill>
          <a:ln w="9525">
            <a:solidFill>
              <a:srgbClr val="2222A0"/>
            </a:solidFill>
            <a:prstDash val="solid"/>
          </a:ln>
        </p:spPr>
        <p:txBody>
          <a:bodyPr/>
          <a:lstStyle/>
          <a:p>
            <a:endParaRPr lang="en-IN"/>
          </a:p>
        </p:txBody>
      </p:sp>
      <p:sp>
        <p:nvSpPr>
          <p:cNvPr id="165" name="Shape 52">
            <a:extLst>
              <a:ext uri="{FF2B5EF4-FFF2-40B4-BE49-F238E27FC236}">
                <a16:creationId xmlns:a16="http://schemas.microsoft.com/office/drawing/2014/main" id="{BC78EE63-2113-47CF-880C-B1A7C80B69EA}"/>
              </a:ext>
            </a:extLst>
          </p:cNvPr>
          <p:cNvSpPr/>
          <p:nvPr/>
        </p:nvSpPr>
        <p:spPr>
          <a:xfrm>
            <a:off x="2072588" y="4917320"/>
            <a:ext cx="9700017" cy="243834"/>
          </a:xfrm>
          <a:prstGeom prst="rect">
            <a:avLst/>
          </a:prstGeom>
          <a:solidFill>
            <a:srgbClr val="20209E"/>
          </a:solidFill>
          <a:ln w="9525">
            <a:solidFill>
              <a:srgbClr val="2222A0"/>
            </a:solidFill>
            <a:prstDash val="solid"/>
          </a:ln>
        </p:spPr>
        <p:txBody>
          <a:bodyPr/>
          <a:lstStyle/>
          <a:p>
            <a:endParaRPr lang="en-IN"/>
          </a:p>
        </p:txBody>
      </p:sp>
      <p:sp>
        <p:nvSpPr>
          <p:cNvPr id="169" name="Text 53">
            <a:extLst>
              <a:ext uri="{FF2B5EF4-FFF2-40B4-BE49-F238E27FC236}">
                <a16:creationId xmlns:a16="http://schemas.microsoft.com/office/drawing/2014/main" id="{1EA8382F-7247-36EC-3644-13B21500894E}"/>
              </a:ext>
            </a:extLst>
          </p:cNvPr>
          <p:cNvSpPr txBox="1"/>
          <p:nvPr/>
        </p:nvSpPr>
        <p:spPr>
          <a:xfrm>
            <a:off x="2072588" y="4917320"/>
            <a:ext cx="9700017" cy="243834"/>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Activities</a:t>
            </a:r>
            <a:endParaRPr lang="en-US" sz="1100" dirty="0"/>
          </a:p>
        </p:txBody>
      </p:sp>
      <p:sp>
        <p:nvSpPr>
          <p:cNvPr id="173" name="Shape 54">
            <a:extLst>
              <a:ext uri="{FF2B5EF4-FFF2-40B4-BE49-F238E27FC236}">
                <a16:creationId xmlns:a16="http://schemas.microsoft.com/office/drawing/2014/main" id="{1B0D1A14-8567-C0A8-9A11-AB155BE90DF4}"/>
              </a:ext>
            </a:extLst>
          </p:cNvPr>
          <p:cNvSpPr/>
          <p:nvPr/>
        </p:nvSpPr>
        <p:spPr>
          <a:xfrm>
            <a:off x="419090" y="5161154"/>
            <a:ext cx="1333467" cy="396230"/>
          </a:xfrm>
          <a:prstGeom prst="rect">
            <a:avLst/>
          </a:prstGeom>
          <a:solidFill>
            <a:srgbClr val="FFFFFF"/>
          </a:solidFill>
          <a:ln w="9525">
            <a:solidFill>
              <a:srgbClr val="BFC7D2"/>
            </a:solidFill>
            <a:prstDash val="solid"/>
          </a:ln>
        </p:spPr>
        <p:txBody>
          <a:bodyPr/>
          <a:lstStyle/>
          <a:p>
            <a:endParaRPr lang="en-IN"/>
          </a:p>
        </p:txBody>
      </p:sp>
      <p:sp>
        <p:nvSpPr>
          <p:cNvPr id="177" name="Text 55">
            <a:extLst>
              <a:ext uri="{FF2B5EF4-FFF2-40B4-BE49-F238E27FC236}">
                <a16:creationId xmlns:a16="http://schemas.microsoft.com/office/drawing/2014/main" id="{8B176189-E603-152E-60EF-63990F5CDDE7}"/>
              </a:ext>
            </a:extLst>
          </p:cNvPr>
          <p:cNvSpPr txBox="1"/>
          <p:nvPr/>
        </p:nvSpPr>
        <p:spPr>
          <a:xfrm>
            <a:off x="480048" y="5161154"/>
            <a:ext cx="1226789" cy="396230"/>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Initiation</a:t>
            </a:r>
            <a:endParaRPr lang="en-US" sz="1050" dirty="0"/>
          </a:p>
        </p:txBody>
      </p:sp>
      <p:sp>
        <p:nvSpPr>
          <p:cNvPr id="181" name="Shape 56">
            <a:extLst>
              <a:ext uri="{FF2B5EF4-FFF2-40B4-BE49-F238E27FC236}">
                <a16:creationId xmlns:a16="http://schemas.microsoft.com/office/drawing/2014/main" id="{0C54D11B-2E3E-3E34-FC06-68F87C7DCB38}"/>
              </a:ext>
            </a:extLst>
          </p:cNvPr>
          <p:cNvSpPr/>
          <p:nvPr/>
        </p:nvSpPr>
        <p:spPr>
          <a:xfrm>
            <a:off x="1752556" y="5161154"/>
            <a:ext cx="320032" cy="396230"/>
          </a:xfrm>
          <a:prstGeom prst="rect">
            <a:avLst/>
          </a:prstGeom>
          <a:solidFill>
            <a:srgbClr val="808080"/>
          </a:solidFill>
          <a:ln w="12700">
            <a:solidFill>
              <a:srgbClr val="FFFFFF"/>
            </a:solidFill>
            <a:prstDash val="solid"/>
          </a:ln>
        </p:spPr>
        <p:txBody>
          <a:bodyPr/>
          <a:lstStyle/>
          <a:p>
            <a:endParaRPr lang="en-IN"/>
          </a:p>
        </p:txBody>
      </p:sp>
      <p:sp>
        <p:nvSpPr>
          <p:cNvPr id="185" name="Shape 57">
            <a:extLst>
              <a:ext uri="{FF2B5EF4-FFF2-40B4-BE49-F238E27FC236}">
                <a16:creationId xmlns:a16="http://schemas.microsoft.com/office/drawing/2014/main" id="{45BF4621-A5FE-A01C-195C-0A05E7782BA9}"/>
              </a:ext>
            </a:extLst>
          </p:cNvPr>
          <p:cNvSpPr/>
          <p:nvPr/>
        </p:nvSpPr>
        <p:spPr>
          <a:xfrm>
            <a:off x="2072588" y="5161154"/>
            <a:ext cx="9700017" cy="396230"/>
          </a:xfrm>
          <a:prstGeom prst="rect">
            <a:avLst/>
          </a:prstGeom>
          <a:solidFill>
            <a:srgbClr val="FFFFFF"/>
          </a:solidFill>
          <a:ln w="9525">
            <a:solidFill>
              <a:srgbClr val="BFC7D2"/>
            </a:solidFill>
            <a:prstDash val="solid"/>
          </a:ln>
        </p:spPr>
        <p:txBody>
          <a:bodyPr/>
          <a:lstStyle/>
          <a:p>
            <a:endParaRPr lang="en-IN"/>
          </a:p>
        </p:txBody>
      </p:sp>
      <p:sp>
        <p:nvSpPr>
          <p:cNvPr id="189" name="Text 58">
            <a:extLst>
              <a:ext uri="{FF2B5EF4-FFF2-40B4-BE49-F238E27FC236}">
                <a16:creationId xmlns:a16="http://schemas.microsoft.com/office/drawing/2014/main" id="{47FE4ED1-F599-633D-1C51-F34AB903A776}"/>
              </a:ext>
            </a:extLst>
          </p:cNvPr>
          <p:cNvSpPr txBox="1"/>
          <p:nvPr/>
        </p:nvSpPr>
        <p:spPr>
          <a:xfrm>
            <a:off x="2164026" y="5161154"/>
            <a:ext cx="9517142" cy="396230"/>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Project Start / Contract Signing, Team Ramp-up, Project Environment, Responsibility Structure, Communication Protocols, Escalation Matrix</a:t>
            </a:r>
            <a:endParaRPr lang="en-US" sz="1050" dirty="0"/>
          </a:p>
        </p:txBody>
      </p:sp>
      <p:sp>
        <p:nvSpPr>
          <p:cNvPr id="193" name="Shape 59">
            <a:extLst>
              <a:ext uri="{FF2B5EF4-FFF2-40B4-BE49-F238E27FC236}">
                <a16:creationId xmlns:a16="http://schemas.microsoft.com/office/drawing/2014/main" id="{C84A90C7-0776-4B02-D404-58C2E0C52A38}"/>
              </a:ext>
            </a:extLst>
          </p:cNvPr>
          <p:cNvSpPr/>
          <p:nvPr/>
        </p:nvSpPr>
        <p:spPr>
          <a:xfrm>
            <a:off x="419090" y="5557384"/>
            <a:ext cx="1333467" cy="335272"/>
          </a:xfrm>
          <a:prstGeom prst="rect">
            <a:avLst/>
          </a:prstGeom>
          <a:solidFill>
            <a:srgbClr val="FFFFFF"/>
          </a:solidFill>
          <a:ln w="9525">
            <a:solidFill>
              <a:srgbClr val="BFC7D2"/>
            </a:solidFill>
            <a:prstDash val="solid"/>
          </a:ln>
        </p:spPr>
        <p:txBody>
          <a:bodyPr/>
          <a:lstStyle/>
          <a:p>
            <a:endParaRPr lang="en-IN"/>
          </a:p>
        </p:txBody>
      </p:sp>
      <p:sp>
        <p:nvSpPr>
          <p:cNvPr id="197" name="Text 60">
            <a:extLst>
              <a:ext uri="{FF2B5EF4-FFF2-40B4-BE49-F238E27FC236}">
                <a16:creationId xmlns:a16="http://schemas.microsoft.com/office/drawing/2014/main" id="{9062BC6D-4615-54D9-A686-CA08C25B275F}"/>
              </a:ext>
            </a:extLst>
          </p:cNvPr>
          <p:cNvSpPr txBox="1"/>
          <p:nvPr/>
        </p:nvSpPr>
        <p:spPr>
          <a:xfrm>
            <a:off x="480048" y="5557384"/>
            <a:ext cx="1226789" cy="335272"/>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Definition and</a:t>
            </a:r>
            <a:endParaRPr lang="en-US" sz="1050" dirty="0"/>
          </a:p>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Plan</a:t>
            </a:r>
            <a:endParaRPr lang="en-US" sz="1050" dirty="0"/>
          </a:p>
        </p:txBody>
      </p:sp>
      <p:sp>
        <p:nvSpPr>
          <p:cNvPr id="201" name="Shape 61">
            <a:extLst>
              <a:ext uri="{FF2B5EF4-FFF2-40B4-BE49-F238E27FC236}">
                <a16:creationId xmlns:a16="http://schemas.microsoft.com/office/drawing/2014/main" id="{3AB7EAFD-105C-10BA-6055-357422D35359}"/>
              </a:ext>
            </a:extLst>
          </p:cNvPr>
          <p:cNvSpPr/>
          <p:nvPr/>
        </p:nvSpPr>
        <p:spPr>
          <a:xfrm>
            <a:off x="1752556" y="5557384"/>
            <a:ext cx="320032" cy="335272"/>
          </a:xfrm>
          <a:prstGeom prst="rect">
            <a:avLst/>
          </a:prstGeom>
          <a:solidFill>
            <a:srgbClr val="2E9BD6"/>
          </a:solidFill>
          <a:ln w="12700">
            <a:solidFill>
              <a:srgbClr val="FFFFFF"/>
            </a:solidFill>
            <a:prstDash val="solid"/>
          </a:ln>
        </p:spPr>
        <p:txBody>
          <a:bodyPr/>
          <a:lstStyle/>
          <a:p>
            <a:endParaRPr lang="en-IN"/>
          </a:p>
        </p:txBody>
      </p:sp>
      <p:sp>
        <p:nvSpPr>
          <p:cNvPr id="205" name="Shape 62">
            <a:extLst>
              <a:ext uri="{FF2B5EF4-FFF2-40B4-BE49-F238E27FC236}">
                <a16:creationId xmlns:a16="http://schemas.microsoft.com/office/drawing/2014/main" id="{8FBD1C6E-90D4-2A81-10F1-9DE9D6C58B20}"/>
              </a:ext>
            </a:extLst>
          </p:cNvPr>
          <p:cNvSpPr/>
          <p:nvPr/>
        </p:nvSpPr>
        <p:spPr>
          <a:xfrm>
            <a:off x="2072588" y="5557384"/>
            <a:ext cx="9700017" cy="335272"/>
          </a:xfrm>
          <a:prstGeom prst="rect">
            <a:avLst/>
          </a:prstGeom>
          <a:solidFill>
            <a:srgbClr val="FFFFFF"/>
          </a:solidFill>
          <a:ln w="9525">
            <a:solidFill>
              <a:srgbClr val="BFC7D2"/>
            </a:solidFill>
            <a:prstDash val="solid"/>
          </a:ln>
        </p:spPr>
        <p:txBody>
          <a:bodyPr/>
          <a:lstStyle/>
          <a:p>
            <a:endParaRPr lang="en-IN"/>
          </a:p>
        </p:txBody>
      </p:sp>
      <p:sp>
        <p:nvSpPr>
          <p:cNvPr id="209" name="Text 63">
            <a:extLst>
              <a:ext uri="{FF2B5EF4-FFF2-40B4-BE49-F238E27FC236}">
                <a16:creationId xmlns:a16="http://schemas.microsoft.com/office/drawing/2014/main" id="{9AB9A3EF-4CDE-A5F1-4275-71E91784B58D}"/>
              </a:ext>
            </a:extLst>
          </p:cNvPr>
          <p:cNvSpPr txBox="1"/>
          <p:nvPr/>
        </p:nvSpPr>
        <p:spPr>
          <a:xfrm>
            <a:off x="2164026" y="5557384"/>
            <a:ext cx="9517142" cy="335272"/>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Gap Clarification, RTM, FSD / Prototype Refinement &amp; Sign-off, Project Plan &amp; Reporting Specifications</a:t>
            </a:r>
            <a:endParaRPr lang="en-US" sz="1050" dirty="0"/>
          </a:p>
        </p:txBody>
      </p:sp>
      <p:sp>
        <p:nvSpPr>
          <p:cNvPr id="211" name="Shape 64">
            <a:extLst>
              <a:ext uri="{FF2B5EF4-FFF2-40B4-BE49-F238E27FC236}">
                <a16:creationId xmlns:a16="http://schemas.microsoft.com/office/drawing/2014/main" id="{D2707838-502F-69D0-788E-55BE7E9CAAFE}"/>
              </a:ext>
            </a:extLst>
          </p:cNvPr>
          <p:cNvSpPr/>
          <p:nvPr/>
        </p:nvSpPr>
        <p:spPr>
          <a:xfrm>
            <a:off x="419090" y="5892656"/>
            <a:ext cx="1333467" cy="274313"/>
          </a:xfrm>
          <a:prstGeom prst="rect">
            <a:avLst/>
          </a:prstGeom>
          <a:solidFill>
            <a:srgbClr val="FFFFFF"/>
          </a:solidFill>
          <a:ln w="9525">
            <a:solidFill>
              <a:srgbClr val="BFC7D2"/>
            </a:solidFill>
            <a:prstDash val="solid"/>
          </a:ln>
        </p:spPr>
        <p:txBody>
          <a:bodyPr/>
          <a:lstStyle/>
          <a:p>
            <a:endParaRPr lang="en-IN"/>
          </a:p>
        </p:txBody>
      </p:sp>
      <p:sp>
        <p:nvSpPr>
          <p:cNvPr id="213" name="Text 65">
            <a:extLst>
              <a:ext uri="{FF2B5EF4-FFF2-40B4-BE49-F238E27FC236}">
                <a16:creationId xmlns:a16="http://schemas.microsoft.com/office/drawing/2014/main" id="{24958FD9-07AF-B2CE-658C-6AEA0BF22A30}"/>
              </a:ext>
            </a:extLst>
          </p:cNvPr>
          <p:cNvSpPr txBox="1"/>
          <p:nvPr/>
        </p:nvSpPr>
        <p:spPr>
          <a:xfrm>
            <a:off x="480048" y="5892656"/>
            <a:ext cx="1226789" cy="274313"/>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Design</a:t>
            </a:r>
            <a:endParaRPr lang="en-US" sz="1050" dirty="0"/>
          </a:p>
        </p:txBody>
      </p:sp>
      <p:sp>
        <p:nvSpPr>
          <p:cNvPr id="215" name="Shape 66">
            <a:extLst>
              <a:ext uri="{FF2B5EF4-FFF2-40B4-BE49-F238E27FC236}">
                <a16:creationId xmlns:a16="http://schemas.microsoft.com/office/drawing/2014/main" id="{79FB05C1-BE39-9079-EC78-25185FC73EA4}"/>
              </a:ext>
            </a:extLst>
          </p:cNvPr>
          <p:cNvSpPr/>
          <p:nvPr/>
        </p:nvSpPr>
        <p:spPr>
          <a:xfrm>
            <a:off x="1752556" y="5892656"/>
            <a:ext cx="320032" cy="274313"/>
          </a:xfrm>
          <a:prstGeom prst="rect">
            <a:avLst/>
          </a:prstGeom>
          <a:solidFill>
            <a:srgbClr val="2F5597"/>
          </a:solidFill>
          <a:ln w="12700">
            <a:solidFill>
              <a:srgbClr val="FFFFFF"/>
            </a:solidFill>
            <a:prstDash val="solid"/>
          </a:ln>
        </p:spPr>
        <p:txBody>
          <a:bodyPr/>
          <a:lstStyle/>
          <a:p>
            <a:endParaRPr lang="en-IN"/>
          </a:p>
        </p:txBody>
      </p:sp>
      <p:sp>
        <p:nvSpPr>
          <p:cNvPr id="217" name="Shape 67">
            <a:extLst>
              <a:ext uri="{FF2B5EF4-FFF2-40B4-BE49-F238E27FC236}">
                <a16:creationId xmlns:a16="http://schemas.microsoft.com/office/drawing/2014/main" id="{2E41A5D6-EBCF-8E66-B7AB-5FF3EBB99A5A}"/>
              </a:ext>
            </a:extLst>
          </p:cNvPr>
          <p:cNvSpPr/>
          <p:nvPr/>
        </p:nvSpPr>
        <p:spPr>
          <a:xfrm>
            <a:off x="2072588" y="5892656"/>
            <a:ext cx="9700017" cy="274313"/>
          </a:xfrm>
          <a:prstGeom prst="rect">
            <a:avLst/>
          </a:prstGeom>
          <a:solidFill>
            <a:srgbClr val="FFFFFF"/>
          </a:solidFill>
          <a:ln w="9525">
            <a:solidFill>
              <a:srgbClr val="BFC7D2"/>
            </a:solidFill>
            <a:prstDash val="solid"/>
          </a:ln>
        </p:spPr>
        <p:txBody>
          <a:bodyPr/>
          <a:lstStyle/>
          <a:p>
            <a:endParaRPr lang="en-IN"/>
          </a:p>
        </p:txBody>
      </p:sp>
      <p:sp>
        <p:nvSpPr>
          <p:cNvPr id="219" name="Text 68">
            <a:extLst>
              <a:ext uri="{FF2B5EF4-FFF2-40B4-BE49-F238E27FC236}">
                <a16:creationId xmlns:a16="http://schemas.microsoft.com/office/drawing/2014/main" id="{FCDED42D-0C22-8832-D020-D18B600C1ABD}"/>
              </a:ext>
            </a:extLst>
          </p:cNvPr>
          <p:cNvSpPr txBox="1"/>
          <p:nvPr/>
        </p:nvSpPr>
        <p:spPr>
          <a:xfrm>
            <a:off x="2164026" y="5892656"/>
            <a:ext cx="9517142" cy="274313"/>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Architecture, DB &amp; UI Finalisation</a:t>
            </a:r>
            <a:endParaRPr lang="en-US" sz="1050" dirty="0"/>
          </a:p>
        </p:txBody>
      </p:sp>
      <p:sp>
        <p:nvSpPr>
          <p:cNvPr id="221" name="Shape 69">
            <a:extLst>
              <a:ext uri="{FF2B5EF4-FFF2-40B4-BE49-F238E27FC236}">
                <a16:creationId xmlns:a16="http://schemas.microsoft.com/office/drawing/2014/main" id="{DC9C9ABD-8AF2-55B8-ABAD-F5D7B94D93C3}"/>
              </a:ext>
            </a:extLst>
          </p:cNvPr>
          <p:cNvSpPr/>
          <p:nvPr/>
        </p:nvSpPr>
        <p:spPr>
          <a:xfrm>
            <a:off x="419090" y="6166969"/>
            <a:ext cx="1333467" cy="274313"/>
          </a:xfrm>
          <a:prstGeom prst="rect">
            <a:avLst/>
          </a:prstGeom>
          <a:solidFill>
            <a:srgbClr val="FFFFFF"/>
          </a:solidFill>
          <a:ln w="9525">
            <a:solidFill>
              <a:srgbClr val="BFC7D2"/>
            </a:solidFill>
            <a:prstDash val="solid"/>
          </a:ln>
        </p:spPr>
        <p:txBody>
          <a:bodyPr/>
          <a:lstStyle/>
          <a:p>
            <a:endParaRPr lang="en-IN"/>
          </a:p>
        </p:txBody>
      </p:sp>
      <p:sp>
        <p:nvSpPr>
          <p:cNvPr id="223" name="Text 70">
            <a:extLst>
              <a:ext uri="{FF2B5EF4-FFF2-40B4-BE49-F238E27FC236}">
                <a16:creationId xmlns:a16="http://schemas.microsoft.com/office/drawing/2014/main" id="{3EB22E9F-9BB8-032F-D322-FC044E3DEC4A}"/>
              </a:ext>
            </a:extLst>
          </p:cNvPr>
          <p:cNvSpPr txBox="1"/>
          <p:nvPr/>
        </p:nvSpPr>
        <p:spPr>
          <a:xfrm>
            <a:off x="480048" y="6166969"/>
            <a:ext cx="1226789" cy="274313"/>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Development</a:t>
            </a:r>
            <a:endParaRPr lang="en-US" sz="1050" dirty="0"/>
          </a:p>
        </p:txBody>
      </p:sp>
      <p:sp>
        <p:nvSpPr>
          <p:cNvPr id="225" name="Shape 71">
            <a:extLst>
              <a:ext uri="{FF2B5EF4-FFF2-40B4-BE49-F238E27FC236}">
                <a16:creationId xmlns:a16="http://schemas.microsoft.com/office/drawing/2014/main" id="{211A467A-DAE3-4561-CCA0-CCDADB5AFD09}"/>
              </a:ext>
            </a:extLst>
          </p:cNvPr>
          <p:cNvSpPr/>
          <p:nvPr/>
        </p:nvSpPr>
        <p:spPr>
          <a:xfrm>
            <a:off x="1752556" y="6166969"/>
            <a:ext cx="320032" cy="274313"/>
          </a:xfrm>
          <a:prstGeom prst="rect">
            <a:avLst/>
          </a:prstGeom>
          <a:solidFill>
            <a:srgbClr val="548235"/>
          </a:solidFill>
          <a:ln w="12700">
            <a:solidFill>
              <a:srgbClr val="FFFFFF"/>
            </a:solidFill>
            <a:prstDash val="solid"/>
          </a:ln>
        </p:spPr>
        <p:txBody>
          <a:bodyPr/>
          <a:lstStyle/>
          <a:p>
            <a:endParaRPr lang="en-IN"/>
          </a:p>
        </p:txBody>
      </p:sp>
      <p:sp>
        <p:nvSpPr>
          <p:cNvPr id="227" name="Shape 72">
            <a:extLst>
              <a:ext uri="{FF2B5EF4-FFF2-40B4-BE49-F238E27FC236}">
                <a16:creationId xmlns:a16="http://schemas.microsoft.com/office/drawing/2014/main" id="{FC7621C3-36A3-81E4-C761-15778CF43978}"/>
              </a:ext>
            </a:extLst>
          </p:cNvPr>
          <p:cNvSpPr/>
          <p:nvPr/>
        </p:nvSpPr>
        <p:spPr>
          <a:xfrm>
            <a:off x="2072588" y="6166969"/>
            <a:ext cx="9700017" cy="274313"/>
          </a:xfrm>
          <a:prstGeom prst="rect">
            <a:avLst/>
          </a:prstGeom>
          <a:solidFill>
            <a:srgbClr val="FFFFFF"/>
          </a:solidFill>
          <a:ln w="9525">
            <a:solidFill>
              <a:srgbClr val="BFC7D2"/>
            </a:solidFill>
            <a:prstDash val="solid"/>
          </a:ln>
        </p:spPr>
        <p:txBody>
          <a:bodyPr/>
          <a:lstStyle/>
          <a:p>
            <a:endParaRPr lang="en-IN"/>
          </a:p>
        </p:txBody>
      </p:sp>
      <p:sp>
        <p:nvSpPr>
          <p:cNvPr id="229" name="Text 73">
            <a:extLst>
              <a:ext uri="{FF2B5EF4-FFF2-40B4-BE49-F238E27FC236}">
                <a16:creationId xmlns:a16="http://schemas.microsoft.com/office/drawing/2014/main" id="{BAB15F62-4ED4-6252-4A84-636AF08C2FDE}"/>
              </a:ext>
            </a:extLst>
          </p:cNvPr>
          <p:cNvSpPr txBox="1"/>
          <p:nvPr/>
        </p:nvSpPr>
        <p:spPr>
          <a:xfrm>
            <a:off x="2164026" y="6166969"/>
            <a:ext cx="9517142" cy="274313"/>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Frontend, Backend &amp; DB Development along with Unit Testing &amp; Solution Integration</a:t>
            </a:r>
            <a:endParaRPr lang="en-US" sz="1050" dirty="0"/>
          </a:p>
        </p:txBody>
      </p:sp>
      <p:sp>
        <p:nvSpPr>
          <p:cNvPr id="231" name="Shape 74">
            <a:extLst>
              <a:ext uri="{FF2B5EF4-FFF2-40B4-BE49-F238E27FC236}">
                <a16:creationId xmlns:a16="http://schemas.microsoft.com/office/drawing/2014/main" id="{A90B56D7-938E-0E6E-A2AB-FC40911917DA}"/>
              </a:ext>
            </a:extLst>
          </p:cNvPr>
          <p:cNvSpPr/>
          <p:nvPr/>
        </p:nvSpPr>
        <p:spPr>
          <a:xfrm>
            <a:off x="419090" y="6441282"/>
            <a:ext cx="1333467" cy="274313"/>
          </a:xfrm>
          <a:prstGeom prst="rect">
            <a:avLst/>
          </a:prstGeom>
          <a:solidFill>
            <a:srgbClr val="FFFFFF"/>
          </a:solidFill>
          <a:ln w="9525">
            <a:solidFill>
              <a:srgbClr val="BFC7D2"/>
            </a:solidFill>
            <a:prstDash val="solid"/>
          </a:ln>
        </p:spPr>
        <p:txBody>
          <a:bodyPr/>
          <a:lstStyle/>
          <a:p>
            <a:endParaRPr lang="en-IN"/>
          </a:p>
        </p:txBody>
      </p:sp>
      <p:sp>
        <p:nvSpPr>
          <p:cNvPr id="233" name="Text 75">
            <a:extLst>
              <a:ext uri="{FF2B5EF4-FFF2-40B4-BE49-F238E27FC236}">
                <a16:creationId xmlns:a16="http://schemas.microsoft.com/office/drawing/2014/main" id="{D5966AF3-7A31-DF18-2F81-B0D18A9D199E}"/>
              </a:ext>
            </a:extLst>
          </p:cNvPr>
          <p:cNvSpPr txBox="1"/>
          <p:nvPr/>
        </p:nvSpPr>
        <p:spPr>
          <a:xfrm>
            <a:off x="480048" y="6441282"/>
            <a:ext cx="1226789" cy="274313"/>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Testing</a:t>
            </a:r>
            <a:endParaRPr lang="en-US" sz="1050" dirty="0"/>
          </a:p>
        </p:txBody>
      </p:sp>
      <p:sp>
        <p:nvSpPr>
          <p:cNvPr id="235" name="Shape 76">
            <a:extLst>
              <a:ext uri="{FF2B5EF4-FFF2-40B4-BE49-F238E27FC236}">
                <a16:creationId xmlns:a16="http://schemas.microsoft.com/office/drawing/2014/main" id="{FE5209F4-FA3C-B941-259F-574E36DB4892}"/>
              </a:ext>
            </a:extLst>
          </p:cNvPr>
          <p:cNvSpPr/>
          <p:nvPr/>
        </p:nvSpPr>
        <p:spPr>
          <a:xfrm>
            <a:off x="1752556" y="6441282"/>
            <a:ext cx="320032" cy="274313"/>
          </a:xfrm>
          <a:prstGeom prst="rect">
            <a:avLst/>
          </a:prstGeom>
          <a:solidFill>
            <a:srgbClr val="808080"/>
          </a:solidFill>
          <a:ln w="12700">
            <a:solidFill>
              <a:srgbClr val="FFFFFF"/>
            </a:solidFill>
            <a:prstDash val="solid"/>
          </a:ln>
        </p:spPr>
        <p:txBody>
          <a:bodyPr/>
          <a:lstStyle/>
          <a:p>
            <a:endParaRPr lang="en-IN"/>
          </a:p>
        </p:txBody>
      </p:sp>
      <p:sp>
        <p:nvSpPr>
          <p:cNvPr id="237" name="Shape 77">
            <a:extLst>
              <a:ext uri="{FF2B5EF4-FFF2-40B4-BE49-F238E27FC236}">
                <a16:creationId xmlns:a16="http://schemas.microsoft.com/office/drawing/2014/main" id="{E9715B46-EBC1-1A5B-593B-C3C6A7ED85C6}"/>
              </a:ext>
            </a:extLst>
          </p:cNvPr>
          <p:cNvSpPr/>
          <p:nvPr/>
        </p:nvSpPr>
        <p:spPr>
          <a:xfrm>
            <a:off x="2072588" y="6441282"/>
            <a:ext cx="9700017" cy="274313"/>
          </a:xfrm>
          <a:prstGeom prst="rect">
            <a:avLst/>
          </a:prstGeom>
          <a:solidFill>
            <a:srgbClr val="FFFFFF"/>
          </a:solidFill>
          <a:ln w="9525">
            <a:solidFill>
              <a:srgbClr val="BFC7D2"/>
            </a:solidFill>
            <a:prstDash val="solid"/>
          </a:ln>
        </p:spPr>
        <p:txBody>
          <a:bodyPr/>
          <a:lstStyle/>
          <a:p>
            <a:endParaRPr lang="en-IN"/>
          </a:p>
        </p:txBody>
      </p:sp>
      <p:sp>
        <p:nvSpPr>
          <p:cNvPr id="239" name="Text 78">
            <a:extLst>
              <a:ext uri="{FF2B5EF4-FFF2-40B4-BE49-F238E27FC236}">
                <a16:creationId xmlns:a16="http://schemas.microsoft.com/office/drawing/2014/main" id="{A3F2B0F8-C5AC-9614-9357-11A06813E576}"/>
              </a:ext>
            </a:extLst>
          </p:cNvPr>
          <p:cNvSpPr txBox="1"/>
          <p:nvPr/>
        </p:nvSpPr>
        <p:spPr>
          <a:xfrm>
            <a:off x="2164026" y="6441282"/>
            <a:ext cx="9517142" cy="274313"/>
          </a:xfrm>
          <a:prstGeom prst="rect">
            <a:avLst/>
          </a:prstGeom>
          <a:noFill/>
          <a:ln/>
        </p:spPr>
        <p:txBody>
          <a:bodyPr wrap="square" lIns="0" tIns="0" rIns="0" bIns="0" rtlCol="0" anchor="ctr"/>
          <a:lstStyle/>
          <a:p>
            <a:pPr marL="0" indent="0" algn="l">
              <a:lnSpc>
                <a:spcPct val="95000"/>
              </a:lnSpc>
              <a:buNone/>
            </a:pPr>
            <a:r>
              <a:rPr lang="en-US" sz="1050" dirty="0">
                <a:solidFill>
                  <a:srgbClr val="1A1A1A"/>
                </a:solidFill>
                <a:latin typeface="Calibri" pitchFamily="34" charset="0"/>
                <a:ea typeface="Calibri" pitchFamily="34" charset="-122"/>
                <a:cs typeface="Calibri" pitchFamily="34" charset="-120"/>
              </a:rPr>
              <a:t>SIT / Integration Testing, Bug Fixes &amp; UAT Readiness</a:t>
            </a:r>
            <a:endParaRPr lang="en-US" sz="1050" dirty="0"/>
          </a:p>
        </p:txBody>
      </p:sp>
      <p:sp>
        <p:nvSpPr>
          <p:cNvPr id="241" name="Shape 79">
            <a:extLst>
              <a:ext uri="{FF2B5EF4-FFF2-40B4-BE49-F238E27FC236}">
                <a16:creationId xmlns:a16="http://schemas.microsoft.com/office/drawing/2014/main" id="{5BA8A6BD-1675-771C-46F1-B50DAAB90413}"/>
              </a:ext>
            </a:extLst>
          </p:cNvPr>
          <p:cNvSpPr/>
          <p:nvPr/>
        </p:nvSpPr>
        <p:spPr>
          <a:xfrm>
            <a:off x="3687988" y="1092176"/>
            <a:ext cx="243834" cy="243834"/>
          </a:xfrm>
          <a:prstGeom prst="star5">
            <a:avLst/>
          </a:prstGeom>
          <a:solidFill>
            <a:srgbClr val="FFFF00"/>
          </a:solidFill>
          <a:ln w="12700">
            <a:solidFill>
              <a:srgbClr val="E8A33D"/>
            </a:solidFill>
            <a:prstDash val="solid"/>
          </a:ln>
        </p:spPr>
        <p:txBody>
          <a:bodyPr/>
          <a:lstStyle/>
          <a:p>
            <a:endParaRPr lang="en-IN"/>
          </a:p>
        </p:txBody>
      </p:sp>
      <p:sp>
        <p:nvSpPr>
          <p:cNvPr id="243" name="Shape 80">
            <a:extLst>
              <a:ext uri="{FF2B5EF4-FFF2-40B4-BE49-F238E27FC236}">
                <a16:creationId xmlns:a16="http://schemas.microsoft.com/office/drawing/2014/main" id="{85247C53-34FD-F95B-8D26-C191B6B515AA}"/>
              </a:ext>
            </a:extLst>
          </p:cNvPr>
          <p:cNvSpPr/>
          <p:nvPr/>
        </p:nvSpPr>
        <p:spPr>
          <a:xfrm>
            <a:off x="6065368" y="1092176"/>
            <a:ext cx="243834" cy="243834"/>
          </a:xfrm>
          <a:prstGeom prst="star5">
            <a:avLst/>
          </a:prstGeom>
          <a:solidFill>
            <a:srgbClr val="FFFF00"/>
          </a:solidFill>
          <a:ln w="12700">
            <a:solidFill>
              <a:srgbClr val="E8A33D"/>
            </a:solidFill>
            <a:prstDash val="solid"/>
          </a:ln>
        </p:spPr>
        <p:txBody>
          <a:bodyPr/>
          <a:lstStyle/>
          <a:p>
            <a:endParaRPr lang="en-IN"/>
          </a:p>
        </p:txBody>
      </p:sp>
      <p:sp>
        <p:nvSpPr>
          <p:cNvPr id="245" name="Shape 81">
            <a:extLst>
              <a:ext uri="{FF2B5EF4-FFF2-40B4-BE49-F238E27FC236}">
                <a16:creationId xmlns:a16="http://schemas.microsoft.com/office/drawing/2014/main" id="{2D78F9FA-F1DE-757A-30C4-6C61F5251346}"/>
              </a:ext>
            </a:extLst>
          </p:cNvPr>
          <p:cNvSpPr/>
          <p:nvPr/>
        </p:nvSpPr>
        <p:spPr>
          <a:xfrm>
            <a:off x="10126727" y="1092176"/>
            <a:ext cx="243834" cy="243834"/>
          </a:xfrm>
          <a:prstGeom prst="star5">
            <a:avLst/>
          </a:prstGeom>
          <a:solidFill>
            <a:srgbClr val="FFFF00"/>
          </a:solidFill>
          <a:ln w="12700">
            <a:solidFill>
              <a:srgbClr val="E8A33D"/>
            </a:solidFill>
            <a:prstDash val="solid"/>
          </a:ln>
        </p:spPr>
        <p:txBody>
          <a:bodyPr/>
          <a:lstStyle/>
          <a:p>
            <a:endParaRPr lang="en-IN"/>
          </a:p>
        </p:txBody>
      </p:sp>
      <p:sp>
        <p:nvSpPr>
          <p:cNvPr id="247" name="Shape 82">
            <a:extLst>
              <a:ext uri="{FF2B5EF4-FFF2-40B4-BE49-F238E27FC236}">
                <a16:creationId xmlns:a16="http://schemas.microsoft.com/office/drawing/2014/main" id="{1E02939F-608D-FFB7-AD82-8657CCD2EE4C}"/>
              </a:ext>
            </a:extLst>
          </p:cNvPr>
          <p:cNvSpPr/>
          <p:nvPr/>
        </p:nvSpPr>
        <p:spPr>
          <a:xfrm>
            <a:off x="11612590" y="1092176"/>
            <a:ext cx="243834" cy="243834"/>
          </a:xfrm>
          <a:prstGeom prst="star5">
            <a:avLst/>
          </a:prstGeom>
          <a:solidFill>
            <a:srgbClr val="FFFF00"/>
          </a:solidFill>
          <a:ln w="12700">
            <a:solidFill>
              <a:srgbClr val="E8A33D"/>
            </a:solidFill>
            <a:prstDash val="solid"/>
          </a:ln>
        </p:spPr>
        <p:txBody>
          <a:bodyPr/>
          <a:lstStyle/>
          <a:p>
            <a:endParaRPr lang="en-IN"/>
          </a:p>
        </p:txBody>
      </p:sp>
    </p:spTree>
    <p:extLst>
      <p:ext uri="{BB962C8B-B14F-4D97-AF65-F5344CB8AC3E}">
        <p14:creationId xmlns:p14="http://schemas.microsoft.com/office/powerpoint/2010/main" val="2266871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94B0C3-8377-F60A-F548-DB8F6967CDCD}"/>
              </a:ext>
            </a:extLst>
          </p:cNvPr>
          <p:cNvSpPr>
            <a:spLocks noGrp="1"/>
          </p:cNvSpPr>
          <p:nvPr>
            <p:ph type="title"/>
          </p:nvPr>
        </p:nvSpPr>
        <p:spPr/>
        <p:txBody>
          <a:bodyPr/>
          <a:lstStyle/>
          <a:p>
            <a:r>
              <a:rPr lang="en-US" dirty="0"/>
              <a:t>Assumptions and Dependencies</a:t>
            </a:r>
            <a:endParaRPr lang="en-IN" dirty="0"/>
          </a:p>
        </p:txBody>
      </p:sp>
      <p:sp>
        <p:nvSpPr>
          <p:cNvPr id="725" name="Shape 5">
            <a:extLst>
              <a:ext uri="{FF2B5EF4-FFF2-40B4-BE49-F238E27FC236}">
                <a16:creationId xmlns:a16="http://schemas.microsoft.com/office/drawing/2014/main" id="{DB7FAF0A-1691-FDEB-2462-0F0E0E150FD8}"/>
              </a:ext>
            </a:extLst>
          </p:cNvPr>
          <p:cNvSpPr/>
          <p:nvPr/>
        </p:nvSpPr>
        <p:spPr>
          <a:xfrm>
            <a:off x="419090" y="1000738"/>
            <a:ext cx="5562461" cy="274313"/>
          </a:xfrm>
          <a:prstGeom prst="roundRect">
            <a:avLst>
              <a:gd name="adj" fmla="val 40001"/>
            </a:avLst>
          </a:prstGeom>
          <a:solidFill>
            <a:srgbClr val="11397C"/>
          </a:solidFill>
          <a:ln w="12700">
            <a:solidFill>
              <a:srgbClr val="11397C"/>
            </a:solidFill>
            <a:prstDash val="solid"/>
          </a:ln>
        </p:spPr>
        <p:txBody>
          <a:bodyPr/>
          <a:lstStyle/>
          <a:p>
            <a:endParaRPr lang="en-IN"/>
          </a:p>
        </p:txBody>
      </p:sp>
      <p:sp>
        <p:nvSpPr>
          <p:cNvPr id="727" name="Text 6">
            <a:extLst>
              <a:ext uri="{FF2B5EF4-FFF2-40B4-BE49-F238E27FC236}">
                <a16:creationId xmlns:a16="http://schemas.microsoft.com/office/drawing/2014/main" id="{5FAB12F8-9342-FAD0-DAD6-1580B3C5AF4C}"/>
              </a:ext>
            </a:extLst>
          </p:cNvPr>
          <p:cNvSpPr txBox="1"/>
          <p:nvPr/>
        </p:nvSpPr>
        <p:spPr>
          <a:xfrm>
            <a:off x="419090" y="1000738"/>
            <a:ext cx="5562461" cy="274313"/>
          </a:xfrm>
          <a:prstGeom prst="rect">
            <a:avLst/>
          </a:prstGeom>
          <a:noFill/>
          <a:ln/>
        </p:spPr>
        <p:txBody>
          <a:bodyPr wrap="square" lIns="0" tIns="0" rIns="0" bIns="0" rtlCol="0" anchor="ctr"/>
          <a:lstStyle/>
          <a:p>
            <a:pPr marL="0" indent="0" algn="ctr">
              <a:lnSpc>
                <a:spcPct val="93000"/>
              </a:lnSpc>
              <a:buNone/>
            </a:pPr>
            <a:r>
              <a:rPr lang="en-US" sz="1160" b="1" dirty="0">
                <a:solidFill>
                  <a:srgbClr val="FFFFFF"/>
                </a:solidFill>
                <a:latin typeface="Calibri" pitchFamily="34" charset="0"/>
                <a:ea typeface="Calibri" pitchFamily="34" charset="-122"/>
                <a:cs typeface="Calibri" pitchFamily="34" charset="-120"/>
              </a:rPr>
              <a:t>Key Assumptions</a:t>
            </a:r>
            <a:endParaRPr lang="en-US" sz="1160" dirty="0"/>
          </a:p>
        </p:txBody>
      </p:sp>
      <p:sp>
        <p:nvSpPr>
          <p:cNvPr id="729" name="Shape 7">
            <a:extLst>
              <a:ext uri="{FF2B5EF4-FFF2-40B4-BE49-F238E27FC236}">
                <a16:creationId xmlns:a16="http://schemas.microsoft.com/office/drawing/2014/main" id="{336BFB04-4B7A-A105-6B13-B995987BB1EF}"/>
              </a:ext>
            </a:extLst>
          </p:cNvPr>
          <p:cNvSpPr/>
          <p:nvPr/>
        </p:nvSpPr>
        <p:spPr>
          <a:xfrm>
            <a:off x="6210145" y="1000738"/>
            <a:ext cx="5562461" cy="274313"/>
          </a:xfrm>
          <a:prstGeom prst="roundRect">
            <a:avLst>
              <a:gd name="adj" fmla="val 40001"/>
            </a:avLst>
          </a:prstGeom>
          <a:solidFill>
            <a:srgbClr val="1B4F8A"/>
          </a:solidFill>
          <a:ln w="12700">
            <a:solidFill>
              <a:srgbClr val="1B4F8A"/>
            </a:solidFill>
            <a:prstDash val="solid"/>
          </a:ln>
        </p:spPr>
        <p:txBody>
          <a:bodyPr/>
          <a:lstStyle/>
          <a:p>
            <a:endParaRPr lang="en-IN"/>
          </a:p>
        </p:txBody>
      </p:sp>
      <p:sp>
        <p:nvSpPr>
          <p:cNvPr id="731" name="Text 8">
            <a:extLst>
              <a:ext uri="{FF2B5EF4-FFF2-40B4-BE49-F238E27FC236}">
                <a16:creationId xmlns:a16="http://schemas.microsoft.com/office/drawing/2014/main" id="{A3BEA0C5-91D3-986F-B92E-676704B3489E}"/>
              </a:ext>
            </a:extLst>
          </p:cNvPr>
          <p:cNvSpPr txBox="1"/>
          <p:nvPr/>
        </p:nvSpPr>
        <p:spPr>
          <a:xfrm>
            <a:off x="6210145" y="1000738"/>
            <a:ext cx="5562461" cy="274313"/>
          </a:xfrm>
          <a:prstGeom prst="rect">
            <a:avLst/>
          </a:prstGeom>
          <a:noFill/>
          <a:ln/>
        </p:spPr>
        <p:txBody>
          <a:bodyPr wrap="square" lIns="0" tIns="0" rIns="0" bIns="0" rtlCol="0" anchor="ctr"/>
          <a:lstStyle/>
          <a:p>
            <a:pPr marL="0" indent="0" algn="ctr">
              <a:lnSpc>
                <a:spcPct val="93000"/>
              </a:lnSpc>
              <a:buNone/>
            </a:pPr>
            <a:r>
              <a:rPr lang="en-US" sz="1160" b="1" dirty="0">
                <a:solidFill>
                  <a:srgbClr val="FFFFFF"/>
                </a:solidFill>
                <a:latin typeface="Calibri" pitchFamily="34" charset="0"/>
                <a:ea typeface="Calibri" pitchFamily="34" charset="-122"/>
                <a:cs typeface="Calibri" pitchFamily="34" charset="-120"/>
              </a:rPr>
              <a:t>Key Dependencies  —  IMGC Inputs &amp; Actions</a:t>
            </a:r>
            <a:endParaRPr lang="en-US" sz="1160" dirty="0"/>
          </a:p>
        </p:txBody>
      </p:sp>
      <p:sp>
        <p:nvSpPr>
          <p:cNvPr id="733" name="Shape 9">
            <a:extLst>
              <a:ext uri="{FF2B5EF4-FFF2-40B4-BE49-F238E27FC236}">
                <a16:creationId xmlns:a16="http://schemas.microsoft.com/office/drawing/2014/main" id="{5B607CB0-82A9-4539-4439-59FC38D1BFF1}"/>
              </a:ext>
            </a:extLst>
          </p:cNvPr>
          <p:cNvSpPr/>
          <p:nvPr/>
        </p:nvSpPr>
        <p:spPr>
          <a:xfrm>
            <a:off x="419090" y="1351249"/>
            <a:ext cx="5562461" cy="761981"/>
          </a:xfrm>
          <a:prstGeom prst="roundRect">
            <a:avLst>
              <a:gd name="adj" fmla="val 6000"/>
            </a:avLst>
          </a:prstGeom>
          <a:solidFill>
            <a:srgbClr val="FFFFFF"/>
          </a:solidFill>
          <a:ln w="12700">
            <a:solidFill>
              <a:srgbClr val="C2DCF0"/>
            </a:solidFill>
            <a:prstDash val="solid"/>
          </a:ln>
        </p:spPr>
        <p:txBody>
          <a:bodyPr/>
          <a:lstStyle/>
          <a:p>
            <a:endParaRPr lang="en-IN"/>
          </a:p>
        </p:txBody>
      </p:sp>
      <p:sp>
        <p:nvSpPr>
          <p:cNvPr id="735" name="Shape 10">
            <a:extLst>
              <a:ext uri="{FF2B5EF4-FFF2-40B4-BE49-F238E27FC236}">
                <a16:creationId xmlns:a16="http://schemas.microsoft.com/office/drawing/2014/main" id="{96ABFDB9-401F-7679-CFA6-98C6B0006C91}"/>
              </a:ext>
            </a:extLst>
          </p:cNvPr>
          <p:cNvSpPr/>
          <p:nvPr/>
        </p:nvSpPr>
        <p:spPr>
          <a:xfrm>
            <a:off x="419090" y="1351249"/>
            <a:ext cx="45719" cy="761981"/>
          </a:xfrm>
          <a:prstGeom prst="roundRect">
            <a:avLst>
              <a:gd name="adj" fmla="val 40001"/>
            </a:avLst>
          </a:prstGeom>
          <a:solidFill>
            <a:srgbClr val="1B4F8A"/>
          </a:solidFill>
          <a:ln w="6350">
            <a:solidFill>
              <a:srgbClr val="1B4F8A"/>
            </a:solidFill>
            <a:prstDash val="solid"/>
          </a:ln>
        </p:spPr>
        <p:txBody>
          <a:bodyPr/>
          <a:lstStyle/>
          <a:p>
            <a:endParaRPr lang="en-IN"/>
          </a:p>
        </p:txBody>
      </p:sp>
      <p:pic>
        <p:nvPicPr>
          <p:cNvPr id="737" name="Image 0" descr="preencoded.png">
            <a:extLst>
              <a:ext uri="{FF2B5EF4-FFF2-40B4-BE49-F238E27FC236}">
                <a16:creationId xmlns:a16="http://schemas.microsoft.com/office/drawing/2014/main" id="{D8507016-14DF-7CFB-3F50-027F7AABD185}"/>
              </a:ext>
            </a:extLst>
          </p:cNvPr>
          <p:cNvPicPr>
            <a:picLocks noChangeAspect="1"/>
          </p:cNvPicPr>
          <p:nvPr/>
        </p:nvPicPr>
        <p:blipFill>
          <a:blip r:embed="rId2"/>
          <a:stretch>
            <a:fillRect/>
          </a:stretch>
        </p:blipFill>
        <p:spPr>
          <a:xfrm>
            <a:off x="609585" y="1610322"/>
            <a:ext cx="243834" cy="243834"/>
          </a:xfrm>
          <a:prstGeom prst="rect">
            <a:avLst/>
          </a:prstGeom>
        </p:spPr>
      </p:pic>
      <p:sp>
        <p:nvSpPr>
          <p:cNvPr id="739" name="Text 11">
            <a:extLst>
              <a:ext uri="{FF2B5EF4-FFF2-40B4-BE49-F238E27FC236}">
                <a16:creationId xmlns:a16="http://schemas.microsoft.com/office/drawing/2014/main" id="{FDE07BA8-1BDB-0DC9-D12D-21F02F915C2E}"/>
              </a:ext>
            </a:extLst>
          </p:cNvPr>
          <p:cNvSpPr txBox="1"/>
          <p:nvPr/>
        </p:nvSpPr>
        <p:spPr>
          <a:xfrm>
            <a:off x="975336" y="1518885"/>
            <a:ext cx="4724282" cy="198115"/>
          </a:xfrm>
          <a:prstGeom prst="rect">
            <a:avLst/>
          </a:prstGeom>
          <a:noFill/>
          <a:ln/>
        </p:spPr>
        <p:txBody>
          <a:bodyPr wrap="square" lIns="0" tIns="0" rIns="0" bIns="0" rtlCol="0" anchor="ctr"/>
          <a:lstStyle/>
          <a:p>
            <a:pPr marL="0" indent="0" algn="l">
              <a:lnSpc>
                <a:spcPct val="93000"/>
              </a:lnSpc>
              <a:buNone/>
            </a:pPr>
            <a:r>
              <a:rPr lang="en-US" sz="1140" b="1" dirty="0">
                <a:solidFill>
                  <a:srgbClr val="11397C"/>
                </a:solidFill>
                <a:latin typeface="Calibri" pitchFamily="34" charset="0"/>
                <a:ea typeface="Calibri" pitchFamily="34" charset="-122"/>
                <a:cs typeface="Calibri" pitchFamily="34" charset="-120"/>
              </a:rPr>
              <a:t>Cloud &amp; Hosting</a:t>
            </a:r>
            <a:endParaRPr lang="en-US" sz="1140" dirty="0"/>
          </a:p>
        </p:txBody>
      </p:sp>
      <p:sp>
        <p:nvSpPr>
          <p:cNvPr id="741" name="Text 12">
            <a:extLst>
              <a:ext uri="{FF2B5EF4-FFF2-40B4-BE49-F238E27FC236}">
                <a16:creationId xmlns:a16="http://schemas.microsoft.com/office/drawing/2014/main" id="{C1D80B88-25AD-4FA6-A774-795AF2D8D0E0}"/>
              </a:ext>
            </a:extLst>
          </p:cNvPr>
          <p:cNvSpPr txBox="1"/>
          <p:nvPr/>
        </p:nvSpPr>
        <p:spPr>
          <a:xfrm>
            <a:off x="975336" y="1747479"/>
            <a:ext cx="4754761" cy="243834"/>
          </a:xfrm>
          <a:prstGeom prst="rect">
            <a:avLst/>
          </a:prstGeom>
          <a:noFill/>
          <a:ln/>
        </p:spPr>
        <p:txBody>
          <a:bodyPr wrap="square" lIns="0" tIns="0" rIns="0" bIns="0" rtlCol="0" anchor="ctr"/>
          <a:lstStyle/>
          <a:p>
            <a:pPr marL="0" indent="0" algn="l">
              <a:lnSpc>
                <a:spcPct val="95000"/>
              </a:lnSpc>
              <a:buNone/>
            </a:pPr>
            <a:r>
              <a:rPr lang="en-US" sz="860" dirty="0">
                <a:solidFill>
                  <a:srgbClr val="2A6099"/>
                </a:solidFill>
                <a:latin typeface="Calibri" pitchFamily="34" charset="0"/>
                <a:ea typeface="Calibri" pitchFamily="34" charset="-122"/>
                <a:cs typeface="Calibri" pitchFamily="34" charset="-120"/>
              </a:rPr>
              <a:t>Azure / AWS   ·   IMGC subscription &amp; environments   ·   Cloud-agnostic architecture</a:t>
            </a:r>
            <a:endParaRPr lang="en-US" sz="860" dirty="0"/>
          </a:p>
        </p:txBody>
      </p:sp>
      <p:sp>
        <p:nvSpPr>
          <p:cNvPr id="743" name="Shape 13">
            <a:extLst>
              <a:ext uri="{FF2B5EF4-FFF2-40B4-BE49-F238E27FC236}">
                <a16:creationId xmlns:a16="http://schemas.microsoft.com/office/drawing/2014/main" id="{AFFC05D3-3DAC-F127-D6E0-671847A54709}"/>
              </a:ext>
            </a:extLst>
          </p:cNvPr>
          <p:cNvSpPr/>
          <p:nvPr/>
        </p:nvSpPr>
        <p:spPr>
          <a:xfrm>
            <a:off x="419090" y="2204667"/>
            <a:ext cx="5562461" cy="761981"/>
          </a:xfrm>
          <a:prstGeom prst="roundRect">
            <a:avLst>
              <a:gd name="adj" fmla="val 6000"/>
            </a:avLst>
          </a:prstGeom>
          <a:solidFill>
            <a:srgbClr val="FFFFFF"/>
          </a:solidFill>
          <a:ln w="12700">
            <a:solidFill>
              <a:srgbClr val="C2DCF0"/>
            </a:solidFill>
            <a:prstDash val="solid"/>
          </a:ln>
        </p:spPr>
        <p:txBody>
          <a:bodyPr/>
          <a:lstStyle/>
          <a:p>
            <a:endParaRPr lang="en-IN"/>
          </a:p>
        </p:txBody>
      </p:sp>
      <p:sp>
        <p:nvSpPr>
          <p:cNvPr id="745" name="Shape 14">
            <a:extLst>
              <a:ext uri="{FF2B5EF4-FFF2-40B4-BE49-F238E27FC236}">
                <a16:creationId xmlns:a16="http://schemas.microsoft.com/office/drawing/2014/main" id="{14F22779-DAB4-58EB-B33A-23B95ED12AE2}"/>
              </a:ext>
            </a:extLst>
          </p:cNvPr>
          <p:cNvSpPr/>
          <p:nvPr/>
        </p:nvSpPr>
        <p:spPr>
          <a:xfrm>
            <a:off x="419090" y="2204667"/>
            <a:ext cx="45719" cy="761981"/>
          </a:xfrm>
          <a:prstGeom prst="roundRect">
            <a:avLst>
              <a:gd name="adj" fmla="val 40001"/>
            </a:avLst>
          </a:prstGeom>
          <a:solidFill>
            <a:srgbClr val="1B4F8A"/>
          </a:solidFill>
          <a:ln w="6350">
            <a:solidFill>
              <a:srgbClr val="1B4F8A"/>
            </a:solidFill>
            <a:prstDash val="solid"/>
          </a:ln>
        </p:spPr>
        <p:txBody>
          <a:bodyPr/>
          <a:lstStyle/>
          <a:p>
            <a:endParaRPr lang="en-IN"/>
          </a:p>
        </p:txBody>
      </p:sp>
      <p:pic>
        <p:nvPicPr>
          <p:cNvPr id="747" name="Image 1" descr="preencoded.png">
            <a:extLst>
              <a:ext uri="{FF2B5EF4-FFF2-40B4-BE49-F238E27FC236}">
                <a16:creationId xmlns:a16="http://schemas.microsoft.com/office/drawing/2014/main" id="{58C5158F-7A25-DA6B-25E8-24BBBDF882E3}"/>
              </a:ext>
            </a:extLst>
          </p:cNvPr>
          <p:cNvPicPr>
            <a:picLocks noChangeAspect="1"/>
          </p:cNvPicPr>
          <p:nvPr/>
        </p:nvPicPr>
        <p:blipFill>
          <a:blip r:embed="rId3"/>
          <a:stretch>
            <a:fillRect/>
          </a:stretch>
        </p:blipFill>
        <p:spPr>
          <a:xfrm>
            <a:off x="609585" y="2463741"/>
            <a:ext cx="243834" cy="243834"/>
          </a:xfrm>
          <a:prstGeom prst="rect">
            <a:avLst/>
          </a:prstGeom>
        </p:spPr>
      </p:pic>
      <p:sp>
        <p:nvSpPr>
          <p:cNvPr id="749" name="Text 15">
            <a:extLst>
              <a:ext uri="{FF2B5EF4-FFF2-40B4-BE49-F238E27FC236}">
                <a16:creationId xmlns:a16="http://schemas.microsoft.com/office/drawing/2014/main" id="{92333DE5-1FF0-17D4-4A54-110E56914529}"/>
              </a:ext>
            </a:extLst>
          </p:cNvPr>
          <p:cNvSpPr txBox="1"/>
          <p:nvPr/>
        </p:nvSpPr>
        <p:spPr>
          <a:xfrm>
            <a:off x="975336" y="2372303"/>
            <a:ext cx="4724282" cy="198115"/>
          </a:xfrm>
          <a:prstGeom prst="rect">
            <a:avLst/>
          </a:prstGeom>
          <a:noFill/>
          <a:ln/>
        </p:spPr>
        <p:txBody>
          <a:bodyPr wrap="square" lIns="0" tIns="0" rIns="0" bIns="0" rtlCol="0" anchor="ctr"/>
          <a:lstStyle/>
          <a:p>
            <a:pPr marL="0" indent="0" algn="l">
              <a:lnSpc>
                <a:spcPct val="93000"/>
              </a:lnSpc>
              <a:buNone/>
            </a:pPr>
            <a:r>
              <a:rPr lang="en-US" sz="1140" b="1" dirty="0">
                <a:solidFill>
                  <a:srgbClr val="11397C"/>
                </a:solidFill>
                <a:latin typeface="Calibri" pitchFamily="34" charset="0"/>
                <a:ea typeface="Calibri" pitchFamily="34" charset="-122"/>
                <a:cs typeface="Calibri" pitchFamily="34" charset="-120"/>
              </a:rPr>
              <a:t>Secure Access &amp; Identity</a:t>
            </a:r>
            <a:endParaRPr lang="en-US" sz="1140" dirty="0"/>
          </a:p>
        </p:txBody>
      </p:sp>
      <p:sp>
        <p:nvSpPr>
          <p:cNvPr id="751" name="Text 16">
            <a:extLst>
              <a:ext uri="{FF2B5EF4-FFF2-40B4-BE49-F238E27FC236}">
                <a16:creationId xmlns:a16="http://schemas.microsoft.com/office/drawing/2014/main" id="{3C2CAD2C-5F2E-74F1-675D-B04DD6C56DF7}"/>
              </a:ext>
            </a:extLst>
          </p:cNvPr>
          <p:cNvSpPr txBox="1"/>
          <p:nvPr/>
        </p:nvSpPr>
        <p:spPr>
          <a:xfrm>
            <a:off x="975336" y="2600898"/>
            <a:ext cx="4754761" cy="243834"/>
          </a:xfrm>
          <a:prstGeom prst="rect">
            <a:avLst/>
          </a:prstGeom>
          <a:noFill/>
          <a:ln/>
        </p:spPr>
        <p:txBody>
          <a:bodyPr wrap="square" lIns="0" tIns="0" rIns="0" bIns="0" rtlCol="0" anchor="ctr"/>
          <a:lstStyle/>
          <a:p>
            <a:pPr marL="0" indent="0" algn="l">
              <a:lnSpc>
                <a:spcPct val="95000"/>
              </a:lnSpc>
              <a:buNone/>
            </a:pPr>
            <a:r>
              <a:rPr lang="en-US" sz="860" dirty="0">
                <a:solidFill>
                  <a:srgbClr val="2A6099"/>
                </a:solidFill>
                <a:latin typeface="Calibri" pitchFamily="34" charset="0"/>
                <a:ea typeface="Calibri" pitchFamily="34" charset="-122"/>
                <a:cs typeface="Calibri" pitchFamily="34" charset="-120"/>
              </a:rPr>
              <a:t>Authorized Internet access   ·   Identity Provider / SSO / MFA   ·   RBAC</a:t>
            </a:r>
            <a:endParaRPr lang="en-US" sz="860" dirty="0"/>
          </a:p>
        </p:txBody>
      </p:sp>
      <p:sp>
        <p:nvSpPr>
          <p:cNvPr id="753" name="Shape 17">
            <a:extLst>
              <a:ext uri="{FF2B5EF4-FFF2-40B4-BE49-F238E27FC236}">
                <a16:creationId xmlns:a16="http://schemas.microsoft.com/office/drawing/2014/main" id="{3E0ADB39-1F48-E827-6B84-347A9872A89F}"/>
              </a:ext>
            </a:extLst>
          </p:cNvPr>
          <p:cNvSpPr/>
          <p:nvPr/>
        </p:nvSpPr>
        <p:spPr>
          <a:xfrm>
            <a:off x="419090" y="3058086"/>
            <a:ext cx="5562461" cy="761981"/>
          </a:xfrm>
          <a:prstGeom prst="roundRect">
            <a:avLst>
              <a:gd name="adj" fmla="val 6000"/>
            </a:avLst>
          </a:prstGeom>
          <a:solidFill>
            <a:srgbClr val="FFFFFF"/>
          </a:solidFill>
          <a:ln w="12700">
            <a:solidFill>
              <a:srgbClr val="C2DCF0"/>
            </a:solidFill>
            <a:prstDash val="solid"/>
          </a:ln>
        </p:spPr>
        <p:txBody>
          <a:bodyPr/>
          <a:lstStyle/>
          <a:p>
            <a:endParaRPr lang="en-IN"/>
          </a:p>
        </p:txBody>
      </p:sp>
      <p:sp>
        <p:nvSpPr>
          <p:cNvPr id="755" name="Shape 18">
            <a:extLst>
              <a:ext uri="{FF2B5EF4-FFF2-40B4-BE49-F238E27FC236}">
                <a16:creationId xmlns:a16="http://schemas.microsoft.com/office/drawing/2014/main" id="{1D0E0D32-3166-6C70-4D7A-FF4CE57633E9}"/>
              </a:ext>
            </a:extLst>
          </p:cNvPr>
          <p:cNvSpPr/>
          <p:nvPr/>
        </p:nvSpPr>
        <p:spPr>
          <a:xfrm>
            <a:off x="419090" y="3058086"/>
            <a:ext cx="45719" cy="761981"/>
          </a:xfrm>
          <a:prstGeom prst="roundRect">
            <a:avLst>
              <a:gd name="adj" fmla="val 40001"/>
            </a:avLst>
          </a:prstGeom>
          <a:solidFill>
            <a:srgbClr val="1B4F8A"/>
          </a:solidFill>
          <a:ln w="6350">
            <a:solidFill>
              <a:srgbClr val="1B4F8A"/>
            </a:solidFill>
            <a:prstDash val="solid"/>
          </a:ln>
        </p:spPr>
        <p:txBody>
          <a:bodyPr/>
          <a:lstStyle/>
          <a:p>
            <a:endParaRPr lang="en-IN"/>
          </a:p>
        </p:txBody>
      </p:sp>
      <p:pic>
        <p:nvPicPr>
          <p:cNvPr id="757" name="Image 2" descr="preencoded.png">
            <a:extLst>
              <a:ext uri="{FF2B5EF4-FFF2-40B4-BE49-F238E27FC236}">
                <a16:creationId xmlns:a16="http://schemas.microsoft.com/office/drawing/2014/main" id="{8F5FA6CE-E19A-464F-9244-480F35740208}"/>
              </a:ext>
            </a:extLst>
          </p:cNvPr>
          <p:cNvPicPr>
            <a:picLocks noChangeAspect="1"/>
          </p:cNvPicPr>
          <p:nvPr/>
        </p:nvPicPr>
        <p:blipFill>
          <a:blip r:embed="rId4"/>
          <a:stretch>
            <a:fillRect/>
          </a:stretch>
        </p:blipFill>
        <p:spPr>
          <a:xfrm>
            <a:off x="609585" y="3317160"/>
            <a:ext cx="243834" cy="243834"/>
          </a:xfrm>
          <a:prstGeom prst="rect">
            <a:avLst/>
          </a:prstGeom>
        </p:spPr>
      </p:pic>
      <p:sp>
        <p:nvSpPr>
          <p:cNvPr id="759" name="Text 19">
            <a:extLst>
              <a:ext uri="{FF2B5EF4-FFF2-40B4-BE49-F238E27FC236}">
                <a16:creationId xmlns:a16="http://schemas.microsoft.com/office/drawing/2014/main" id="{C8DEC42F-9127-CE72-1D65-EF1EA43E1FE4}"/>
              </a:ext>
            </a:extLst>
          </p:cNvPr>
          <p:cNvSpPr txBox="1"/>
          <p:nvPr/>
        </p:nvSpPr>
        <p:spPr>
          <a:xfrm>
            <a:off x="975336" y="3225722"/>
            <a:ext cx="4724282" cy="198115"/>
          </a:xfrm>
          <a:prstGeom prst="rect">
            <a:avLst/>
          </a:prstGeom>
          <a:noFill/>
          <a:ln/>
        </p:spPr>
        <p:txBody>
          <a:bodyPr wrap="square" lIns="0" tIns="0" rIns="0" bIns="0" rtlCol="0" anchor="ctr"/>
          <a:lstStyle/>
          <a:p>
            <a:pPr marL="0" indent="0" algn="l">
              <a:lnSpc>
                <a:spcPct val="93000"/>
              </a:lnSpc>
              <a:buNone/>
            </a:pPr>
            <a:r>
              <a:rPr lang="en-US" sz="1140" b="1" dirty="0">
                <a:solidFill>
                  <a:srgbClr val="11397C"/>
                </a:solidFill>
                <a:latin typeface="Calibri" pitchFamily="34" charset="0"/>
                <a:ea typeface="Calibri" pitchFamily="34" charset="-122"/>
                <a:cs typeface="Calibri" pitchFamily="34" charset="-120"/>
              </a:rPr>
              <a:t>PAS &amp; Data Integration</a:t>
            </a:r>
            <a:endParaRPr lang="en-US" sz="1140" dirty="0"/>
          </a:p>
        </p:txBody>
      </p:sp>
      <p:sp>
        <p:nvSpPr>
          <p:cNvPr id="761" name="Text 20">
            <a:extLst>
              <a:ext uri="{FF2B5EF4-FFF2-40B4-BE49-F238E27FC236}">
                <a16:creationId xmlns:a16="http://schemas.microsoft.com/office/drawing/2014/main" id="{E412FF8B-3311-1E40-968B-EA4CFB80A800}"/>
              </a:ext>
            </a:extLst>
          </p:cNvPr>
          <p:cNvSpPr txBox="1"/>
          <p:nvPr/>
        </p:nvSpPr>
        <p:spPr>
          <a:xfrm>
            <a:off x="975336" y="3454316"/>
            <a:ext cx="4754761" cy="243834"/>
          </a:xfrm>
          <a:prstGeom prst="rect">
            <a:avLst/>
          </a:prstGeom>
          <a:noFill/>
          <a:ln/>
        </p:spPr>
        <p:txBody>
          <a:bodyPr wrap="square" lIns="0" tIns="0" rIns="0" bIns="0" rtlCol="0" anchor="ctr"/>
          <a:lstStyle/>
          <a:p>
            <a:pPr marL="0" indent="0" algn="l">
              <a:lnSpc>
                <a:spcPct val="95000"/>
              </a:lnSpc>
              <a:buNone/>
            </a:pPr>
            <a:r>
              <a:rPr lang="en-US" sz="860" dirty="0">
                <a:solidFill>
                  <a:srgbClr val="2A6099"/>
                </a:solidFill>
                <a:latin typeface="Calibri" pitchFamily="34" charset="0"/>
                <a:ea typeface="Calibri" pitchFamily="34" charset="-122"/>
                <a:cs typeface="Calibri" pitchFamily="34" charset="-120"/>
              </a:rPr>
              <a:t>Claim data integration with PAS   ·   Approved database connectivity where required   ·   Agreed interfaces</a:t>
            </a:r>
            <a:endParaRPr lang="en-US" sz="860" dirty="0"/>
          </a:p>
        </p:txBody>
      </p:sp>
      <p:sp>
        <p:nvSpPr>
          <p:cNvPr id="763" name="Shape 21">
            <a:extLst>
              <a:ext uri="{FF2B5EF4-FFF2-40B4-BE49-F238E27FC236}">
                <a16:creationId xmlns:a16="http://schemas.microsoft.com/office/drawing/2014/main" id="{99E49D6B-AF93-EFB2-B8CB-2B593D754C11}"/>
              </a:ext>
            </a:extLst>
          </p:cNvPr>
          <p:cNvSpPr/>
          <p:nvPr/>
        </p:nvSpPr>
        <p:spPr>
          <a:xfrm>
            <a:off x="419090" y="3911505"/>
            <a:ext cx="5562461" cy="761981"/>
          </a:xfrm>
          <a:prstGeom prst="roundRect">
            <a:avLst>
              <a:gd name="adj" fmla="val 6000"/>
            </a:avLst>
          </a:prstGeom>
          <a:solidFill>
            <a:srgbClr val="FFFFFF"/>
          </a:solidFill>
          <a:ln w="12700">
            <a:solidFill>
              <a:srgbClr val="C2DCF0"/>
            </a:solidFill>
            <a:prstDash val="solid"/>
          </a:ln>
        </p:spPr>
        <p:txBody>
          <a:bodyPr/>
          <a:lstStyle/>
          <a:p>
            <a:endParaRPr lang="en-IN"/>
          </a:p>
        </p:txBody>
      </p:sp>
      <p:sp>
        <p:nvSpPr>
          <p:cNvPr id="765" name="Shape 22">
            <a:extLst>
              <a:ext uri="{FF2B5EF4-FFF2-40B4-BE49-F238E27FC236}">
                <a16:creationId xmlns:a16="http://schemas.microsoft.com/office/drawing/2014/main" id="{304904AB-CA26-2631-5B2A-80127A0EC95F}"/>
              </a:ext>
            </a:extLst>
          </p:cNvPr>
          <p:cNvSpPr/>
          <p:nvPr/>
        </p:nvSpPr>
        <p:spPr>
          <a:xfrm>
            <a:off x="419090" y="3911505"/>
            <a:ext cx="45719" cy="761981"/>
          </a:xfrm>
          <a:prstGeom prst="roundRect">
            <a:avLst>
              <a:gd name="adj" fmla="val 40001"/>
            </a:avLst>
          </a:prstGeom>
          <a:solidFill>
            <a:srgbClr val="1B4F8A"/>
          </a:solidFill>
          <a:ln w="6350">
            <a:solidFill>
              <a:srgbClr val="1B4F8A"/>
            </a:solidFill>
            <a:prstDash val="solid"/>
          </a:ln>
        </p:spPr>
        <p:txBody>
          <a:bodyPr/>
          <a:lstStyle/>
          <a:p>
            <a:endParaRPr lang="en-IN"/>
          </a:p>
        </p:txBody>
      </p:sp>
      <p:pic>
        <p:nvPicPr>
          <p:cNvPr id="767" name="Image 3" descr="preencoded.png">
            <a:extLst>
              <a:ext uri="{FF2B5EF4-FFF2-40B4-BE49-F238E27FC236}">
                <a16:creationId xmlns:a16="http://schemas.microsoft.com/office/drawing/2014/main" id="{ABC1A36C-CBFC-B273-BC63-A135C9EFA8E8}"/>
              </a:ext>
            </a:extLst>
          </p:cNvPr>
          <p:cNvPicPr>
            <a:picLocks noChangeAspect="1"/>
          </p:cNvPicPr>
          <p:nvPr/>
        </p:nvPicPr>
        <p:blipFill>
          <a:blip r:embed="rId5"/>
          <a:stretch>
            <a:fillRect/>
          </a:stretch>
        </p:blipFill>
        <p:spPr>
          <a:xfrm>
            <a:off x="609585" y="4170578"/>
            <a:ext cx="243834" cy="243834"/>
          </a:xfrm>
          <a:prstGeom prst="rect">
            <a:avLst/>
          </a:prstGeom>
        </p:spPr>
      </p:pic>
      <p:sp>
        <p:nvSpPr>
          <p:cNvPr id="769" name="Text 23">
            <a:extLst>
              <a:ext uri="{FF2B5EF4-FFF2-40B4-BE49-F238E27FC236}">
                <a16:creationId xmlns:a16="http://schemas.microsoft.com/office/drawing/2014/main" id="{1E0DE538-45B8-C963-63C8-AFA54E24A55C}"/>
              </a:ext>
            </a:extLst>
          </p:cNvPr>
          <p:cNvSpPr txBox="1"/>
          <p:nvPr/>
        </p:nvSpPr>
        <p:spPr>
          <a:xfrm>
            <a:off x="975336" y="4079141"/>
            <a:ext cx="4724282" cy="198115"/>
          </a:xfrm>
          <a:prstGeom prst="rect">
            <a:avLst/>
          </a:prstGeom>
          <a:noFill/>
          <a:ln/>
        </p:spPr>
        <p:txBody>
          <a:bodyPr wrap="square" lIns="0" tIns="0" rIns="0" bIns="0" rtlCol="0" anchor="ctr"/>
          <a:lstStyle/>
          <a:p>
            <a:pPr marL="0" indent="0" algn="l">
              <a:lnSpc>
                <a:spcPct val="93000"/>
              </a:lnSpc>
              <a:buNone/>
            </a:pPr>
            <a:r>
              <a:rPr lang="en-US" sz="1140" b="1" dirty="0">
                <a:solidFill>
                  <a:srgbClr val="11397C"/>
                </a:solidFill>
                <a:latin typeface="Calibri" pitchFamily="34" charset="0"/>
                <a:ea typeface="Calibri" pitchFamily="34" charset="-122"/>
                <a:cs typeface="Calibri" pitchFamily="34" charset="-120"/>
              </a:rPr>
              <a:t>Security &amp; Infrastructure</a:t>
            </a:r>
            <a:endParaRPr lang="en-US" sz="1140" dirty="0"/>
          </a:p>
        </p:txBody>
      </p:sp>
      <p:sp>
        <p:nvSpPr>
          <p:cNvPr id="771" name="Text 24">
            <a:extLst>
              <a:ext uri="{FF2B5EF4-FFF2-40B4-BE49-F238E27FC236}">
                <a16:creationId xmlns:a16="http://schemas.microsoft.com/office/drawing/2014/main" id="{399563B4-8DE3-66D6-7DC0-C5B322BD9EFA}"/>
              </a:ext>
            </a:extLst>
          </p:cNvPr>
          <p:cNvSpPr txBox="1"/>
          <p:nvPr/>
        </p:nvSpPr>
        <p:spPr>
          <a:xfrm>
            <a:off x="975336" y="4307735"/>
            <a:ext cx="4754761" cy="243834"/>
          </a:xfrm>
          <a:prstGeom prst="rect">
            <a:avLst/>
          </a:prstGeom>
          <a:noFill/>
          <a:ln/>
        </p:spPr>
        <p:txBody>
          <a:bodyPr wrap="square" lIns="0" tIns="0" rIns="0" bIns="0" rtlCol="0" anchor="ctr"/>
          <a:lstStyle/>
          <a:p>
            <a:pPr marL="0" indent="0" algn="l">
              <a:lnSpc>
                <a:spcPct val="95000"/>
              </a:lnSpc>
              <a:buNone/>
            </a:pPr>
            <a:r>
              <a:rPr lang="en-US" sz="860" dirty="0">
                <a:solidFill>
                  <a:srgbClr val="2A6099"/>
                </a:solidFill>
                <a:latin typeface="Calibri" pitchFamily="34" charset="0"/>
                <a:ea typeface="Calibri" pitchFamily="34" charset="-122"/>
                <a:cs typeface="Calibri" pitchFamily="34" charset="-120"/>
              </a:rPr>
              <a:t>DNS / SSL   ·   WAF / Firewall   ·   Network connectivity   ·   Security approvals</a:t>
            </a:r>
            <a:endParaRPr lang="en-US" sz="860" dirty="0"/>
          </a:p>
        </p:txBody>
      </p:sp>
      <p:sp>
        <p:nvSpPr>
          <p:cNvPr id="773" name="Shape 25">
            <a:extLst>
              <a:ext uri="{FF2B5EF4-FFF2-40B4-BE49-F238E27FC236}">
                <a16:creationId xmlns:a16="http://schemas.microsoft.com/office/drawing/2014/main" id="{FA9E9CDD-73FD-2C0C-FB18-3C7428180BBC}"/>
              </a:ext>
            </a:extLst>
          </p:cNvPr>
          <p:cNvSpPr/>
          <p:nvPr/>
        </p:nvSpPr>
        <p:spPr>
          <a:xfrm>
            <a:off x="6210145" y="1351249"/>
            <a:ext cx="5562461" cy="426709"/>
          </a:xfrm>
          <a:prstGeom prst="roundRect">
            <a:avLst>
              <a:gd name="adj" fmla="val 10715"/>
            </a:avLst>
          </a:prstGeom>
          <a:solidFill>
            <a:srgbClr val="FDFBF4"/>
          </a:solidFill>
          <a:ln w="17780">
            <a:solidFill>
              <a:srgbClr val="D9A441"/>
            </a:solidFill>
            <a:prstDash val="solid"/>
          </a:ln>
        </p:spPr>
        <p:txBody>
          <a:bodyPr/>
          <a:lstStyle/>
          <a:p>
            <a:endParaRPr lang="en-IN"/>
          </a:p>
        </p:txBody>
      </p:sp>
      <p:pic>
        <p:nvPicPr>
          <p:cNvPr id="775" name="Image 4" descr="preencoded.png">
            <a:extLst>
              <a:ext uri="{FF2B5EF4-FFF2-40B4-BE49-F238E27FC236}">
                <a16:creationId xmlns:a16="http://schemas.microsoft.com/office/drawing/2014/main" id="{3E01C73B-4CB4-543A-AFD0-BC7655101295}"/>
              </a:ext>
            </a:extLst>
          </p:cNvPr>
          <p:cNvPicPr>
            <a:picLocks noChangeAspect="1"/>
          </p:cNvPicPr>
          <p:nvPr/>
        </p:nvPicPr>
        <p:blipFill>
          <a:blip r:embed="rId4"/>
          <a:stretch>
            <a:fillRect/>
          </a:stretch>
        </p:blipFill>
        <p:spPr>
          <a:xfrm>
            <a:off x="6347301" y="1473166"/>
            <a:ext cx="182875" cy="182875"/>
          </a:xfrm>
          <a:prstGeom prst="rect">
            <a:avLst/>
          </a:prstGeom>
        </p:spPr>
      </p:pic>
      <p:sp>
        <p:nvSpPr>
          <p:cNvPr id="777" name="Text 26">
            <a:extLst>
              <a:ext uri="{FF2B5EF4-FFF2-40B4-BE49-F238E27FC236}">
                <a16:creationId xmlns:a16="http://schemas.microsoft.com/office/drawing/2014/main" id="{FF2AE35C-DD43-1B6B-C572-A74C739140AC}"/>
              </a:ext>
            </a:extLst>
          </p:cNvPr>
          <p:cNvSpPr txBox="1"/>
          <p:nvPr/>
        </p:nvSpPr>
        <p:spPr>
          <a:xfrm>
            <a:off x="6621614" y="1404587"/>
            <a:ext cx="5029074" cy="167636"/>
          </a:xfrm>
          <a:prstGeom prst="rect">
            <a:avLst/>
          </a:prstGeom>
          <a:noFill/>
          <a:ln/>
        </p:spPr>
        <p:txBody>
          <a:bodyPr wrap="square" lIns="0" tIns="0" rIns="0" bIns="0" rtlCol="0" anchor="ctr"/>
          <a:lstStyle/>
          <a:p>
            <a:pPr marL="0" indent="0" algn="l">
              <a:lnSpc>
                <a:spcPct val="93000"/>
              </a:lnSpc>
              <a:buNone/>
            </a:pPr>
            <a:r>
              <a:rPr lang="en-US" sz="1000" b="1" dirty="0">
                <a:solidFill>
                  <a:srgbClr val="8A6A16"/>
                </a:solidFill>
                <a:latin typeface="Calibri" pitchFamily="34" charset="0"/>
                <a:ea typeface="Calibri" pitchFamily="34" charset="-122"/>
                <a:cs typeface="Calibri" pitchFamily="34" charset="-120"/>
              </a:rPr>
              <a:t>PAS Interfaces &amp; Development</a:t>
            </a:r>
            <a:endParaRPr lang="en-US" sz="1000" dirty="0"/>
          </a:p>
        </p:txBody>
      </p:sp>
      <p:sp>
        <p:nvSpPr>
          <p:cNvPr id="779" name="Text 27">
            <a:extLst>
              <a:ext uri="{FF2B5EF4-FFF2-40B4-BE49-F238E27FC236}">
                <a16:creationId xmlns:a16="http://schemas.microsoft.com/office/drawing/2014/main" id="{B09B79D4-89B3-909F-8BEB-5316ABB88522}"/>
              </a:ext>
            </a:extLst>
          </p:cNvPr>
          <p:cNvSpPr txBox="1"/>
          <p:nvPr/>
        </p:nvSpPr>
        <p:spPr>
          <a:xfrm>
            <a:off x="6621614" y="1579843"/>
            <a:ext cx="5029074" cy="152396"/>
          </a:xfrm>
          <a:prstGeom prst="rect">
            <a:avLst/>
          </a:prstGeom>
          <a:noFill/>
          <a:ln/>
        </p:spPr>
        <p:txBody>
          <a:bodyPr wrap="square" lIns="0" tIns="0" rIns="0" bIns="0" rtlCol="0" anchor="ctr"/>
          <a:lstStyle/>
          <a:p>
            <a:pPr marL="0" indent="0" algn="l">
              <a:lnSpc>
                <a:spcPct val="93000"/>
              </a:lnSpc>
              <a:buNone/>
            </a:pPr>
            <a:r>
              <a:rPr lang="en-US" sz="820" dirty="0">
                <a:solidFill>
                  <a:srgbClr val="2A6099"/>
                </a:solidFill>
                <a:latin typeface="Calibri" pitchFamily="34" charset="0"/>
                <a:ea typeface="Calibri" pitchFamily="34" charset="-122"/>
                <a:cs typeface="Calibri" pitchFamily="34" charset="-120"/>
              </a:rPr>
              <a:t>APIs / Interfaces   ·   Fetch / Insert / Update   ·   PAS-side development &amp; configuration</a:t>
            </a:r>
            <a:endParaRPr lang="en-US" sz="820" dirty="0"/>
          </a:p>
        </p:txBody>
      </p:sp>
      <p:sp>
        <p:nvSpPr>
          <p:cNvPr id="781" name="Shape 28">
            <a:extLst>
              <a:ext uri="{FF2B5EF4-FFF2-40B4-BE49-F238E27FC236}">
                <a16:creationId xmlns:a16="http://schemas.microsoft.com/office/drawing/2014/main" id="{9A5491C0-E683-15B8-9036-50302912F8BE}"/>
              </a:ext>
            </a:extLst>
          </p:cNvPr>
          <p:cNvSpPr/>
          <p:nvPr/>
        </p:nvSpPr>
        <p:spPr>
          <a:xfrm>
            <a:off x="6210145" y="1838917"/>
            <a:ext cx="5562461" cy="426709"/>
          </a:xfrm>
          <a:prstGeom prst="roundRect">
            <a:avLst>
              <a:gd name="adj" fmla="val 10715"/>
            </a:avLst>
          </a:prstGeom>
          <a:solidFill>
            <a:srgbClr val="F8FBFE"/>
          </a:solidFill>
          <a:ln w="12700">
            <a:solidFill>
              <a:srgbClr val="C2DCF0"/>
            </a:solidFill>
            <a:prstDash val="solid"/>
          </a:ln>
        </p:spPr>
        <p:txBody>
          <a:bodyPr/>
          <a:lstStyle/>
          <a:p>
            <a:endParaRPr lang="en-IN"/>
          </a:p>
        </p:txBody>
      </p:sp>
      <p:pic>
        <p:nvPicPr>
          <p:cNvPr id="783" name="Image 5" descr="preencoded.png">
            <a:extLst>
              <a:ext uri="{FF2B5EF4-FFF2-40B4-BE49-F238E27FC236}">
                <a16:creationId xmlns:a16="http://schemas.microsoft.com/office/drawing/2014/main" id="{C2A12B1D-D9D6-7A96-5FF7-713303522085}"/>
              </a:ext>
            </a:extLst>
          </p:cNvPr>
          <p:cNvPicPr>
            <a:picLocks noChangeAspect="1"/>
          </p:cNvPicPr>
          <p:nvPr/>
        </p:nvPicPr>
        <p:blipFill>
          <a:blip r:embed="rId6"/>
          <a:stretch>
            <a:fillRect/>
          </a:stretch>
        </p:blipFill>
        <p:spPr>
          <a:xfrm>
            <a:off x="6347301" y="1960834"/>
            <a:ext cx="182875" cy="182875"/>
          </a:xfrm>
          <a:prstGeom prst="rect">
            <a:avLst/>
          </a:prstGeom>
        </p:spPr>
      </p:pic>
      <p:sp>
        <p:nvSpPr>
          <p:cNvPr id="785" name="Text 29">
            <a:extLst>
              <a:ext uri="{FF2B5EF4-FFF2-40B4-BE49-F238E27FC236}">
                <a16:creationId xmlns:a16="http://schemas.microsoft.com/office/drawing/2014/main" id="{AC2A64FE-B493-5D7A-EE83-E6CCAB9DC0F2}"/>
              </a:ext>
            </a:extLst>
          </p:cNvPr>
          <p:cNvSpPr txBox="1"/>
          <p:nvPr/>
        </p:nvSpPr>
        <p:spPr>
          <a:xfrm>
            <a:off x="6621614" y="1892255"/>
            <a:ext cx="5029074" cy="167636"/>
          </a:xfrm>
          <a:prstGeom prst="rect">
            <a:avLst/>
          </a:prstGeom>
          <a:noFill/>
          <a:ln/>
        </p:spPr>
        <p:txBody>
          <a:bodyPr wrap="square" lIns="0" tIns="0" rIns="0" bIns="0" rtlCol="0" anchor="ctr"/>
          <a:lstStyle/>
          <a:p>
            <a:pPr marL="0" indent="0" algn="l">
              <a:lnSpc>
                <a:spcPct val="93000"/>
              </a:lnSpc>
              <a:buNone/>
            </a:pPr>
            <a:r>
              <a:rPr lang="en-US" sz="1000" b="1" dirty="0">
                <a:solidFill>
                  <a:srgbClr val="1B4F8A"/>
                </a:solidFill>
                <a:latin typeface="Calibri" pitchFamily="34" charset="0"/>
                <a:ea typeface="Calibri" pitchFamily="34" charset="-122"/>
                <a:cs typeface="Calibri" pitchFamily="34" charset="-120"/>
              </a:rPr>
              <a:t>Shared Document Repository</a:t>
            </a:r>
            <a:endParaRPr lang="en-US" sz="1000" dirty="0"/>
          </a:p>
        </p:txBody>
      </p:sp>
      <p:sp>
        <p:nvSpPr>
          <p:cNvPr id="787" name="Text 30">
            <a:extLst>
              <a:ext uri="{FF2B5EF4-FFF2-40B4-BE49-F238E27FC236}">
                <a16:creationId xmlns:a16="http://schemas.microsoft.com/office/drawing/2014/main" id="{C16578A7-6DB0-32C0-9C8B-FDB40596C804}"/>
              </a:ext>
            </a:extLst>
          </p:cNvPr>
          <p:cNvSpPr txBox="1"/>
          <p:nvPr/>
        </p:nvSpPr>
        <p:spPr>
          <a:xfrm>
            <a:off x="6621614" y="2067511"/>
            <a:ext cx="5029074" cy="152396"/>
          </a:xfrm>
          <a:prstGeom prst="rect">
            <a:avLst/>
          </a:prstGeom>
          <a:noFill/>
          <a:ln/>
        </p:spPr>
        <p:txBody>
          <a:bodyPr wrap="square" lIns="0" tIns="0" rIns="0" bIns="0" rtlCol="0" anchor="ctr"/>
          <a:lstStyle/>
          <a:p>
            <a:pPr marL="0" indent="0" algn="l">
              <a:lnSpc>
                <a:spcPct val="93000"/>
              </a:lnSpc>
              <a:buNone/>
            </a:pPr>
            <a:r>
              <a:rPr lang="en-US" sz="820" dirty="0">
                <a:solidFill>
                  <a:srgbClr val="2A6099"/>
                </a:solidFill>
                <a:latin typeface="Calibri" pitchFamily="34" charset="0"/>
                <a:ea typeface="Calibri" pitchFamily="34" charset="-122"/>
                <a:cs typeface="Calibri" pitchFamily="34" charset="-120"/>
              </a:rPr>
              <a:t>Secure shared storage   ·   Accessible by Portal &amp; PAS   ·   Document reference / metadata</a:t>
            </a:r>
            <a:endParaRPr lang="en-US" sz="820" dirty="0"/>
          </a:p>
        </p:txBody>
      </p:sp>
      <p:sp>
        <p:nvSpPr>
          <p:cNvPr id="789" name="Shape 31">
            <a:extLst>
              <a:ext uri="{FF2B5EF4-FFF2-40B4-BE49-F238E27FC236}">
                <a16:creationId xmlns:a16="http://schemas.microsoft.com/office/drawing/2014/main" id="{9394DE08-F2DD-A18D-D332-74BC9FE44D69}"/>
              </a:ext>
            </a:extLst>
          </p:cNvPr>
          <p:cNvSpPr/>
          <p:nvPr/>
        </p:nvSpPr>
        <p:spPr>
          <a:xfrm>
            <a:off x="6210145" y="2326584"/>
            <a:ext cx="5562461" cy="426709"/>
          </a:xfrm>
          <a:prstGeom prst="roundRect">
            <a:avLst>
              <a:gd name="adj" fmla="val 10715"/>
            </a:avLst>
          </a:prstGeom>
          <a:solidFill>
            <a:srgbClr val="F8FBFE"/>
          </a:solidFill>
          <a:ln w="12700">
            <a:solidFill>
              <a:srgbClr val="C2DCF0"/>
            </a:solidFill>
            <a:prstDash val="solid"/>
          </a:ln>
        </p:spPr>
        <p:txBody>
          <a:bodyPr/>
          <a:lstStyle/>
          <a:p>
            <a:endParaRPr lang="en-IN"/>
          </a:p>
        </p:txBody>
      </p:sp>
      <p:pic>
        <p:nvPicPr>
          <p:cNvPr id="791" name="Image 6" descr="preencoded.png">
            <a:extLst>
              <a:ext uri="{FF2B5EF4-FFF2-40B4-BE49-F238E27FC236}">
                <a16:creationId xmlns:a16="http://schemas.microsoft.com/office/drawing/2014/main" id="{0A35A5A8-E911-A717-535D-A13325C14F08}"/>
              </a:ext>
            </a:extLst>
          </p:cNvPr>
          <p:cNvPicPr>
            <a:picLocks noChangeAspect="1"/>
          </p:cNvPicPr>
          <p:nvPr/>
        </p:nvPicPr>
        <p:blipFill>
          <a:blip r:embed="rId7"/>
          <a:stretch>
            <a:fillRect/>
          </a:stretch>
        </p:blipFill>
        <p:spPr>
          <a:xfrm>
            <a:off x="6347301" y="2448501"/>
            <a:ext cx="182875" cy="182875"/>
          </a:xfrm>
          <a:prstGeom prst="rect">
            <a:avLst/>
          </a:prstGeom>
        </p:spPr>
      </p:pic>
      <p:sp>
        <p:nvSpPr>
          <p:cNvPr id="793" name="Text 32">
            <a:extLst>
              <a:ext uri="{FF2B5EF4-FFF2-40B4-BE49-F238E27FC236}">
                <a16:creationId xmlns:a16="http://schemas.microsoft.com/office/drawing/2014/main" id="{D16C5DD0-B7EB-0F70-3D80-6600854D67A2}"/>
              </a:ext>
            </a:extLst>
          </p:cNvPr>
          <p:cNvSpPr txBox="1"/>
          <p:nvPr/>
        </p:nvSpPr>
        <p:spPr>
          <a:xfrm>
            <a:off x="6621614" y="2379923"/>
            <a:ext cx="5029074" cy="167636"/>
          </a:xfrm>
          <a:prstGeom prst="rect">
            <a:avLst/>
          </a:prstGeom>
          <a:noFill/>
          <a:ln/>
        </p:spPr>
        <p:txBody>
          <a:bodyPr wrap="square" lIns="0" tIns="0" rIns="0" bIns="0" rtlCol="0" anchor="ctr"/>
          <a:lstStyle/>
          <a:p>
            <a:pPr marL="0" indent="0" algn="l">
              <a:lnSpc>
                <a:spcPct val="93000"/>
              </a:lnSpc>
              <a:buNone/>
            </a:pPr>
            <a:r>
              <a:rPr lang="en-US" sz="1000" b="1" dirty="0">
                <a:solidFill>
                  <a:srgbClr val="1B4F8A"/>
                </a:solidFill>
                <a:latin typeface="Calibri" pitchFamily="34" charset="0"/>
                <a:ea typeface="Calibri" pitchFamily="34" charset="-122"/>
                <a:cs typeface="Calibri" pitchFamily="34" charset="-120"/>
              </a:rPr>
              <a:t>Identity &amp; External Access</a:t>
            </a:r>
            <a:endParaRPr lang="en-US" sz="1000" dirty="0"/>
          </a:p>
        </p:txBody>
      </p:sp>
      <p:sp>
        <p:nvSpPr>
          <p:cNvPr id="795" name="Text 33">
            <a:extLst>
              <a:ext uri="{FF2B5EF4-FFF2-40B4-BE49-F238E27FC236}">
                <a16:creationId xmlns:a16="http://schemas.microsoft.com/office/drawing/2014/main" id="{9D83C5A2-664B-3384-5C4A-345608E0018E}"/>
              </a:ext>
            </a:extLst>
          </p:cNvPr>
          <p:cNvSpPr txBox="1"/>
          <p:nvPr/>
        </p:nvSpPr>
        <p:spPr>
          <a:xfrm>
            <a:off x="6621614" y="2555179"/>
            <a:ext cx="5029074" cy="152396"/>
          </a:xfrm>
          <a:prstGeom prst="rect">
            <a:avLst/>
          </a:prstGeom>
          <a:noFill/>
          <a:ln/>
        </p:spPr>
        <p:txBody>
          <a:bodyPr wrap="square" lIns="0" tIns="0" rIns="0" bIns="0" rtlCol="0" anchor="ctr"/>
          <a:lstStyle/>
          <a:p>
            <a:pPr marL="0" indent="0" algn="l">
              <a:lnSpc>
                <a:spcPct val="93000"/>
              </a:lnSpc>
              <a:buNone/>
            </a:pPr>
            <a:r>
              <a:rPr lang="en-US" sz="820" dirty="0">
                <a:solidFill>
                  <a:srgbClr val="2A6099"/>
                </a:solidFill>
                <a:latin typeface="Calibri" pitchFamily="34" charset="0"/>
                <a:ea typeface="Calibri" pitchFamily="34" charset="-122"/>
                <a:cs typeface="Calibri" pitchFamily="34" charset="-120"/>
              </a:rPr>
              <a:t>IdP   ·   SSO / MFA   ·   User provisioning   ·   Secure Internet-access approval</a:t>
            </a:r>
            <a:endParaRPr lang="en-US" sz="820" dirty="0"/>
          </a:p>
        </p:txBody>
      </p:sp>
      <p:sp>
        <p:nvSpPr>
          <p:cNvPr id="797" name="Shape 34">
            <a:extLst>
              <a:ext uri="{FF2B5EF4-FFF2-40B4-BE49-F238E27FC236}">
                <a16:creationId xmlns:a16="http://schemas.microsoft.com/office/drawing/2014/main" id="{A1E0C8F0-1D13-A147-9516-89C9C8FCD035}"/>
              </a:ext>
            </a:extLst>
          </p:cNvPr>
          <p:cNvSpPr/>
          <p:nvPr/>
        </p:nvSpPr>
        <p:spPr>
          <a:xfrm>
            <a:off x="6210145" y="2814252"/>
            <a:ext cx="5562461" cy="426709"/>
          </a:xfrm>
          <a:prstGeom prst="roundRect">
            <a:avLst>
              <a:gd name="adj" fmla="val 10715"/>
            </a:avLst>
          </a:prstGeom>
          <a:solidFill>
            <a:srgbClr val="F8FBFE"/>
          </a:solidFill>
          <a:ln w="12700">
            <a:solidFill>
              <a:srgbClr val="C2DCF0"/>
            </a:solidFill>
            <a:prstDash val="solid"/>
          </a:ln>
        </p:spPr>
        <p:txBody>
          <a:bodyPr/>
          <a:lstStyle/>
          <a:p>
            <a:endParaRPr lang="en-IN"/>
          </a:p>
        </p:txBody>
      </p:sp>
      <p:pic>
        <p:nvPicPr>
          <p:cNvPr id="799" name="Image 7" descr="preencoded.png">
            <a:extLst>
              <a:ext uri="{FF2B5EF4-FFF2-40B4-BE49-F238E27FC236}">
                <a16:creationId xmlns:a16="http://schemas.microsoft.com/office/drawing/2014/main" id="{8147CB06-D304-2D04-FC7A-EA1DB7157D14}"/>
              </a:ext>
            </a:extLst>
          </p:cNvPr>
          <p:cNvPicPr>
            <a:picLocks noChangeAspect="1"/>
          </p:cNvPicPr>
          <p:nvPr/>
        </p:nvPicPr>
        <p:blipFill>
          <a:blip r:embed="rId8"/>
          <a:stretch>
            <a:fillRect/>
          </a:stretch>
        </p:blipFill>
        <p:spPr>
          <a:xfrm>
            <a:off x="6347301" y="2936169"/>
            <a:ext cx="182875" cy="182875"/>
          </a:xfrm>
          <a:prstGeom prst="rect">
            <a:avLst/>
          </a:prstGeom>
        </p:spPr>
      </p:pic>
      <p:sp>
        <p:nvSpPr>
          <p:cNvPr id="801" name="Text 35">
            <a:extLst>
              <a:ext uri="{FF2B5EF4-FFF2-40B4-BE49-F238E27FC236}">
                <a16:creationId xmlns:a16="http://schemas.microsoft.com/office/drawing/2014/main" id="{7225AFEA-FA54-6EDB-E8D6-9A3AA32BF0D3}"/>
              </a:ext>
            </a:extLst>
          </p:cNvPr>
          <p:cNvSpPr txBox="1"/>
          <p:nvPr/>
        </p:nvSpPr>
        <p:spPr>
          <a:xfrm>
            <a:off x="6621614" y="2867591"/>
            <a:ext cx="5029074" cy="167636"/>
          </a:xfrm>
          <a:prstGeom prst="rect">
            <a:avLst/>
          </a:prstGeom>
          <a:noFill/>
          <a:ln/>
        </p:spPr>
        <p:txBody>
          <a:bodyPr wrap="square" lIns="0" tIns="0" rIns="0" bIns="0" rtlCol="0" anchor="ctr"/>
          <a:lstStyle/>
          <a:p>
            <a:pPr marL="0" indent="0" algn="l">
              <a:lnSpc>
                <a:spcPct val="93000"/>
              </a:lnSpc>
              <a:buNone/>
            </a:pPr>
            <a:r>
              <a:rPr lang="en-US" sz="1000" b="1" dirty="0">
                <a:solidFill>
                  <a:srgbClr val="1B4F8A"/>
                </a:solidFill>
                <a:latin typeface="Calibri" pitchFamily="34" charset="0"/>
                <a:ea typeface="Calibri" pitchFamily="34" charset="-122"/>
                <a:cs typeface="Calibri" pitchFamily="34" charset="-120"/>
              </a:rPr>
              <a:t>Data &amp; Database</a:t>
            </a:r>
            <a:endParaRPr lang="en-US" sz="1000" dirty="0"/>
          </a:p>
        </p:txBody>
      </p:sp>
      <p:sp>
        <p:nvSpPr>
          <p:cNvPr id="803" name="Text 36">
            <a:extLst>
              <a:ext uri="{FF2B5EF4-FFF2-40B4-BE49-F238E27FC236}">
                <a16:creationId xmlns:a16="http://schemas.microsoft.com/office/drawing/2014/main" id="{5B93EA01-9D0A-9EAE-1AD6-5330B530C19A}"/>
              </a:ext>
            </a:extLst>
          </p:cNvPr>
          <p:cNvSpPr txBox="1"/>
          <p:nvPr/>
        </p:nvSpPr>
        <p:spPr>
          <a:xfrm>
            <a:off x="6621614" y="3042846"/>
            <a:ext cx="5029074" cy="152396"/>
          </a:xfrm>
          <a:prstGeom prst="rect">
            <a:avLst/>
          </a:prstGeom>
          <a:noFill/>
          <a:ln/>
        </p:spPr>
        <p:txBody>
          <a:bodyPr wrap="square" lIns="0" tIns="0" rIns="0" bIns="0" rtlCol="0" anchor="ctr"/>
          <a:lstStyle/>
          <a:p>
            <a:pPr marL="0" indent="0" algn="l">
              <a:lnSpc>
                <a:spcPct val="93000"/>
              </a:lnSpc>
              <a:buNone/>
            </a:pPr>
            <a:r>
              <a:rPr lang="en-US" sz="820" dirty="0">
                <a:solidFill>
                  <a:srgbClr val="2A6099"/>
                </a:solidFill>
                <a:latin typeface="Calibri" pitchFamily="34" charset="0"/>
                <a:ea typeface="Calibri" pitchFamily="34" charset="-122"/>
                <a:cs typeface="Calibri" pitchFamily="34" charset="-120"/>
              </a:rPr>
              <a:t>Schema / data definitions   ·   Approved connectivity   ·   Required access scope</a:t>
            </a:r>
            <a:endParaRPr lang="en-US" sz="820" dirty="0"/>
          </a:p>
        </p:txBody>
      </p:sp>
      <p:sp>
        <p:nvSpPr>
          <p:cNvPr id="805" name="Shape 37">
            <a:extLst>
              <a:ext uri="{FF2B5EF4-FFF2-40B4-BE49-F238E27FC236}">
                <a16:creationId xmlns:a16="http://schemas.microsoft.com/office/drawing/2014/main" id="{D06C2311-AC20-EDC0-11F6-F950A33C0B98}"/>
              </a:ext>
            </a:extLst>
          </p:cNvPr>
          <p:cNvSpPr/>
          <p:nvPr/>
        </p:nvSpPr>
        <p:spPr>
          <a:xfrm>
            <a:off x="6210145" y="3301920"/>
            <a:ext cx="5562461" cy="426709"/>
          </a:xfrm>
          <a:prstGeom prst="roundRect">
            <a:avLst>
              <a:gd name="adj" fmla="val 10715"/>
            </a:avLst>
          </a:prstGeom>
          <a:solidFill>
            <a:srgbClr val="F8FBFE"/>
          </a:solidFill>
          <a:ln w="12700">
            <a:solidFill>
              <a:srgbClr val="C2DCF0"/>
            </a:solidFill>
            <a:prstDash val="solid"/>
          </a:ln>
        </p:spPr>
        <p:txBody>
          <a:bodyPr/>
          <a:lstStyle/>
          <a:p>
            <a:endParaRPr lang="en-IN"/>
          </a:p>
        </p:txBody>
      </p:sp>
      <p:pic>
        <p:nvPicPr>
          <p:cNvPr id="807" name="Image 8" descr="preencoded.png">
            <a:extLst>
              <a:ext uri="{FF2B5EF4-FFF2-40B4-BE49-F238E27FC236}">
                <a16:creationId xmlns:a16="http://schemas.microsoft.com/office/drawing/2014/main" id="{1F17A8A4-ADB4-0DDD-91C5-ED648511D7E9}"/>
              </a:ext>
            </a:extLst>
          </p:cNvPr>
          <p:cNvPicPr>
            <a:picLocks noChangeAspect="1"/>
          </p:cNvPicPr>
          <p:nvPr/>
        </p:nvPicPr>
        <p:blipFill>
          <a:blip r:embed="rId2"/>
          <a:stretch>
            <a:fillRect/>
          </a:stretch>
        </p:blipFill>
        <p:spPr>
          <a:xfrm>
            <a:off x="6347301" y="3423837"/>
            <a:ext cx="182875" cy="182875"/>
          </a:xfrm>
          <a:prstGeom prst="rect">
            <a:avLst/>
          </a:prstGeom>
        </p:spPr>
      </p:pic>
      <p:sp>
        <p:nvSpPr>
          <p:cNvPr id="809" name="Text 38">
            <a:extLst>
              <a:ext uri="{FF2B5EF4-FFF2-40B4-BE49-F238E27FC236}">
                <a16:creationId xmlns:a16="http://schemas.microsoft.com/office/drawing/2014/main" id="{7C347EE8-154F-76C7-D9C6-41FF86EF919A}"/>
              </a:ext>
            </a:extLst>
          </p:cNvPr>
          <p:cNvSpPr txBox="1"/>
          <p:nvPr/>
        </p:nvSpPr>
        <p:spPr>
          <a:xfrm>
            <a:off x="6621614" y="3355259"/>
            <a:ext cx="5029074" cy="167636"/>
          </a:xfrm>
          <a:prstGeom prst="rect">
            <a:avLst/>
          </a:prstGeom>
          <a:noFill/>
          <a:ln/>
        </p:spPr>
        <p:txBody>
          <a:bodyPr wrap="square" lIns="0" tIns="0" rIns="0" bIns="0" rtlCol="0" anchor="ctr"/>
          <a:lstStyle/>
          <a:p>
            <a:pPr marL="0" indent="0" algn="l">
              <a:lnSpc>
                <a:spcPct val="93000"/>
              </a:lnSpc>
              <a:buNone/>
            </a:pPr>
            <a:r>
              <a:rPr lang="en-US" sz="1000" b="1" dirty="0">
                <a:solidFill>
                  <a:srgbClr val="1B4F8A"/>
                </a:solidFill>
                <a:latin typeface="Calibri" pitchFamily="34" charset="0"/>
                <a:ea typeface="Calibri" pitchFamily="34" charset="-122"/>
                <a:cs typeface="Calibri" pitchFamily="34" charset="-120"/>
              </a:rPr>
              <a:t>Cloud &amp; Network</a:t>
            </a:r>
            <a:endParaRPr lang="en-US" sz="1000" dirty="0"/>
          </a:p>
        </p:txBody>
      </p:sp>
      <p:sp>
        <p:nvSpPr>
          <p:cNvPr id="811" name="Text 39">
            <a:extLst>
              <a:ext uri="{FF2B5EF4-FFF2-40B4-BE49-F238E27FC236}">
                <a16:creationId xmlns:a16="http://schemas.microsoft.com/office/drawing/2014/main" id="{F89FA4E8-C5E3-2A93-7171-8FA60A321FCC}"/>
              </a:ext>
            </a:extLst>
          </p:cNvPr>
          <p:cNvSpPr txBox="1"/>
          <p:nvPr/>
        </p:nvSpPr>
        <p:spPr>
          <a:xfrm>
            <a:off x="6621614" y="3530514"/>
            <a:ext cx="5029074" cy="152396"/>
          </a:xfrm>
          <a:prstGeom prst="rect">
            <a:avLst/>
          </a:prstGeom>
          <a:noFill/>
          <a:ln/>
        </p:spPr>
        <p:txBody>
          <a:bodyPr wrap="square" lIns="0" tIns="0" rIns="0" bIns="0" rtlCol="0" anchor="ctr"/>
          <a:lstStyle/>
          <a:p>
            <a:pPr marL="0" indent="0" algn="l">
              <a:lnSpc>
                <a:spcPct val="93000"/>
              </a:lnSpc>
              <a:buNone/>
            </a:pPr>
            <a:r>
              <a:rPr lang="en-US" sz="820" dirty="0">
                <a:solidFill>
                  <a:srgbClr val="2A6099"/>
                </a:solidFill>
                <a:latin typeface="Calibri" pitchFamily="34" charset="0"/>
                <a:ea typeface="Calibri" pitchFamily="34" charset="-122"/>
                <a:cs typeface="Calibri" pitchFamily="34" charset="-120"/>
              </a:rPr>
              <a:t>Cloud environment   ·   DNS / SSL   ·   Firewall / WAF   ·   Network connectivity</a:t>
            </a:r>
            <a:endParaRPr lang="en-US" sz="820" dirty="0"/>
          </a:p>
        </p:txBody>
      </p:sp>
      <p:sp>
        <p:nvSpPr>
          <p:cNvPr id="813" name="Shape 40">
            <a:extLst>
              <a:ext uri="{FF2B5EF4-FFF2-40B4-BE49-F238E27FC236}">
                <a16:creationId xmlns:a16="http://schemas.microsoft.com/office/drawing/2014/main" id="{65E9041B-7EED-470F-AD99-BB472C124194}"/>
              </a:ext>
            </a:extLst>
          </p:cNvPr>
          <p:cNvSpPr/>
          <p:nvPr/>
        </p:nvSpPr>
        <p:spPr>
          <a:xfrm>
            <a:off x="6210145" y="3789588"/>
            <a:ext cx="5562461" cy="426709"/>
          </a:xfrm>
          <a:prstGeom prst="roundRect">
            <a:avLst>
              <a:gd name="adj" fmla="val 10715"/>
            </a:avLst>
          </a:prstGeom>
          <a:solidFill>
            <a:srgbClr val="F8FBFE"/>
          </a:solidFill>
          <a:ln w="12700">
            <a:solidFill>
              <a:srgbClr val="C2DCF0"/>
            </a:solidFill>
            <a:prstDash val="solid"/>
          </a:ln>
        </p:spPr>
        <p:txBody>
          <a:bodyPr/>
          <a:lstStyle/>
          <a:p>
            <a:endParaRPr lang="en-IN"/>
          </a:p>
        </p:txBody>
      </p:sp>
      <p:pic>
        <p:nvPicPr>
          <p:cNvPr id="815" name="Image 9" descr="preencoded.png">
            <a:extLst>
              <a:ext uri="{FF2B5EF4-FFF2-40B4-BE49-F238E27FC236}">
                <a16:creationId xmlns:a16="http://schemas.microsoft.com/office/drawing/2014/main" id="{6E161C71-E1A1-D508-7FDB-0C5448514179}"/>
              </a:ext>
            </a:extLst>
          </p:cNvPr>
          <p:cNvPicPr>
            <a:picLocks noChangeAspect="1"/>
          </p:cNvPicPr>
          <p:nvPr/>
        </p:nvPicPr>
        <p:blipFill>
          <a:blip r:embed="rId9"/>
          <a:stretch>
            <a:fillRect/>
          </a:stretch>
        </p:blipFill>
        <p:spPr>
          <a:xfrm>
            <a:off x="6347301" y="3911505"/>
            <a:ext cx="182875" cy="182875"/>
          </a:xfrm>
          <a:prstGeom prst="rect">
            <a:avLst/>
          </a:prstGeom>
        </p:spPr>
      </p:pic>
      <p:sp>
        <p:nvSpPr>
          <p:cNvPr id="817" name="Text 41">
            <a:extLst>
              <a:ext uri="{FF2B5EF4-FFF2-40B4-BE49-F238E27FC236}">
                <a16:creationId xmlns:a16="http://schemas.microsoft.com/office/drawing/2014/main" id="{193F15EA-DE58-6B35-C1F8-B4CFA69F65EB}"/>
              </a:ext>
            </a:extLst>
          </p:cNvPr>
          <p:cNvSpPr txBox="1"/>
          <p:nvPr/>
        </p:nvSpPr>
        <p:spPr>
          <a:xfrm>
            <a:off x="6621614" y="3842926"/>
            <a:ext cx="5029074" cy="167636"/>
          </a:xfrm>
          <a:prstGeom prst="rect">
            <a:avLst/>
          </a:prstGeom>
          <a:noFill/>
          <a:ln/>
        </p:spPr>
        <p:txBody>
          <a:bodyPr wrap="square" lIns="0" tIns="0" rIns="0" bIns="0" rtlCol="0" anchor="ctr"/>
          <a:lstStyle/>
          <a:p>
            <a:pPr marL="0" indent="0" algn="l">
              <a:lnSpc>
                <a:spcPct val="93000"/>
              </a:lnSpc>
              <a:buNone/>
            </a:pPr>
            <a:r>
              <a:rPr lang="en-US" sz="1000" b="1" dirty="0">
                <a:solidFill>
                  <a:srgbClr val="1B4F8A"/>
                </a:solidFill>
                <a:latin typeface="Calibri" pitchFamily="34" charset="0"/>
                <a:ea typeface="Calibri" pitchFamily="34" charset="-122"/>
                <a:cs typeface="Calibri" pitchFamily="34" charset="-120"/>
              </a:rPr>
              <a:t>Security &amp; Compliance</a:t>
            </a:r>
            <a:endParaRPr lang="en-US" sz="1000" dirty="0"/>
          </a:p>
        </p:txBody>
      </p:sp>
      <p:sp>
        <p:nvSpPr>
          <p:cNvPr id="819" name="Text 42">
            <a:extLst>
              <a:ext uri="{FF2B5EF4-FFF2-40B4-BE49-F238E27FC236}">
                <a16:creationId xmlns:a16="http://schemas.microsoft.com/office/drawing/2014/main" id="{AD67BFD7-719A-5A8D-CD05-9356449F25B0}"/>
              </a:ext>
            </a:extLst>
          </p:cNvPr>
          <p:cNvSpPr txBox="1"/>
          <p:nvPr/>
        </p:nvSpPr>
        <p:spPr>
          <a:xfrm>
            <a:off x="6621614" y="4018182"/>
            <a:ext cx="5029074" cy="152396"/>
          </a:xfrm>
          <a:prstGeom prst="rect">
            <a:avLst/>
          </a:prstGeom>
          <a:noFill/>
          <a:ln/>
        </p:spPr>
        <p:txBody>
          <a:bodyPr wrap="square" lIns="0" tIns="0" rIns="0" bIns="0" rtlCol="0" anchor="ctr"/>
          <a:lstStyle/>
          <a:p>
            <a:pPr marL="0" indent="0" algn="l">
              <a:lnSpc>
                <a:spcPct val="93000"/>
              </a:lnSpc>
              <a:buNone/>
            </a:pPr>
            <a:r>
              <a:rPr lang="en-US" sz="820" dirty="0">
                <a:solidFill>
                  <a:srgbClr val="2A6099"/>
                </a:solidFill>
                <a:latin typeface="Calibri" pitchFamily="34" charset="0"/>
                <a:ea typeface="Calibri" pitchFamily="34" charset="-122"/>
                <a:cs typeface="Calibri" pitchFamily="34" charset="-120"/>
              </a:rPr>
              <a:t>Architecture / security review   ·   VAPT   ·   Production approval</a:t>
            </a:r>
            <a:endParaRPr lang="en-US" sz="820" dirty="0"/>
          </a:p>
        </p:txBody>
      </p:sp>
      <p:sp>
        <p:nvSpPr>
          <p:cNvPr id="821" name="Shape 43">
            <a:extLst>
              <a:ext uri="{FF2B5EF4-FFF2-40B4-BE49-F238E27FC236}">
                <a16:creationId xmlns:a16="http://schemas.microsoft.com/office/drawing/2014/main" id="{63390318-8194-8FDF-6E22-43BB2942E0EB}"/>
              </a:ext>
            </a:extLst>
          </p:cNvPr>
          <p:cNvSpPr/>
          <p:nvPr/>
        </p:nvSpPr>
        <p:spPr>
          <a:xfrm>
            <a:off x="6210145" y="4277256"/>
            <a:ext cx="5562461" cy="426709"/>
          </a:xfrm>
          <a:prstGeom prst="roundRect">
            <a:avLst>
              <a:gd name="adj" fmla="val 10715"/>
            </a:avLst>
          </a:prstGeom>
          <a:solidFill>
            <a:srgbClr val="F8FBFE"/>
          </a:solidFill>
          <a:ln w="12700">
            <a:solidFill>
              <a:srgbClr val="C2DCF0"/>
            </a:solidFill>
            <a:prstDash val="solid"/>
          </a:ln>
        </p:spPr>
        <p:txBody>
          <a:bodyPr/>
          <a:lstStyle/>
          <a:p>
            <a:endParaRPr lang="en-IN"/>
          </a:p>
        </p:txBody>
      </p:sp>
      <p:pic>
        <p:nvPicPr>
          <p:cNvPr id="823" name="Image 10" descr="preencoded.png">
            <a:extLst>
              <a:ext uri="{FF2B5EF4-FFF2-40B4-BE49-F238E27FC236}">
                <a16:creationId xmlns:a16="http://schemas.microsoft.com/office/drawing/2014/main" id="{C95EBF56-A5CA-260D-85B1-93F8138EE4B1}"/>
              </a:ext>
            </a:extLst>
          </p:cNvPr>
          <p:cNvPicPr>
            <a:picLocks noChangeAspect="1"/>
          </p:cNvPicPr>
          <p:nvPr/>
        </p:nvPicPr>
        <p:blipFill>
          <a:blip r:embed="rId10"/>
          <a:stretch>
            <a:fillRect/>
          </a:stretch>
        </p:blipFill>
        <p:spPr>
          <a:xfrm>
            <a:off x="6347301" y="4399173"/>
            <a:ext cx="182875" cy="182875"/>
          </a:xfrm>
          <a:prstGeom prst="rect">
            <a:avLst/>
          </a:prstGeom>
        </p:spPr>
      </p:pic>
      <p:sp>
        <p:nvSpPr>
          <p:cNvPr id="825" name="Text 44">
            <a:extLst>
              <a:ext uri="{FF2B5EF4-FFF2-40B4-BE49-F238E27FC236}">
                <a16:creationId xmlns:a16="http://schemas.microsoft.com/office/drawing/2014/main" id="{DF7FE6C4-1CB2-0E0E-00E8-52349D1AB1FE}"/>
              </a:ext>
            </a:extLst>
          </p:cNvPr>
          <p:cNvSpPr txBox="1"/>
          <p:nvPr/>
        </p:nvSpPr>
        <p:spPr>
          <a:xfrm>
            <a:off x="6621614" y="4330594"/>
            <a:ext cx="5029074" cy="167636"/>
          </a:xfrm>
          <a:prstGeom prst="rect">
            <a:avLst/>
          </a:prstGeom>
          <a:noFill/>
          <a:ln/>
        </p:spPr>
        <p:txBody>
          <a:bodyPr wrap="square" lIns="0" tIns="0" rIns="0" bIns="0" rtlCol="0" anchor="ctr"/>
          <a:lstStyle/>
          <a:p>
            <a:pPr marL="0" indent="0" algn="l">
              <a:lnSpc>
                <a:spcPct val="93000"/>
              </a:lnSpc>
              <a:buNone/>
            </a:pPr>
            <a:r>
              <a:rPr lang="en-US" sz="1000" b="1" dirty="0">
                <a:solidFill>
                  <a:srgbClr val="1B4F8A"/>
                </a:solidFill>
                <a:latin typeface="Calibri" pitchFamily="34" charset="0"/>
                <a:ea typeface="Calibri" pitchFamily="34" charset="-122"/>
                <a:cs typeface="Calibri" pitchFamily="34" charset="-120"/>
              </a:rPr>
              <a:t>Testing &amp; UAT</a:t>
            </a:r>
            <a:endParaRPr lang="en-US" sz="1000" dirty="0"/>
          </a:p>
        </p:txBody>
      </p:sp>
      <p:sp>
        <p:nvSpPr>
          <p:cNvPr id="827" name="Text 45">
            <a:extLst>
              <a:ext uri="{FF2B5EF4-FFF2-40B4-BE49-F238E27FC236}">
                <a16:creationId xmlns:a16="http://schemas.microsoft.com/office/drawing/2014/main" id="{DD6A37A0-399A-D863-C684-07EE8B97EAEB}"/>
              </a:ext>
            </a:extLst>
          </p:cNvPr>
          <p:cNvSpPr txBox="1"/>
          <p:nvPr/>
        </p:nvSpPr>
        <p:spPr>
          <a:xfrm>
            <a:off x="6621614" y="4505850"/>
            <a:ext cx="5029074" cy="152396"/>
          </a:xfrm>
          <a:prstGeom prst="rect">
            <a:avLst/>
          </a:prstGeom>
          <a:noFill/>
          <a:ln/>
        </p:spPr>
        <p:txBody>
          <a:bodyPr wrap="square" lIns="0" tIns="0" rIns="0" bIns="0" rtlCol="0" anchor="ctr"/>
          <a:lstStyle/>
          <a:p>
            <a:pPr marL="0" indent="0" algn="l">
              <a:lnSpc>
                <a:spcPct val="93000"/>
              </a:lnSpc>
              <a:buNone/>
            </a:pPr>
            <a:r>
              <a:rPr lang="en-US" sz="820" dirty="0">
                <a:solidFill>
                  <a:srgbClr val="2A6099"/>
                </a:solidFill>
                <a:latin typeface="Calibri" pitchFamily="34" charset="0"/>
                <a:ea typeface="Calibri" pitchFamily="34" charset="-122"/>
                <a:cs typeface="Calibri" pitchFamily="34" charset="-120"/>
              </a:rPr>
              <a:t>Test environment   ·   Representative test data   ·   IMGC SMEs   ·   UAT sign-off</a:t>
            </a:r>
            <a:endParaRPr lang="en-US" sz="820" dirty="0"/>
          </a:p>
        </p:txBody>
      </p:sp>
      <p:sp>
        <p:nvSpPr>
          <p:cNvPr id="829" name="Shape 46">
            <a:extLst>
              <a:ext uri="{FF2B5EF4-FFF2-40B4-BE49-F238E27FC236}">
                <a16:creationId xmlns:a16="http://schemas.microsoft.com/office/drawing/2014/main" id="{7F689624-BC26-BD49-F3FF-CEFB51FEFAA0}"/>
              </a:ext>
            </a:extLst>
          </p:cNvPr>
          <p:cNvSpPr/>
          <p:nvPr/>
        </p:nvSpPr>
        <p:spPr>
          <a:xfrm>
            <a:off x="419090" y="4825882"/>
            <a:ext cx="11353516" cy="1722077"/>
          </a:xfrm>
          <a:prstGeom prst="roundRect">
            <a:avLst>
              <a:gd name="adj" fmla="val 2655"/>
            </a:avLst>
          </a:prstGeom>
          <a:solidFill>
            <a:srgbClr val="FDFBF4"/>
          </a:solidFill>
          <a:ln w="12700">
            <a:solidFill>
              <a:srgbClr val="E2CE9A"/>
            </a:solidFill>
            <a:prstDash val="solid"/>
          </a:ln>
        </p:spPr>
        <p:txBody>
          <a:bodyPr/>
          <a:lstStyle/>
          <a:p>
            <a:endParaRPr lang="en-IN"/>
          </a:p>
        </p:txBody>
      </p:sp>
      <p:pic>
        <p:nvPicPr>
          <p:cNvPr id="831" name="Image 11" descr="preencoded.png">
            <a:extLst>
              <a:ext uri="{FF2B5EF4-FFF2-40B4-BE49-F238E27FC236}">
                <a16:creationId xmlns:a16="http://schemas.microsoft.com/office/drawing/2014/main" id="{84356CCE-D1B8-4069-8F22-5385D2A395F7}"/>
              </a:ext>
            </a:extLst>
          </p:cNvPr>
          <p:cNvPicPr>
            <a:picLocks noChangeAspect="1"/>
          </p:cNvPicPr>
          <p:nvPr/>
        </p:nvPicPr>
        <p:blipFill>
          <a:blip r:embed="rId11"/>
          <a:stretch>
            <a:fillRect/>
          </a:stretch>
        </p:blipFill>
        <p:spPr>
          <a:xfrm>
            <a:off x="609585" y="4902080"/>
            <a:ext cx="198115" cy="198115"/>
          </a:xfrm>
          <a:prstGeom prst="rect">
            <a:avLst/>
          </a:prstGeom>
        </p:spPr>
      </p:pic>
      <p:sp>
        <p:nvSpPr>
          <p:cNvPr id="833" name="Text 47">
            <a:extLst>
              <a:ext uri="{FF2B5EF4-FFF2-40B4-BE49-F238E27FC236}">
                <a16:creationId xmlns:a16="http://schemas.microsoft.com/office/drawing/2014/main" id="{D5C51CFF-2D59-AEA7-195E-DBCD9FA2FC8C}"/>
              </a:ext>
            </a:extLst>
          </p:cNvPr>
          <p:cNvSpPr txBox="1"/>
          <p:nvPr/>
        </p:nvSpPr>
        <p:spPr>
          <a:xfrm>
            <a:off x="899138" y="4886840"/>
            <a:ext cx="5333867" cy="228594"/>
          </a:xfrm>
          <a:prstGeom prst="rect">
            <a:avLst/>
          </a:prstGeom>
          <a:noFill/>
          <a:ln/>
        </p:spPr>
        <p:txBody>
          <a:bodyPr wrap="square" lIns="0" tIns="0" rIns="0" bIns="0" rtlCol="0" anchor="ctr"/>
          <a:lstStyle/>
          <a:p>
            <a:pPr marL="0" indent="0" algn="l">
              <a:lnSpc>
                <a:spcPct val="93000"/>
              </a:lnSpc>
              <a:buNone/>
            </a:pPr>
            <a:r>
              <a:rPr lang="en-US" sz="1240" b="1" dirty="0">
                <a:solidFill>
                  <a:srgbClr val="8A6A16"/>
                </a:solidFill>
                <a:latin typeface="Calibri" pitchFamily="34" charset="0"/>
                <a:ea typeface="Calibri" pitchFamily="34" charset="-122"/>
                <a:cs typeface="Calibri" pitchFamily="34" charset="-120"/>
              </a:rPr>
              <a:t>Claim Initiation  —  End-to-End Dependency</a:t>
            </a:r>
            <a:endParaRPr lang="en-US" sz="1240" dirty="0"/>
          </a:p>
        </p:txBody>
      </p:sp>
      <p:sp>
        <p:nvSpPr>
          <p:cNvPr id="835" name="Shape 48">
            <a:extLst>
              <a:ext uri="{FF2B5EF4-FFF2-40B4-BE49-F238E27FC236}">
                <a16:creationId xmlns:a16="http://schemas.microsoft.com/office/drawing/2014/main" id="{DF7D40F3-043B-CE7E-44CD-EEF4D5BB7554}"/>
              </a:ext>
            </a:extLst>
          </p:cNvPr>
          <p:cNvSpPr/>
          <p:nvPr/>
        </p:nvSpPr>
        <p:spPr>
          <a:xfrm>
            <a:off x="876278" y="5161154"/>
            <a:ext cx="3276518" cy="533387"/>
          </a:xfrm>
          <a:prstGeom prst="roundRect">
            <a:avLst>
              <a:gd name="adj" fmla="val 27429"/>
            </a:avLst>
          </a:prstGeom>
          <a:solidFill>
            <a:srgbClr val="FFFFFF"/>
          </a:solidFill>
          <a:ln w="12700">
            <a:solidFill>
              <a:srgbClr val="D9A441"/>
            </a:solidFill>
            <a:prstDash val="solid"/>
          </a:ln>
        </p:spPr>
        <p:txBody>
          <a:bodyPr/>
          <a:lstStyle/>
          <a:p>
            <a:endParaRPr lang="en-IN"/>
          </a:p>
        </p:txBody>
      </p:sp>
      <p:sp>
        <p:nvSpPr>
          <p:cNvPr id="837" name="Shape 49">
            <a:extLst>
              <a:ext uri="{FF2B5EF4-FFF2-40B4-BE49-F238E27FC236}">
                <a16:creationId xmlns:a16="http://schemas.microsoft.com/office/drawing/2014/main" id="{E3F0465F-61B7-682F-DA7F-EC65BF028A5A}"/>
              </a:ext>
            </a:extLst>
          </p:cNvPr>
          <p:cNvSpPr/>
          <p:nvPr/>
        </p:nvSpPr>
        <p:spPr>
          <a:xfrm>
            <a:off x="4457589" y="5161154"/>
            <a:ext cx="3276518" cy="533387"/>
          </a:xfrm>
          <a:prstGeom prst="roundRect">
            <a:avLst>
              <a:gd name="adj" fmla="val 27429"/>
            </a:avLst>
          </a:prstGeom>
          <a:solidFill>
            <a:srgbClr val="FFFFFF"/>
          </a:solidFill>
          <a:ln w="12700">
            <a:solidFill>
              <a:srgbClr val="D9A441"/>
            </a:solidFill>
            <a:prstDash val="solid"/>
          </a:ln>
        </p:spPr>
        <p:txBody>
          <a:bodyPr/>
          <a:lstStyle/>
          <a:p>
            <a:endParaRPr lang="en-IN"/>
          </a:p>
        </p:txBody>
      </p:sp>
      <p:sp>
        <p:nvSpPr>
          <p:cNvPr id="839" name="Shape 50">
            <a:extLst>
              <a:ext uri="{FF2B5EF4-FFF2-40B4-BE49-F238E27FC236}">
                <a16:creationId xmlns:a16="http://schemas.microsoft.com/office/drawing/2014/main" id="{3A9F8569-B30F-5706-64A6-4F3921ABE4DD}"/>
              </a:ext>
            </a:extLst>
          </p:cNvPr>
          <p:cNvSpPr/>
          <p:nvPr/>
        </p:nvSpPr>
        <p:spPr>
          <a:xfrm>
            <a:off x="8038899" y="5161154"/>
            <a:ext cx="3276518" cy="533387"/>
          </a:xfrm>
          <a:prstGeom prst="roundRect">
            <a:avLst>
              <a:gd name="adj" fmla="val 27429"/>
            </a:avLst>
          </a:prstGeom>
          <a:solidFill>
            <a:srgbClr val="FFFFFF"/>
          </a:solidFill>
          <a:ln w="12700">
            <a:solidFill>
              <a:srgbClr val="D9A441"/>
            </a:solidFill>
            <a:prstDash val="solid"/>
          </a:ln>
        </p:spPr>
        <p:txBody>
          <a:bodyPr/>
          <a:lstStyle/>
          <a:p>
            <a:endParaRPr lang="en-IN"/>
          </a:p>
        </p:txBody>
      </p:sp>
      <p:pic>
        <p:nvPicPr>
          <p:cNvPr id="841" name="Image 12" descr="preencoded.png">
            <a:extLst>
              <a:ext uri="{FF2B5EF4-FFF2-40B4-BE49-F238E27FC236}">
                <a16:creationId xmlns:a16="http://schemas.microsoft.com/office/drawing/2014/main" id="{A4425D2C-3A7C-8AF8-C9E3-AD06712C673F}"/>
              </a:ext>
            </a:extLst>
          </p:cNvPr>
          <p:cNvPicPr>
            <a:picLocks noChangeAspect="1"/>
          </p:cNvPicPr>
          <p:nvPr/>
        </p:nvPicPr>
        <p:blipFill>
          <a:blip r:embed="rId4"/>
          <a:stretch>
            <a:fillRect/>
          </a:stretch>
        </p:blipFill>
        <p:spPr>
          <a:xfrm>
            <a:off x="1059154" y="5328789"/>
            <a:ext cx="198115" cy="198115"/>
          </a:xfrm>
          <a:prstGeom prst="rect">
            <a:avLst/>
          </a:prstGeom>
        </p:spPr>
      </p:pic>
      <p:sp>
        <p:nvSpPr>
          <p:cNvPr id="843" name="Text 51">
            <a:extLst>
              <a:ext uri="{FF2B5EF4-FFF2-40B4-BE49-F238E27FC236}">
                <a16:creationId xmlns:a16="http://schemas.microsoft.com/office/drawing/2014/main" id="{CF07830A-CF68-CA51-CCB0-E9632E2E8517}"/>
              </a:ext>
            </a:extLst>
          </p:cNvPr>
          <p:cNvSpPr txBox="1"/>
          <p:nvPr/>
        </p:nvSpPr>
        <p:spPr>
          <a:xfrm>
            <a:off x="1363946" y="5252591"/>
            <a:ext cx="2666933" cy="182875"/>
          </a:xfrm>
          <a:prstGeom prst="rect">
            <a:avLst/>
          </a:prstGeom>
          <a:noFill/>
          <a:ln/>
        </p:spPr>
        <p:txBody>
          <a:bodyPr wrap="square" lIns="0" tIns="0" rIns="0" bIns="0" rtlCol="0" anchor="ctr"/>
          <a:lstStyle/>
          <a:p>
            <a:pPr marL="0" indent="0" algn="l">
              <a:lnSpc>
                <a:spcPct val="93000"/>
              </a:lnSpc>
              <a:buNone/>
            </a:pPr>
            <a:r>
              <a:rPr lang="en-US" sz="1060" b="1" dirty="0">
                <a:solidFill>
                  <a:srgbClr val="11397C"/>
                </a:solidFill>
                <a:latin typeface="Calibri" pitchFamily="34" charset="0"/>
                <a:ea typeface="Calibri" pitchFamily="34" charset="-122"/>
                <a:cs typeface="Calibri" pitchFamily="34" charset="-120"/>
              </a:rPr>
              <a:t>Claim Data</a:t>
            </a:r>
            <a:endParaRPr lang="en-US" sz="1060" dirty="0"/>
          </a:p>
        </p:txBody>
      </p:sp>
      <p:sp>
        <p:nvSpPr>
          <p:cNvPr id="845" name="Text 52">
            <a:extLst>
              <a:ext uri="{FF2B5EF4-FFF2-40B4-BE49-F238E27FC236}">
                <a16:creationId xmlns:a16="http://schemas.microsoft.com/office/drawing/2014/main" id="{75F3ADBF-3F64-2073-5DCF-EF1D6D5E9C4E}"/>
              </a:ext>
            </a:extLst>
          </p:cNvPr>
          <p:cNvSpPr txBox="1"/>
          <p:nvPr/>
        </p:nvSpPr>
        <p:spPr>
          <a:xfrm>
            <a:off x="1363946" y="5435467"/>
            <a:ext cx="2666933" cy="167636"/>
          </a:xfrm>
          <a:prstGeom prst="rect">
            <a:avLst/>
          </a:prstGeom>
          <a:noFill/>
          <a:ln/>
        </p:spPr>
        <p:txBody>
          <a:bodyPr wrap="square" lIns="0" tIns="0" rIns="0" bIns="0" rtlCol="0" anchor="ctr"/>
          <a:lstStyle/>
          <a:p>
            <a:pPr marL="0" indent="0" algn="l">
              <a:lnSpc>
                <a:spcPct val="93000"/>
              </a:lnSpc>
              <a:buNone/>
            </a:pPr>
            <a:r>
              <a:rPr lang="en-US" sz="860" dirty="0">
                <a:solidFill>
                  <a:srgbClr val="8A6A16"/>
                </a:solidFill>
                <a:latin typeface="Calibri" pitchFamily="34" charset="0"/>
                <a:ea typeface="Calibri" pitchFamily="34" charset="-122"/>
                <a:cs typeface="Calibri" pitchFamily="34" charset="-120"/>
              </a:rPr>
              <a:t>Lender Portal   →   IMGC PAS</a:t>
            </a:r>
            <a:endParaRPr lang="en-US" sz="860" dirty="0"/>
          </a:p>
        </p:txBody>
      </p:sp>
      <p:pic>
        <p:nvPicPr>
          <p:cNvPr id="847" name="Image 13" descr="preencoded.png">
            <a:extLst>
              <a:ext uri="{FF2B5EF4-FFF2-40B4-BE49-F238E27FC236}">
                <a16:creationId xmlns:a16="http://schemas.microsoft.com/office/drawing/2014/main" id="{1182DF3B-0558-3087-3BF6-6A08F3BBDF2D}"/>
              </a:ext>
            </a:extLst>
          </p:cNvPr>
          <p:cNvPicPr>
            <a:picLocks noChangeAspect="1"/>
          </p:cNvPicPr>
          <p:nvPr/>
        </p:nvPicPr>
        <p:blipFill>
          <a:blip r:embed="rId6"/>
          <a:stretch>
            <a:fillRect/>
          </a:stretch>
        </p:blipFill>
        <p:spPr>
          <a:xfrm>
            <a:off x="4640464" y="5328789"/>
            <a:ext cx="198115" cy="198115"/>
          </a:xfrm>
          <a:prstGeom prst="rect">
            <a:avLst/>
          </a:prstGeom>
        </p:spPr>
      </p:pic>
      <p:sp>
        <p:nvSpPr>
          <p:cNvPr id="849" name="Text 53">
            <a:extLst>
              <a:ext uri="{FF2B5EF4-FFF2-40B4-BE49-F238E27FC236}">
                <a16:creationId xmlns:a16="http://schemas.microsoft.com/office/drawing/2014/main" id="{40B1D5A4-5668-A05D-9889-5DD51BD221B5}"/>
              </a:ext>
            </a:extLst>
          </p:cNvPr>
          <p:cNvSpPr txBox="1"/>
          <p:nvPr/>
        </p:nvSpPr>
        <p:spPr>
          <a:xfrm>
            <a:off x="4945256" y="5252591"/>
            <a:ext cx="2666933" cy="182875"/>
          </a:xfrm>
          <a:prstGeom prst="rect">
            <a:avLst/>
          </a:prstGeom>
          <a:noFill/>
          <a:ln/>
        </p:spPr>
        <p:txBody>
          <a:bodyPr wrap="square" lIns="0" tIns="0" rIns="0" bIns="0" rtlCol="0" anchor="ctr"/>
          <a:lstStyle/>
          <a:p>
            <a:pPr marL="0" indent="0" algn="l">
              <a:lnSpc>
                <a:spcPct val="93000"/>
              </a:lnSpc>
              <a:buNone/>
            </a:pPr>
            <a:r>
              <a:rPr lang="en-US" sz="1060" b="1" dirty="0">
                <a:solidFill>
                  <a:srgbClr val="11397C"/>
                </a:solidFill>
                <a:latin typeface="Calibri" pitchFamily="34" charset="0"/>
                <a:ea typeface="Calibri" pitchFamily="34" charset="-122"/>
                <a:cs typeface="Calibri" pitchFamily="34" charset="-120"/>
              </a:rPr>
              <a:t>Documents</a:t>
            </a:r>
            <a:endParaRPr lang="en-US" sz="1060" dirty="0"/>
          </a:p>
        </p:txBody>
      </p:sp>
      <p:sp>
        <p:nvSpPr>
          <p:cNvPr id="851" name="Text 54">
            <a:extLst>
              <a:ext uri="{FF2B5EF4-FFF2-40B4-BE49-F238E27FC236}">
                <a16:creationId xmlns:a16="http://schemas.microsoft.com/office/drawing/2014/main" id="{F454F3A5-0F88-E2C3-28A5-5BE31407D79A}"/>
              </a:ext>
            </a:extLst>
          </p:cNvPr>
          <p:cNvSpPr txBox="1"/>
          <p:nvPr/>
        </p:nvSpPr>
        <p:spPr>
          <a:xfrm>
            <a:off x="4945256" y="5435467"/>
            <a:ext cx="2666933" cy="167636"/>
          </a:xfrm>
          <a:prstGeom prst="rect">
            <a:avLst/>
          </a:prstGeom>
          <a:noFill/>
          <a:ln/>
        </p:spPr>
        <p:txBody>
          <a:bodyPr wrap="square" lIns="0" tIns="0" rIns="0" bIns="0" rtlCol="0" anchor="ctr"/>
          <a:lstStyle/>
          <a:p>
            <a:pPr marL="0" indent="0" algn="l">
              <a:lnSpc>
                <a:spcPct val="93000"/>
              </a:lnSpc>
              <a:buNone/>
            </a:pPr>
            <a:r>
              <a:rPr lang="en-US" sz="860" dirty="0">
                <a:solidFill>
                  <a:srgbClr val="8A6A16"/>
                </a:solidFill>
                <a:latin typeface="Calibri" pitchFamily="34" charset="0"/>
                <a:ea typeface="Calibri" pitchFamily="34" charset="-122"/>
                <a:cs typeface="Calibri" pitchFamily="34" charset="-120"/>
              </a:rPr>
              <a:t>Portal &amp; PAS   →   Shared Secure Repository</a:t>
            </a:r>
            <a:endParaRPr lang="en-US" sz="860" dirty="0"/>
          </a:p>
        </p:txBody>
      </p:sp>
      <p:pic>
        <p:nvPicPr>
          <p:cNvPr id="853" name="Image 14" descr="preencoded.png">
            <a:extLst>
              <a:ext uri="{FF2B5EF4-FFF2-40B4-BE49-F238E27FC236}">
                <a16:creationId xmlns:a16="http://schemas.microsoft.com/office/drawing/2014/main" id="{768811A7-C2A5-95AB-2B90-706F6A452FCB}"/>
              </a:ext>
            </a:extLst>
          </p:cNvPr>
          <p:cNvPicPr>
            <a:picLocks noChangeAspect="1"/>
          </p:cNvPicPr>
          <p:nvPr/>
        </p:nvPicPr>
        <p:blipFill>
          <a:blip r:embed="rId12"/>
          <a:stretch>
            <a:fillRect/>
          </a:stretch>
        </p:blipFill>
        <p:spPr>
          <a:xfrm>
            <a:off x="8221774" y="5328789"/>
            <a:ext cx="198115" cy="198115"/>
          </a:xfrm>
          <a:prstGeom prst="rect">
            <a:avLst/>
          </a:prstGeom>
        </p:spPr>
      </p:pic>
      <p:sp>
        <p:nvSpPr>
          <p:cNvPr id="855" name="Text 55">
            <a:extLst>
              <a:ext uri="{FF2B5EF4-FFF2-40B4-BE49-F238E27FC236}">
                <a16:creationId xmlns:a16="http://schemas.microsoft.com/office/drawing/2014/main" id="{8F58E6CB-71A7-C31F-6253-6E5A5B8D67DF}"/>
              </a:ext>
            </a:extLst>
          </p:cNvPr>
          <p:cNvSpPr txBox="1"/>
          <p:nvPr/>
        </p:nvSpPr>
        <p:spPr>
          <a:xfrm>
            <a:off x="8526567" y="5252591"/>
            <a:ext cx="2666933" cy="182875"/>
          </a:xfrm>
          <a:prstGeom prst="rect">
            <a:avLst/>
          </a:prstGeom>
          <a:noFill/>
          <a:ln/>
        </p:spPr>
        <p:txBody>
          <a:bodyPr wrap="square" lIns="0" tIns="0" rIns="0" bIns="0" rtlCol="0" anchor="ctr"/>
          <a:lstStyle/>
          <a:p>
            <a:pPr marL="0" indent="0" algn="l">
              <a:lnSpc>
                <a:spcPct val="93000"/>
              </a:lnSpc>
              <a:buNone/>
            </a:pPr>
            <a:r>
              <a:rPr lang="en-US" sz="1060" b="1" dirty="0">
                <a:solidFill>
                  <a:srgbClr val="11397C"/>
                </a:solidFill>
                <a:latin typeface="Calibri" pitchFamily="34" charset="0"/>
                <a:ea typeface="Calibri" pitchFamily="34" charset="-122"/>
                <a:cs typeface="Calibri" pitchFamily="34" charset="-120"/>
              </a:rPr>
              <a:t>Status / Response</a:t>
            </a:r>
            <a:endParaRPr lang="en-US" sz="1060" dirty="0"/>
          </a:p>
        </p:txBody>
      </p:sp>
      <p:sp>
        <p:nvSpPr>
          <p:cNvPr id="857" name="Text 56">
            <a:extLst>
              <a:ext uri="{FF2B5EF4-FFF2-40B4-BE49-F238E27FC236}">
                <a16:creationId xmlns:a16="http://schemas.microsoft.com/office/drawing/2014/main" id="{6C7F66CB-CC89-9CFF-496A-FD2FABDAE418}"/>
              </a:ext>
            </a:extLst>
          </p:cNvPr>
          <p:cNvSpPr txBox="1"/>
          <p:nvPr/>
        </p:nvSpPr>
        <p:spPr>
          <a:xfrm>
            <a:off x="8526567" y="5435467"/>
            <a:ext cx="2666933" cy="167636"/>
          </a:xfrm>
          <a:prstGeom prst="rect">
            <a:avLst/>
          </a:prstGeom>
          <a:noFill/>
          <a:ln/>
        </p:spPr>
        <p:txBody>
          <a:bodyPr wrap="square" lIns="0" tIns="0" rIns="0" bIns="0" rtlCol="0" anchor="ctr"/>
          <a:lstStyle/>
          <a:p>
            <a:pPr marL="0" indent="0" algn="l">
              <a:lnSpc>
                <a:spcPct val="93000"/>
              </a:lnSpc>
              <a:buNone/>
            </a:pPr>
            <a:r>
              <a:rPr lang="en-US" sz="860" dirty="0">
                <a:solidFill>
                  <a:srgbClr val="8A6A16"/>
                </a:solidFill>
                <a:latin typeface="Calibri" pitchFamily="34" charset="0"/>
                <a:ea typeface="Calibri" pitchFamily="34" charset="-122"/>
                <a:cs typeface="Calibri" pitchFamily="34" charset="-120"/>
              </a:rPr>
              <a:t>IMGC PAS   →   Lender Portal</a:t>
            </a:r>
            <a:endParaRPr lang="en-US" sz="860" dirty="0"/>
          </a:p>
        </p:txBody>
      </p:sp>
      <p:sp>
        <p:nvSpPr>
          <p:cNvPr id="859" name="Shape 57">
            <a:extLst>
              <a:ext uri="{FF2B5EF4-FFF2-40B4-BE49-F238E27FC236}">
                <a16:creationId xmlns:a16="http://schemas.microsoft.com/office/drawing/2014/main" id="{E5A5D7A5-B00A-95F9-6B8B-38DEA6BEA395}"/>
              </a:ext>
            </a:extLst>
          </p:cNvPr>
          <p:cNvSpPr/>
          <p:nvPr/>
        </p:nvSpPr>
        <p:spPr>
          <a:xfrm>
            <a:off x="4152796" y="5427847"/>
            <a:ext cx="304792" cy="0"/>
          </a:xfrm>
          <a:prstGeom prst="line">
            <a:avLst/>
          </a:prstGeom>
          <a:noFill/>
          <a:ln w="25400">
            <a:solidFill>
              <a:srgbClr val="D9A441"/>
            </a:solidFill>
            <a:prstDash val="solid"/>
            <a:tailEnd type="triangle"/>
          </a:ln>
        </p:spPr>
        <p:txBody>
          <a:bodyPr/>
          <a:lstStyle/>
          <a:p>
            <a:endParaRPr lang="en-IN"/>
          </a:p>
        </p:txBody>
      </p:sp>
      <p:sp>
        <p:nvSpPr>
          <p:cNvPr id="861" name="Shape 58">
            <a:extLst>
              <a:ext uri="{FF2B5EF4-FFF2-40B4-BE49-F238E27FC236}">
                <a16:creationId xmlns:a16="http://schemas.microsoft.com/office/drawing/2014/main" id="{93FB02D9-0A83-05BE-5B47-1A5376DD0FDC}"/>
              </a:ext>
            </a:extLst>
          </p:cNvPr>
          <p:cNvSpPr/>
          <p:nvPr/>
        </p:nvSpPr>
        <p:spPr>
          <a:xfrm>
            <a:off x="7734107" y="5427847"/>
            <a:ext cx="304792" cy="0"/>
          </a:xfrm>
          <a:prstGeom prst="line">
            <a:avLst/>
          </a:prstGeom>
          <a:noFill/>
          <a:ln w="25400">
            <a:solidFill>
              <a:srgbClr val="D9A441"/>
            </a:solidFill>
            <a:prstDash val="solid"/>
            <a:tailEnd type="triangle"/>
          </a:ln>
        </p:spPr>
        <p:txBody>
          <a:bodyPr/>
          <a:lstStyle/>
          <a:p>
            <a:endParaRPr lang="en-IN"/>
          </a:p>
        </p:txBody>
      </p:sp>
      <p:sp>
        <p:nvSpPr>
          <p:cNvPr id="863" name="Text 59">
            <a:extLst>
              <a:ext uri="{FF2B5EF4-FFF2-40B4-BE49-F238E27FC236}">
                <a16:creationId xmlns:a16="http://schemas.microsoft.com/office/drawing/2014/main" id="{C54186E2-CC19-E72B-7D86-E7B655CCA441}"/>
              </a:ext>
            </a:extLst>
          </p:cNvPr>
          <p:cNvSpPr txBox="1"/>
          <p:nvPr/>
        </p:nvSpPr>
        <p:spPr>
          <a:xfrm>
            <a:off x="419090" y="5770738"/>
            <a:ext cx="11353516" cy="198115"/>
          </a:xfrm>
          <a:prstGeom prst="rect">
            <a:avLst/>
          </a:prstGeom>
          <a:noFill/>
          <a:ln/>
        </p:spPr>
        <p:txBody>
          <a:bodyPr wrap="square" lIns="0" tIns="0" rIns="0" bIns="0" rtlCol="0" anchor="ctr"/>
          <a:lstStyle/>
          <a:p>
            <a:pPr marL="0" indent="0" algn="ctr">
              <a:lnSpc>
                <a:spcPct val="93000"/>
              </a:lnSpc>
              <a:buNone/>
            </a:pPr>
            <a:r>
              <a:rPr lang="en-US" sz="1100" b="1" dirty="0">
                <a:solidFill>
                  <a:srgbClr val="11397C"/>
                </a:solidFill>
                <a:latin typeface="Calibri" pitchFamily="34" charset="0"/>
                <a:ea typeface="Calibri" pitchFamily="34" charset="-122"/>
                <a:cs typeface="Calibri" pitchFamily="34" charset="-120"/>
              </a:rPr>
              <a:t>IMGC / PAS-side development and integration support is required for end-to-end Claim Initiation.</a:t>
            </a:r>
            <a:endParaRPr lang="en-US" sz="1100" dirty="0"/>
          </a:p>
        </p:txBody>
      </p:sp>
      <p:sp>
        <p:nvSpPr>
          <p:cNvPr id="865" name="Shape 60">
            <a:extLst>
              <a:ext uri="{FF2B5EF4-FFF2-40B4-BE49-F238E27FC236}">
                <a16:creationId xmlns:a16="http://schemas.microsoft.com/office/drawing/2014/main" id="{07F89C3D-736B-68D8-8210-B687FB857833}"/>
              </a:ext>
            </a:extLst>
          </p:cNvPr>
          <p:cNvSpPr/>
          <p:nvPr/>
        </p:nvSpPr>
        <p:spPr>
          <a:xfrm>
            <a:off x="876278" y="6045051"/>
            <a:ext cx="10439139" cy="396230"/>
          </a:xfrm>
          <a:prstGeom prst="roundRect">
            <a:avLst>
              <a:gd name="adj" fmla="val 11539"/>
            </a:avLst>
          </a:prstGeom>
          <a:solidFill>
            <a:srgbClr val="FFFFFF"/>
          </a:solidFill>
          <a:ln w="12700">
            <a:solidFill>
              <a:srgbClr val="D9A441"/>
            </a:solidFill>
            <a:prstDash val="solid"/>
          </a:ln>
        </p:spPr>
        <p:txBody>
          <a:bodyPr/>
          <a:lstStyle/>
          <a:p>
            <a:endParaRPr lang="en-IN"/>
          </a:p>
        </p:txBody>
      </p:sp>
      <p:sp>
        <p:nvSpPr>
          <p:cNvPr id="867" name="Text 61">
            <a:extLst>
              <a:ext uri="{FF2B5EF4-FFF2-40B4-BE49-F238E27FC236}">
                <a16:creationId xmlns:a16="http://schemas.microsoft.com/office/drawing/2014/main" id="{5C721589-E762-23AA-2140-560F6AC87C39}"/>
              </a:ext>
            </a:extLst>
          </p:cNvPr>
          <p:cNvSpPr txBox="1"/>
          <p:nvPr/>
        </p:nvSpPr>
        <p:spPr>
          <a:xfrm>
            <a:off x="998195" y="6045051"/>
            <a:ext cx="1676358" cy="396230"/>
          </a:xfrm>
          <a:prstGeom prst="rect">
            <a:avLst/>
          </a:prstGeom>
          <a:noFill/>
          <a:ln/>
        </p:spPr>
        <p:txBody>
          <a:bodyPr wrap="square" lIns="0" tIns="0" rIns="0" bIns="0" rtlCol="0" anchor="ctr"/>
          <a:lstStyle/>
          <a:p>
            <a:pPr marL="0" indent="0" algn="l">
              <a:lnSpc>
                <a:spcPct val="93000"/>
              </a:lnSpc>
              <a:buNone/>
            </a:pPr>
            <a:r>
              <a:rPr lang="en-US" sz="980" b="1" dirty="0">
                <a:solidFill>
                  <a:srgbClr val="8A6A16"/>
                </a:solidFill>
                <a:latin typeface="Calibri" pitchFamily="34" charset="0"/>
                <a:ea typeface="Calibri" pitchFamily="34" charset="-122"/>
                <a:cs typeface="Calibri" pitchFamily="34" charset="-120"/>
              </a:rPr>
              <a:t>Key IMGC Dependency</a:t>
            </a:r>
            <a:endParaRPr lang="en-US" sz="980" dirty="0"/>
          </a:p>
        </p:txBody>
      </p:sp>
      <p:sp>
        <p:nvSpPr>
          <p:cNvPr id="869" name="Text 62">
            <a:extLst>
              <a:ext uri="{FF2B5EF4-FFF2-40B4-BE49-F238E27FC236}">
                <a16:creationId xmlns:a16="http://schemas.microsoft.com/office/drawing/2014/main" id="{C8B62A8A-55D6-E7A1-6163-693981C40421}"/>
              </a:ext>
            </a:extLst>
          </p:cNvPr>
          <p:cNvSpPr txBox="1"/>
          <p:nvPr/>
        </p:nvSpPr>
        <p:spPr>
          <a:xfrm>
            <a:off x="2705032" y="6045051"/>
            <a:ext cx="8534187" cy="396230"/>
          </a:xfrm>
          <a:prstGeom prst="rect">
            <a:avLst/>
          </a:prstGeom>
          <a:noFill/>
          <a:ln/>
        </p:spPr>
        <p:txBody>
          <a:bodyPr wrap="square" lIns="0" tIns="0" rIns="0" bIns="0" rtlCol="0" anchor="ctr"/>
          <a:lstStyle/>
          <a:p>
            <a:pPr marL="0" indent="0" algn="l">
              <a:lnSpc>
                <a:spcPct val="93000"/>
              </a:lnSpc>
              <a:buNone/>
            </a:pPr>
            <a:r>
              <a:rPr lang="en-US" sz="900" dirty="0">
                <a:solidFill>
                  <a:srgbClr val="6B5B2E"/>
                </a:solidFill>
                <a:latin typeface="Calibri" pitchFamily="34" charset="0"/>
                <a:ea typeface="Calibri" pitchFamily="34" charset="-122"/>
                <a:cs typeface="Calibri" pitchFamily="34" charset="-120"/>
              </a:rPr>
              <a:t>PAS-side development   +   integration interfaces   +   shared document repository   +   required infrastructure / access   +   testing &amp; UAT</a:t>
            </a:r>
            <a:endParaRPr lang="en-US" sz="900" dirty="0"/>
          </a:p>
        </p:txBody>
      </p:sp>
    </p:spTree>
    <p:extLst>
      <p:ext uri="{BB962C8B-B14F-4D97-AF65-F5344CB8AC3E}">
        <p14:creationId xmlns:p14="http://schemas.microsoft.com/office/powerpoint/2010/main" val="2751844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CE4E-1D83-C866-3440-8FAC42478B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A32D24-46F1-0870-51D4-06C04DF4DB32}"/>
              </a:ext>
            </a:extLst>
          </p:cNvPr>
          <p:cNvSpPr txBox="1"/>
          <p:nvPr/>
        </p:nvSpPr>
        <p:spPr>
          <a:xfrm>
            <a:off x="2815452" y="2936506"/>
            <a:ext cx="6573795" cy="1323439"/>
          </a:xfrm>
          <a:prstGeom prst="rect">
            <a:avLst/>
          </a:prstGeom>
          <a:noFill/>
        </p:spPr>
        <p:txBody>
          <a:bodyPr wrap="square" rtlCol="0">
            <a:spAutoFit/>
          </a:bodyPr>
          <a:lstStyle/>
          <a:p>
            <a:pPr algn="ctr"/>
            <a:r>
              <a:rPr lang="en-US" sz="4000" b="1" dirty="0">
                <a:latin typeface="Outfit" pitchFamily="2" charset="0"/>
              </a:rPr>
              <a:t>Overall Vision : Lender’s Portal</a:t>
            </a:r>
            <a:endParaRPr lang="en-IN" sz="4000" b="1" dirty="0">
              <a:latin typeface="Outfit" pitchFamily="2" charset="0"/>
            </a:endParaRPr>
          </a:p>
        </p:txBody>
      </p:sp>
    </p:spTree>
    <p:extLst>
      <p:ext uri="{BB962C8B-B14F-4D97-AF65-F5344CB8AC3E}">
        <p14:creationId xmlns:p14="http://schemas.microsoft.com/office/powerpoint/2010/main" val="2008330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D2822-7691-6C7E-EB9B-E30BD73B9B3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FA350F-CD50-6F91-7DB0-EB461DDEE3DA}"/>
              </a:ext>
            </a:extLst>
          </p:cNvPr>
          <p:cNvSpPr>
            <a:spLocks noGrp="1"/>
          </p:cNvSpPr>
          <p:nvPr>
            <p:ph type="title"/>
          </p:nvPr>
        </p:nvSpPr>
        <p:spPr>
          <a:noFill/>
          <a:ln>
            <a:noFill/>
          </a:ln>
        </p:spPr>
        <p:txBody>
          <a:bodyPr spcFirstLastPara="1" vert="horz" wrap="square" lIns="90540" tIns="45258" rIns="90540" bIns="45258" rtlCol="0" anchor="ctr" anchorCtr="0">
            <a:noAutofit/>
          </a:bodyPr>
          <a:lstStyle/>
          <a:p>
            <a:pPr>
              <a:lnSpc>
                <a:spcPct val="100000"/>
              </a:lnSpc>
              <a:buClr>
                <a:srgbClr val="000000"/>
              </a:buClr>
            </a:pPr>
            <a:r>
              <a:rPr lang="en-US" sz="3170" b="1" dirty="0">
                <a:solidFill>
                  <a:srgbClr val="000000"/>
                </a:solidFill>
                <a:cs typeface="Arial" panose="020B0604020202090204"/>
              </a:rPr>
              <a:t>Functional Scope &amp; Application Evolution</a:t>
            </a:r>
          </a:p>
        </p:txBody>
      </p:sp>
      <p:sp>
        <p:nvSpPr>
          <p:cNvPr id="2" name="Shape 3">
            <a:extLst>
              <a:ext uri="{FF2B5EF4-FFF2-40B4-BE49-F238E27FC236}">
                <a16:creationId xmlns:a16="http://schemas.microsoft.com/office/drawing/2014/main" id="{69826152-EDDE-E6C9-0BDB-F301DFE47B28}"/>
              </a:ext>
            </a:extLst>
          </p:cNvPr>
          <p:cNvSpPr/>
          <p:nvPr/>
        </p:nvSpPr>
        <p:spPr>
          <a:xfrm>
            <a:off x="445912" y="1020038"/>
            <a:ext cx="3505112" cy="4876678"/>
          </a:xfrm>
          <a:prstGeom prst="roundRect">
            <a:avLst>
              <a:gd name="adj" fmla="val 1304"/>
            </a:avLst>
          </a:prstGeom>
          <a:solidFill>
            <a:srgbClr val="FCFDFF"/>
          </a:solidFill>
          <a:ln w="12700">
            <a:solidFill>
              <a:srgbClr val="C7DEF2"/>
            </a:solidFill>
            <a:prstDash val="solid"/>
          </a:ln>
        </p:spPr>
        <p:txBody>
          <a:bodyPr/>
          <a:lstStyle/>
          <a:p>
            <a:endParaRPr lang="en-IN"/>
          </a:p>
        </p:txBody>
      </p:sp>
      <p:sp>
        <p:nvSpPr>
          <p:cNvPr id="4" name="Shape 4">
            <a:extLst>
              <a:ext uri="{FF2B5EF4-FFF2-40B4-BE49-F238E27FC236}">
                <a16:creationId xmlns:a16="http://schemas.microsoft.com/office/drawing/2014/main" id="{96C5477A-1F58-EAB9-E25E-2A4B29C74B2A}"/>
              </a:ext>
            </a:extLst>
          </p:cNvPr>
          <p:cNvSpPr/>
          <p:nvPr/>
        </p:nvSpPr>
        <p:spPr>
          <a:xfrm>
            <a:off x="445912" y="1020038"/>
            <a:ext cx="3505112" cy="701022"/>
          </a:xfrm>
          <a:prstGeom prst="roundRect">
            <a:avLst>
              <a:gd name="adj" fmla="val 6522"/>
            </a:avLst>
          </a:prstGeom>
          <a:solidFill>
            <a:srgbClr val="2C6EA0"/>
          </a:solidFill>
          <a:ln w="12700">
            <a:solidFill>
              <a:srgbClr val="2C6EA0"/>
            </a:solidFill>
            <a:prstDash val="solid"/>
          </a:ln>
        </p:spPr>
        <p:txBody>
          <a:bodyPr/>
          <a:lstStyle/>
          <a:p>
            <a:endParaRPr lang="en-IN"/>
          </a:p>
        </p:txBody>
      </p:sp>
      <p:sp>
        <p:nvSpPr>
          <p:cNvPr id="5" name="Text 5">
            <a:extLst>
              <a:ext uri="{FF2B5EF4-FFF2-40B4-BE49-F238E27FC236}">
                <a16:creationId xmlns:a16="http://schemas.microsoft.com/office/drawing/2014/main" id="{0BEC32B5-2E20-96E0-9208-6003C6C13B3F}"/>
              </a:ext>
            </a:extLst>
          </p:cNvPr>
          <p:cNvSpPr txBox="1"/>
          <p:nvPr/>
        </p:nvSpPr>
        <p:spPr>
          <a:xfrm>
            <a:off x="567828" y="1096236"/>
            <a:ext cx="3261278" cy="12191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760" b="1" kern="0" spc="140" dirty="0">
                <a:solidFill>
                  <a:srgbClr val="C9DDF0"/>
                </a:solidFill>
                <a:latin typeface="Calibri" pitchFamily="34" charset="0"/>
                <a:ea typeface="Calibri" pitchFamily="34" charset="-122"/>
                <a:cs typeface="Calibri" pitchFamily="34" charset="-120"/>
              </a:rPr>
              <a:t>PHASE 1</a:t>
            </a:r>
            <a:endParaRPr lang="en-US" sz="760" dirty="0"/>
          </a:p>
        </p:txBody>
      </p:sp>
      <p:sp>
        <p:nvSpPr>
          <p:cNvPr id="6" name="Text 6">
            <a:extLst>
              <a:ext uri="{FF2B5EF4-FFF2-40B4-BE49-F238E27FC236}">
                <a16:creationId xmlns:a16="http://schemas.microsoft.com/office/drawing/2014/main" id="{19439D97-C037-D321-3BA4-E98EF4A6865F}"/>
              </a:ext>
            </a:extLst>
          </p:cNvPr>
          <p:cNvSpPr txBox="1"/>
          <p:nvPr/>
        </p:nvSpPr>
        <p:spPr>
          <a:xfrm>
            <a:off x="567828" y="1233392"/>
            <a:ext cx="3261278" cy="25907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1450" b="1" dirty="0">
                <a:solidFill>
                  <a:srgbClr val="FFFFFF"/>
                </a:solidFill>
                <a:latin typeface="Calibri" pitchFamily="34" charset="0"/>
                <a:ea typeface="Calibri" pitchFamily="34" charset="-122"/>
                <a:cs typeface="Calibri" pitchFamily="34" charset="-120"/>
              </a:rPr>
              <a:t>Lender Portal – MVP</a:t>
            </a:r>
            <a:endParaRPr lang="en-US" sz="1450" dirty="0"/>
          </a:p>
        </p:txBody>
      </p:sp>
      <p:sp>
        <p:nvSpPr>
          <p:cNvPr id="7" name="Text 7">
            <a:extLst>
              <a:ext uri="{FF2B5EF4-FFF2-40B4-BE49-F238E27FC236}">
                <a16:creationId xmlns:a16="http://schemas.microsoft.com/office/drawing/2014/main" id="{75645520-A766-65F3-0162-25FD18831DC8}"/>
              </a:ext>
            </a:extLst>
          </p:cNvPr>
          <p:cNvSpPr txBox="1"/>
          <p:nvPr/>
        </p:nvSpPr>
        <p:spPr>
          <a:xfrm>
            <a:off x="567828" y="1507705"/>
            <a:ext cx="3261278" cy="1523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960" i="1" dirty="0">
                <a:solidFill>
                  <a:srgbClr val="D6E6F5"/>
                </a:solidFill>
                <a:latin typeface="Calibri" pitchFamily="34" charset="0"/>
                <a:ea typeface="Calibri" pitchFamily="34" charset="-122"/>
                <a:cs typeface="Calibri" pitchFamily="34" charset="-120"/>
              </a:rPr>
              <a:t>Focused Self-Service</a:t>
            </a:r>
            <a:endParaRPr lang="en-US" sz="960" dirty="0"/>
          </a:p>
        </p:txBody>
      </p:sp>
      <p:sp>
        <p:nvSpPr>
          <p:cNvPr id="8" name="Shape 8">
            <a:extLst>
              <a:ext uri="{FF2B5EF4-FFF2-40B4-BE49-F238E27FC236}">
                <a16:creationId xmlns:a16="http://schemas.microsoft.com/office/drawing/2014/main" id="{BEE492FB-B119-2950-095A-FF40300A5E6E}"/>
              </a:ext>
            </a:extLst>
          </p:cNvPr>
          <p:cNvSpPr/>
          <p:nvPr/>
        </p:nvSpPr>
        <p:spPr>
          <a:xfrm>
            <a:off x="537349" y="1842977"/>
            <a:ext cx="1584920" cy="761981"/>
          </a:xfrm>
          <a:prstGeom prst="roundRect">
            <a:avLst>
              <a:gd name="adj" fmla="val 4800"/>
            </a:avLst>
          </a:prstGeom>
          <a:solidFill>
            <a:srgbClr val="F6FAFE"/>
          </a:solidFill>
          <a:ln w="12700">
            <a:solidFill>
              <a:srgbClr val="C7DEF2"/>
            </a:solidFill>
            <a:prstDash val="solid"/>
          </a:ln>
        </p:spPr>
        <p:txBody>
          <a:bodyPr/>
          <a:lstStyle/>
          <a:p>
            <a:endParaRPr lang="en-IN"/>
          </a:p>
        </p:txBody>
      </p:sp>
      <p:pic>
        <p:nvPicPr>
          <p:cNvPr id="9" name="Image 0">
            <a:extLst>
              <a:ext uri="{FF2B5EF4-FFF2-40B4-BE49-F238E27FC236}">
                <a16:creationId xmlns:a16="http://schemas.microsoft.com/office/drawing/2014/main" id="{B48E6359-FE37-2F77-35A6-31DD36FDB28E}"/>
              </a:ext>
            </a:extLst>
          </p:cNvPr>
          <p:cNvPicPr>
            <a:picLocks noChangeAspect="1"/>
          </p:cNvPicPr>
          <p:nvPr/>
        </p:nvPicPr>
        <p:blipFill>
          <a:blip r:embed="rId2"/>
          <a:stretch>
            <a:fillRect/>
          </a:stretch>
        </p:blipFill>
        <p:spPr>
          <a:xfrm>
            <a:off x="651646" y="2124910"/>
            <a:ext cx="198115" cy="198115"/>
          </a:xfrm>
          <a:prstGeom prst="rect">
            <a:avLst/>
          </a:prstGeom>
        </p:spPr>
      </p:pic>
      <p:sp>
        <p:nvSpPr>
          <p:cNvPr id="10" name="Text 9">
            <a:extLst>
              <a:ext uri="{FF2B5EF4-FFF2-40B4-BE49-F238E27FC236}">
                <a16:creationId xmlns:a16="http://schemas.microsoft.com/office/drawing/2014/main" id="{C521FF75-9917-4CBA-43A6-9B4C3A915C39}"/>
              </a:ext>
            </a:extLst>
          </p:cNvPr>
          <p:cNvSpPr txBox="1"/>
          <p:nvPr/>
        </p:nvSpPr>
        <p:spPr>
          <a:xfrm>
            <a:off x="933579" y="1842977"/>
            <a:ext cx="1112492" cy="76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User Access</a:t>
            </a:r>
            <a:endParaRPr lang="en-US" sz="980" dirty="0"/>
          </a:p>
        </p:txBody>
      </p:sp>
      <p:sp>
        <p:nvSpPr>
          <p:cNvPr id="11" name="Shape 10">
            <a:extLst>
              <a:ext uri="{FF2B5EF4-FFF2-40B4-BE49-F238E27FC236}">
                <a16:creationId xmlns:a16="http://schemas.microsoft.com/office/drawing/2014/main" id="{9636C9AC-75C7-967E-54DA-D5457E71D099}"/>
              </a:ext>
            </a:extLst>
          </p:cNvPr>
          <p:cNvSpPr/>
          <p:nvPr/>
        </p:nvSpPr>
        <p:spPr>
          <a:xfrm>
            <a:off x="2213707" y="1842977"/>
            <a:ext cx="1584920" cy="761981"/>
          </a:xfrm>
          <a:prstGeom prst="roundRect">
            <a:avLst>
              <a:gd name="adj" fmla="val 4800"/>
            </a:avLst>
          </a:prstGeom>
          <a:solidFill>
            <a:srgbClr val="F6FAFE"/>
          </a:solidFill>
          <a:ln w="12700">
            <a:solidFill>
              <a:srgbClr val="C7DEF2"/>
            </a:solidFill>
            <a:prstDash val="solid"/>
          </a:ln>
        </p:spPr>
        <p:txBody>
          <a:bodyPr/>
          <a:lstStyle/>
          <a:p>
            <a:endParaRPr lang="en-IN"/>
          </a:p>
        </p:txBody>
      </p:sp>
      <p:pic>
        <p:nvPicPr>
          <p:cNvPr id="12" name="Image 1">
            <a:extLst>
              <a:ext uri="{FF2B5EF4-FFF2-40B4-BE49-F238E27FC236}">
                <a16:creationId xmlns:a16="http://schemas.microsoft.com/office/drawing/2014/main" id="{40D8B16E-858F-6C60-B51E-C83874A358C5}"/>
              </a:ext>
            </a:extLst>
          </p:cNvPr>
          <p:cNvPicPr>
            <a:picLocks noChangeAspect="1"/>
          </p:cNvPicPr>
          <p:nvPr/>
        </p:nvPicPr>
        <p:blipFill>
          <a:blip r:embed="rId3"/>
          <a:stretch>
            <a:fillRect/>
          </a:stretch>
        </p:blipFill>
        <p:spPr>
          <a:xfrm>
            <a:off x="2328004" y="2124910"/>
            <a:ext cx="198115" cy="198115"/>
          </a:xfrm>
          <a:prstGeom prst="rect">
            <a:avLst/>
          </a:prstGeom>
        </p:spPr>
      </p:pic>
      <p:sp>
        <p:nvSpPr>
          <p:cNvPr id="13" name="Text 11">
            <a:extLst>
              <a:ext uri="{FF2B5EF4-FFF2-40B4-BE49-F238E27FC236}">
                <a16:creationId xmlns:a16="http://schemas.microsoft.com/office/drawing/2014/main" id="{32BB471D-6184-BC51-3AC6-1E193C071CD2}"/>
              </a:ext>
            </a:extLst>
          </p:cNvPr>
          <p:cNvSpPr txBox="1"/>
          <p:nvPr/>
        </p:nvSpPr>
        <p:spPr>
          <a:xfrm>
            <a:off x="2609937" y="1842977"/>
            <a:ext cx="1112492" cy="76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Account &amp;</a:t>
            </a:r>
            <a:endParaRPr lang="en-US" sz="980" dirty="0"/>
          </a:p>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Portfolio</a:t>
            </a:r>
            <a:endParaRPr lang="en-US" sz="980" dirty="0"/>
          </a:p>
        </p:txBody>
      </p:sp>
      <p:sp>
        <p:nvSpPr>
          <p:cNvPr id="14" name="Shape 12">
            <a:extLst>
              <a:ext uri="{FF2B5EF4-FFF2-40B4-BE49-F238E27FC236}">
                <a16:creationId xmlns:a16="http://schemas.microsoft.com/office/drawing/2014/main" id="{1FD16CEA-22E4-FB5B-76AB-DBD1A3C8B694}"/>
              </a:ext>
            </a:extLst>
          </p:cNvPr>
          <p:cNvSpPr/>
          <p:nvPr/>
        </p:nvSpPr>
        <p:spPr>
          <a:xfrm>
            <a:off x="537349" y="2696396"/>
            <a:ext cx="1584920" cy="761981"/>
          </a:xfrm>
          <a:prstGeom prst="roundRect">
            <a:avLst>
              <a:gd name="adj" fmla="val 4800"/>
            </a:avLst>
          </a:prstGeom>
          <a:solidFill>
            <a:srgbClr val="F6FAFE"/>
          </a:solidFill>
          <a:ln w="12700">
            <a:solidFill>
              <a:srgbClr val="C7DEF2"/>
            </a:solidFill>
            <a:prstDash val="solid"/>
          </a:ln>
        </p:spPr>
        <p:txBody>
          <a:bodyPr/>
          <a:lstStyle/>
          <a:p>
            <a:endParaRPr lang="en-IN"/>
          </a:p>
        </p:txBody>
      </p:sp>
      <p:pic>
        <p:nvPicPr>
          <p:cNvPr id="15" name="Image 2">
            <a:extLst>
              <a:ext uri="{FF2B5EF4-FFF2-40B4-BE49-F238E27FC236}">
                <a16:creationId xmlns:a16="http://schemas.microsoft.com/office/drawing/2014/main" id="{6A005EF0-51C9-DDF1-8F40-6E65E4A2A2B6}"/>
              </a:ext>
            </a:extLst>
          </p:cNvPr>
          <p:cNvPicPr>
            <a:picLocks noChangeAspect="1"/>
          </p:cNvPicPr>
          <p:nvPr/>
        </p:nvPicPr>
        <p:blipFill>
          <a:blip r:embed="rId4"/>
          <a:stretch>
            <a:fillRect/>
          </a:stretch>
        </p:blipFill>
        <p:spPr>
          <a:xfrm>
            <a:off x="651646" y="2978329"/>
            <a:ext cx="198115" cy="198115"/>
          </a:xfrm>
          <a:prstGeom prst="rect">
            <a:avLst/>
          </a:prstGeom>
        </p:spPr>
      </p:pic>
      <p:sp>
        <p:nvSpPr>
          <p:cNvPr id="16" name="Text 13">
            <a:extLst>
              <a:ext uri="{FF2B5EF4-FFF2-40B4-BE49-F238E27FC236}">
                <a16:creationId xmlns:a16="http://schemas.microsoft.com/office/drawing/2014/main" id="{FC60C8AB-5BAF-ED32-80EF-3C733D74E26E}"/>
              </a:ext>
            </a:extLst>
          </p:cNvPr>
          <p:cNvSpPr txBox="1"/>
          <p:nvPr/>
        </p:nvSpPr>
        <p:spPr>
          <a:xfrm>
            <a:off x="933579" y="2696396"/>
            <a:ext cx="1112492" cy="76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Accounting Values</a:t>
            </a:r>
            <a:endParaRPr lang="en-US" sz="980" dirty="0"/>
          </a:p>
        </p:txBody>
      </p:sp>
      <p:sp>
        <p:nvSpPr>
          <p:cNvPr id="17" name="Shape 14">
            <a:extLst>
              <a:ext uri="{FF2B5EF4-FFF2-40B4-BE49-F238E27FC236}">
                <a16:creationId xmlns:a16="http://schemas.microsoft.com/office/drawing/2014/main" id="{3A696996-337E-F3BC-15DC-A88D13EE17A4}"/>
              </a:ext>
            </a:extLst>
          </p:cNvPr>
          <p:cNvSpPr/>
          <p:nvPr/>
        </p:nvSpPr>
        <p:spPr>
          <a:xfrm>
            <a:off x="2213707" y="2696396"/>
            <a:ext cx="1584920" cy="761981"/>
          </a:xfrm>
          <a:prstGeom prst="roundRect">
            <a:avLst>
              <a:gd name="adj" fmla="val 4800"/>
            </a:avLst>
          </a:prstGeom>
          <a:solidFill>
            <a:srgbClr val="F6FAFE"/>
          </a:solidFill>
          <a:ln w="12700">
            <a:solidFill>
              <a:srgbClr val="C7DEF2"/>
            </a:solidFill>
            <a:prstDash val="solid"/>
          </a:ln>
        </p:spPr>
        <p:txBody>
          <a:bodyPr/>
          <a:lstStyle/>
          <a:p>
            <a:endParaRPr lang="en-IN"/>
          </a:p>
        </p:txBody>
      </p:sp>
      <p:pic>
        <p:nvPicPr>
          <p:cNvPr id="18" name="Image 3">
            <a:extLst>
              <a:ext uri="{FF2B5EF4-FFF2-40B4-BE49-F238E27FC236}">
                <a16:creationId xmlns:a16="http://schemas.microsoft.com/office/drawing/2014/main" id="{34B05A19-46EF-6F71-B8A4-8960B1FF8EC4}"/>
              </a:ext>
            </a:extLst>
          </p:cNvPr>
          <p:cNvPicPr>
            <a:picLocks noChangeAspect="1"/>
          </p:cNvPicPr>
          <p:nvPr/>
        </p:nvPicPr>
        <p:blipFill>
          <a:blip r:embed="rId5"/>
          <a:stretch>
            <a:fillRect/>
          </a:stretch>
        </p:blipFill>
        <p:spPr>
          <a:xfrm>
            <a:off x="2328004" y="2978329"/>
            <a:ext cx="198115" cy="198115"/>
          </a:xfrm>
          <a:prstGeom prst="rect">
            <a:avLst/>
          </a:prstGeom>
        </p:spPr>
      </p:pic>
      <p:sp>
        <p:nvSpPr>
          <p:cNvPr id="19" name="Text 15">
            <a:extLst>
              <a:ext uri="{FF2B5EF4-FFF2-40B4-BE49-F238E27FC236}">
                <a16:creationId xmlns:a16="http://schemas.microsoft.com/office/drawing/2014/main" id="{31528E63-52A2-D2CE-E3E8-4E60DCDB5335}"/>
              </a:ext>
            </a:extLst>
          </p:cNvPr>
          <p:cNvSpPr txBox="1"/>
          <p:nvPr/>
        </p:nvSpPr>
        <p:spPr>
          <a:xfrm>
            <a:off x="2609937" y="2696396"/>
            <a:ext cx="1112492" cy="76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Initial Claim</a:t>
            </a:r>
            <a:endParaRPr lang="en-US" sz="980" dirty="0"/>
          </a:p>
        </p:txBody>
      </p:sp>
      <p:sp>
        <p:nvSpPr>
          <p:cNvPr id="20" name="Shape 16">
            <a:extLst>
              <a:ext uri="{FF2B5EF4-FFF2-40B4-BE49-F238E27FC236}">
                <a16:creationId xmlns:a16="http://schemas.microsoft.com/office/drawing/2014/main" id="{BC2EAFC4-B76C-9052-0CA6-27EE3A2BCF69}"/>
              </a:ext>
            </a:extLst>
          </p:cNvPr>
          <p:cNvSpPr/>
          <p:nvPr/>
        </p:nvSpPr>
        <p:spPr>
          <a:xfrm>
            <a:off x="537349" y="3549814"/>
            <a:ext cx="1584920" cy="761981"/>
          </a:xfrm>
          <a:prstGeom prst="roundRect">
            <a:avLst>
              <a:gd name="adj" fmla="val 4800"/>
            </a:avLst>
          </a:prstGeom>
          <a:solidFill>
            <a:srgbClr val="F6FAFE"/>
          </a:solidFill>
          <a:ln w="12700">
            <a:solidFill>
              <a:srgbClr val="C7DEF2"/>
            </a:solidFill>
            <a:prstDash val="solid"/>
          </a:ln>
        </p:spPr>
        <p:txBody>
          <a:bodyPr/>
          <a:lstStyle/>
          <a:p>
            <a:endParaRPr lang="en-IN"/>
          </a:p>
        </p:txBody>
      </p:sp>
      <p:pic>
        <p:nvPicPr>
          <p:cNvPr id="21" name="Image 4">
            <a:extLst>
              <a:ext uri="{FF2B5EF4-FFF2-40B4-BE49-F238E27FC236}">
                <a16:creationId xmlns:a16="http://schemas.microsoft.com/office/drawing/2014/main" id="{DD69F0D0-A502-DAC7-4F20-2C2A6DA6A282}"/>
              </a:ext>
            </a:extLst>
          </p:cNvPr>
          <p:cNvPicPr>
            <a:picLocks noChangeAspect="1"/>
          </p:cNvPicPr>
          <p:nvPr/>
        </p:nvPicPr>
        <p:blipFill>
          <a:blip r:embed="rId6"/>
          <a:stretch>
            <a:fillRect/>
          </a:stretch>
        </p:blipFill>
        <p:spPr>
          <a:xfrm>
            <a:off x="651646" y="3831747"/>
            <a:ext cx="198115" cy="198115"/>
          </a:xfrm>
          <a:prstGeom prst="rect">
            <a:avLst/>
          </a:prstGeom>
        </p:spPr>
      </p:pic>
      <p:sp>
        <p:nvSpPr>
          <p:cNvPr id="22" name="Text 17">
            <a:extLst>
              <a:ext uri="{FF2B5EF4-FFF2-40B4-BE49-F238E27FC236}">
                <a16:creationId xmlns:a16="http://schemas.microsoft.com/office/drawing/2014/main" id="{E0DD1083-8B50-9CAF-83F3-0FA7A470D25D}"/>
              </a:ext>
            </a:extLst>
          </p:cNvPr>
          <p:cNvSpPr txBox="1"/>
          <p:nvPr/>
        </p:nvSpPr>
        <p:spPr>
          <a:xfrm>
            <a:off x="933579" y="3549814"/>
            <a:ext cx="1112492" cy="76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Documents &amp;</a:t>
            </a:r>
            <a:endParaRPr lang="en-US" sz="980" dirty="0"/>
          </a:p>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Remarks</a:t>
            </a:r>
            <a:endParaRPr lang="en-US" sz="980" dirty="0"/>
          </a:p>
        </p:txBody>
      </p:sp>
      <p:sp>
        <p:nvSpPr>
          <p:cNvPr id="23" name="Shape 18">
            <a:extLst>
              <a:ext uri="{FF2B5EF4-FFF2-40B4-BE49-F238E27FC236}">
                <a16:creationId xmlns:a16="http://schemas.microsoft.com/office/drawing/2014/main" id="{C44DD364-7577-FBD0-CBA9-3CD8D44162CE}"/>
              </a:ext>
            </a:extLst>
          </p:cNvPr>
          <p:cNvSpPr/>
          <p:nvPr/>
        </p:nvSpPr>
        <p:spPr>
          <a:xfrm>
            <a:off x="2213707" y="3549814"/>
            <a:ext cx="1584920" cy="761981"/>
          </a:xfrm>
          <a:prstGeom prst="roundRect">
            <a:avLst>
              <a:gd name="adj" fmla="val 4800"/>
            </a:avLst>
          </a:prstGeom>
          <a:solidFill>
            <a:srgbClr val="F6FAFE"/>
          </a:solidFill>
          <a:ln w="12700">
            <a:solidFill>
              <a:srgbClr val="C7DEF2"/>
            </a:solidFill>
            <a:prstDash val="solid"/>
          </a:ln>
        </p:spPr>
        <p:txBody>
          <a:bodyPr/>
          <a:lstStyle/>
          <a:p>
            <a:endParaRPr lang="en-IN"/>
          </a:p>
        </p:txBody>
      </p:sp>
      <p:pic>
        <p:nvPicPr>
          <p:cNvPr id="24" name="Image 5">
            <a:extLst>
              <a:ext uri="{FF2B5EF4-FFF2-40B4-BE49-F238E27FC236}">
                <a16:creationId xmlns:a16="http://schemas.microsoft.com/office/drawing/2014/main" id="{D5E17C51-90B2-5B46-CC35-C5413317CA60}"/>
              </a:ext>
            </a:extLst>
          </p:cNvPr>
          <p:cNvPicPr>
            <a:picLocks noChangeAspect="1"/>
          </p:cNvPicPr>
          <p:nvPr/>
        </p:nvPicPr>
        <p:blipFill>
          <a:blip r:embed="rId7"/>
          <a:stretch>
            <a:fillRect/>
          </a:stretch>
        </p:blipFill>
        <p:spPr>
          <a:xfrm>
            <a:off x="2328004" y="3831747"/>
            <a:ext cx="198115" cy="198115"/>
          </a:xfrm>
          <a:prstGeom prst="rect">
            <a:avLst/>
          </a:prstGeom>
        </p:spPr>
      </p:pic>
      <p:sp>
        <p:nvSpPr>
          <p:cNvPr id="25" name="Text 19">
            <a:extLst>
              <a:ext uri="{FF2B5EF4-FFF2-40B4-BE49-F238E27FC236}">
                <a16:creationId xmlns:a16="http://schemas.microsoft.com/office/drawing/2014/main" id="{D4E75570-C46C-1F74-7D04-EFBC327865C4}"/>
              </a:ext>
            </a:extLst>
          </p:cNvPr>
          <p:cNvSpPr txBox="1"/>
          <p:nvPr/>
        </p:nvSpPr>
        <p:spPr>
          <a:xfrm>
            <a:off x="2609937" y="3549814"/>
            <a:ext cx="1112492" cy="76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Processing &amp;</a:t>
            </a:r>
            <a:endParaRPr lang="en-US" sz="980" dirty="0"/>
          </a:p>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Status</a:t>
            </a:r>
            <a:endParaRPr lang="en-US" sz="980" dirty="0"/>
          </a:p>
        </p:txBody>
      </p:sp>
      <p:sp>
        <p:nvSpPr>
          <p:cNvPr id="26" name="Shape 20">
            <a:extLst>
              <a:ext uri="{FF2B5EF4-FFF2-40B4-BE49-F238E27FC236}">
                <a16:creationId xmlns:a16="http://schemas.microsoft.com/office/drawing/2014/main" id="{C0661A1E-37E4-A992-79BB-DF071F5125B8}"/>
              </a:ext>
            </a:extLst>
          </p:cNvPr>
          <p:cNvSpPr/>
          <p:nvPr/>
        </p:nvSpPr>
        <p:spPr>
          <a:xfrm>
            <a:off x="537349" y="4403233"/>
            <a:ext cx="1584920" cy="761981"/>
          </a:xfrm>
          <a:prstGeom prst="roundRect">
            <a:avLst>
              <a:gd name="adj" fmla="val 4800"/>
            </a:avLst>
          </a:prstGeom>
          <a:solidFill>
            <a:srgbClr val="F6FAFE"/>
          </a:solidFill>
          <a:ln w="12700">
            <a:solidFill>
              <a:srgbClr val="C7DEF2"/>
            </a:solidFill>
            <a:prstDash val="solid"/>
          </a:ln>
        </p:spPr>
        <p:txBody>
          <a:bodyPr/>
          <a:lstStyle/>
          <a:p>
            <a:endParaRPr lang="en-IN"/>
          </a:p>
        </p:txBody>
      </p:sp>
      <p:pic>
        <p:nvPicPr>
          <p:cNvPr id="27" name="Image 6">
            <a:extLst>
              <a:ext uri="{FF2B5EF4-FFF2-40B4-BE49-F238E27FC236}">
                <a16:creationId xmlns:a16="http://schemas.microsoft.com/office/drawing/2014/main" id="{7312BFFC-AE49-D1AC-19BE-E3CA1A542A00}"/>
              </a:ext>
            </a:extLst>
          </p:cNvPr>
          <p:cNvPicPr>
            <a:picLocks noChangeAspect="1"/>
          </p:cNvPicPr>
          <p:nvPr/>
        </p:nvPicPr>
        <p:blipFill>
          <a:blip r:embed="rId8"/>
          <a:stretch>
            <a:fillRect/>
          </a:stretch>
        </p:blipFill>
        <p:spPr>
          <a:xfrm>
            <a:off x="651646" y="4685166"/>
            <a:ext cx="198115" cy="198115"/>
          </a:xfrm>
          <a:prstGeom prst="rect">
            <a:avLst/>
          </a:prstGeom>
        </p:spPr>
      </p:pic>
      <p:sp>
        <p:nvSpPr>
          <p:cNvPr id="28" name="Text 21">
            <a:extLst>
              <a:ext uri="{FF2B5EF4-FFF2-40B4-BE49-F238E27FC236}">
                <a16:creationId xmlns:a16="http://schemas.microsoft.com/office/drawing/2014/main" id="{6577BE10-51D4-026A-EC89-209D9F152CF9}"/>
              </a:ext>
            </a:extLst>
          </p:cNvPr>
          <p:cNvSpPr txBox="1"/>
          <p:nvPr/>
        </p:nvSpPr>
        <p:spPr>
          <a:xfrm>
            <a:off x="933579" y="4403233"/>
            <a:ext cx="1112492" cy="76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Notifications</a:t>
            </a:r>
            <a:endParaRPr lang="en-US" sz="980" dirty="0"/>
          </a:p>
        </p:txBody>
      </p:sp>
      <p:sp>
        <p:nvSpPr>
          <p:cNvPr id="29" name="Shape 22">
            <a:extLst>
              <a:ext uri="{FF2B5EF4-FFF2-40B4-BE49-F238E27FC236}">
                <a16:creationId xmlns:a16="http://schemas.microsoft.com/office/drawing/2014/main" id="{F5B3348D-8788-A846-5EDF-22D4A7CB3CB6}"/>
              </a:ext>
            </a:extLst>
          </p:cNvPr>
          <p:cNvSpPr/>
          <p:nvPr/>
        </p:nvSpPr>
        <p:spPr>
          <a:xfrm>
            <a:off x="2213707" y="4403233"/>
            <a:ext cx="1584920" cy="761981"/>
          </a:xfrm>
          <a:prstGeom prst="roundRect">
            <a:avLst>
              <a:gd name="adj" fmla="val 4800"/>
            </a:avLst>
          </a:prstGeom>
          <a:solidFill>
            <a:srgbClr val="F6FAFE"/>
          </a:solidFill>
          <a:ln w="12700">
            <a:solidFill>
              <a:srgbClr val="C7DEF2"/>
            </a:solidFill>
            <a:prstDash val="solid"/>
          </a:ln>
        </p:spPr>
        <p:txBody>
          <a:bodyPr/>
          <a:lstStyle/>
          <a:p>
            <a:endParaRPr lang="en-IN"/>
          </a:p>
        </p:txBody>
      </p:sp>
      <p:pic>
        <p:nvPicPr>
          <p:cNvPr id="30" name="Image 7">
            <a:extLst>
              <a:ext uri="{FF2B5EF4-FFF2-40B4-BE49-F238E27FC236}">
                <a16:creationId xmlns:a16="http://schemas.microsoft.com/office/drawing/2014/main" id="{82D50422-1F2A-B066-4C12-A563C8B57796}"/>
              </a:ext>
            </a:extLst>
          </p:cNvPr>
          <p:cNvPicPr>
            <a:picLocks noChangeAspect="1"/>
          </p:cNvPicPr>
          <p:nvPr/>
        </p:nvPicPr>
        <p:blipFill>
          <a:blip r:embed="rId9"/>
          <a:stretch>
            <a:fillRect/>
          </a:stretch>
        </p:blipFill>
        <p:spPr>
          <a:xfrm>
            <a:off x="2328004" y="4685166"/>
            <a:ext cx="198115" cy="198115"/>
          </a:xfrm>
          <a:prstGeom prst="rect">
            <a:avLst/>
          </a:prstGeom>
        </p:spPr>
      </p:pic>
      <p:sp>
        <p:nvSpPr>
          <p:cNvPr id="31" name="Text 23">
            <a:extLst>
              <a:ext uri="{FF2B5EF4-FFF2-40B4-BE49-F238E27FC236}">
                <a16:creationId xmlns:a16="http://schemas.microsoft.com/office/drawing/2014/main" id="{EA4B96C0-2A5D-0F82-90CB-9947C7F7BB2E}"/>
              </a:ext>
            </a:extLst>
          </p:cNvPr>
          <p:cNvSpPr txBox="1"/>
          <p:nvPr/>
        </p:nvSpPr>
        <p:spPr>
          <a:xfrm>
            <a:off x="2609937" y="4403233"/>
            <a:ext cx="1112492" cy="76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80" b="1" dirty="0">
                <a:solidFill>
                  <a:srgbClr val="1B3A66"/>
                </a:solidFill>
                <a:latin typeface="Calibri" pitchFamily="34" charset="0"/>
                <a:ea typeface="Calibri" pitchFamily="34" charset="-122"/>
                <a:cs typeface="Calibri" pitchFamily="34" charset="-120"/>
              </a:rPr>
              <a:t>Audit Trail</a:t>
            </a:r>
            <a:endParaRPr lang="en-US" sz="980" dirty="0"/>
          </a:p>
        </p:txBody>
      </p:sp>
      <p:sp>
        <p:nvSpPr>
          <p:cNvPr id="32" name="Text 24">
            <a:extLst>
              <a:ext uri="{FF2B5EF4-FFF2-40B4-BE49-F238E27FC236}">
                <a16:creationId xmlns:a16="http://schemas.microsoft.com/office/drawing/2014/main" id="{20A60543-1970-9C38-F598-8056CF5BC16C}"/>
              </a:ext>
            </a:extLst>
          </p:cNvPr>
          <p:cNvSpPr txBox="1"/>
          <p:nvPr/>
        </p:nvSpPr>
        <p:spPr>
          <a:xfrm>
            <a:off x="552589" y="5317610"/>
            <a:ext cx="3291758" cy="44194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900" i="1" dirty="0">
                <a:solidFill>
                  <a:srgbClr val="5B6472"/>
                </a:solidFill>
                <a:latin typeface="Calibri" pitchFamily="34" charset="0"/>
                <a:ea typeface="Calibri" pitchFamily="34" charset="-122"/>
                <a:cs typeface="Calibri" pitchFamily="34" charset="-120"/>
              </a:rPr>
              <a:t>Lenders self-serve the initial claim; IMGC reviews, processes and updates status.</a:t>
            </a:r>
            <a:endParaRPr lang="en-US" sz="900" dirty="0"/>
          </a:p>
        </p:txBody>
      </p:sp>
      <p:sp>
        <p:nvSpPr>
          <p:cNvPr id="33" name="Shape 25">
            <a:extLst>
              <a:ext uri="{FF2B5EF4-FFF2-40B4-BE49-F238E27FC236}">
                <a16:creationId xmlns:a16="http://schemas.microsoft.com/office/drawing/2014/main" id="{F32C930C-C543-ED59-D3A4-D5B814011047}"/>
              </a:ext>
            </a:extLst>
          </p:cNvPr>
          <p:cNvSpPr/>
          <p:nvPr/>
        </p:nvSpPr>
        <p:spPr>
          <a:xfrm>
            <a:off x="4408212" y="1020038"/>
            <a:ext cx="3505112" cy="4876678"/>
          </a:xfrm>
          <a:prstGeom prst="roundRect">
            <a:avLst>
              <a:gd name="adj" fmla="val 1304"/>
            </a:avLst>
          </a:prstGeom>
          <a:solidFill>
            <a:srgbClr val="FCFDFF"/>
          </a:solidFill>
          <a:ln w="12700">
            <a:solidFill>
              <a:srgbClr val="C7DEF2"/>
            </a:solidFill>
            <a:prstDash val="solid"/>
          </a:ln>
        </p:spPr>
        <p:txBody>
          <a:bodyPr/>
          <a:lstStyle/>
          <a:p>
            <a:endParaRPr lang="en-IN"/>
          </a:p>
        </p:txBody>
      </p:sp>
      <p:sp>
        <p:nvSpPr>
          <p:cNvPr id="34" name="Shape 26">
            <a:extLst>
              <a:ext uri="{FF2B5EF4-FFF2-40B4-BE49-F238E27FC236}">
                <a16:creationId xmlns:a16="http://schemas.microsoft.com/office/drawing/2014/main" id="{9CC9469B-E4B9-72DD-944E-F9C3B65DD259}"/>
              </a:ext>
            </a:extLst>
          </p:cNvPr>
          <p:cNvSpPr/>
          <p:nvPr/>
        </p:nvSpPr>
        <p:spPr>
          <a:xfrm>
            <a:off x="4408212" y="1020038"/>
            <a:ext cx="3505112" cy="701022"/>
          </a:xfrm>
          <a:prstGeom prst="roundRect">
            <a:avLst>
              <a:gd name="adj" fmla="val 6522"/>
            </a:avLst>
          </a:prstGeom>
          <a:solidFill>
            <a:srgbClr val="1C5288"/>
          </a:solidFill>
          <a:ln w="12700">
            <a:solidFill>
              <a:srgbClr val="1C5288"/>
            </a:solidFill>
            <a:prstDash val="solid"/>
          </a:ln>
        </p:spPr>
        <p:txBody>
          <a:bodyPr/>
          <a:lstStyle/>
          <a:p>
            <a:endParaRPr lang="en-IN"/>
          </a:p>
        </p:txBody>
      </p:sp>
      <p:sp>
        <p:nvSpPr>
          <p:cNvPr id="35" name="Text 27">
            <a:extLst>
              <a:ext uri="{FF2B5EF4-FFF2-40B4-BE49-F238E27FC236}">
                <a16:creationId xmlns:a16="http://schemas.microsoft.com/office/drawing/2014/main" id="{07D97DE1-BBE2-3099-4707-64094FEBAEC6}"/>
              </a:ext>
            </a:extLst>
          </p:cNvPr>
          <p:cNvSpPr txBox="1"/>
          <p:nvPr/>
        </p:nvSpPr>
        <p:spPr>
          <a:xfrm>
            <a:off x="4530129" y="1096236"/>
            <a:ext cx="3261278" cy="12191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760" b="1" kern="0" spc="140" dirty="0">
                <a:solidFill>
                  <a:srgbClr val="C9DDF0"/>
                </a:solidFill>
                <a:latin typeface="Calibri" pitchFamily="34" charset="0"/>
                <a:ea typeface="Calibri" pitchFamily="34" charset="-122"/>
                <a:cs typeface="Calibri" pitchFamily="34" charset="-120"/>
              </a:rPr>
              <a:t>PHASE 2</a:t>
            </a:r>
            <a:endParaRPr lang="en-US" sz="760" dirty="0"/>
          </a:p>
        </p:txBody>
      </p:sp>
      <p:sp>
        <p:nvSpPr>
          <p:cNvPr id="36" name="Text 28">
            <a:extLst>
              <a:ext uri="{FF2B5EF4-FFF2-40B4-BE49-F238E27FC236}">
                <a16:creationId xmlns:a16="http://schemas.microsoft.com/office/drawing/2014/main" id="{B387444D-B8D4-A2FF-9183-E534DBA0F113}"/>
              </a:ext>
            </a:extLst>
          </p:cNvPr>
          <p:cNvSpPr txBox="1"/>
          <p:nvPr/>
        </p:nvSpPr>
        <p:spPr>
          <a:xfrm>
            <a:off x="4530129" y="1233392"/>
            <a:ext cx="3261278" cy="25907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1450" b="1" dirty="0">
                <a:solidFill>
                  <a:srgbClr val="FFFFFF"/>
                </a:solidFill>
                <a:latin typeface="Calibri" pitchFamily="34" charset="0"/>
                <a:ea typeface="Calibri" pitchFamily="34" charset="-122"/>
                <a:cs typeface="Calibri" pitchFamily="34" charset="-120"/>
              </a:rPr>
              <a:t>Lender Portal – Claims Capabilities</a:t>
            </a:r>
            <a:endParaRPr lang="en-US" sz="1450" dirty="0"/>
          </a:p>
        </p:txBody>
      </p:sp>
      <p:sp>
        <p:nvSpPr>
          <p:cNvPr id="37" name="Text 29">
            <a:extLst>
              <a:ext uri="{FF2B5EF4-FFF2-40B4-BE49-F238E27FC236}">
                <a16:creationId xmlns:a16="http://schemas.microsoft.com/office/drawing/2014/main" id="{CE9AB7F5-B113-48FF-25F7-C434B08F3A7A}"/>
              </a:ext>
            </a:extLst>
          </p:cNvPr>
          <p:cNvSpPr txBox="1"/>
          <p:nvPr/>
        </p:nvSpPr>
        <p:spPr>
          <a:xfrm>
            <a:off x="4530129" y="1507705"/>
            <a:ext cx="3261278" cy="1523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960" i="1" dirty="0">
                <a:solidFill>
                  <a:srgbClr val="D6E6F5"/>
                </a:solidFill>
                <a:latin typeface="Calibri" pitchFamily="34" charset="0"/>
                <a:ea typeface="Calibri" pitchFamily="34" charset="-122"/>
                <a:cs typeface="Calibri" pitchFamily="34" charset="-120"/>
              </a:rPr>
              <a:t>Expanded Claims Lifecycle</a:t>
            </a:r>
            <a:endParaRPr lang="en-US" sz="960" dirty="0"/>
          </a:p>
        </p:txBody>
      </p:sp>
      <p:sp>
        <p:nvSpPr>
          <p:cNvPr id="38" name="Shape 30">
            <a:extLst>
              <a:ext uri="{FF2B5EF4-FFF2-40B4-BE49-F238E27FC236}">
                <a16:creationId xmlns:a16="http://schemas.microsoft.com/office/drawing/2014/main" id="{98E4B51C-A70C-D806-F48B-84A12A105BE3}"/>
              </a:ext>
            </a:extLst>
          </p:cNvPr>
          <p:cNvSpPr/>
          <p:nvPr/>
        </p:nvSpPr>
        <p:spPr>
          <a:xfrm>
            <a:off x="4499650" y="1842977"/>
            <a:ext cx="1584920" cy="655304"/>
          </a:xfrm>
          <a:prstGeom prst="roundRect">
            <a:avLst>
              <a:gd name="adj" fmla="val 5582"/>
            </a:avLst>
          </a:prstGeom>
          <a:solidFill>
            <a:srgbClr val="F6FAFE"/>
          </a:solidFill>
          <a:ln w="12700">
            <a:solidFill>
              <a:srgbClr val="C7DEF2"/>
            </a:solidFill>
            <a:prstDash val="solid"/>
          </a:ln>
        </p:spPr>
        <p:txBody>
          <a:bodyPr/>
          <a:lstStyle/>
          <a:p>
            <a:endParaRPr lang="en-IN"/>
          </a:p>
        </p:txBody>
      </p:sp>
      <p:pic>
        <p:nvPicPr>
          <p:cNvPr id="39" name="Image 8">
            <a:extLst>
              <a:ext uri="{FF2B5EF4-FFF2-40B4-BE49-F238E27FC236}">
                <a16:creationId xmlns:a16="http://schemas.microsoft.com/office/drawing/2014/main" id="{30E8AA03-451B-D622-B9D1-27CFC511ECCD}"/>
              </a:ext>
            </a:extLst>
          </p:cNvPr>
          <p:cNvPicPr>
            <a:picLocks noChangeAspect="1"/>
          </p:cNvPicPr>
          <p:nvPr/>
        </p:nvPicPr>
        <p:blipFill>
          <a:blip r:embed="rId10"/>
          <a:stretch>
            <a:fillRect/>
          </a:stretch>
        </p:blipFill>
        <p:spPr>
          <a:xfrm>
            <a:off x="4613947" y="2071571"/>
            <a:ext cx="198115" cy="198115"/>
          </a:xfrm>
          <a:prstGeom prst="rect">
            <a:avLst/>
          </a:prstGeom>
        </p:spPr>
      </p:pic>
      <p:sp>
        <p:nvSpPr>
          <p:cNvPr id="40" name="Text 31">
            <a:extLst>
              <a:ext uri="{FF2B5EF4-FFF2-40B4-BE49-F238E27FC236}">
                <a16:creationId xmlns:a16="http://schemas.microsoft.com/office/drawing/2014/main" id="{CB0385B1-021C-A000-A1B6-D9E577CC13F1}"/>
              </a:ext>
            </a:extLst>
          </p:cNvPr>
          <p:cNvSpPr txBox="1"/>
          <p:nvPr/>
        </p:nvSpPr>
        <p:spPr>
          <a:xfrm>
            <a:off x="4895880" y="1842977"/>
            <a:ext cx="1112492" cy="655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Initial &amp; Subsequent</a:t>
            </a:r>
            <a:endParaRPr lang="en-US" sz="940" dirty="0"/>
          </a:p>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Claims</a:t>
            </a:r>
            <a:endParaRPr lang="en-US" sz="940" dirty="0"/>
          </a:p>
        </p:txBody>
      </p:sp>
      <p:sp>
        <p:nvSpPr>
          <p:cNvPr id="41" name="Shape 32">
            <a:extLst>
              <a:ext uri="{FF2B5EF4-FFF2-40B4-BE49-F238E27FC236}">
                <a16:creationId xmlns:a16="http://schemas.microsoft.com/office/drawing/2014/main" id="{373688F1-91BF-7661-E3D1-6EA315A2D7EF}"/>
              </a:ext>
            </a:extLst>
          </p:cNvPr>
          <p:cNvSpPr/>
          <p:nvPr/>
        </p:nvSpPr>
        <p:spPr>
          <a:xfrm>
            <a:off x="6176008" y="1842977"/>
            <a:ext cx="1584920" cy="655304"/>
          </a:xfrm>
          <a:prstGeom prst="roundRect">
            <a:avLst>
              <a:gd name="adj" fmla="val 5582"/>
            </a:avLst>
          </a:prstGeom>
          <a:solidFill>
            <a:srgbClr val="F6FAFE"/>
          </a:solidFill>
          <a:ln w="12700">
            <a:solidFill>
              <a:srgbClr val="C7DEF2"/>
            </a:solidFill>
            <a:prstDash val="solid"/>
          </a:ln>
        </p:spPr>
        <p:txBody>
          <a:bodyPr/>
          <a:lstStyle/>
          <a:p>
            <a:endParaRPr lang="en-IN"/>
          </a:p>
        </p:txBody>
      </p:sp>
      <p:pic>
        <p:nvPicPr>
          <p:cNvPr id="42" name="Image 9">
            <a:extLst>
              <a:ext uri="{FF2B5EF4-FFF2-40B4-BE49-F238E27FC236}">
                <a16:creationId xmlns:a16="http://schemas.microsoft.com/office/drawing/2014/main" id="{F3867845-533F-C562-0CE8-3D9C1FA1001A}"/>
              </a:ext>
            </a:extLst>
          </p:cNvPr>
          <p:cNvPicPr>
            <a:picLocks noChangeAspect="1"/>
          </p:cNvPicPr>
          <p:nvPr/>
        </p:nvPicPr>
        <p:blipFill>
          <a:blip r:embed="rId11"/>
          <a:stretch>
            <a:fillRect/>
          </a:stretch>
        </p:blipFill>
        <p:spPr>
          <a:xfrm>
            <a:off x="6290305" y="2071571"/>
            <a:ext cx="198115" cy="198115"/>
          </a:xfrm>
          <a:prstGeom prst="rect">
            <a:avLst/>
          </a:prstGeom>
        </p:spPr>
      </p:pic>
      <p:sp>
        <p:nvSpPr>
          <p:cNvPr id="43" name="Text 33">
            <a:extLst>
              <a:ext uri="{FF2B5EF4-FFF2-40B4-BE49-F238E27FC236}">
                <a16:creationId xmlns:a16="http://schemas.microsoft.com/office/drawing/2014/main" id="{AD2FFCB9-E279-2126-566D-955736AD7222}"/>
              </a:ext>
            </a:extLst>
          </p:cNvPr>
          <p:cNvSpPr txBox="1"/>
          <p:nvPr/>
        </p:nvSpPr>
        <p:spPr>
          <a:xfrm>
            <a:off x="6572238" y="1842977"/>
            <a:ext cx="1112492" cy="655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Query Management</a:t>
            </a:r>
            <a:endParaRPr lang="en-US" sz="940" dirty="0"/>
          </a:p>
        </p:txBody>
      </p:sp>
      <p:sp>
        <p:nvSpPr>
          <p:cNvPr id="44" name="Shape 34">
            <a:extLst>
              <a:ext uri="{FF2B5EF4-FFF2-40B4-BE49-F238E27FC236}">
                <a16:creationId xmlns:a16="http://schemas.microsoft.com/office/drawing/2014/main" id="{9A7D2945-FB7F-8362-23B1-791F6063D8F4}"/>
              </a:ext>
            </a:extLst>
          </p:cNvPr>
          <p:cNvSpPr/>
          <p:nvPr/>
        </p:nvSpPr>
        <p:spPr>
          <a:xfrm>
            <a:off x="4499650" y="2574479"/>
            <a:ext cx="1584920" cy="655304"/>
          </a:xfrm>
          <a:prstGeom prst="roundRect">
            <a:avLst>
              <a:gd name="adj" fmla="val 5582"/>
            </a:avLst>
          </a:prstGeom>
          <a:solidFill>
            <a:srgbClr val="F6FAFE"/>
          </a:solidFill>
          <a:ln w="12700">
            <a:solidFill>
              <a:srgbClr val="C7DEF2"/>
            </a:solidFill>
            <a:prstDash val="solid"/>
          </a:ln>
        </p:spPr>
        <p:txBody>
          <a:bodyPr/>
          <a:lstStyle/>
          <a:p>
            <a:endParaRPr lang="en-IN"/>
          </a:p>
        </p:txBody>
      </p:sp>
      <p:pic>
        <p:nvPicPr>
          <p:cNvPr id="45" name="Image 10">
            <a:extLst>
              <a:ext uri="{FF2B5EF4-FFF2-40B4-BE49-F238E27FC236}">
                <a16:creationId xmlns:a16="http://schemas.microsoft.com/office/drawing/2014/main" id="{420DC4C5-4B83-4D1A-6B41-4C1DF5422926}"/>
              </a:ext>
            </a:extLst>
          </p:cNvPr>
          <p:cNvPicPr>
            <a:picLocks noChangeAspect="1"/>
          </p:cNvPicPr>
          <p:nvPr/>
        </p:nvPicPr>
        <p:blipFill>
          <a:blip r:embed="rId12"/>
          <a:stretch>
            <a:fillRect/>
          </a:stretch>
        </p:blipFill>
        <p:spPr>
          <a:xfrm>
            <a:off x="4613947" y="2803073"/>
            <a:ext cx="198115" cy="198115"/>
          </a:xfrm>
          <a:prstGeom prst="rect">
            <a:avLst/>
          </a:prstGeom>
        </p:spPr>
      </p:pic>
      <p:sp>
        <p:nvSpPr>
          <p:cNvPr id="46" name="Text 35">
            <a:extLst>
              <a:ext uri="{FF2B5EF4-FFF2-40B4-BE49-F238E27FC236}">
                <a16:creationId xmlns:a16="http://schemas.microsoft.com/office/drawing/2014/main" id="{3CF32855-AF29-64E8-BD03-547F7AA6069B}"/>
              </a:ext>
            </a:extLst>
          </p:cNvPr>
          <p:cNvSpPr txBox="1"/>
          <p:nvPr/>
        </p:nvSpPr>
        <p:spPr>
          <a:xfrm>
            <a:off x="4895880" y="2574479"/>
            <a:ext cx="1112492" cy="655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Claim Assessment</a:t>
            </a:r>
            <a:endParaRPr lang="en-US" sz="940" dirty="0"/>
          </a:p>
        </p:txBody>
      </p:sp>
      <p:sp>
        <p:nvSpPr>
          <p:cNvPr id="47" name="Shape 36">
            <a:extLst>
              <a:ext uri="{FF2B5EF4-FFF2-40B4-BE49-F238E27FC236}">
                <a16:creationId xmlns:a16="http://schemas.microsoft.com/office/drawing/2014/main" id="{B79D3E3E-7041-6540-EF8B-A99250686CE9}"/>
              </a:ext>
            </a:extLst>
          </p:cNvPr>
          <p:cNvSpPr/>
          <p:nvPr/>
        </p:nvSpPr>
        <p:spPr>
          <a:xfrm>
            <a:off x="6176008" y="2574479"/>
            <a:ext cx="1584920" cy="655304"/>
          </a:xfrm>
          <a:prstGeom prst="roundRect">
            <a:avLst>
              <a:gd name="adj" fmla="val 5582"/>
            </a:avLst>
          </a:prstGeom>
          <a:solidFill>
            <a:srgbClr val="F6FAFE"/>
          </a:solidFill>
          <a:ln w="12700">
            <a:solidFill>
              <a:srgbClr val="C7DEF2"/>
            </a:solidFill>
            <a:prstDash val="solid"/>
          </a:ln>
        </p:spPr>
        <p:txBody>
          <a:bodyPr/>
          <a:lstStyle/>
          <a:p>
            <a:endParaRPr lang="en-IN"/>
          </a:p>
        </p:txBody>
      </p:sp>
      <p:pic>
        <p:nvPicPr>
          <p:cNvPr id="48" name="Image 11">
            <a:extLst>
              <a:ext uri="{FF2B5EF4-FFF2-40B4-BE49-F238E27FC236}">
                <a16:creationId xmlns:a16="http://schemas.microsoft.com/office/drawing/2014/main" id="{353772FA-7754-F63F-EA98-A93DF5347573}"/>
              </a:ext>
            </a:extLst>
          </p:cNvPr>
          <p:cNvPicPr>
            <a:picLocks noChangeAspect="1"/>
          </p:cNvPicPr>
          <p:nvPr/>
        </p:nvPicPr>
        <p:blipFill>
          <a:blip r:embed="rId13"/>
          <a:stretch>
            <a:fillRect/>
          </a:stretch>
        </p:blipFill>
        <p:spPr>
          <a:xfrm>
            <a:off x="6290305" y="2803073"/>
            <a:ext cx="198115" cy="198115"/>
          </a:xfrm>
          <a:prstGeom prst="rect">
            <a:avLst/>
          </a:prstGeom>
        </p:spPr>
      </p:pic>
      <p:sp>
        <p:nvSpPr>
          <p:cNvPr id="49" name="Text 37">
            <a:extLst>
              <a:ext uri="{FF2B5EF4-FFF2-40B4-BE49-F238E27FC236}">
                <a16:creationId xmlns:a16="http://schemas.microsoft.com/office/drawing/2014/main" id="{45A04552-7044-359E-9650-A6F17C6BA043}"/>
              </a:ext>
            </a:extLst>
          </p:cNvPr>
          <p:cNvSpPr txBox="1"/>
          <p:nvPr/>
        </p:nvSpPr>
        <p:spPr>
          <a:xfrm>
            <a:off x="6572238" y="2574479"/>
            <a:ext cx="1112492" cy="655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Decisioning &amp;</a:t>
            </a:r>
            <a:endParaRPr lang="en-US" sz="940" dirty="0"/>
          </a:p>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Approvals</a:t>
            </a:r>
            <a:endParaRPr lang="en-US" sz="940" dirty="0"/>
          </a:p>
        </p:txBody>
      </p:sp>
      <p:sp>
        <p:nvSpPr>
          <p:cNvPr id="50" name="Shape 38">
            <a:extLst>
              <a:ext uri="{FF2B5EF4-FFF2-40B4-BE49-F238E27FC236}">
                <a16:creationId xmlns:a16="http://schemas.microsoft.com/office/drawing/2014/main" id="{26AAC7BD-7855-B075-C4E4-D513D6FCB84F}"/>
              </a:ext>
            </a:extLst>
          </p:cNvPr>
          <p:cNvSpPr/>
          <p:nvPr/>
        </p:nvSpPr>
        <p:spPr>
          <a:xfrm>
            <a:off x="4499650" y="3305980"/>
            <a:ext cx="1584920" cy="655304"/>
          </a:xfrm>
          <a:prstGeom prst="roundRect">
            <a:avLst>
              <a:gd name="adj" fmla="val 5582"/>
            </a:avLst>
          </a:prstGeom>
          <a:solidFill>
            <a:srgbClr val="F6FAFE"/>
          </a:solidFill>
          <a:ln w="12700">
            <a:solidFill>
              <a:srgbClr val="C7DEF2"/>
            </a:solidFill>
            <a:prstDash val="solid"/>
          </a:ln>
        </p:spPr>
        <p:txBody>
          <a:bodyPr/>
          <a:lstStyle/>
          <a:p>
            <a:endParaRPr lang="en-IN"/>
          </a:p>
        </p:txBody>
      </p:sp>
      <p:pic>
        <p:nvPicPr>
          <p:cNvPr id="51" name="Image 12">
            <a:extLst>
              <a:ext uri="{FF2B5EF4-FFF2-40B4-BE49-F238E27FC236}">
                <a16:creationId xmlns:a16="http://schemas.microsoft.com/office/drawing/2014/main" id="{104053EB-B494-F2F2-D83B-BB1ADF4F9552}"/>
              </a:ext>
            </a:extLst>
          </p:cNvPr>
          <p:cNvPicPr>
            <a:picLocks noChangeAspect="1"/>
          </p:cNvPicPr>
          <p:nvPr/>
        </p:nvPicPr>
        <p:blipFill>
          <a:blip r:embed="rId14"/>
          <a:stretch>
            <a:fillRect/>
          </a:stretch>
        </p:blipFill>
        <p:spPr>
          <a:xfrm>
            <a:off x="4613947" y="3534575"/>
            <a:ext cx="198115" cy="198115"/>
          </a:xfrm>
          <a:prstGeom prst="rect">
            <a:avLst/>
          </a:prstGeom>
        </p:spPr>
      </p:pic>
      <p:sp>
        <p:nvSpPr>
          <p:cNvPr id="52" name="Text 39">
            <a:extLst>
              <a:ext uri="{FF2B5EF4-FFF2-40B4-BE49-F238E27FC236}">
                <a16:creationId xmlns:a16="http://schemas.microsoft.com/office/drawing/2014/main" id="{D8A55D0A-1531-9D8A-1AED-B9D4F16E1388}"/>
              </a:ext>
            </a:extLst>
          </p:cNvPr>
          <p:cNvSpPr txBox="1"/>
          <p:nvPr/>
        </p:nvSpPr>
        <p:spPr>
          <a:xfrm>
            <a:off x="4895880" y="3305980"/>
            <a:ext cx="1112492" cy="655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Demand Confirmation</a:t>
            </a:r>
            <a:endParaRPr lang="en-US" sz="940" dirty="0"/>
          </a:p>
        </p:txBody>
      </p:sp>
      <p:sp>
        <p:nvSpPr>
          <p:cNvPr id="53" name="Shape 40">
            <a:extLst>
              <a:ext uri="{FF2B5EF4-FFF2-40B4-BE49-F238E27FC236}">
                <a16:creationId xmlns:a16="http://schemas.microsoft.com/office/drawing/2014/main" id="{73E572D4-C447-9181-A0BF-F79219DDE12B}"/>
              </a:ext>
            </a:extLst>
          </p:cNvPr>
          <p:cNvSpPr/>
          <p:nvPr/>
        </p:nvSpPr>
        <p:spPr>
          <a:xfrm>
            <a:off x="6176008" y="3305980"/>
            <a:ext cx="1584920" cy="655304"/>
          </a:xfrm>
          <a:prstGeom prst="roundRect">
            <a:avLst>
              <a:gd name="adj" fmla="val 5582"/>
            </a:avLst>
          </a:prstGeom>
          <a:solidFill>
            <a:srgbClr val="F6FAFE"/>
          </a:solidFill>
          <a:ln w="12700">
            <a:solidFill>
              <a:srgbClr val="C7DEF2"/>
            </a:solidFill>
            <a:prstDash val="solid"/>
          </a:ln>
        </p:spPr>
        <p:txBody>
          <a:bodyPr/>
          <a:lstStyle/>
          <a:p>
            <a:endParaRPr lang="en-IN"/>
          </a:p>
        </p:txBody>
      </p:sp>
      <p:pic>
        <p:nvPicPr>
          <p:cNvPr id="54" name="Image 13">
            <a:extLst>
              <a:ext uri="{FF2B5EF4-FFF2-40B4-BE49-F238E27FC236}">
                <a16:creationId xmlns:a16="http://schemas.microsoft.com/office/drawing/2014/main" id="{2EC37C5C-F1CF-BFC6-5564-010304D3C880}"/>
              </a:ext>
            </a:extLst>
          </p:cNvPr>
          <p:cNvPicPr>
            <a:picLocks noChangeAspect="1"/>
          </p:cNvPicPr>
          <p:nvPr/>
        </p:nvPicPr>
        <p:blipFill>
          <a:blip r:embed="rId15"/>
          <a:stretch>
            <a:fillRect/>
          </a:stretch>
        </p:blipFill>
        <p:spPr>
          <a:xfrm>
            <a:off x="6290305" y="3534575"/>
            <a:ext cx="198115" cy="198115"/>
          </a:xfrm>
          <a:prstGeom prst="rect">
            <a:avLst/>
          </a:prstGeom>
        </p:spPr>
      </p:pic>
      <p:sp>
        <p:nvSpPr>
          <p:cNvPr id="55" name="Text 41">
            <a:extLst>
              <a:ext uri="{FF2B5EF4-FFF2-40B4-BE49-F238E27FC236}">
                <a16:creationId xmlns:a16="http://schemas.microsoft.com/office/drawing/2014/main" id="{20734A06-B41E-7755-38D3-F123125BBB23}"/>
              </a:ext>
            </a:extLst>
          </p:cNvPr>
          <p:cNvSpPr txBox="1"/>
          <p:nvPr/>
        </p:nvSpPr>
        <p:spPr>
          <a:xfrm>
            <a:off x="6572238" y="3305980"/>
            <a:ext cx="1112492" cy="655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Settlement &amp; Auction</a:t>
            </a:r>
            <a:endParaRPr lang="en-US" sz="940" dirty="0"/>
          </a:p>
        </p:txBody>
      </p:sp>
      <p:sp>
        <p:nvSpPr>
          <p:cNvPr id="56" name="Shape 42">
            <a:extLst>
              <a:ext uri="{FF2B5EF4-FFF2-40B4-BE49-F238E27FC236}">
                <a16:creationId xmlns:a16="http://schemas.microsoft.com/office/drawing/2014/main" id="{A58A51F3-5061-AFCE-4CE9-C2BD917AC09F}"/>
              </a:ext>
            </a:extLst>
          </p:cNvPr>
          <p:cNvSpPr/>
          <p:nvPr/>
        </p:nvSpPr>
        <p:spPr>
          <a:xfrm>
            <a:off x="4499650" y="4037482"/>
            <a:ext cx="1584920" cy="655304"/>
          </a:xfrm>
          <a:prstGeom prst="roundRect">
            <a:avLst>
              <a:gd name="adj" fmla="val 5582"/>
            </a:avLst>
          </a:prstGeom>
          <a:solidFill>
            <a:srgbClr val="F6FAFE"/>
          </a:solidFill>
          <a:ln w="12700">
            <a:solidFill>
              <a:srgbClr val="C7DEF2"/>
            </a:solidFill>
            <a:prstDash val="solid"/>
          </a:ln>
        </p:spPr>
        <p:txBody>
          <a:bodyPr/>
          <a:lstStyle/>
          <a:p>
            <a:endParaRPr lang="en-IN"/>
          </a:p>
        </p:txBody>
      </p:sp>
      <p:pic>
        <p:nvPicPr>
          <p:cNvPr id="57" name="Image 14">
            <a:extLst>
              <a:ext uri="{FF2B5EF4-FFF2-40B4-BE49-F238E27FC236}">
                <a16:creationId xmlns:a16="http://schemas.microsoft.com/office/drawing/2014/main" id="{F73F50EB-B861-A9FD-4BEE-278FFE77188A}"/>
              </a:ext>
            </a:extLst>
          </p:cNvPr>
          <p:cNvPicPr>
            <a:picLocks noChangeAspect="1"/>
          </p:cNvPicPr>
          <p:nvPr/>
        </p:nvPicPr>
        <p:blipFill>
          <a:blip r:embed="rId16"/>
          <a:stretch>
            <a:fillRect/>
          </a:stretch>
        </p:blipFill>
        <p:spPr>
          <a:xfrm>
            <a:off x="4613947" y="4266076"/>
            <a:ext cx="198115" cy="198115"/>
          </a:xfrm>
          <a:prstGeom prst="rect">
            <a:avLst/>
          </a:prstGeom>
        </p:spPr>
      </p:pic>
      <p:sp>
        <p:nvSpPr>
          <p:cNvPr id="58" name="Text 43">
            <a:extLst>
              <a:ext uri="{FF2B5EF4-FFF2-40B4-BE49-F238E27FC236}">
                <a16:creationId xmlns:a16="http://schemas.microsoft.com/office/drawing/2014/main" id="{25443D28-6648-A75D-0B32-DEB191E3BBEE}"/>
              </a:ext>
            </a:extLst>
          </p:cNvPr>
          <p:cNvSpPr txBox="1"/>
          <p:nvPr/>
        </p:nvSpPr>
        <p:spPr>
          <a:xfrm>
            <a:off x="4895880" y="4037482"/>
            <a:ext cx="1112492" cy="655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Payout / Refund</a:t>
            </a:r>
            <a:endParaRPr lang="en-US" sz="940" dirty="0"/>
          </a:p>
        </p:txBody>
      </p:sp>
      <p:sp>
        <p:nvSpPr>
          <p:cNvPr id="59" name="Shape 44">
            <a:extLst>
              <a:ext uri="{FF2B5EF4-FFF2-40B4-BE49-F238E27FC236}">
                <a16:creationId xmlns:a16="http://schemas.microsoft.com/office/drawing/2014/main" id="{D708996A-C0CE-E304-A0EF-AD974FB2F977}"/>
              </a:ext>
            </a:extLst>
          </p:cNvPr>
          <p:cNvSpPr/>
          <p:nvPr/>
        </p:nvSpPr>
        <p:spPr>
          <a:xfrm>
            <a:off x="6176008" y="4037482"/>
            <a:ext cx="1584920" cy="655304"/>
          </a:xfrm>
          <a:prstGeom prst="roundRect">
            <a:avLst>
              <a:gd name="adj" fmla="val 5582"/>
            </a:avLst>
          </a:prstGeom>
          <a:solidFill>
            <a:srgbClr val="F6FAFE"/>
          </a:solidFill>
          <a:ln w="12700">
            <a:solidFill>
              <a:srgbClr val="C7DEF2"/>
            </a:solidFill>
            <a:prstDash val="solid"/>
          </a:ln>
        </p:spPr>
        <p:txBody>
          <a:bodyPr/>
          <a:lstStyle/>
          <a:p>
            <a:endParaRPr lang="en-IN"/>
          </a:p>
        </p:txBody>
      </p:sp>
      <p:pic>
        <p:nvPicPr>
          <p:cNvPr id="60" name="Image 15">
            <a:extLst>
              <a:ext uri="{FF2B5EF4-FFF2-40B4-BE49-F238E27FC236}">
                <a16:creationId xmlns:a16="http://schemas.microsoft.com/office/drawing/2014/main" id="{01F91A44-05A3-7648-5C38-A71D2ADB09A0}"/>
              </a:ext>
            </a:extLst>
          </p:cNvPr>
          <p:cNvPicPr>
            <a:picLocks noChangeAspect="1"/>
          </p:cNvPicPr>
          <p:nvPr/>
        </p:nvPicPr>
        <p:blipFill>
          <a:blip r:embed="rId17"/>
          <a:stretch>
            <a:fillRect/>
          </a:stretch>
        </p:blipFill>
        <p:spPr>
          <a:xfrm>
            <a:off x="6290305" y="4266076"/>
            <a:ext cx="198115" cy="198115"/>
          </a:xfrm>
          <a:prstGeom prst="rect">
            <a:avLst/>
          </a:prstGeom>
        </p:spPr>
      </p:pic>
      <p:sp>
        <p:nvSpPr>
          <p:cNvPr id="61" name="Text 45">
            <a:extLst>
              <a:ext uri="{FF2B5EF4-FFF2-40B4-BE49-F238E27FC236}">
                <a16:creationId xmlns:a16="http://schemas.microsoft.com/office/drawing/2014/main" id="{A55F468C-04E5-EF08-603B-95F388F0D2FB}"/>
              </a:ext>
            </a:extLst>
          </p:cNvPr>
          <p:cNvSpPr txBox="1"/>
          <p:nvPr/>
        </p:nvSpPr>
        <p:spPr>
          <a:xfrm>
            <a:off x="6572238" y="4037482"/>
            <a:ext cx="1112492" cy="655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940" b="1" dirty="0">
                <a:solidFill>
                  <a:srgbClr val="1B3A66"/>
                </a:solidFill>
                <a:latin typeface="Calibri" pitchFamily="34" charset="0"/>
                <a:ea typeface="Calibri" pitchFamily="34" charset="-122"/>
                <a:cs typeface="Calibri" pitchFamily="34" charset="-120"/>
              </a:rPr>
              <a:t>Closure &amp; NOC</a:t>
            </a:r>
            <a:endParaRPr lang="en-US" sz="940" dirty="0"/>
          </a:p>
        </p:txBody>
      </p:sp>
      <p:sp>
        <p:nvSpPr>
          <p:cNvPr id="62" name="Shape 46">
            <a:extLst>
              <a:ext uri="{FF2B5EF4-FFF2-40B4-BE49-F238E27FC236}">
                <a16:creationId xmlns:a16="http://schemas.microsoft.com/office/drawing/2014/main" id="{B10CB341-6C96-7DFA-7186-436794394CA3}"/>
              </a:ext>
            </a:extLst>
          </p:cNvPr>
          <p:cNvSpPr/>
          <p:nvPr/>
        </p:nvSpPr>
        <p:spPr>
          <a:xfrm>
            <a:off x="4499650" y="4768984"/>
            <a:ext cx="3261278" cy="441949"/>
          </a:xfrm>
          <a:prstGeom prst="roundRect">
            <a:avLst>
              <a:gd name="adj" fmla="val 8276"/>
            </a:avLst>
          </a:prstGeom>
          <a:solidFill>
            <a:srgbClr val="F6FAFE"/>
          </a:solidFill>
          <a:ln w="12700">
            <a:solidFill>
              <a:srgbClr val="C7DEF2"/>
            </a:solidFill>
            <a:prstDash val="solid"/>
          </a:ln>
        </p:spPr>
        <p:txBody>
          <a:bodyPr/>
          <a:lstStyle/>
          <a:p>
            <a:endParaRPr lang="en-IN"/>
          </a:p>
        </p:txBody>
      </p:sp>
      <p:pic>
        <p:nvPicPr>
          <p:cNvPr id="64" name="Image 16">
            <a:extLst>
              <a:ext uri="{FF2B5EF4-FFF2-40B4-BE49-F238E27FC236}">
                <a16:creationId xmlns:a16="http://schemas.microsoft.com/office/drawing/2014/main" id="{21660F9B-D0D7-A0BA-8832-60DE0C05EF56}"/>
              </a:ext>
            </a:extLst>
          </p:cNvPr>
          <p:cNvPicPr>
            <a:picLocks noChangeAspect="1"/>
          </p:cNvPicPr>
          <p:nvPr/>
        </p:nvPicPr>
        <p:blipFill>
          <a:blip r:embed="rId18"/>
          <a:stretch>
            <a:fillRect/>
          </a:stretch>
        </p:blipFill>
        <p:spPr>
          <a:xfrm>
            <a:off x="4613947" y="4890901"/>
            <a:ext cx="198115" cy="198115"/>
          </a:xfrm>
          <a:prstGeom prst="rect">
            <a:avLst/>
          </a:prstGeom>
        </p:spPr>
      </p:pic>
      <p:sp>
        <p:nvSpPr>
          <p:cNvPr id="65" name="Text 47">
            <a:extLst>
              <a:ext uri="{FF2B5EF4-FFF2-40B4-BE49-F238E27FC236}">
                <a16:creationId xmlns:a16="http://schemas.microsoft.com/office/drawing/2014/main" id="{4174EEBA-5927-C2F1-CF43-31806802A3A3}"/>
              </a:ext>
            </a:extLst>
          </p:cNvPr>
          <p:cNvSpPr txBox="1"/>
          <p:nvPr/>
        </p:nvSpPr>
        <p:spPr>
          <a:xfrm>
            <a:off x="4895880" y="4768984"/>
            <a:ext cx="2788850" cy="44194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0000"/>
              </a:lnSpc>
              <a:buNone/>
            </a:pPr>
            <a:r>
              <a:rPr lang="en-US" sz="1000" b="1" dirty="0">
                <a:solidFill>
                  <a:srgbClr val="1B3A66"/>
                </a:solidFill>
                <a:latin typeface="Calibri" pitchFamily="34" charset="0"/>
                <a:ea typeface="Calibri" pitchFamily="34" charset="-122"/>
                <a:cs typeface="Calibri" pitchFamily="34" charset="-120"/>
              </a:rPr>
              <a:t>Dashboards, Analytics &amp; Expanded Workflow</a:t>
            </a:r>
            <a:endParaRPr lang="en-US" sz="1000" dirty="0"/>
          </a:p>
        </p:txBody>
      </p:sp>
      <p:sp>
        <p:nvSpPr>
          <p:cNvPr id="67" name="Text 48">
            <a:extLst>
              <a:ext uri="{FF2B5EF4-FFF2-40B4-BE49-F238E27FC236}">
                <a16:creationId xmlns:a16="http://schemas.microsoft.com/office/drawing/2014/main" id="{F6D1C2A2-3BA6-861F-5389-B160F3FABBF4}"/>
              </a:ext>
            </a:extLst>
          </p:cNvPr>
          <p:cNvSpPr txBox="1"/>
          <p:nvPr/>
        </p:nvSpPr>
        <p:spPr>
          <a:xfrm>
            <a:off x="4514890" y="5317610"/>
            <a:ext cx="3291758" cy="44194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900" i="1" dirty="0">
                <a:solidFill>
                  <a:srgbClr val="5B6472"/>
                </a:solidFill>
                <a:latin typeface="Calibri" pitchFamily="34" charset="0"/>
                <a:ea typeface="Calibri" pitchFamily="34" charset="-122"/>
                <a:cs typeface="Calibri" pitchFamily="34" charset="-120"/>
              </a:rPr>
              <a:t>The same Portal extended across the full claims lifecycle — not a second application.</a:t>
            </a:r>
            <a:endParaRPr lang="en-US" sz="900" dirty="0"/>
          </a:p>
        </p:txBody>
      </p:sp>
      <p:sp>
        <p:nvSpPr>
          <p:cNvPr id="69" name="Shape 49">
            <a:extLst>
              <a:ext uri="{FF2B5EF4-FFF2-40B4-BE49-F238E27FC236}">
                <a16:creationId xmlns:a16="http://schemas.microsoft.com/office/drawing/2014/main" id="{BE2D6556-B0F0-DF95-B05A-65E89C20BE3C}"/>
              </a:ext>
            </a:extLst>
          </p:cNvPr>
          <p:cNvSpPr/>
          <p:nvPr/>
        </p:nvSpPr>
        <p:spPr>
          <a:xfrm>
            <a:off x="8370513" y="1020038"/>
            <a:ext cx="3428914" cy="4876678"/>
          </a:xfrm>
          <a:prstGeom prst="roundRect">
            <a:avLst>
              <a:gd name="adj" fmla="val 1333"/>
            </a:avLst>
          </a:prstGeom>
          <a:solidFill>
            <a:srgbClr val="FCFDFF"/>
          </a:solidFill>
          <a:ln w="12700">
            <a:solidFill>
              <a:srgbClr val="C7DEF2"/>
            </a:solidFill>
            <a:prstDash val="solid"/>
          </a:ln>
        </p:spPr>
        <p:txBody>
          <a:bodyPr/>
          <a:lstStyle/>
          <a:p>
            <a:endParaRPr lang="en-IN"/>
          </a:p>
        </p:txBody>
      </p:sp>
      <p:sp>
        <p:nvSpPr>
          <p:cNvPr id="71" name="Shape 50">
            <a:extLst>
              <a:ext uri="{FF2B5EF4-FFF2-40B4-BE49-F238E27FC236}">
                <a16:creationId xmlns:a16="http://schemas.microsoft.com/office/drawing/2014/main" id="{2AC82A0A-957F-119B-BBD2-F8755D9ED022}"/>
              </a:ext>
            </a:extLst>
          </p:cNvPr>
          <p:cNvSpPr/>
          <p:nvPr/>
        </p:nvSpPr>
        <p:spPr>
          <a:xfrm>
            <a:off x="8370513" y="1020038"/>
            <a:ext cx="3428914" cy="701022"/>
          </a:xfrm>
          <a:prstGeom prst="roundRect">
            <a:avLst>
              <a:gd name="adj" fmla="val 6522"/>
            </a:avLst>
          </a:prstGeom>
          <a:solidFill>
            <a:srgbClr val="11397C"/>
          </a:solidFill>
          <a:ln w="12700">
            <a:solidFill>
              <a:srgbClr val="11397C"/>
            </a:solidFill>
            <a:prstDash val="solid"/>
          </a:ln>
        </p:spPr>
        <p:txBody>
          <a:bodyPr/>
          <a:lstStyle/>
          <a:p>
            <a:endParaRPr lang="en-IN"/>
          </a:p>
        </p:txBody>
      </p:sp>
      <p:sp>
        <p:nvSpPr>
          <p:cNvPr id="72" name="Text 51">
            <a:extLst>
              <a:ext uri="{FF2B5EF4-FFF2-40B4-BE49-F238E27FC236}">
                <a16:creationId xmlns:a16="http://schemas.microsoft.com/office/drawing/2014/main" id="{327D75A3-9F71-1C7F-FB8D-82E8DD11D6D8}"/>
              </a:ext>
            </a:extLst>
          </p:cNvPr>
          <p:cNvSpPr txBox="1"/>
          <p:nvPr/>
        </p:nvSpPr>
        <p:spPr>
          <a:xfrm>
            <a:off x="8492430" y="1096236"/>
            <a:ext cx="3185080" cy="12191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760" b="1" kern="0" spc="140" dirty="0">
                <a:solidFill>
                  <a:srgbClr val="C9DDF0"/>
                </a:solidFill>
                <a:latin typeface="Calibri" pitchFamily="34" charset="0"/>
                <a:ea typeface="Calibri" pitchFamily="34" charset="-122"/>
                <a:cs typeface="Calibri" pitchFamily="34" charset="-120"/>
              </a:rPr>
              <a:t>PHASE 3</a:t>
            </a:r>
            <a:endParaRPr lang="en-US" sz="760" dirty="0"/>
          </a:p>
        </p:txBody>
      </p:sp>
      <p:sp>
        <p:nvSpPr>
          <p:cNvPr id="73" name="Text 52">
            <a:extLst>
              <a:ext uri="{FF2B5EF4-FFF2-40B4-BE49-F238E27FC236}">
                <a16:creationId xmlns:a16="http://schemas.microsoft.com/office/drawing/2014/main" id="{57F47CBA-A688-1032-4BB9-C7D82D0D6F2D}"/>
              </a:ext>
            </a:extLst>
          </p:cNvPr>
          <p:cNvSpPr txBox="1"/>
          <p:nvPr/>
        </p:nvSpPr>
        <p:spPr>
          <a:xfrm>
            <a:off x="8492430" y="1233392"/>
            <a:ext cx="3185080" cy="25907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1450" b="1" dirty="0">
                <a:solidFill>
                  <a:srgbClr val="FFFFFF"/>
                </a:solidFill>
                <a:latin typeface="Calibri" pitchFamily="34" charset="0"/>
                <a:ea typeface="Calibri" pitchFamily="34" charset="-122"/>
                <a:cs typeface="Calibri" pitchFamily="34" charset="-120"/>
              </a:rPr>
              <a:t>Unified Lender Portal + PAS</a:t>
            </a:r>
            <a:endParaRPr lang="en-US" sz="1450" dirty="0"/>
          </a:p>
        </p:txBody>
      </p:sp>
      <p:sp>
        <p:nvSpPr>
          <p:cNvPr id="75" name="Text 53">
            <a:extLst>
              <a:ext uri="{FF2B5EF4-FFF2-40B4-BE49-F238E27FC236}">
                <a16:creationId xmlns:a16="http://schemas.microsoft.com/office/drawing/2014/main" id="{D3E16150-1B33-2CF4-DA0A-BFCFC3964B98}"/>
              </a:ext>
            </a:extLst>
          </p:cNvPr>
          <p:cNvSpPr txBox="1"/>
          <p:nvPr/>
        </p:nvSpPr>
        <p:spPr>
          <a:xfrm>
            <a:off x="8492430" y="1507705"/>
            <a:ext cx="3185080" cy="1523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960" i="1" dirty="0">
                <a:solidFill>
                  <a:srgbClr val="D6E6F5"/>
                </a:solidFill>
                <a:latin typeface="Calibri" pitchFamily="34" charset="0"/>
                <a:ea typeface="Calibri" pitchFamily="34" charset="-122"/>
                <a:cs typeface="Calibri" pitchFamily="34" charset="-120"/>
              </a:rPr>
              <a:t>Enterprise Application</a:t>
            </a:r>
            <a:endParaRPr lang="en-US" sz="960" dirty="0"/>
          </a:p>
        </p:txBody>
      </p:sp>
      <p:sp>
        <p:nvSpPr>
          <p:cNvPr id="76" name="Shape 54">
            <a:extLst>
              <a:ext uri="{FF2B5EF4-FFF2-40B4-BE49-F238E27FC236}">
                <a16:creationId xmlns:a16="http://schemas.microsoft.com/office/drawing/2014/main" id="{56C90C13-3E76-C133-AAA5-7B5CE6C07050}"/>
              </a:ext>
            </a:extLst>
          </p:cNvPr>
          <p:cNvSpPr/>
          <p:nvPr/>
        </p:nvSpPr>
        <p:spPr>
          <a:xfrm>
            <a:off x="8538149" y="1888696"/>
            <a:ext cx="3093643" cy="426709"/>
          </a:xfrm>
          <a:prstGeom prst="roundRect">
            <a:avLst>
              <a:gd name="adj" fmla="val 10715"/>
            </a:avLst>
          </a:prstGeom>
          <a:solidFill>
            <a:srgbClr val="11397C"/>
          </a:solidFill>
          <a:ln w="12700">
            <a:solidFill>
              <a:srgbClr val="11397C"/>
            </a:solidFill>
            <a:prstDash val="solid"/>
          </a:ln>
        </p:spPr>
        <p:txBody>
          <a:bodyPr/>
          <a:lstStyle/>
          <a:p>
            <a:endParaRPr lang="en-IN"/>
          </a:p>
        </p:txBody>
      </p:sp>
      <p:pic>
        <p:nvPicPr>
          <p:cNvPr id="77" name="Image 17">
            <a:extLst>
              <a:ext uri="{FF2B5EF4-FFF2-40B4-BE49-F238E27FC236}">
                <a16:creationId xmlns:a16="http://schemas.microsoft.com/office/drawing/2014/main" id="{E0A7085E-EB41-ADBC-C8C5-5B19B3EB6F0B}"/>
              </a:ext>
            </a:extLst>
          </p:cNvPr>
          <p:cNvPicPr>
            <a:picLocks noChangeAspect="1"/>
          </p:cNvPicPr>
          <p:nvPr/>
        </p:nvPicPr>
        <p:blipFill>
          <a:blip r:embed="rId19"/>
          <a:stretch>
            <a:fillRect/>
          </a:stretch>
        </p:blipFill>
        <p:spPr>
          <a:xfrm>
            <a:off x="8705785" y="2010613"/>
            <a:ext cx="182875" cy="182875"/>
          </a:xfrm>
          <a:prstGeom prst="rect">
            <a:avLst/>
          </a:prstGeom>
        </p:spPr>
      </p:pic>
      <p:sp>
        <p:nvSpPr>
          <p:cNvPr id="79" name="Text 55">
            <a:extLst>
              <a:ext uri="{FF2B5EF4-FFF2-40B4-BE49-F238E27FC236}">
                <a16:creationId xmlns:a16="http://schemas.microsoft.com/office/drawing/2014/main" id="{0C576E14-9C5D-E767-A356-D4583DFB1E55}"/>
              </a:ext>
            </a:extLst>
          </p:cNvPr>
          <p:cNvSpPr txBox="1"/>
          <p:nvPr/>
        </p:nvSpPr>
        <p:spPr>
          <a:xfrm>
            <a:off x="8949619" y="1888696"/>
            <a:ext cx="2666933" cy="42670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2000"/>
              </a:lnSpc>
              <a:buNone/>
            </a:pPr>
            <a:r>
              <a:rPr lang="en-US" sz="1150" b="1" kern="0" spc="60" dirty="0">
                <a:solidFill>
                  <a:srgbClr val="FFFFFF"/>
                </a:solidFill>
                <a:latin typeface="Calibri" pitchFamily="34" charset="0"/>
                <a:ea typeface="Calibri" pitchFamily="34" charset="-122"/>
                <a:cs typeface="Calibri" pitchFamily="34" charset="-120"/>
              </a:rPr>
              <a:t>UNIFIED LENDER PORTAL</a:t>
            </a:r>
            <a:endParaRPr lang="en-US" sz="1150" dirty="0"/>
          </a:p>
        </p:txBody>
      </p:sp>
      <p:sp>
        <p:nvSpPr>
          <p:cNvPr id="80" name="Shape 56">
            <a:extLst>
              <a:ext uri="{FF2B5EF4-FFF2-40B4-BE49-F238E27FC236}">
                <a16:creationId xmlns:a16="http://schemas.microsoft.com/office/drawing/2014/main" id="{9B169D93-CF75-111C-D073-5C72323ADD04}"/>
              </a:ext>
            </a:extLst>
          </p:cNvPr>
          <p:cNvSpPr/>
          <p:nvPr/>
        </p:nvSpPr>
        <p:spPr>
          <a:xfrm>
            <a:off x="10084971" y="2315405"/>
            <a:ext cx="0" cy="182875"/>
          </a:xfrm>
          <a:prstGeom prst="line">
            <a:avLst/>
          </a:prstGeom>
          <a:noFill/>
          <a:ln w="17780">
            <a:solidFill>
              <a:srgbClr val="7FA6C8"/>
            </a:solidFill>
            <a:prstDash val="solid"/>
            <a:headEnd type="none"/>
            <a:tailEnd type="none"/>
          </a:ln>
        </p:spPr>
        <p:txBody>
          <a:bodyPr/>
          <a:lstStyle/>
          <a:p>
            <a:endParaRPr lang="en-IN"/>
          </a:p>
        </p:txBody>
      </p:sp>
      <p:sp>
        <p:nvSpPr>
          <p:cNvPr id="81" name="Shape 57">
            <a:extLst>
              <a:ext uri="{FF2B5EF4-FFF2-40B4-BE49-F238E27FC236}">
                <a16:creationId xmlns:a16="http://schemas.microsoft.com/office/drawing/2014/main" id="{45F32859-4577-A946-1C7B-0BDC169360BB}"/>
              </a:ext>
            </a:extLst>
          </p:cNvPr>
          <p:cNvSpPr/>
          <p:nvPr/>
        </p:nvSpPr>
        <p:spPr>
          <a:xfrm>
            <a:off x="9246791" y="2498281"/>
            <a:ext cx="1676358" cy="0"/>
          </a:xfrm>
          <a:prstGeom prst="line">
            <a:avLst/>
          </a:prstGeom>
          <a:noFill/>
          <a:ln w="17780">
            <a:solidFill>
              <a:srgbClr val="7FA6C8"/>
            </a:solidFill>
            <a:prstDash val="solid"/>
            <a:headEnd type="none"/>
            <a:tailEnd type="none"/>
          </a:ln>
        </p:spPr>
        <p:txBody>
          <a:bodyPr/>
          <a:lstStyle/>
          <a:p>
            <a:endParaRPr lang="en-IN"/>
          </a:p>
        </p:txBody>
      </p:sp>
      <p:sp>
        <p:nvSpPr>
          <p:cNvPr id="83" name="Shape 58">
            <a:extLst>
              <a:ext uri="{FF2B5EF4-FFF2-40B4-BE49-F238E27FC236}">
                <a16:creationId xmlns:a16="http://schemas.microsoft.com/office/drawing/2014/main" id="{16BEB621-1CAE-656C-8C2A-C803B9B047C7}"/>
              </a:ext>
            </a:extLst>
          </p:cNvPr>
          <p:cNvSpPr/>
          <p:nvPr/>
        </p:nvSpPr>
        <p:spPr>
          <a:xfrm>
            <a:off x="9246791" y="2498281"/>
            <a:ext cx="0" cy="198115"/>
          </a:xfrm>
          <a:prstGeom prst="line">
            <a:avLst/>
          </a:prstGeom>
          <a:noFill/>
          <a:ln w="17780">
            <a:solidFill>
              <a:srgbClr val="7FA6C8"/>
            </a:solidFill>
            <a:prstDash val="solid"/>
            <a:headEnd type="none"/>
            <a:tailEnd type="none"/>
          </a:ln>
        </p:spPr>
        <p:txBody>
          <a:bodyPr/>
          <a:lstStyle/>
          <a:p>
            <a:endParaRPr lang="en-IN"/>
          </a:p>
        </p:txBody>
      </p:sp>
      <p:sp>
        <p:nvSpPr>
          <p:cNvPr id="84" name="Shape 59">
            <a:extLst>
              <a:ext uri="{FF2B5EF4-FFF2-40B4-BE49-F238E27FC236}">
                <a16:creationId xmlns:a16="http://schemas.microsoft.com/office/drawing/2014/main" id="{FFBD94A5-895C-4653-762B-FF7D45041F76}"/>
              </a:ext>
            </a:extLst>
          </p:cNvPr>
          <p:cNvSpPr/>
          <p:nvPr/>
        </p:nvSpPr>
        <p:spPr>
          <a:xfrm>
            <a:off x="10923150" y="2498281"/>
            <a:ext cx="0" cy="198115"/>
          </a:xfrm>
          <a:prstGeom prst="line">
            <a:avLst/>
          </a:prstGeom>
          <a:noFill/>
          <a:ln w="17780">
            <a:solidFill>
              <a:srgbClr val="7FA6C8"/>
            </a:solidFill>
            <a:prstDash val="solid"/>
            <a:headEnd type="none"/>
            <a:tailEnd type="none"/>
          </a:ln>
        </p:spPr>
        <p:txBody>
          <a:bodyPr/>
          <a:lstStyle/>
          <a:p>
            <a:endParaRPr lang="en-IN"/>
          </a:p>
        </p:txBody>
      </p:sp>
      <p:sp>
        <p:nvSpPr>
          <p:cNvPr id="85" name="Shape 60">
            <a:extLst>
              <a:ext uri="{FF2B5EF4-FFF2-40B4-BE49-F238E27FC236}">
                <a16:creationId xmlns:a16="http://schemas.microsoft.com/office/drawing/2014/main" id="{07E9DC23-CBBE-4029-A286-B6CFF5CD9623}"/>
              </a:ext>
            </a:extLst>
          </p:cNvPr>
          <p:cNvSpPr/>
          <p:nvPr/>
        </p:nvSpPr>
        <p:spPr>
          <a:xfrm>
            <a:off x="8484811" y="2696396"/>
            <a:ext cx="1523962" cy="792460"/>
          </a:xfrm>
          <a:prstGeom prst="roundRect">
            <a:avLst>
              <a:gd name="adj" fmla="val 5769"/>
            </a:avLst>
          </a:prstGeom>
          <a:solidFill>
            <a:srgbClr val="F6FAFE"/>
          </a:solidFill>
          <a:ln w="12700">
            <a:solidFill>
              <a:srgbClr val="C7DEF2"/>
            </a:solidFill>
            <a:prstDash val="solid"/>
          </a:ln>
        </p:spPr>
        <p:txBody>
          <a:bodyPr/>
          <a:lstStyle/>
          <a:p>
            <a:endParaRPr lang="en-IN"/>
          </a:p>
        </p:txBody>
      </p:sp>
      <p:sp>
        <p:nvSpPr>
          <p:cNvPr id="87" name="Text 61">
            <a:extLst>
              <a:ext uri="{FF2B5EF4-FFF2-40B4-BE49-F238E27FC236}">
                <a16:creationId xmlns:a16="http://schemas.microsoft.com/office/drawing/2014/main" id="{54D2EA5A-7B72-5A47-3DC4-1EE3AD68B7AD}"/>
              </a:ext>
            </a:extLst>
          </p:cNvPr>
          <p:cNvSpPr txBox="1"/>
          <p:nvPr/>
        </p:nvSpPr>
        <p:spPr>
          <a:xfrm>
            <a:off x="8545769" y="2757354"/>
            <a:ext cx="1402045" cy="3352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92000"/>
              </a:lnSpc>
              <a:buNone/>
            </a:pPr>
            <a:r>
              <a:rPr lang="en-US" sz="1050" b="1" dirty="0">
                <a:solidFill>
                  <a:srgbClr val="11397C"/>
                </a:solidFill>
                <a:latin typeface="Calibri" pitchFamily="34" charset="0"/>
                <a:ea typeface="Calibri" pitchFamily="34" charset="-122"/>
                <a:cs typeface="Calibri" pitchFamily="34" charset="-120"/>
              </a:rPr>
              <a:t>Portal</a:t>
            </a:r>
            <a:endParaRPr lang="en-US" sz="1050" dirty="0"/>
          </a:p>
          <a:p>
            <a:pPr marL="0" indent="0" algn="ctr">
              <a:lnSpc>
                <a:spcPct val="92000"/>
              </a:lnSpc>
              <a:buNone/>
            </a:pPr>
            <a:r>
              <a:rPr lang="en-US" sz="1050" b="1" dirty="0">
                <a:solidFill>
                  <a:srgbClr val="11397C"/>
                </a:solidFill>
                <a:latin typeface="Calibri" pitchFamily="34" charset="0"/>
                <a:ea typeface="Calibri" pitchFamily="34" charset="-122"/>
                <a:cs typeface="Calibri" pitchFamily="34" charset="-120"/>
              </a:rPr>
              <a:t>Capabilities</a:t>
            </a:r>
            <a:endParaRPr lang="en-US" sz="1050" dirty="0"/>
          </a:p>
        </p:txBody>
      </p:sp>
      <p:sp>
        <p:nvSpPr>
          <p:cNvPr id="88" name="Text 62">
            <a:extLst>
              <a:ext uri="{FF2B5EF4-FFF2-40B4-BE49-F238E27FC236}">
                <a16:creationId xmlns:a16="http://schemas.microsoft.com/office/drawing/2014/main" id="{D41E42D4-6710-A2B5-8C27-4798962DFBEE}"/>
              </a:ext>
            </a:extLst>
          </p:cNvPr>
          <p:cNvSpPr txBox="1"/>
          <p:nvPr/>
        </p:nvSpPr>
        <p:spPr>
          <a:xfrm>
            <a:off x="8545769" y="3107865"/>
            <a:ext cx="1402045" cy="320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95000"/>
              </a:lnSpc>
              <a:buNone/>
            </a:pPr>
            <a:r>
              <a:rPr lang="en-US" sz="820" dirty="0">
                <a:solidFill>
                  <a:srgbClr val="2A6099"/>
                </a:solidFill>
                <a:latin typeface="Calibri" pitchFamily="34" charset="0"/>
                <a:ea typeface="Calibri" pitchFamily="34" charset="-122"/>
                <a:cs typeface="Calibri" pitchFamily="34" charset="-120"/>
              </a:rPr>
              <a:t>MVP + claims lifecycle</a:t>
            </a:r>
            <a:endParaRPr lang="en-US" sz="820" dirty="0"/>
          </a:p>
          <a:p>
            <a:pPr marL="0" indent="0" algn="ctr">
              <a:lnSpc>
                <a:spcPct val="95000"/>
              </a:lnSpc>
              <a:buNone/>
            </a:pPr>
            <a:r>
              <a:rPr lang="en-US" sz="820" dirty="0">
                <a:solidFill>
                  <a:srgbClr val="2A6099"/>
                </a:solidFill>
                <a:latin typeface="Calibri" pitchFamily="34" charset="0"/>
                <a:ea typeface="Calibri" pitchFamily="34" charset="-122"/>
                <a:cs typeface="Calibri" pitchFamily="34" charset="-120"/>
              </a:rPr>
              <a:t>delivered in Phases 1–2</a:t>
            </a:r>
            <a:endParaRPr lang="en-US" sz="820" dirty="0"/>
          </a:p>
        </p:txBody>
      </p:sp>
      <p:sp>
        <p:nvSpPr>
          <p:cNvPr id="89" name="Shape 63">
            <a:extLst>
              <a:ext uri="{FF2B5EF4-FFF2-40B4-BE49-F238E27FC236}">
                <a16:creationId xmlns:a16="http://schemas.microsoft.com/office/drawing/2014/main" id="{9EA370B1-384E-82BE-EE25-942FAECA29B1}"/>
              </a:ext>
            </a:extLst>
          </p:cNvPr>
          <p:cNvSpPr/>
          <p:nvPr/>
        </p:nvSpPr>
        <p:spPr>
          <a:xfrm>
            <a:off x="10161169" y="2696396"/>
            <a:ext cx="1523962" cy="792460"/>
          </a:xfrm>
          <a:prstGeom prst="roundRect">
            <a:avLst>
              <a:gd name="adj" fmla="val 5769"/>
            </a:avLst>
          </a:prstGeom>
          <a:solidFill>
            <a:srgbClr val="F6FAFE"/>
          </a:solidFill>
          <a:ln w="12700">
            <a:solidFill>
              <a:srgbClr val="C7DEF2"/>
            </a:solidFill>
            <a:prstDash val="solid"/>
          </a:ln>
        </p:spPr>
        <p:txBody>
          <a:bodyPr/>
          <a:lstStyle/>
          <a:p>
            <a:endParaRPr lang="en-IN"/>
          </a:p>
        </p:txBody>
      </p:sp>
      <p:sp>
        <p:nvSpPr>
          <p:cNvPr id="91" name="Text 64">
            <a:extLst>
              <a:ext uri="{FF2B5EF4-FFF2-40B4-BE49-F238E27FC236}">
                <a16:creationId xmlns:a16="http://schemas.microsoft.com/office/drawing/2014/main" id="{2E6CB091-52B9-CDA5-601C-54F92A03489C}"/>
              </a:ext>
            </a:extLst>
          </p:cNvPr>
          <p:cNvSpPr txBox="1"/>
          <p:nvPr/>
        </p:nvSpPr>
        <p:spPr>
          <a:xfrm>
            <a:off x="10222127" y="2757354"/>
            <a:ext cx="1402045" cy="3352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92000"/>
              </a:lnSpc>
              <a:buNone/>
            </a:pPr>
            <a:r>
              <a:rPr lang="en-US" sz="1050" b="1" dirty="0">
                <a:solidFill>
                  <a:srgbClr val="11397C"/>
                </a:solidFill>
                <a:latin typeface="Calibri" pitchFamily="34" charset="0"/>
                <a:ea typeface="Calibri" pitchFamily="34" charset="-122"/>
                <a:cs typeface="Calibri" pitchFamily="34" charset="-120"/>
              </a:rPr>
              <a:t>PAS</a:t>
            </a:r>
            <a:endParaRPr lang="en-US" sz="1050" dirty="0"/>
          </a:p>
          <a:p>
            <a:pPr marL="0" indent="0" algn="ctr">
              <a:lnSpc>
                <a:spcPct val="92000"/>
              </a:lnSpc>
              <a:buNone/>
            </a:pPr>
            <a:r>
              <a:rPr lang="en-US" sz="1050" b="1" dirty="0">
                <a:solidFill>
                  <a:srgbClr val="11397C"/>
                </a:solidFill>
                <a:latin typeface="Calibri" pitchFamily="34" charset="0"/>
                <a:ea typeface="Calibri" pitchFamily="34" charset="-122"/>
                <a:cs typeface="Calibri" pitchFamily="34" charset="-120"/>
              </a:rPr>
              <a:t>Capabilities</a:t>
            </a:r>
            <a:endParaRPr lang="en-US" sz="1050" dirty="0"/>
          </a:p>
        </p:txBody>
      </p:sp>
      <p:sp>
        <p:nvSpPr>
          <p:cNvPr id="92" name="Text 65">
            <a:extLst>
              <a:ext uri="{FF2B5EF4-FFF2-40B4-BE49-F238E27FC236}">
                <a16:creationId xmlns:a16="http://schemas.microsoft.com/office/drawing/2014/main" id="{B96E739D-F511-8B49-BAFE-8CBCC1957B7C}"/>
              </a:ext>
            </a:extLst>
          </p:cNvPr>
          <p:cNvSpPr txBox="1"/>
          <p:nvPr/>
        </p:nvSpPr>
        <p:spPr>
          <a:xfrm>
            <a:off x="10222127" y="3107865"/>
            <a:ext cx="1402045" cy="320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95000"/>
              </a:lnSpc>
              <a:buNone/>
            </a:pPr>
            <a:r>
              <a:rPr lang="en-US" sz="820" dirty="0">
                <a:solidFill>
                  <a:srgbClr val="2A6099"/>
                </a:solidFill>
                <a:latin typeface="Calibri" pitchFamily="34" charset="0"/>
                <a:ea typeface="Calibri" pitchFamily="34" charset="-122"/>
                <a:cs typeface="Calibri" pitchFamily="34" charset="-120"/>
              </a:rPr>
              <a:t>brought across progressively,</a:t>
            </a:r>
            <a:endParaRPr lang="en-US" sz="820" dirty="0"/>
          </a:p>
          <a:p>
            <a:pPr marL="0" indent="0" algn="ctr">
              <a:lnSpc>
                <a:spcPct val="95000"/>
              </a:lnSpc>
              <a:buNone/>
            </a:pPr>
            <a:r>
              <a:rPr lang="en-US" sz="820" dirty="0">
                <a:solidFill>
                  <a:srgbClr val="2A6099"/>
                </a:solidFill>
                <a:latin typeface="Calibri" pitchFamily="34" charset="0"/>
                <a:ea typeface="Calibri" pitchFamily="34" charset="-122"/>
                <a:cs typeface="Calibri" pitchFamily="34" charset="-120"/>
              </a:rPr>
              <a:t>not rebuilt in one step</a:t>
            </a:r>
            <a:endParaRPr lang="en-US" sz="820" dirty="0"/>
          </a:p>
        </p:txBody>
      </p:sp>
      <p:sp>
        <p:nvSpPr>
          <p:cNvPr id="93" name="Shape 66">
            <a:extLst>
              <a:ext uri="{FF2B5EF4-FFF2-40B4-BE49-F238E27FC236}">
                <a16:creationId xmlns:a16="http://schemas.microsoft.com/office/drawing/2014/main" id="{7E5C8C8F-AFC0-869F-264A-357BD1ACB52F}"/>
              </a:ext>
            </a:extLst>
          </p:cNvPr>
          <p:cNvSpPr/>
          <p:nvPr/>
        </p:nvSpPr>
        <p:spPr>
          <a:xfrm>
            <a:off x="9246791" y="3488856"/>
            <a:ext cx="0" cy="198115"/>
          </a:xfrm>
          <a:prstGeom prst="line">
            <a:avLst/>
          </a:prstGeom>
          <a:noFill/>
          <a:ln w="17780">
            <a:solidFill>
              <a:srgbClr val="7FA6C8"/>
            </a:solidFill>
            <a:prstDash val="solid"/>
            <a:headEnd type="none"/>
            <a:tailEnd type="none"/>
          </a:ln>
        </p:spPr>
        <p:txBody>
          <a:bodyPr/>
          <a:lstStyle/>
          <a:p>
            <a:endParaRPr lang="en-IN"/>
          </a:p>
        </p:txBody>
      </p:sp>
      <p:sp>
        <p:nvSpPr>
          <p:cNvPr id="95" name="Shape 67">
            <a:extLst>
              <a:ext uri="{FF2B5EF4-FFF2-40B4-BE49-F238E27FC236}">
                <a16:creationId xmlns:a16="http://schemas.microsoft.com/office/drawing/2014/main" id="{3DEFE5DE-46FD-22DB-F4B8-2A95D3328781}"/>
              </a:ext>
            </a:extLst>
          </p:cNvPr>
          <p:cNvSpPr/>
          <p:nvPr/>
        </p:nvSpPr>
        <p:spPr>
          <a:xfrm>
            <a:off x="10923150" y="3488856"/>
            <a:ext cx="0" cy="198115"/>
          </a:xfrm>
          <a:prstGeom prst="line">
            <a:avLst/>
          </a:prstGeom>
          <a:noFill/>
          <a:ln w="17780">
            <a:solidFill>
              <a:srgbClr val="7FA6C8"/>
            </a:solidFill>
            <a:prstDash val="solid"/>
            <a:headEnd type="none"/>
            <a:tailEnd type="none"/>
          </a:ln>
        </p:spPr>
        <p:txBody>
          <a:bodyPr/>
          <a:lstStyle/>
          <a:p>
            <a:endParaRPr lang="en-IN"/>
          </a:p>
        </p:txBody>
      </p:sp>
      <p:sp>
        <p:nvSpPr>
          <p:cNvPr id="96" name="Shape 68">
            <a:extLst>
              <a:ext uri="{FF2B5EF4-FFF2-40B4-BE49-F238E27FC236}">
                <a16:creationId xmlns:a16="http://schemas.microsoft.com/office/drawing/2014/main" id="{C79E8244-F3A4-E490-6C1A-EA2294E05DD0}"/>
              </a:ext>
            </a:extLst>
          </p:cNvPr>
          <p:cNvSpPr/>
          <p:nvPr/>
        </p:nvSpPr>
        <p:spPr>
          <a:xfrm>
            <a:off x="9246791" y="3686971"/>
            <a:ext cx="1676358" cy="0"/>
          </a:xfrm>
          <a:prstGeom prst="line">
            <a:avLst/>
          </a:prstGeom>
          <a:noFill/>
          <a:ln w="17780">
            <a:solidFill>
              <a:srgbClr val="7FA6C8"/>
            </a:solidFill>
            <a:prstDash val="solid"/>
            <a:headEnd type="none"/>
            <a:tailEnd type="none"/>
          </a:ln>
        </p:spPr>
        <p:txBody>
          <a:bodyPr/>
          <a:lstStyle/>
          <a:p>
            <a:endParaRPr lang="en-IN"/>
          </a:p>
        </p:txBody>
      </p:sp>
      <p:sp>
        <p:nvSpPr>
          <p:cNvPr id="97" name="Shape 69">
            <a:extLst>
              <a:ext uri="{FF2B5EF4-FFF2-40B4-BE49-F238E27FC236}">
                <a16:creationId xmlns:a16="http://schemas.microsoft.com/office/drawing/2014/main" id="{E982FA37-5913-CD47-2B4C-3996A4D048EA}"/>
              </a:ext>
            </a:extLst>
          </p:cNvPr>
          <p:cNvSpPr/>
          <p:nvPr/>
        </p:nvSpPr>
        <p:spPr>
          <a:xfrm>
            <a:off x="10084971" y="3686971"/>
            <a:ext cx="0" cy="213355"/>
          </a:xfrm>
          <a:prstGeom prst="line">
            <a:avLst/>
          </a:prstGeom>
          <a:noFill/>
          <a:ln w="22860">
            <a:solidFill>
              <a:srgbClr val="2C6EA0"/>
            </a:solidFill>
            <a:prstDash val="solid"/>
            <a:headEnd type="none"/>
            <a:tailEnd type="triangle"/>
          </a:ln>
        </p:spPr>
        <p:txBody>
          <a:bodyPr/>
          <a:lstStyle/>
          <a:p>
            <a:endParaRPr lang="en-IN"/>
          </a:p>
        </p:txBody>
      </p:sp>
      <p:sp>
        <p:nvSpPr>
          <p:cNvPr id="99" name="Shape 70">
            <a:extLst>
              <a:ext uri="{FF2B5EF4-FFF2-40B4-BE49-F238E27FC236}">
                <a16:creationId xmlns:a16="http://schemas.microsoft.com/office/drawing/2014/main" id="{B0471D0A-3594-A8AF-8BB7-82BE796E7EF1}"/>
              </a:ext>
            </a:extLst>
          </p:cNvPr>
          <p:cNvSpPr/>
          <p:nvPr/>
        </p:nvSpPr>
        <p:spPr>
          <a:xfrm>
            <a:off x="8766743" y="3900326"/>
            <a:ext cx="2636454" cy="411470"/>
          </a:xfrm>
          <a:prstGeom prst="roundRect">
            <a:avLst>
              <a:gd name="adj" fmla="val 11111"/>
            </a:avLst>
          </a:prstGeom>
          <a:solidFill>
            <a:srgbClr val="EAF3FA"/>
          </a:solidFill>
          <a:ln w="12700">
            <a:solidFill>
              <a:srgbClr val="9CC3E4"/>
            </a:solidFill>
            <a:prstDash val="solid"/>
          </a:ln>
        </p:spPr>
        <p:txBody>
          <a:bodyPr/>
          <a:lstStyle/>
          <a:p>
            <a:endParaRPr lang="en-IN"/>
          </a:p>
        </p:txBody>
      </p:sp>
      <p:sp>
        <p:nvSpPr>
          <p:cNvPr id="100" name="Text 71">
            <a:extLst>
              <a:ext uri="{FF2B5EF4-FFF2-40B4-BE49-F238E27FC236}">
                <a16:creationId xmlns:a16="http://schemas.microsoft.com/office/drawing/2014/main" id="{FE65A460-2CF5-6362-8700-39377D052109}"/>
              </a:ext>
            </a:extLst>
          </p:cNvPr>
          <p:cNvSpPr txBox="1"/>
          <p:nvPr/>
        </p:nvSpPr>
        <p:spPr>
          <a:xfrm>
            <a:off x="8827702" y="3900326"/>
            <a:ext cx="2514537" cy="41147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92000"/>
              </a:lnSpc>
              <a:buNone/>
            </a:pPr>
            <a:r>
              <a:rPr lang="en-US" sz="1150" b="1" dirty="0">
                <a:solidFill>
                  <a:srgbClr val="11397C"/>
                </a:solidFill>
                <a:latin typeface="Calibri" pitchFamily="34" charset="0"/>
                <a:ea typeface="Calibri" pitchFamily="34" charset="-122"/>
                <a:cs typeface="Calibri" pitchFamily="34" charset="-120"/>
              </a:rPr>
              <a:t>Unified User Experience</a:t>
            </a:r>
            <a:endParaRPr lang="en-US" sz="1150" dirty="0"/>
          </a:p>
        </p:txBody>
      </p:sp>
      <p:sp>
        <p:nvSpPr>
          <p:cNvPr id="101" name="Text 72">
            <a:extLst>
              <a:ext uri="{FF2B5EF4-FFF2-40B4-BE49-F238E27FC236}">
                <a16:creationId xmlns:a16="http://schemas.microsoft.com/office/drawing/2014/main" id="{704DE3BA-9D66-58D5-C21A-23DE8218903D}"/>
              </a:ext>
            </a:extLst>
          </p:cNvPr>
          <p:cNvSpPr txBox="1"/>
          <p:nvPr/>
        </p:nvSpPr>
        <p:spPr>
          <a:xfrm>
            <a:off x="8538149" y="4387993"/>
            <a:ext cx="3093643" cy="320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860" i="1" dirty="0">
                <a:solidFill>
                  <a:srgbClr val="5B6472"/>
                </a:solidFill>
                <a:latin typeface="Calibri" pitchFamily="34" charset="0"/>
                <a:ea typeface="Calibri" pitchFamily="34" charset="-122"/>
                <a:cs typeface="Calibri" pitchFamily="34" charset="-120"/>
              </a:rPr>
              <a:t>Progressive integration / re-platforming of PAS capabilities onto the shared Portal foundation</a:t>
            </a:r>
            <a:endParaRPr lang="en-US" sz="860" dirty="0"/>
          </a:p>
        </p:txBody>
      </p:sp>
      <p:sp>
        <p:nvSpPr>
          <p:cNvPr id="103" name="Shape 73">
            <a:extLst>
              <a:ext uri="{FF2B5EF4-FFF2-40B4-BE49-F238E27FC236}">
                <a16:creationId xmlns:a16="http://schemas.microsoft.com/office/drawing/2014/main" id="{850BE243-90DA-C10D-D374-1D3420A704AD}"/>
              </a:ext>
            </a:extLst>
          </p:cNvPr>
          <p:cNvSpPr/>
          <p:nvPr/>
        </p:nvSpPr>
        <p:spPr>
          <a:xfrm>
            <a:off x="8538149" y="4784223"/>
            <a:ext cx="3093643" cy="426709"/>
          </a:xfrm>
          <a:prstGeom prst="roundRect">
            <a:avLst>
              <a:gd name="adj" fmla="val 10715"/>
            </a:avLst>
          </a:prstGeom>
          <a:solidFill>
            <a:srgbClr val="FCFAF3"/>
          </a:solidFill>
          <a:ln w="12700">
            <a:solidFill>
              <a:srgbClr val="E2CE9A"/>
            </a:solidFill>
            <a:prstDash val="solid"/>
          </a:ln>
        </p:spPr>
        <p:txBody>
          <a:bodyPr/>
          <a:lstStyle/>
          <a:p>
            <a:endParaRPr lang="en-IN"/>
          </a:p>
        </p:txBody>
      </p:sp>
      <p:sp>
        <p:nvSpPr>
          <p:cNvPr id="104" name="Text 74">
            <a:extLst>
              <a:ext uri="{FF2B5EF4-FFF2-40B4-BE49-F238E27FC236}">
                <a16:creationId xmlns:a16="http://schemas.microsoft.com/office/drawing/2014/main" id="{A98E1F7A-F9D0-2294-CC25-FB24D7558106}"/>
              </a:ext>
            </a:extLst>
          </p:cNvPr>
          <p:cNvSpPr txBox="1"/>
          <p:nvPr/>
        </p:nvSpPr>
        <p:spPr>
          <a:xfrm>
            <a:off x="8583868" y="4784223"/>
            <a:ext cx="3002205" cy="42670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20" b="1" dirty="0">
                <a:solidFill>
                  <a:srgbClr val="6B5B2E"/>
                </a:solidFill>
                <a:latin typeface="Calibri" pitchFamily="34" charset="0"/>
                <a:ea typeface="Calibri" pitchFamily="34" charset="-122"/>
                <a:cs typeface="Calibri" pitchFamily="34" charset="-120"/>
              </a:rPr>
              <a:t>Existing PAS</a:t>
            </a:r>
            <a:r>
              <a:rPr lang="en-US" sz="820" dirty="0">
                <a:solidFill>
                  <a:srgbClr val="B08A2E"/>
                </a:solidFill>
                <a:latin typeface="Calibri" pitchFamily="34" charset="0"/>
                <a:ea typeface="Calibri" pitchFamily="34" charset="-122"/>
                <a:cs typeface="Calibri" pitchFamily="34" charset="-120"/>
              </a:rPr>
              <a:t>   →   </a:t>
            </a:r>
            <a:r>
              <a:rPr lang="en-US" sz="820" b="1" dirty="0">
                <a:solidFill>
                  <a:srgbClr val="6B5B2E"/>
                </a:solidFill>
                <a:latin typeface="Calibri" pitchFamily="34" charset="0"/>
                <a:ea typeface="Calibri" pitchFamily="34" charset="-122"/>
                <a:cs typeface="Calibri" pitchFamily="34" charset="-120"/>
              </a:rPr>
              <a:t>Progressive Integration</a:t>
            </a:r>
            <a:r>
              <a:rPr lang="en-US" sz="820" dirty="0">
                <a:solidFill>
                  <a:srgbClr val="B08A2E"/>
                </a:solidFill>
                <a:latin typeface="Calibri" pitchFamily="34" charset="0"/>
                <a:ea typeface="Calibri" pitchFamily="34" charset="-122"/>
                <a:cs typeface="Calibri" pitchFamily="34" charset="-120"/>
              </a:rPr>
              <a:t>   →   </a:t>
            </a:r>
            <a:r>
              <a:rPr lang="en-US" sz="820" b="1" dirty="0">
                <a:solidFill>
                  <a:srgbClr val="6B5B2E"/>
                </a:solidFill>
                <a:latin typeface="Calibri" pitchFamily="34" charset="0"/>
                <a:ea typeface="Calibri" pitchFamily="34" charset="-122"/>
                <a:cs typeface="Calibri" pitchFamily="34" charset="-120"/>
              </a:rPr>
              <a:t>Unified Portal + PAS</a:t>
            </a:r>
            <a:endParaRPr lang="en-US" sz="820" dirty="0"/>
          </a:p>
        </p:txBody>
      </p:sp>
      <p:sp>
        <p:nvSpPr>
          <p:cNvPr id="105" name="Text 75">
            <a:extLst>
              <a:ext uri="{FF2B5EF4-FFF2-40B4-BE49-F238E27FC236}">
                <a16:creationId xmlns:a16="http://schemas.microsoft.com/office/drawing/2014/main" id="{1D16DA20-0848-4054-8B61-9EF9F8BFC468}"/>
              </a:ext>
            </a:extLst>
          </p:cNvPr>
          <p:cNvSpPr txBox="1"/>
          <p:nvPr/>
        </p:nvSpPr>
        <p:spPr>
          <a:xfrm>
            <a:off x="8477191" y="5317610"/>
            <a:ext cx="3215560" cy="44194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900" i="1" dirty="0">
                <a:solidFill>
                  <a:srgbClr val="5B6472"/>
                </a:solidFill>
                <a:latin typeface="Calibri" pitchFamily="34" charset="0"/>
                <a:ea typeface="Calibri" pitchFamily="34" charset="-122"/>
                <a:cs typeface="Calibri" pitchFamily="34" charset="-120"/>
              </a:rPr>
              <a:t>One application and one login for users; PAS capabilities move across in planned steps.</a:t>
            </a:r>
            <a:endParaRPr lang="en-US" sz="900" dirty="0"/>
          </a:p>
        </p:txBody>
      </p:sp>
      <p:sp>
        <p:nvSpPr>
          <p:cNvPr id="107" name="Shape 76">
            <a:extLst>
              <a:ext uri="{FF2B5EF4-FFF2-40B4-BE49-F238E27FC236}">
                <a16:creationId xmlns:a16="http://schemas.microsoft.com/office/drawing/2014/main" id="{F5724E47-052B-F381-B37F-AB72CA2D7F77}"/>
              </a:ext>
            </a:extLst>
          </p:cNvPr>
          <p:cNvSpPr/>
          <p:nvPr/>
        </p:nvSpPr>
        <p:spPr>
          <a:xfrm>
            <a:off x="3996743" y="3229782"/>
            <a:ext cx="365751" cy="441949"/>
          </a:xfrm>
          <a:prstGeom prst="rightArrow">
            <a:avLst/>
          </a:prstGeom>
          <a:solidFill>
            <a:srgbClr val="9CC3E4"/>
          </a:solidFill>
          <a:ln w="12700">
            <a:solidFill>
              <a:srgbClr val="6FA3CE"/>
            </a:solidFill>
            <a:prstDash val="solid"/>
          </a:ln>
        </p:spPr>
        <p:txBody>
          <a:bodyPr/>
          <a:lstStyle/>
          <a:p>
            <a:endParaRPr lang="en-IN"/>
          </a:p>
        </p:txBody>
      </p:sp>
      <p:sp>
        <p:nvSpPr>
          <p:cNvPr id="108" name="Text 77">
            <a:extLst>
              <a:ext uri="{FF2B5EF4-FFF2-40B4-BE49-F238E27FC236}">
                <a16:creationId xmlns:a16="http://schemas.microsoft.com/office/drawing/2014/main" id="{DC7147C3-B6A4-1D49-0E26-0E7F23DCE8D7}"/>
              </a:ext>
            </a:extLst>
          </p:cNvPr>
          <p:cNvSpPr txBox="1"/>
          <p:nvPr/>
        </p:nvSpPr>
        <p:spPr>
          <a:xfrm>
            <a:off x="3905305" y="2924990"/>
            <a:ext cx="548626" cy="24383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92000"/>
              </a:lnSpc>
              <a:buNone/>
            </a:pPr>
            <a:r>
              <a:rPr lang="en-US" sz="840" b="1" dirty="0">
                <a:solidFill>
                  <a:srgbClr val="2C6EA0"/>
                </a:solidFill>
                <a:latin typeface="Calibri" pitchFamily="34" charset="0"/>
                <a:ea typeface="Calibri" pitchFamily="34" charset="-122"/>
                <a:cs typeface="Calibri" pitchFamily="34" charset="-120"/>
              </a:rPr>
              <a:t>Expand scope</a:t>
            </a:r>
            <a:endParaRPr lang="en-US" sz="840" dirty="0"/>
          </a:p>
        </p:txBody>
      </p:sp>
      <p:sp>
        <p:nvSpPr>
          <p:cNvPr id="109" name="Shape 78">
            <a:extLst>
              <a:ext uri="{FF2B5EF4-FFF2-40B4-BE49-F238E27FC236}">
                <a16:creationId xmlns:a16="http://schemas.microsoft.com/office/drawing/2014/main" id="{DE613CF7-D553-AE00-4353-37BA8183E419}"/>
              </a:ext>
            </a:extLst>
          </p:cNvPr>
          <p:cNvSpPr/>
          <p:nvPr/>
        </p:nvSpPr>
        <p:spPr>
          <a:xfrm>
            <a:off x="7959044" y="3229782"/>
            <a:ext cx="365751" cy="441949"/>
          </a:xfrm>
          <a:prstGeom prst="rightArrow">
            <a:avLst/>
          </a:prstGeom>
          <a:solidFill>
            <a:srgbClr val="9CC3E4"/>
          </a:solidFill>
          <a:ln w="12700">
            <a:solidFill>
              <a:srgbClr val="6FA3CE"/>
            </a:solidFill>
            <a:prstDash val="solid"/>
          </a:ln>
        </p:spPr>
        <p:txBody>
          <a:bodyPr/>
          <a:lstStyle/>
          <a:p>
            <a:endParaRPr lang="en-IN"/>
          </a:p>
        </p:txBody>
      </p:sp>
      <p:sp>
        <p:nvSpPr>
          <p:cNvPr id="111" name="Text 79">
            <a:extLst>
              <a:ext uri="{FF2B5EF4-FFF2-40B4-BE49-F238E27FC236}">
                <a16:creationId xmlns:a16="http://schemas.microsoft.com/office/drawing/2014/main" id="{99B79C74-F73B-E236-8A58-ADD78D03CAD5}"/>
              </a:ext>
            </a:extLst>
          </p:cNvPr>
          <p:cNvSpPr txBox="1"/>
          <p:nvPr/>
        </p:nvSpPr>
        <p:spPr>
          <a:xfrm>
            <a:off x="7867606" y="2924990"/>
            <a:ext cx="548626" cy="24383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92000"/>
              </a:lnSpc>
              <a:buNone/>
            </a:pPr>
            <a:r>
              <a:rPr lang="en-US" sz="840" b="1" dirty="0">
                <a:solidFill>
                  <a:srgbClr val="2C6EA0"/>
                </a:solidFill>
                <a:latin typeface="Calibri" pitchFamily="34" charset="0"/>
                <a:ea typeface="Calibri" pitchFamily="34" charset="-122"/>
                <a:cs typeface="Calibri" pitchFamily="34" charset="-120"/>
              </a:rPr>
              <a:t>Converge</a:t>
            </a:r>
            <a:endParaRPr lang="en-US" sz="840" dirty="0"/>
          </a:p>
        </p:txBody>
      </p:sp>
      <p:sp>
        <p:nvSpPr>
          <p:cNvPr id="112" name="Shape 80">
            <a:extLst>
              <a:ext uri="{FF2B5EF4-FFF2-40B4-BE49-F238E27FC236}">
                <a16:creationId xmlns:a16="http://schemas.microsoft.com/office/drawing/2014/main" id="{64A3A0D6-0730-4EC1-2BA0-36CCFC2728D7}"/>
              </a:ext>
            </a:extLst>
          </p:cNvPr>
          <p:cNvSpPr/>
          <p:nvPr/>
        </p:nvSpPr>
        <p:spPr>
          <a:xfrm>
            <a:off x="445912" y="6033872"/>
            <a:ext cx="11353516" cy="457189"/>
          </a:xfrm>
          <a:prstGeom prst="roundRect">
            <a:avLst>
              <a:gd name="adj" fmla="val 10000"/>
            </a:avLst>
          </a:prstGeom>
          <a:solidFill>
            <a:srgbClr val="EBF2FA"/>
          </a:solidFill>
          <a:ln w="12700">
            <a:solidFill>
              <a:srgbClr val="D3E3F3"/>
            </a:solidFill>
            <a:prstDash val="solid"/>
          </a:ln>
        </p:spPr>
        <p:txBody>
          <a:bodyPr/>
          <a:lstStyle/>
          <a:p>
            <a:endParaRPr lang="en-IN"/>
          </a:p>
        </p:txBody>
      </p:sp>
      <p:sp>
        <p:nvSpPr>
          <p:cNvPr id="113" name="Text 81">
            <a:extLst>
              <a:ext uri="{FF2B5EF4-FFF2-40B4-BE49-F238E27FC236}">
                <a16:creationId xmlns:a16="http://schemas.microsoft.com/office/drawing/2014/main" id="{B2DCE3E4-7429-2E09-0E9C-9B43F55B79C8}"/>
              </a:ext>
            </a:extLst>
          </p:cNvPr>
          <p:cNvSpPr txBox="1"/>
          <p:nvPr/>
        </p:nvSpPr>
        <p:spPr>
          <a:xfrm>
            <a:off x="636407" y="6033872"/>
            <a:ext cx="10972526" cy="45718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11397C"/>
                </a:solidFill>
                <a:latin typeface="Calibri" pitchFamily="34" charset="0"/>
                <a:ea typeface="Calibri" pitchFamily="34" charset="-122"/>
                <a:cs typeface="Calibri" pitchFamily="34" charset="-120"/>
              </a:rPr>
              <a:t>The Portal is delivered once and grown.  </a:t>
            </a:r>
            <a:r>
              <a:rPr lang="en-US" sz="1050" dirty="0">
                <a:solidFill>
                  <a:srgbClr val="1B3A66"/>
                </a:solidFill>
                <a:latin typeface="Calibri" pitchFamily="34" charset="0"/>
                <a:ea typeface="Calibri" pitchFamily="34" charset="-122"/>
                <a:cs typeface="Calibri" pitchFamily="34" charset="-120"/>
              </a:rPr>
              <a:t>Each phase extends the same application rather than replacing it — the client starts with a focused MVP and ends with a single unified experience across Lender Portal and PAS.</a:t>
            </a:r>
            <a:endParaRPr lang="en-US" sz="1050" dirty="0"/>
          </a:p>
        </p:txBody>
      </p:sp>
    </p:spTree>
    <p:extLst>
      <p:ext uri="{BB962C8B-B14F-4D97-AF65-F5344CB8AC3E}">
        <p14:creationId xmlns:p14="http://schemas.microsoft.com/office/powerpoint/2010/main" val="2448838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05B83-63AA-3FAF-972E-44441F8F40A8}"/>
            </a:ext>
          </a:extLst>
        </p:cNvPr>
        <p:cNvGrpSpPr/>
        <p:nvPr/>
      </p:nvGrpSpPr>
      <p:grpSpPr>
        <a:xfrm>
          <a:off x="0" y="0"/>
          <a:ext cx="0" cy="0"/>
          <a:chOff x="0" y="0"/>
          <a:chExt cx="0" cy="0"/>
        </a:xfrm>
      </p:grpSpPr>
      <p:sp>
        <p:nvSpPr>
          <p:cNvPr id="4" name="Google Shape;161;p28">
            <a:extLst>
              <a:ext uri="{FF2B5EF4-FFF2-40B4-BE49-F238E27FC236}">
                <a16:creationId xmlns:a16="http://schemas.microsoft.com/office/drawing/2014/main" id="{07F23788-B478-B5AE-947F-A94D408E92AB}"/>
              </a:ext>
            </a:extLst>
          </p:cNvPr>
          <p:cNvSpPr txBox="1">
            <a:spLocks noGrp="1"/>
          </p:cNvSpPr>
          <p:nvPr/>
        </p:nvSpPr>
        <p:spPr>
          <a:xfrm>
            <a:off x="508383" y="292428"/>
            <a:ext cx="11187938" cy="581084"/>
          </a:xfrm>
          <a:prstGeom prst="rect">
            <a:avLst/>
          </a:prstGeom>
          <a:noFill/>
          <a:ln>
            <a:noFill/>
          </a:ln>
        </p:spPr>
        <p:txBody>
          <a:bodyPr vert="horz" wrap="square" lIns="90866" tIns="45421" rIns="90866" bIns="45421" rtlCol="0" anchor="ctr" anchorCtr="0">
            <a:noAutofit/>
          </a:bodyPr>
          <a:lstStyle>
            <a:lvl1pPr lvl="0" algn="l" defTabSz="914400" rtl="0" eaLnBrk="1" latinLnBrk="0" hangingPunct="1">
              <a:lnSpc>
                <a:spcPct val="90000"/>
              </a:lnSpc>
              <a:spcBef>
                <a:spcPts val="0"/>
              </a:spcBef>
              <a:spcAft>
                <a:spcPts val="0"/>
              </a:spcAft>
              <a:buClr>
                <a:schemeClr val="dk1"/>
              </a:buClr>
              <a:buSzPts val="3600"/>
              <a:buFont typeface="Outfit"/>
              <a:buNone/>
              <a:defRPr sz="3585" kern="1200">
                <a:solidFill>
                  <a:schemeClr val="tx1"/>
                </a:solidFill>
                <a:latin typeface="+mj-lt"/>
                <a:ea typeface="+mj-ea"/>
                <a:cs typeface="+mj-cs"/>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pPr>
              <a:lnSpc>
                <a:spcPct val="100000"/>
              </a:lnSpc>
              <a:buClr>
                <a:srgbClr val="000000"/>
              </a:buClr>
              <a:buFont typeface="Arial" panose="020B0604020202090204"/>
            </a:pPr>
            <a:r>
              <a:rPr lang="en-US" sz="3180" b="1" dirty="0">
                <a:solidFill>
                  <a:srgbClr val="000000"/>
                </a:solidFill>
                <a:latin typeface="Outfit" pitchFamily="2" charset="0"/>
                <a:cs typeface="Arial" panose="020B0604020202090204"/>
              </a:rPr>
              <a:t>Claims Platform Technical Architecture</a:t>
            </a:r>
            <a:endParaRPr sz="3180" b="1" dirty="0">
              <a:solidFill>
                <a:srgbClr val="000000"/>
              </a:solidFill>
              <a:latin typeface="Outfit" pitchFamily="2" charset="0"/>
              <a:cs typeface="Arial" panose="020B0604020202090204"/>
            </a:endParaRPr>
          </a:p>
        </p:txBody>
      </p:sp>
      <p:sp>
        <p:nvSpPr>
          <p:cNvPr id="6" name="Shape 3">
            <a:extLst>
              <a:ext uri="{FF2B5EF4-FFF2-40B4-BE49-F238E27FC236}">
                <a16:creationId xmlns:a16="http://schemas.microsoft.com/office/drawing/2014/main" id="{87482190-D15D-8931-FBAE-526BCCD365E3}"/>
              </a:ext>
            </a:extLst>
          </p:cNvPr>
          <p:cNvSpPr/>
          <p:nvPr/>
        </p:nvSpPr>
        <p:spPr>
          <a:xfrm>
            <a:off x="9537582" y="339617"/>
            <a:ext cx="2173717" cy="501626"/>
          </a:xfrm>
          <a:prstGeom prst="roundRect">
            <a:avLst>
              <a:gd name="adj" fmla="val 9091"/>
            </a:avLst>
          </a:prstGeom>
          <a:solidFill>
            <a:srgbClr val="E4F2FB"/>
          </a:solidFill>
          <a:ln w="12700">
            <a:solidFill>
              <a:srgbClr val="9CCBE8"/>
            </a:solidFill>
            <a:prstDash val="solid"/>
          </a:ln>
        </p:spPr>
        <p:txBody>
          <a:bodyPr/>
          <a:lstStyle/>
          <a:p>
            <a:endParaRPr lang="en-IN"/>
          </a:p>
        </p:txBody>
      </p:sp>
      <p:sp>
        <p:nvSpPr>
          <p:cNvPr id="8" name="Text 4">
            <a:extLst>
              <a:ext uri="{FF2B5EF4-FFF2-40B4-BE49-F238E27FC236}">
                <a16:creationId xmlns:a16="http://schemas.microsoft.com/office/drawing/2014/main" id="{8A98F14B-FE79-E7FC-7508-FF79C1CF1E8C}"/>
              </a:ext>
            </a:extLst>
          </p:cNvPr>
          <p:cNvSpPr txBox="1"/>
          <p:nvPr/>
        </p:nvSpPr>
        <p:spPr>
          <a:xfrm>
            <a:off x="9537582" y="339617"/>
            <a:ext cx="2112913" cy="501626"/>
          </a:xfrm>
          <a:prstGeom prst="rect">
            <a:avLst/>
          </a:prstGeom>
          <a:noFill/>
          <a:ln/>
        </p:spPr>
        <p:txBody>
          <a:bodyPr wrap="square" lIns="0" tIns="0" rIns="0" bIns="0" rtlCol="0" anchor="ctr"/>
          <a:lstStyle/>
          <a:p>
            <a:pPr algn="ctr">
              <a:lnSpc>
                <a:spcPct val="94000"/>
              </a:lnSpc>
            </a:pPr>
            <a:r>
              <a:rPr lang="en-US" sz="878" b="1" dirty="0">
                <a:solidFill>
                  <a:srgbClr val="11397C"/>
                </a:solidFill>
                <a:latin typeface="Calibri" pitchFamily="34" charset="0"/>
                <a:ea typeface="Calibri" pitchFamily="34" charset="-122"/>
                <a:cs typeface="Calibri" pitchFamily="34" charset="-120"/>
              </a:rPr>
              <a:t>Java 25 + Spring Boot 4</a:t>
            </a:r>
            <a:endParaRPr lang="en-US" sz="878" dirty="0"/>
          </a:p>
          <a:p>
            <a:pPr algn="ctr">
              <a:lnSpc>
                <a:spcPct val="94000"/>
              </a:lnSpc>
            </a:pPr>
            <a:r>
              <a:rPr lang="en-US" sz="878" b="1" dirty="0">
                <a:solidFill>
                  <a:srgbClr val="11397C"/>
                </a:solidFill>
                <a:latin typeface="Calibri" pitchFamily="34" charset="0"/>
                <a:ea typeface="Calibri" pitchFamily="34" charset="-122"/>
                <a:cs typeface="Calibri" pitchFamily="34" charset="-120"/>
              </a:rPr>
              <a:t>Microservices on Managed Kubernetes</a:t>
            </a:r>
            <a:endParaRPr lang="en-US" sz="878" dirty="0"/>
          </a:p>
        </p:txBody>
      </p:sp>
      <p:sp>
        <p:nvSpPr>
          <p:cNvPr id="3" name="Text 5">
            <a:extLst>
              <a:ext uri="{FF2B5EF4-FFF2-40B4-BE49-F238E27FC236}">
                <a16:creationId xmlns:a16="http://schemas.microsoft.com/office/drawing/2014/main" id="{3D709D72-837D-A7C6-B2E0-722E013DD6CF}"/>
              </a:ext>
            </a:extLst>
          </p:cNvPr>
          <p:cNvSpPr txBox="1"/>
          <p:nvPr/>
        </p:nvSpPr>
        <p:spPr>
          <a:xfrm>
            <a:off x="439895" y="1059644"/>
            <a:ext cx="1140061" cy="288816"/>
          </a:xfrm>
          <a:prstGeom prst="rect">
            <a:avLst/>
          </a:prstGeom>
          <a:noFill/>
          <a:ln/>
        </p:spPr>
        <p:txBody>
          <a:bodyPr wrap="square" lIns="0" tIns="0" rIns="0" bIns="0" rtlCol="0" anchor="ctr"/>
          <a:lstStyle/>
          <a:p>
            <a:pPr>
              <a:lnSpc>
                <a:spcPct val="90000"/>
              </a:lnSpc>
            </a:pPr>
            <a:r>
              <a:rPr lang="en-US" sz="858" b="1" dirty="0">
                <a:solidFill>
                  <a:srgbClr val="1B4F8A"/>
                </a:solidFill>
                <a:latin typeface="Calibri" pitchFamily="34" charset="0"/>
                <a:ea typeface="Calibri" pitchFamily="34" charset="-122"/>
                <a:cs typeface="Calibri" pitchFamily="34" charset="-120"/>
              </a:rPr>
              <a:t>Architecture</a:t>
            </a:r>
            <a:endParaRPr lang="en-US" sz="858" dirty="0"/>
          </a:p>
          <a:p>
            <a:pPr>
              <a:lnSpc>
                <a:spcPct val="90000"/>
              </a:lnSpc>
            </a:pPr>
            <a:r>
              <a:rPr lang="en-US" sz="858" b="1" dirty="0">
                <a:solidFill>
                  <a:srgbClr val="1B4F8A"/>
                </a:solidFill>
                <a:latin typeface="Calibri" pitchFamily="34" charset="0"/>
                <a:ea typeface="Calibri" pitchFamily="34" charset="-122"/>
                <a:cs typeface="Calibri" pitchFamily="34" charset="-120"/>
              </a:rPr>
              <a:t>Evolution</a:t>
            </a:r>
            <a:endParaRPr lang="en-US" sz="858" dirty="0"/>
          </a:p>
        </p:txBody>
      </p:sp>
      <p:sp>
        <p:nvSpPr>
          <p:cNvPr id="7" name="Shape 6">
            <a:extLst>
              <a:ext uri="{FF2B5EF4-FFF2-40B4-BE49-F238E27FC236}">
                <a16:creationId xmlns:a16="http://schemas.microsoft.com/office/drawing/2014/main" id="{DCC28472-33B6-0061-1885-EE4BFDC9080F}"/>
              </a:ext>
            </a:extLst>
          </p:cNvPr>
          <p:cNvSpPr/>
          <p:nvPr/>
        </p:nvSpPr>
        <p:spPr>
          <a:xfrm>
            <a:off x="1655960" y="1029242"/>
            <a:ext cx="1748093" cy="273615"/>
          </a:xfrm>
          <a:prstGeom prst="roundRect">
            <a:avLst>
              <a:gd name="adj" fmla="val 46668"/>
            </a:avLst>
          </a:prstGeom>
          <a:solidFill>
            <a:srgbClr val="F2F6FB"/>
          </a:solidFill>
          <a:ln w="12700">
            <a:solidFill>
              <a:srgbClr val="C6D5E4"/>
            </a:solidFill>
            <a:prstDash val="solid"/>
          </a:ln>
        </p:spPr>
        <p:txBody>
          <a:bodyPr/>
          <a:lstStyle/>
          <a:p>
            <a:endParaRPr lang="en-IN"/>
          </a:p>
        </p:txBody>
      </p:sp>
      <p:sp>
        <p:nvSpPr>
          <p:cNvPr id="10" name="Text 7">
            <a:extLst>
              <a:ext uri="{FF2B5EF4-FFF2-40B4-BE49-F238E27FC236}">
                <a16:creationId xmlns:a16="http://schemas.microsoft.com/office/drawing/2014/main" id="{B0446890-A5B5-7C0D-A3A7-2516E54B102A}"/>
              </a:ext>
            </a:extLst>
          </p:cNvPr>
          <p:cNvSpPr txBox="1"/>
          <p:nvPr/>
        </p:nvSpPr>
        <p:spPr>
          <a:xfrm>
            <a:off x="170156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7E8CA0"/>
                </a:solidFill>
                <a:latin typeface="Calibri" pitchFamily="34" charset="0"/>
                <a:ea typeface="Calibri" pitchFamily="34" charset="-122"/>
                <a:cs typeface="Calibri" pitchFamily="34" charset="-120"/>
              </a:rPr>
              <a:t>Phase 1</a:t>
            </a:r>
            <a:endParaRPr lang="en-US" sz="838" dirty="0"/>
          </a:p>
          <a:p>
            <a:pPr algn="ctr">
              <a:lnSpc>
                <a:spcPct val="90000"/>
              </a:lnSpc>
            </a:pPr>
            <a:r>
              <a:rPr lang="en-US" sz="778" dirty="0">
                <a:solidFill>
                  <a:srgbClr val="7E8CA0"/>
                </a:solidFill>
                <a:latin typeface="Calibri" pitchFamily="34" charset="0"/>
                <a:ea typeface="Calibri" pitchFamily="34" charset="-122"/>
                <a:cs typeface="Calibri" pitchFamily="34" charset="-120"/>
              </a:rPr>
              <a:t>Lean MVP Foundation</a:t>
            </a:r>
            <a:endParaRPr lang="en-US" sz="838" dirty="0"/>
          </a:p>
        </p:txBody>
      </p:sp>
      <p:sp>
        <p:nvSpPr>
          <p:cNvPr id="12" name="Shape 8">
            <a:extLst>
              <a:ext uri="{FF2B5EF4-FFF2-40B4-BE49-F238E27FC236}">
                <a16:creationId xmlns:a16="http://schemas.microsoft.com/office/drawing/2014/main" id="{EC0A0192-8D38-FC70-0896-98BE9ECE16E6}"/>
              </a:ext>
            </a:extLst>
          </p:cNvPr>
          <p:cNvSpPr/>
          <p:nvPr/>
        </p:nvSpPr>
        <p:spPr>
          <a:xfrm>
            <a:off x="3449656" y="1166049"/>
            <a:ext cx="212812" cy="0"/>
          </a:xfrm>
          <a:prstGeom prst="line">
            <a:avLst/>
          </a:prstGeom>
          <a:noFill/>
          <a:ln w="17780">
            <a:solidFill>
              <a:srgbClr val="9CB0C6"/>
            </a:solidFill>
            <a:prstDash val="solid"/>
            <a:tailEnd type="triangle"/>
          </a:ln>
        </p:spPr>
        <p:txBody>
          <a:bodyPr/>
          <a:lstStyle/>
          <a:p>
            <a:endParaRPr lang="en-IN"/>
          </a:p>
        </p:txBody>
      </p:sp>
      <p:sp>
        <p:nvSpPr>
          <p:cNvPr id="14" name="Shape 9">
            <a:extLst>
              <a:ext uri="{FF2B5EF4-FFF2-40B4-BE49-F238E27FC236}">
                <a16:creationId xmlns:a16="http://schemas.microsoft.com/office/drawing/2014/main" id="{A91020AC-BB10-1C7C-DE6F-67E342E075F6}"/>
              </a:ext>
            </a:extLst>
          </p:cNvPr>
          <p:cNvSpPr/>
          <p:nvPr/>
        </p:nvSpPr>
        <p:spPr>
          <a:xfrm>
            <a:off x="3708070" y="1029242"/>
            <a:ext cx="1748093" cy="273615"/>
          </a:xfrm>
          <a:prstGeom prst="roundRect">
            <a:avLst>
              <a:gd name="adj" fmla="val 46668"/>
            </a:avLst>
          </a:prstGeom>
          <a:solidFill>
            <a:srgbClr val="11397C"/>
          </a:solidFill>
          <a:ln w="12700">
            <a:solidFill>
              <a:srgbClr val="11397C"/>
            </a:solidFill>
            <a:prstDash val="solid"/>
          </a:ln>
        </p:spPr>
        <p:txBody>
          <a:bodyPr/>
          <a:lstStyle/>
          <a:p>
            <a:endParaRPr lang="en-IN"/>
          </a:p>
        </p:txBody>
      </p:sp>
      <p:sp>
        <p:nvSpPr>
          <p:cNvPr id="16" name="Text 10">
            <a:extLst>
              <a:ext uri="{FF2B5EF4-FFF2-40B4-BE49-F238E27FC236}">
                <a16:creationId xmlns:a16="http://schemas.microsoft.com/office/drawing/2014/main" id="{773D80B0-25CF-88B7-F015-3455E466C29F}"/>
              </a:ext>
            </a:extLst>
          </p:cNvPr>
          <p:cNvSpPr txBox="1"/>
          <p:nvPr/>
        </p:nvSpPr>
        <p:spPr>
          <a:xfrm>
            <a:off x="375367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FFFFFF"/>
                </a:solidFill>
                <a:latin typeface="Calibri" pitchFamily="34" charset="0"/>
                <a:ea typeface="Calibri" pitchFamily="34" charset="-122"/>
                <a:cs typeface="Calibri" pitchFamily="34" charset="-120"/>
              </a:rPr>
              <a:t>Phase 2</a:t>
            </a:r>
            <a:endParaRPr lang="en-US" sz="838" dirty="0"/>
          </a:p>
          <a:p>
            <a:pPr algn="ctr">
              <a:lnSpc>
                <a:spcPct val="90000"/>
              </a:lnSpc>
            </a:pPr>
            <a:r>
              <a:rPr lang="en-US" sz="778" dirty="0">
                <a:solidFill>
                  <a:srgbClr val="FFFFFF"/>
                </a:solidFill>
                <a:latin typeface="Calibri" pitchFamily="34" charset="0"/>
                <a:ea typeface="Calibri" pitchFamily="34" charset="-122"/>
                <a:cs typeface="Calibri" pitchFamily="34" charset="-120"/>
              </a:rPr>
              <a:t>Shared Platform Capabilities</a:t>
            </a:r>
            <a:endParaRPr lang="en-US" sz="838" dirty="0"/>
          </a:p>
        </p:txBody>
      </p:sp>
      <p:sp>
        <p:nvSpPr>
          <p:cNvPr id="18" name="Shape 11">
            <a:extLst>
              <a:ext uri="{FF2B5EF4-FFF2-40B4-BE49-F238E27FC236}">
                <a16:creationId xmlns:a16="http://schemas.microsoft.com/office/drawing/2014/main" id="{53CB87D0-4ACA-EF84-3CFF-7A44E6D7B32A}"/>
              </a:ext>
            </a:extLst>
          </p:cNvPr>
          <p:cNvSpPr/>
          <p:nvPr/>
        </p:nvSpPr>
        <p:spPr>
          <a:xfrm>
            <a:off x="5501767" y="1166049"/>
            <a:ext cx="212812" cy="0"/>
          </a:xfrm>
          <a:prstGeom prst="line">
            <a:avLst/>
          </a:prstGeom>
          <a:noFill/>
          <a:ln w="17780">
            <a:solidFill>
              <a:srgbClr val="9CB0C6"/>
            </a:solidFill>
            <a:prstDash val="solid"/>
            <a:tailEnd type="triangle"/>
          </a:ln>
        </p:spPr>
        <p:txBody>
          <a:bodyPr/>
          <a:lstStyle/>
          <a:p>
            <a:endParaRPr lang="en-IN"/>
          </a:p>
        </p:txBody>
      </p:sp>
      <p:sp>
        <p:nvSpPr>
          <p:cNvPr id="20" name="Shape 12">
            <a:extLst>
              <a:ext uri="{FF2B5EF4-FFF2-40B4-BE49-F238E27FC236}">
                <a16:creationId xmlns:a16="http://schemas.microsoft.com/office/drawing/2014/main" id="{C3BDF0F3-F1F4-3877-8185-2F3C33E7C92B}"/>
              </a:ext>
            </a:extLst>
          </p:cNvPr>
          <p:cNvSpPr/>
          <p:nvPr/>
        </p:nvSpPr>
        <p:spPr>
          <a:xfrm>
            <a:off x="5760180" y="1029242"/>
            <a:ext cx="1748093" cy="273615"/>
          </a:xfrm>
          <a:prstGeom prst="roundRect">
            <a:avLst>
              <a:gd name="adj" fmla="val 46668"/>
            </a:avLst>
          </a:prstGeom>
          <a:solidFill>
            <a:srgbClr val="F2F6FB"/>
          </a:solidFill>
          <a:ln w="12700">
            <a:solidFill>
              <a:srgbClr val="C6D5E4"/>
            </a:solidFill>
            <a:prstDash val="solid"/>
          </a:ln>
        </p:spPr>
        <p:txBody>
          <a:bodyPr/>
          <a:lstStyle/>
          <a:p>
            <a:endParaRPr lang="en-IN"/>
          </a:p>
        </p:txBody>
      </p:sp>
      <p:sp>
        <p:nvSpPr>
          <p:cNvPr id="22" name="Text 13">
            <a:extLst>
              <a:ext uri="{FF2B5EF4-FFF2-40B4-BE49-F238E27FC236}">
                <a16:creationId xmlns:a16="http://schemas.microsoft.com/office/drawing/2014/main" id="{BC225482-A189-46EB-FC12-B0AB5E620044}"/>
              </a:ext>
            </a:extLst>
          </p:cNvPr>
          <p:cNvSpPr txBox="1"/>
          <p:nvPr/>
        </p:nvSpPr>
        <p:spPr>
          <a:xfrm>
            <a:off x="580578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7E8CA0"/>
                </a:solidFill>
                <a:latin typeface="Calibri" pitchFamily="34" charset="0"/>
                <a:ea typeface="Calibri" pitchFamily="34" charset="-122"/>
                <a:cs typeface="Calibri" pitchFamily="34" charset="-120"/>
              </a:rPr>
              <a:t>Phase 3</a:t>
            </a:r>
            <a:endParaRPr lang="en-US" sz="838" dirty="0"/>
          </a:p>
          <a:p>
            <a:pPr algn="ctr">
              <a:lnSpc>
                <a:spcPct val="90000"/>
              </a:lnSpc>
            </a:pPr>
            <a:r>
              <a:rPr lang="en-US" sz="778" dirty="0">
                <a:solidFill>
                  <a:srgbClr val="7E8CA0"/>
                </a:solidFill>
                <a:latin typeface="Calibri" pitchFamily="34" charset="0"/>
                <a:ea typeface="Calibri" pitchFamily="34" charset="-122"/>
                <a:cs typeface="Calibri" pitchFamily="34" charset="-120"/>
              </a:rPr>
              <a:t>Enterprise Platform  ·  Portal + PAS</a:t>
            </a:r>
            <a:endParaRPr lang="en-US" sz="838" dirty="0"/>
          </a:p>
        </p:txBody>
      </p:sp>
      <p:sp>
        <p:nvSpPr>
          <p:cNvPr id="24" name="Text 14">
            <a:extLst>
              <a:ext uri="{FF2B5EF4-FFF2-40B4-BE49-F238E27FC236}">
                <a16:creationId xmlns:a16="http://schemas.microsoft.com/office/drawing/2014/main" id="{3C864792-7163-93E3-9BA5-5D3CD55B3687}"/>
              </a:ext>
            </a:extLst>
          </p:cNvPr>
          <p:cNvSpPr txBox="1"/>
          <p:nvPr/>
        </p:nvSpPr>
        <p:spPr>
          <a:xfrm>
            <a:off x="7622280" y="998840"/>
            <a:ext cx="4142222" cy="334418"/>
          </a:xfrm>
          <a:prstGeom prst="rect">
            <a:avLst/>
          </a:prstGeom>
          <a:noFill/>
          <a:ln/>
        </p:spPr>
        <p:txBody>
          <a:bodyPr wrap="square" lIns="0" tIns="0" rIns="0" bIns="0" rtlCol="0" anchor="ctr"/>
          <a:lstStyle/>
          <a:p>
            <a:pPr>
              <a:lnSpc>
                <a:spcPct val="95000"/>
              </a:lnSpc>
            </a:pPr>
            <a:r>
              <a:rPr lang="en-US" sz="798" i="1" dirty="0">
                <a:solidFill>
                  <a:srgbClr val="5B6472"/>
                </a:solidFill>
                <a:latin typeface="Calibri" pitchFamily="34" charset="0"/>
                <a:ea typeface="Calibri" pitchFamily="34" charset="-122"/>
                <a:cs typeface="Calibri" pitchFamily="34" charset="-120"/>
              </a:rPr>
              <a:t>Same foundation. A gateway abstracts the service layer; cache, object storage, event streaming, saga orchestration, adapter services and read scale-out are introduced as the platform matures.</a:t>
            </a:r>
            <a:endParaRPr lang="en-US" sz="798" dirty="0"/>
          </a:p>
        </p:txBody>
      </p:sp>
      <p:sp>
        <p:nvSpPr>
          <p:cNvPr id="26" name="Shape 15">
            <a:extLst>
              <a:ext uri="{FF2B5EF4-FFF2-40B4-BE49-F238E27FC236}">
                <a16:creationId xmlns:a16="http://schemas.microsoft.com/office/drawing/2014/main" id="{82111BB2-6FBF-6D99-2113-A6782ED7F717}"/>
              </a:ext>
            </a:extLst>
          </p:cNvPr>
          <p:cNvSpPr/>
          <p:nvPr/>
        </p:nvSpPr>
        <p:spPr>
          <a:xfrm>
            <a:off x="439895" y="2382115"/>
            <a:ext cx="912049" cy="3192171"/>
          </a:xfrm>
          <a:prstGeom prst="roundRect">
            <a:avLst>
              <a:gd name="adj" fmla="val 5000"/>
            </a:avLst>
          </a:prstGeom>
          <a:solidFill>
            <a:srgbClr val="F2F7FC"/>
          </a:solidFill>
          <a:ln w="12700">
            <a:solidFill>
              <a:srgbClr val="C2DCF0"/>
            </a:solidFill>
            <a:prstDash val="solid"/>
          </a:ln>
        </p:spPr>
        <p:txBody>
          <a:bodyPr/>
          <a:lstStyle/>
          <a:p>
            <a:endParaRPr lang="en-IN"/>
          </a:p>
        </p:txBody>
      </p:sp>
      <p:sp>
        <p:nvSpPr>
          <p:cNvPr id="28" name="Text 16">
            <a:extLst>
              <a:ext uri="{FF2B5EF4-FFF2-40B4-BE49-F238E27FC236}">
                <a16:creationId xmlns:a16="http://schemas.microsoft.com/office/drawing/2014/main" id="{78A5781C-2499-6857-3D88-CB77A20E435F}"/>
              </a:ext>
            </a:extLst>
          </p:cNvPr>
          <p:cNvSpPr txBox="1"/>
          <p:nvPr/>
        </p:nvSpPr>
        <p:spPr>
          <a:xfrm>
            <a:off x="439895" y="2442917"/>
            <a:ext cx="912049" cy="167209"/>
          </a:xfrm>
          <a:prstGeom prst="rect">
            <a:avLst/>
          </a:prstGeom>
          <a:noFill/>
          <a:ln/>
        </p:spPr>
        <p:txBody>
          <a:bodyPr wrap="square" lIns="0" tIns="0" rIns="0" bIns="0" rtlCol="0" anchor="ctr"/>
          <a:lstStyle/>
          <a:p>
            <a:pPr algn="ctr">
              <a:lnSpc>
                <a:spcPct val="93000"/>
              </a:lnSpc>
            </a:pPr>
            <a:r>
              <a:rPr lang="en-US" sz="1047" b="1" dirty="0">
                <a:solidFill>
                  <a:srgbClr val="1B4F8A"/>
                </a:solidFill>
                <a:latin typeface="Calibri" pitchFamily="34" charset="0"/>
                <a:ea typeface="Calibri" pitchFamily="34" charset="-122"/>
                <a:cs typeface="Calibri" pitchFamily="34" charset="-120"/>
              </a:rPr>
              <a:t>Users</a:t>
            </a:r>
            <a:endParaRPr lang="en-US" sz="1047" dirty="0"/>
          </a:p>
        </p:txBody>
      </p:sp>
      <p:pic>
        <p:nvPicPr>
          <p:cNvPr id="30" name="Image 0" descr="preencoded.png">
            <a:extLst>
              <a:ext uri="{FF2B5EF4-FFF2-40B4-BE49-F238E27FC236}">
                <a16:creationId xmlns:a16="http://schemas.microsoft.com/office/drawing/2014/main" id="{9AC763D2-4A8B-415C-8EBD-7A0648498392}"/>
              </a:ext>
            </a:extLst>
          </p:cNvPr>
          <p:cNvPicPr>
            <a:picLocks noChangeAspect="1"/>
          </p:cNvPicPr>
          <p:nvPr/>
        </p:nvPicPr>
        <p:blipFill>
          <a:blip r:embed="rId2"/>
          <a:stretch>
            <a:fillRect/>
          </a:stretch>
        </p:blipFill>
        <p:spPr>
          <a:xfrm>
            <a:off x="743911" y="2807737"/>
            <a:ext cx="304016" cy="304016"/>
          </a:xfrm>
          <a:prstGeom prst="rect">
            <a:avLst/>
          </a:prstGeom>
        </p:spPr>
      </p:pic>
      <p:sp>
        <p:nvSpPr>
          <p:cNvPr id="32" name="Text 17">
            <a:extLst>
              <a:ext uri="{FF2B5EF4-FFF2-40B4-BE49-F238E27FC236}">
                <a16:creationId xmlns:a16="http://schemas.microsoft.com/office/drawing/2014/main" id="{00AB5C42-507B-B5AE-E374-1B043DC429F0}"/>
              </a:ext>
            </a:extLst>
          </p:cNvPr>
          <p:cNvSpPr txBox="1"/>
          <p:nvPr/>
        </p:nvSpPr>
        <p:spPr>
          <a:xfrm>
            <a:off x="470297" y="3142155"/>
            <a:ext cx="851246" cy="243213"/>
          </a:xfrm>
          <a:prstGeom prst="rect">
            <a:avLst/>
          </a:prstGeom>
          <a:noFill/>
          <a:ln/>
        </p:spPr>
        <p:txBody>
          <a:bodyPr wrap="square" lIns="0" tIns="0" rIns="0" bIns="0" rtlCol="0" anchor="ctr"/>
          <a:lstStyle/>
          <a:p>
            <a:pPr algn="ctr">
              <a:lnSpc>
                <a:spcPct val="93000"/>
              </a:lnSpc>
            </a:pPr>
            <a:r>
              <a:rPr lang="en-US" sz="858" b="1" dirty="0">
                <a:solidFill>
                  <a:srgbClr val="1B3A66"/>
                </a:solidFill>
                <a:latin typeface="Calibri" pitchFamily="34" charset="0"/>
                <a:ea typeface="Calibri" pitchFamily="34" charset="-122"/>
                <a:cs typeface="Calibri" pitchFamily="34" charset="-120"/>
              </a:rPr>
              <a:t>Lender Users</a:t>
            </a:r>
            <a:endParaRPr lang="en-US" sz="858" dirty="0"/>
          </a:p>
          <a:p>
            <a:pPr algn="ctr">
              <a:lnSpc>
                <a:spcPct val="93000"/>
              </a:lnSpc>
            </a:pPr>
            <a:r>
              <a:rPr lang="en-US" sz="858" b="1" dirty="0">
                <a:solidFill>
                  <a:srgbClr val="1B3A66"/>
                </a:solidFill>
                <a:latin typeface="Calibri" pitchFamily="34" charset="0"/>
                <a:ea typeface="Calibri" pitchFamily="34" charset="-122"/>
                <a:cs typeface="Calibri" pitchFamily="34" charset="-120"/>
              </a:rPr>
              <a:t>(External)</a:t>
            </a:r>
            <a:endParaRPr lang="en-US" sz="858" dirty="0"/>
          </a:p>
        </p:txBody>
      </p:sp>
      <p:pic>
        <p:nvPicPr>
          <p:cNvPr id="34" name="Image 1" descr="preencoded.png">
            <a:extLst>
              <a:ext uri="{FF2B5EF4-FFF2-40B4-BE49-F238E27FC236}">
                <a16:creationId xmlns:a16="http://schemas.microsoft.com/office/drawing/2014/main" id="{EF080A1A-220F-1DDA-87EB-53D23FB9D23F}"/>
              </a:ext>
            </a:extLst>
          </p:cNvPr>
          <p:cNvPicPr>
            <a:picLocks noChangeAspect="1"/>
          </p:cNvPicPr>
          <p:nvPr/>
        </p:nvPicPr>
        <p:blipFill>
          <a:blip r:embed="rId2"/>
          <a:stretch>
            <a:fillRect/>
          </a:stretch>
        </p:blipFill>
        <p:spPr>
          <a:xfrm>
            <a:off x="743911" y="3522175"/>
            <a:ext cx="304016" cy="304016"/>
          </a:xfrm>
          <a:prstGeom prst="rect">
            <a:avLst/>
          </a:prstGeom>
        </p:spPr>
      </p:pic>
      <p:sp>
        <p:nvSpPr>
          <p:cNvPr id="36" name="Text 18">
            <a:extLst>
              <a:ext uri="{FF2B5EF4-FFF2-40B4-BE49-F238E27FC236}">
                <a16:creationId xmlns:a16="http://schemas.microsoft.com/office/drawing/2014/main" id="{74FB4F12-1681-FD61-62FD-F2E08EE8F9CE}"/>
              </a:ext>
            </a:extLst>
          </p:cNvPr>
          <p:cNvSpPr txBox="1"/>
          <p:nvPr/>
        </p:nvSpPr>
        <p:spPr>
          <a:xfrm>
            <a:off x="470297" y="3856594"/>
            <a:ext cx="851246" cy="243213"/>
          </a:xfrm>
          <a:prstGeom prst="rect">
            <a:avLst/>
          </a:prstGeom>
          <a:noFill/>
          <a:ln/>
        </p:spPr>
        <p:txBody>
          <a:bodyPr wrap="square" lIns="0" tIns="0" rIns="0" bIns="0" rtlCol="0" anchor="ctr"/>
          <a:lstStyle/>
          <a:p>
            <a:pPr algn="ctr">
              <a:lnSpc>
                <a:spcPct val="93000"/>
              </a:lnSpc>
            </a:pPr>
            <a:r>
              <a:rPr lang="en-US" sz="858" b="1" dirty="0">
                <a:solidFill>
                  <a:srgbClr val="1B3A66"/>
                </a:solidFill>
                <a:latin typeface="Calibri" pitchFamily="34" charset="0"/>
                <a:ea typeface="Calibri" pitchFamily="34" charset="-122"/>
                <a:cs typeface="Calibri" pitchFamily="34" charset="-120"/>
              </a:rPr>
              <a:t>IMGC Users</a:t>
            </a:r>
            <a:endParaRPr lang="en-US" sz="858" dirty="0"/>
          </a:p>
          <a:p>
            <a:pPr algn="ctr">
              <a:lnSpc>
                <a:spcPct val="93000"/>
              </a:lnSpc>
            </a:pPr>
            <a:r>
              <a:rPr lang="en-US" sz="858" b="1" dirty="0">
                <a:solidFill>
                  <a:srgbClr val="1B3A66"/>
                </a:solidFill>
                <a:latin typeface="Calibri" pitchFamily="34" charset="0"/>
                <a:ea typeface="Calibri" pitchFamily="34" charset="-122"/>
                <a:cs typeface="Calibri" pitchFamily="34" charset="-120"/>
              </a:rPr>
              <a:t>(Internal)</a:t>
            </a:r>
            <a:endParaRPr lang="en-US" sz="858" dirty="0"/>
          </a:p>
        </p:txBody>
      </p:sp>
      <p:sp>
        <p:nvSpPr>
          <p:cNvPr id="38" name="Shape 19">
            <a:extLst>
              <a:ext uri="{FF2B5EF4-FFF2-40B4-BE49-F238E27FC236}">
                <a16:creationId xmlns:a16="http://schemas.microsoft.com/office/drawing/2014/main" id="{28D7AA5F-0E3C-EC4E-6D2D-53FDACEA1131}"/>
              </a:ext>
            </a:extLst>
          </p:cNvPr>
          <p:cNvSpPr/>
          <p:nvPr/>
        </p:nvSpPr>
        <p:spPr>
          <a:xfrm>
            <a:off x="895919" y="4191011"/>
            <a:ext cx="0" cy="212812"/>
          </a:xfrm>
          <a:prstGeom prst="line">
            <a:avLst/>
          </a:prstGeom>
          <a:noFill/>
          <a:ln w="16510">
            <a:solidFill>
              <a:srgbClr val="1B4F8C"/>
            </a:solidFill>
            <a:prstDash val="solid"/>
            <a:headEnd type="none"/>
            <a:tailEnd type="triangle"/>
          </a:ln>
        </p:spPr>
        <p:txBody>
          <a:bodyPr/>
          <a:lstStyle/>
          <a:p>
            <a:endParaRPr lang="en-IN"/>
          </a:p>
        </p:txBody>
      </p:sp>
      <p:pic>
        <p:nvPicPr>
          <p:cNvPr id="40" name="Image 2" descr="preencoded.png">
            <a:extLst>
              <a:ext uri="{FF2B5EF4-FFF2-40B4-BE49-F238E27FC236}">
                <a16:creationId xmlns:a16="http://schemas.microsoft.com/office/drawing/2014/main" id="{6FE9B026-5641-76C4-AEC8-F85D4F16AD4C}"/>
              </a:ext>
            </a:extLst>
          </p:cNvPr>
          <p:cNvPicPr>
            <a:picLocks noChangeAspect="1"/>
          </p:cNvPicPr>
          <p:nvPr/>
        </p:nvPicPr>
        <p:blipFill>
          <a:blip r:embed="rId3"/>
          <a:stretch>
            <a:fillRect/>
          </a:stretch>
        </p:blipFill>
        <p:spPr>
          <a:xfrm>
            <a:off x="743911" y="4464625"/>
            <a:ext cx="304016" cy="304016"/>
          </a:xfrm>
          <a:prstGeom prst="rect">
            <a:avLst/>
          </a:prstGeom>
        </p:spPr>
      </p:pic>
      <p:sp>
        <p:nvSpPr>
          <p:cNvPr id="42" name="Text 20">
            <a:extLst>
              <a:ext uri="{FF2B5EF4-FFF2-40B4-BE49-F238E27FC236}">
                <a16:creationId xmlns:a16="http://schemas.microsoft.com/office/drawing/2014/main" id="{E8B0282D-9936-C5B2-D0A9-9A1AEBE26171}"/>
              </a:ext>
            </a:extLst>
          </p:cNvPr>
          <p:cNvSpPr txBox="1"/>
          <p:nvPr/>
        </p:nvSpPr>
        <p:spPr>
          <a:xfrm>
            <a:off x="470297" y="4799044"/>
            <a:ext cx="851246" cy="197611"/>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Internet / HTTPS</a:t>
            </a:r>
            <a:endParaRPr lang="en-US" sz="838" dirty="0"/>
          </a:p>
        </p:txBody>
      </p:sp>
      <p:sp>
        <p:nvSpPr>
          <p:cNvPr id="44" name="Shape 21">
            <a:extLst>
              <a:ext uri="{FF2B5EF4-FFF2-40B4-BE49-F238E27FC236}">
                <a16:creationId xmlns:a16="http://schemas.microsoft.com/office/drawing/2014/main" id="{FE13A812-1685-CF4C-0FFE-179DAC406942}"/>
              </a:ext>
            </a:extLst>
          </p:cNvPr>
          <p:cNvSpPr/>
          <p:nvPr/>
        </p:nvSpPr>
        <p:spPr>
          <a:xfrm>
            <a:off x="1731964" y="2382115"/>
            <a:ext cx="1140061" cy="3192171"/>
          </a:xfrm>
          <a:prstGeom prst="roundRect">
            <a:avLst>
              <a:gd name="adj" fmla="val 4000"/>
            </a:avLst>
          </a:prstGeom>
          <a:solidFill>
            <a:srgbClr val="FFFFFF"/>
          </a:solidFill>
          <a:ln w="12700">
            <a:solidFill>
              <a:srgbClr val="C2DCF0"/>
            </a:solidFill>
            <a:prstDash val="solid"/>
          </a:ln>
        </p:spPr>
        <p:txBody>
          <a:bodyPr/>
          <a:lstStyle/>
          <a:p>
            <a:endParaRPr lang="en-IN"/>
          </a:p>
        </p:txBody>
      </p:sp>
      <p:sp>
        <p:nvSpPr>
          <p:cNvPr id="46" name="Text 22">
            <a:extLst>
              <a:ext uri="{FF2B5EF4-FFF2-40B4-BE49-F238E27FC236}">
                <a16:creationId xmlns:a16="http://schemas.microsoft.com/office/drawing/2014/main" id="{F9D045F0-C2DB-BAE2-B464-F3DEF5CE077E}"/>
              </a:ext>
            </a:extLst>
          </p:cNvPr>
          <p:cNvSpPr txBox="1"/>
          <p:nvPr/>
        </p:nvSpPr>
        <p:spPr>
          <a:xfrm>
            <a:off x="1731964" y="2442917"/>
            <a:ext cx="1140061" cy="167209"/>
          </a:xfrm>
          <a:prstGeom prst="rect">
            <a:avLst/>
          </a:prstGeom>
          <a:noFill/>
          <a:ln/>
        </p:spPr>
        <p:txBody>
          <a:bodyPr wrap="square" lIns="0" tIns="0" rIns="0" bIns="0" rtlCol="0" anchor="ctr"/>
          <a:lstStyle/>
          <a:p>
            <a:pPr algn="ctr">
              <a:lnSpc>
                <a:spcPct val="93000"/>
              </a:lnSpc>
            </a:pPr>
            <a:r>
              <a:rPr lang="en-US" sz="1047" b="1" dirty="0">
                <a:solidFill>
                  <a:srgbClr val="1B4F8A"/>
                </a:solidFill>
                <a:latin typeface="Calibri" pitchFamily="34" charset="0"/>
                <a:ea typeface="Calibri" pitchFamily="34" charset="-122"/>
                <a:cs typeface="Calibri" pitchFamily="34" charset="-120"/>
              </a:rPr>
              <a:t>Edge &amp; Security</a:t>
            </a:r>
            <a:endParaRPr lang="en-US" sz="1047" dirty="0"/>
          </a:p>
        </p:txBody>
      </p:sp>
      <p:sp>
        <p:nvSpPr>
          <p:cNvPr id="48" name="Shape 23">
            <a:extLst>
              <a:ext uri="{FF2B5EF4-FFF2-40B4-BE49-F238E27FC236}">
                <a16:creationId xmlns:a16="http://schemas.microsoft.com/office/drawing/2014/main" id="{64C16295-637B-8581-C352-211DC9E5F792}"/>
              </a:ext>
            </a:extLst>
          </p:cNvPr>
          <p:cNvSpPr/>
          <p:nvPr/>
        </p:nvSpPr>
        <p:spPr>
          <a:xfrm>
            <a:off x="1792768" y="2701332"/>
            <a:ext cx="1018454" cy="1413676"/>
          </a:xfrm>
          <a:prstGeom prst="roundRect">
            <a:avLst>
              <a:gd name="adj" fmla="val 4478"/>
            </a:avLst>
          </a:prstGeom>
          <a:solidFill>
            <a:srgbClr val="FFFFFF"/>
          </a:solidFill>
          <a:ln w="12700">
            <a:solidFill>
              <a:srgbClr val="C2DCF0"/>
            </a:solidFill>
            <a:prstDash val="solid"/>
          </a:ln>
        </p:spPr>
        <p:txBody>
          <a:bodyPr/>
          <a:lstStyle/>
          <a:p>
            <a:endParaRPr lang="en-IN"/>
          </a:p>
        </p:txBody>
      </p:sp>
      <p:pic>
        <p:nvPicPr>
          <p:cNvPr id="50" name="Image 3" descr="preencoded.png">
            <a:extLst>
              <a:ext uri="{FF2B5EF4-FFF2-40B4-BE49-F238E27FC236}">
                <a16:creationId xmlns:a16="http://schemas.microsoft.com/office/drawing/2014/main" id="{E0D6E1FB-9E15-84C2-78DD-B67F68DC26B0}"/>
              </a:ext>
            </a:extLst>
          </p:cNvPr>
          <p:cNvPicPr>
            <a:picLocks noChangeAspect="1"/>
          </p:cNvPicPr>
          <p:nvPr/>
        </p:nvPicPr>
        <p:blipFill>
          <a:blip r:embed="rId4"/>
          <a:stretch>
            <a:fillRect/>
          </a:stretch>
        </p:blipFill>
        <p:spPr>
          <a:xfrm>
            <a:off x="2119584" y="2777336"/>
            <a:ext cx="334418" cy="334418"/>
          </a:xfrm>
          <a:prstGeom prst="rect">
            <a:avLst/>
          </a:prstGeom>
        </p:spPr>
      </p:pic>
      <p:sp>
        <p:nvSpPr>
          <p:cNvPr id="52" name="Text 24">
            <a:extLst>
              <a:ext uri="{FF2B5EF4-FFF2-40B4-BE49-F238E27FC236}">
                <a16:creationId xmlns:a16="http://schemas.microsoft.com/office/drawing/2014/main" id="{539EEE2C-24DF-2480-3888-70521AF238FC}"/>
              </a:ext>
            </a:extLst>
          </p:cNvPr>
          <p:cNvSpPr txBox="1"/>
          <p:nvPr/>
        </p:nvSpPr>
        <p:spPr>
          <a:xfrm>
            <a:off x="1823169" y="3157356"/>
            <a:ext cx="957651" cy="243213"/>
          </a:xfrm>
          <a:prstGeom prst="rect">
            <a:avLst/>
          </a:prstGeom>
          <a:noFill/>
          <a:ln/>
        </p:spPr>
        <p:txBody>
          <a:bodyPr wrap="square" lIns="0" tIns="0" rIns="0" bIns="0" rtlCol="0" anchor="ctr"/>
          <a:lstStyle/>
          <a:p>
            <a:pPr algn="ctr">
              <a:lnSpc>
                <a:spcPct val="93000"/>
              </a:lnSpc>
            </a:pPr>
            <a:r>
              <a:rPr lang="en-US" sz="918" b="1" dirty="0">
                <a:solidFill>
                  <a:srgbClr val="11397C"/>
                </a:solidFill>
                <a:latin typeface="Calibri" pitchFamily="34" charset="0"/>
                <a:ea typeface="Calibri" pitchFamily="34" charset="-122"/>
                <a:cs typeface="Calibri" pitchFamily="34" charset="-120"/>
              </a:rPr>
              <a:t>Global Edge /</a:t>
            </a:r>
            <a:endParaRPr lang="en-US" sz="918" dirty="0"/>
          </a:p>
          <a:p>
            <a:pPr algn="ctr">
              <a:lnSpc>
                <a:spcPct val="93000"/>
              </a:lnSpc>
            </a:pPr>
            <a:r>
              <a:rPr lang="en-US" sz="918" b="1" dirty="0">
                <a:solidFill>
                  <a:srgbClr val="11397C"/>
                </a:solidFill>
                <a:latin typeface="Calibri" pitchFamily="34" charset="0"/>
                <a:ea typeface="Calibri" pitchFamily="34" charset="-122"/>
                <a:cs typeface="Calibri" pitchFamily="34" charset="-120"/>
              </a:rPr>
              <a:t>Load Balancer</a:t>
            </a:r>
            <a:endParaRPr lang="en-US" sz="918" dirty="0"/>
          </a:p>
        </p:txBody>
      </p:sp>
      <p:sp>
        <p:nvSpPr>
          <p:cNvPr id="54" name="Text 25">
            <a:extLst>
              <a:ext uri="{FF2B5EF4-FFF2-40B4-BE49-F238E27FC236}">
                <a16:creationId xmlns:a16="http://schemas.microsoft.com/office/drawing/2014/main" id="{3D6A8014-C7EA-0C2C-F252-832697838D43}"/>
              </a:ext>
            </a:extLst>
          </p:cNvPr>
          <p:cNvSpPr txBox="1"/>
          <p:nvPr/>
        </p:nvSpPr>
        <p:spPr>
          <a:xfrm>
            <a:off x="1838370" y="3430970"/>
            <a:ext cx="927250" cy="608033"/>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WAF (Web Application Firewall)</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DDoS Protection</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Global Routing</a:t>
            </a:r>
            <a:endParaRPr lang="en-US" sz="778" dirty="0"/>
          </a:p>
        </p:txBody>
      </p:sp>
      <p:sp>
        <p:nvSpPr>
          <p:cNvPr id="56" name="Shape 26">
            <a:extLst>
              <a:ext uri="{FF2B5EF4-FFF2-40B4-BE49-F238E27FC236}">
                <a16:creationId xmlns:a16="http://schemas.microsoft.com/office/drawing/2014/main" id="{F4947466-B615-79B4-4CCD-E25A83D5269F}"/>
              </a:ext>
            </a:extLst>
          </p:cNvPr>
          <p:cNvSpPr/>
          <p:nvPr/>
        </p:nvSpPr>
        <p:spPr>
          <a:xfrm>
            <a:off x="1792768" y="4221414"/>
            <a:ext cx="1018454" cy="1064057"/>
          </a:xfrm>
          <a:prstGeom prst="roundRect">
            <a:avLst>
              <a:gd name="adj" fmla="val 4478"/>
            </a:avLst>
          </a:prstGeom>
          <a:solidFill>
            <a:srgbClr val="FFFFFF"/>
          </a:solidFill>
          <a:ln w="12700">
            <a:solidFill>
              <a:srgbClr val="C2DCF0"/>
            </a:solidFill>
            <a:prstDash val="solid"/>
          </a:ln>
        </p:spPr>
        <p:txBody>
          <a:bodyPr/>
          <a:lstStyle/>
          <a:p>
            <a:endParaRPr lang="en-IN"/>
          </a:p>
        </p:txBody>
      </p:sp>
      <p:pic>
        <p:nvPicPr>
          <p:cNvPr id="58" name="Image 4" descr="preencoded.png">
            <a:extLst>
              <a:ext uri="{FF2B5EF4-FFF2-40B4-BE49-F238E27FC236}">
                <a16:creationId xmlns:a16="http://schemas.microsoft.com/office/drawing/2014/main" id="{75F2F7C6-CA69-FFA4-B89E-104A28D08C7F}"/>
              </a:ext>
            </a:extLst>
          </p:cNvPr>
          <p:cNvPicPr>
            <a:picLocks noChangeAspect="1"/>
          </p:cNvPicPr>
          <p:nvPr/>
        </p:nvPicPr>
        <p:blipFill>
          <a:blip r:embed="rId3"/>
          <a:stretch>
            <a:fillRect/>
          </a:stretch>
        </p:blipFill>
        <p:spPr>
          <a:xfrm>
            <a:off x="2149987" y="4312618"/>
            <a:ext cx="273615" cy="273615"/>
          </a:xfrm>
          <a:prstGeom prst="rect">
            <a:avLst/>
          </a:prstGeom>
        </p:spPr>
      </p:pic>
      <p:sp>
        <p:nvSpPr>
          <p:cNvPr id="60" name="Text 27">
            <a:extLst>
              <a:ext uri="{FF2B5EF4-FFF2-40B4-BE49-F238E27FC236}">
                <a16:creationId xmlns:a16="http://schemas.microsoft.com/office/drawing/2014/main" id="{70CA277F-5451-89E7-0D2C-59F6141AA6C1}"/>
              </a:ext>
            </a:extLst>
          </p:cNvPr>
          <p:cNvSpPr txBox="1"/>
          <p:nvPr/>
        </p:nvSpPr>
        <p:spPr>
          <a:xfrm>
            <a:off x="1823169" y="4631835"/>
            <a:ext cx="957651" cy="152008"/>
          </a:xfrm>
          <a:prstGeom prst="rect">
            <a:avLst/>
          </a:prstGeom>
          <a:noFill/>
          <a:ln/>
        </p:spPr>
        <p:txBody>
          <a:bodyPr wrap="square" lIns="0" tIns="0" rIns="0" bIns="0" rtlCol="0" anchor="ctr"/>
          <a:lstStyle/>
          <a:p>
            <a:pPr algn="ctr">
              <a:lnSpc>
                <a:spcPct val="93000"/>
              </a:lnSpc>
            </a:pPr>
            <a:r>
              <a:rPr lang="en-US" sz="918" b="1" dirty="0">
                <a:solidFill>
                  <a:srgbClr val="11397C"/>
                </a:solidFill>
                <a:latin typeface="Calibri" pitchFamily="34" charset="0"/>
                <a:ea typeface="Calibri" pitchFamily="34" charset="-122"/>
                <a:cs typeface="Calibri" pitchFamily="34" charset="-120"/>
              </a:rPr>
              <a:t>Custom Domain</a:t>
            </a:r>
            <a:endParaRPr lang="en-US" sz="918" dirty="0"/>
          </a:p>
        </p:txBody>
      </p:sp>
      <p:sp>
        <p:nvSpPr>
          <p:cNvPr id="62" name="Text 28">
            <a:extLst>
              <a:ext uri="{FF2B5EF4-FFF2-40B4-BE49-F238E27FC236}">
                <a16:creationId xmlns:a16="http://schemas.microsoft.com/office/drawing/2014/main" id="{63D461E0-6F24-6368-AAC8-6295690324A6}"/>
              </a:ext>
            </a:extLst>
          </p:cNvPr>
          <p:cNvSpPr txBox="1"/>
          <p:nvPr/>
        </p:nvSpPr>
        <p:spPr>
          <a:xfrm>
            <a:off x="1838370" y="4829445"/>
            <a:ext cx="927250" cy="395221"/>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DNS</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SSL / TLS (HTTPS)</a:t>
            </a:r>
            <a:endParaRPr lang="en-US" sz="778" dirty="0"/>
          </a:p>
        </p:txBody>
      </p:sp>
      <p:sp>
        <p:nvSpPr>
          <p:cNvPr id="897" name="Shape 29">
            <a:extLst>
              <a:ext uri="{FF2B5EF4-FFF2-40B4-BE49-F238E27FC236}">
                <a16:creationId xmlns:a16="http://schemas.microsoft.com/office/drawing/2014/main" id="{3013318D-7041-35D0-F8C2-67B78017CB32}"/>
              </a:ext>
            </a:extLst>
          </p:cNvPr>
          <p:cNvSpPr/>
          <p:nvPr/>
        </p:nvSpPr>
        <p:spPr>
          <a:xfrm>
            <a:off x="439895" y="5650290"/>
            <a:ext cx="11324607" cy="516828"/>
          </a:xfrm>
          <a:prstGeom prst="roundRect">
            <a:avLst>
              <a:gd name="adj" fmla="val 8824"/>
            </a:avLst>
          </a:prstGeom>
          <a:solidFill>
            <a:srgbClr val="F8FBFE"/>
          </a:solidFill>
          <a:ln w="12700">
            <a:solidFill>
              <a:srgbClr val="A9C6DF"/>
            </a:solidFill>
            <a:prstDash val="dash"/>
          </a:ln>
        </p:spPr>
        <p:txBody>
          <a:bodyPr/>
          <a:lstStyle/>
          <a:p>
            <a:endParaRPr lang="en-IN"/>
          </a:p>
        </p:txBody>
      </p:sp>
      <p:sp>
        <p:nvSpPr>
          <p:cNvPr id="901" name="Text 30">
            <a:extLst>
              <a:ext uri="{FF2B5EF4-FFF2-40B4-BE49-F238E27FC236}">
                <a16:creationId xmlns:a16="http://schemas.microsoft.com/office/drawing/2014/main" id="{6966009E-8F52-268E-186F-832DAAD0076C}"/>
              </a:ext>
            </a:extLst>
          </p:cNvPr>
          <p:cNvSpPr txBox="1"/>
          <p:nvPr/>
        </p:nvSpPr>
        <p:spPr>
          <a:xfrm>
            <a:off x="508299" y="5665490"/>
            <a:ext cx="1140061" cy="167209"/>
          </a:xfrm>
          <a:prstGeom prst="rect">
            <a:avLst/>
          </a:prstGeom>
          <a:noFill/>
          <a:ln/>
        </p:spPr>
        <p:txBody>
          <a:bodyPr wrap="square" lIns="0" tIns="0" rIns="0" bIns="0" rtlCol="0" anchor="ctr"/>
          <a:lstStyle/>
          <a:p>
            <a:pPr>
              <a:lnSpc>
                <a:spcPct val="93000"/>
              </a:lnSpc>
            </a:pPr>
            <a:r>
              <a:rPr lang="en-US" sz="958" b="1" dirty="0">
                <a:solidFill>
                  <a:srgbClr val="1B4F8A"/>
                </a:solidFill>
                <a:latin typeface="Calibri" pitchFamily="34" charset="0"/>
                <a:ea typeface="Calibri" pitchFamily="34" charset="-122"/>
                <a:cs typeface="Calibri" pitchFamily="34" charset="-120"/>
              </a:rPr>
              <a:t>Cross-Cutting Services</a:t>
            </a:r>
            <a:endParaRPr lang="en-US" sz="958" dirty="0"/>
          </a:p>
        </p:txBody>
      </p:sp>
      <p:sp>
        <p:nvSpPr>
          <p:cNvPr id="905" name="Text 31">
            <a:extLst>
              <a:ext uri="{FF2B5EF4-FFF2-40B4-BE49-F238E27FC236}">
                <a16:creationId xmlns:a16="http://schemas.microsoft.com/office/drawing/2014/main" id="{DA92A3CB-2A5D-7E0D-E97F-295D578FA000}"/>
              </a:ext>
            </a:extLst>
          </p:cNvPr>
          <p:cNvSpPr txBox="1"/>
          <p:nvPr/>
        </p:nvSpPr>
        <p:spPr>
          <a:xfrm>
            <a:off x="508299" y="5817499"/>
            <a:ext cx="1140061" cy="304016"/>
          </a:xfrm>
          <a:prstGeom prst="rect">
            <a:avLst/>
          </a:prstGeom>
          <a:noFill/>
          <a:ln/>
        </p:spPr>
        <p:txBody>
          <a:bodyPr wrap="square" lIns="0" tIns="0" rIns="0" bIns="0" rtlCol="0" anchor="ctr"/>
          <a:lstStyle/>
          <a:p>
            <a:pPr>
              <a:lnSpc>
                <a:spcPct val="95000"/>
              </a:lnSpc>
            </a:pPr>
            <a:r>
              <a:rPr lang="en-US" sz="678" i="1" dirty="0">
                <a:solidFill>
                  <a:srgbClr val="5B6472"/>
                </a:solidFill>
                <a:latin typeface="Calibri" pitchFamily="34" charset="0"/>
                <a:ea typeface="Calibri" pitchFamily="34" charset="-122"/>
                <a:cs typeface="Calibri" pitchFamily="34" charset="-120"/>
              </a:rPr>
              <a:t>shared across all layers</a:t>
            </a:r>
            <a:endParaRPr lang="en-US" sz="678" dirty="0"/>
          </a:p>
          <a:p>
            <a:pPr>
              <a:lnSpc>
                <a:spcPct val="95000"/>
              </a:lnSpc>
            </a:pPr>
            <a:r>
              <a:rPr lang="en-US" sz="678" i="1" dirty="0">
                <a:solidFill>
                  <a:srgbClr val="5B6472"/>
                </a:solidFill>
                <a:latin typeface="Calibri" pitchFamily="34" charset="0"/>
                <a:ea typeface="Calibri" pitchFamily="34" charset="-122"/>
                <a:cs typeface="Calibri" pitchFamily="34" charset="-120"/>
              </a:rPr>
              <a:t>separate non-prod &amp; production environments</a:t>
            </a:r>
            <a:endParaRPr lang="en-US" sz="678" dirty="0"/>
          </a:p>
        </p:txBody>
      </p:sp>
      <p:sp>
        <p:nvSpPr>
          <p:cNvPr id="909" name="Shape 32">
            <a:extLst>
              <a:ext uri="{FF2B5EF4-FFF2-40B4-BE49-F238E27FC236}">
                <a16:creationId xmlns:a16="http://schemas.microsoft.com/office/drawing/2014/main" id="{0A38E760-4959-507C-8426-589EB8F3942B}"/>
              </a:ext>
            </a:extLst>
          </p:cNvPr>
          <p:cNvSpPr/>
          <p:nvPr/>
        </p:nvSpPr>
        <p:spPr>
          <a:xfrm>
            <a:off x="1709163"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913" name="Image 5" descr="preencoded.png">
            <a:extLst>
              <a:ext uri="{FF2B5EF4-FFF2-40B4-BE49-F238E27FC236}">
                <a16:creationId xmlns:a16="http://schemas.microsoft.com/office/drawing/2014/main" id="{12E3D111-40E5-2244-46CE-64369FC5E75A}"/>
              </a:ext>
            </a:extLst>
          </p:cNvPr>
          <p:cNvPicPr>
            <a:picLocks noChangeAspect="1"/>
          </p:cNvPicPr>
          <p:nvPr/>
        </p:nvPicPr>
        <p:blipFill>
          <a:blip r:embed="rId5"/>
          <a:stretch>
            <a:fillRect/>
          </a:stretch>
        </p:blipFill>
        <p:spPr>
          <a:xfrm>
            <a:off x="1769966" y="5802298"/>
            <a:ext cx="167209" cy="167209"/>
          </a:xfrm>
          <a:prstGeom prst="rect">
            <a:avLst/>
          </a:prstGeom>
        </p:spPr>
      </p:pic>
      <p:sp>
        <p:nvSpPr>
          <p:cNvPr id="917" name="Text 33">
            <a:extLst>
              <a:ext uri="{FF2B5EF4-FFF2-40B4-BE49-F238E27FC236}">
                <a16:creationId xmlns:a16="http://schemas.microsoft.com/office/drawing/2014/main" id="{967DB8BA-CFAD-666D-7F58-3CB25EFEC837}"/>
              </a:ext>
            </a:extLst>
          </p:cNvPr>
          <p:cNvSpPr txBox="1"/>
          <p:nvPr/>
        </p:nvSpPr>
        <p:spPr>
          <a:xfrm>
            <a:off x="1967577"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Secrets &amp; Key Management</a:t>
            </a:r>
            <a:endParaRPr lang="en-US" sz="738" dirty="0"/>
          </a:p>
        </p:txBody>
      </p:sp>
      <p:sp>
        <p:nvSpPr>
          <p:cNvPr id="921" name="Text 34">
            <a:extLst>
              <a:ext uri="{FF2B5EF4-FFF2-40B4-BE49-F238E27FC236}">
                <a16:creationId xmlns:a16="http://schemas.microsoft.com/office/drawing/2014/main" id="{F1032C37-FE64-5F61-C124-D0A0F302B181}"/>
              </a:ext>
            </a:extLst>
          </p:cNvPr>
          <p:cNvSpPr txBox="1"/>
          <p:nvPr/>
        </p:nvSpPr>
        <p:spPr>
          <a:xfrm>
            <a:off x="1967577"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(Secrets / Certificates / Keys)</a:t>
            </a:r>
            <a:endParaRPr lang="en-US" sz="658" dirty="0"/>
          </a:p>
        </p:txBody>
      </p:sp>
      <p:sp>
        <p:nvSpPr>
          <p:cNvPr id="925" name="Shape 35">
            <a:extLst>
              <a:ext uri="{FF2B5EF4-FFF2-40B4-BE49-F238E27FC236}">
                <a16:creationId xmlns:a16="http://schemas.microsoft.com/office/drawing/2014/main" id="{303BB84B-C83A-1BB0-7B1B-0F2F359C62C9}"/>
              </a:ext>
            </a:extLst>
          </p:cNvPr>
          <p:cNvSpPr/>
          <p:nvPr/>
        </p:nvSpPr>
        <p:spPr>
          <a:xfrm>
            <a:off x="3396453"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929" name="Image 6" descr="preencoded.png">
            <a:extLst>
              <a:ext uri="{FF2B5EF4-FFF2-40B4-BE49-F238E27FC236}">
                <a16:creationId xmlns:a16="http://schemas.microsoft.com/office/drawing/2014/main" id="{E13C60B2-12B6-4174-AB1C-09629A70914C}"/>
              </a:ext>
            </a:extLst>
          </p:cNvPr>
          <p:cNvPicPr>
            <a:picLocks noChangeAspect="1"/>
          </p:cNvPicPr>
          <p:nvPr/>
        </p:nvPicPr>
        <p:blipFill>
          <a:blip r:embed="rId6"/>
          <a:stretch>
            <a:fillRect/>
          </a:stretch>
        </p:blipFill>
        <p:spPr>
          <a:xfrm>
            <a:off x="3457256" y="5802298"/>
            <a:ext cx="167209" cy="167209"/>
          </a:xfrm>
          <a:prstGeom prst="rect">
            <a:avLst/>
          </a:prstGeom>
        </p:spPr>
      </p:pic>
      <p:sp>
        <p:nvSpPr>
          <p:cNvPr id="933" name="Text 36">
            <a:extLst>
              <a:ext uri="{FF2B5EF4-FFF2-40B4-BE49-F238E27FC236}">
                <a16:creationId xmlns:a16="http://schemas.microsoft.com/office/drawing/2014/main" id="{1EB967E7-EEA8-1E67-59ED-701B1755EBF9}"/>
              </a:ext>
            </a:extLst>
          </p:cNvPr>
          <p:cNvSpPr txBox="1"/>
          <p:nvPr/>
        </p:nvSpPr>
        <p:spPr>
          <a:xfrm>
            <a:off x="3654867"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Observability Platform</a:t>
            </a:r>
            <a:endParaRPr lang="en-US" sz="738" dirty="0"/>
          </a:p>
        </p:txBody>
      </p:sp>
      <p:sp>
        <p:nvSpPr>
          <p:cNvPr id="937" name="Text 37">
            <a:extLst>
              <a:ext uri="{FF2B5EF4-FFF2-40B4-BE49-F238E27FC236}">
                <a16:creationId xmlns:a16="http://schemas.microsoft.com/office/drawing/2014/main" id="{EDB1AB20-6620-1F3B-40A0-28D19D4D7A57}"/>
              </a:ext>
            </a:extLst>
          </p:cNvPr>
          <p:cNvSpPr txBox="1"/>
          <p:nvPr/>
        </p:nvSpPr>
        <p:spPr>
          <a:xfrm>
            <a:off x="3654867"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(Logs / Metrics / Traces / Alerts  —  enhanced)</a:t>
            </a:r>
            <a:endParaRPr lang="en-US" sz="658" dirty="0"/>
          </a:p>
        </p:txBody>
      </p:sp>
      <p:sp>
        <p:nvSpPr>
          <p:cNvPr id="941" name="Shape 38">
            <a:extLst>
              <a:ext uri="{FF2B5EF4-FFF2-40B4-BE49-F238E27FC236}">
                <a16:creationId xmlns:a16="http://schemas.microsoft.com/office/drawing/2014/main" id="{4AEC0B79-0DCE-38AF-AA85-915DD21DCF5B}"/>
              </a:ext>
            </a:extLst>
          </p:cNvPr>
          <p:cNvSpPr/>
          <p:nvPr/>
        </p:nvSpPr>
        <p:spPr>
          <a:xfrm>
            <a:off x="5083744"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945" name="Image 7" descr="preencoded.png">
            <a:extLst>
              <a:ext uri="{FF2B5EF4-FFF2-40B4-BE49-F238E27FC236}">
                <a16:creationId xmlns:a16="http://schemas.microsoft.com/office/drawing/2014/main" id="{3E1323F4-5D22-D907-C330-B6658E431716}"/>
              </a:ext>
            </a:extLst>
          </p:cNvPr>
          <p:cNvPicPr>
            <a:picLocks noChangeAspect="1"/>
          </p:cNvPicPr>
          <p:nvPr/>
        </p:nvPicPr>
        <p:blipFill>
          <a:blip r:embed="rId7"/>
          <a:stretch>
            <a:fillRect/>
          </a:stretch>
        </p:blipFill>
        <p:spPr>
          <a:xfrm>
            <a:off x="5144547" y="5802298"/>
            <a:ext cx="167209" cy="167209"/>
          </a:xfrm>
          <a:prstGeom prst="rect">
            <a:avLst/>
          </a:prstGeom>
        </p:spPr>
      </p:pic>
      <p:sp>
        <p:nvSpPr>
          <p:cNvPr id="949" name="Text 39">
            <a:extLst>
              <a:ext uri="{FF2B5EF4-FFF2-40B4-BE49-F238E27FC236}">
                <a16:creationId xmlns:a16="http://schemas.microsoft.com/office/drawing/2014/main" id="{1D2AEEA8-9ECD-809E-0BC5-C62483D989CE}"/>
              </a:ext>
            </a:extLst>
          </p:cNvPr>
          <p:cNvSpPr txBox="1"/>
          <p:nvPr/>
        </p:nvSpPr>
        <p:spPr>
          <a:xfrm>
            <a:off x="534215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Container Registry</a:t>
            </a:r>
            <a:endParaRPr lang="en-US" sz="738" dirty="0"/>
          </a:p>
        </p:txBody>
      </p:sp>
      <p:sp>
        <p:nvSpPr>
          <p:cNvPr id="953" name="Text 40">
            <a:extLst>
              <a:ext uri="{FF2B5EF4-FFF2-40B4-BE49-F238E27FC236}">
                <a16:creationId xmlns:a16="http://schemas.microsoft.com/office/drawing/2014/main" id="{66BA888A-0AFB-A0FE-BE3D-A1D18AF9CD8C}"/>
              </a:ext>
            </a:extLst>
          </p:cNvPr>
          <p:cNvSpPr txBox="1"/>
          <p:nvPr/>
        </p:nvSpPr>
        <p:spPr>
          <a:xfrm>
            <a:off x="534215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(Container Images)</a:t>
            </a:r>
            <a:endParaRPr lang="en-US" sz="658" dirty="0"/>
          </a:p>
        </p:txBody>
      </p:sp>
      <p:sp>
        <p:nvSpPr>
          <p:cNvPr id="957" name="Shape 41">
            <a:extLst>
              <a:ext uri="{FF2B5EF4-FFF2-40B4-BE49-F238E27FC236}">
                <a16:creationId xmlns:a16="http://schemas.microsoft.com/office/drawing/2014/main" id="{2EAE9E0A-E3ED-1753-695F-D90E59B15CD6}"/>
              </a:ext>
            </a:extLst>
          </p:cNvPr>
          <p:cNvSpPr/>
          <p:nvPr/>
        </p:nvSpPr>
        <p:spPr>
          <a:xfrm>
            <a:off x="6771034"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961" name="Image 8" descr="preencoded.png">
            <a:extLst>
              <a:ext uri="{FF2B5EF4-FFF2-40B4-BE49-F238E27FC236}">
                <a16:creationId xmlns:a16="http://schemas.microsoft.com/office/drawing/2014/main" id="{C58A944F-49C6-DA97-0A32-7D6516BA597D}"/>
              </a:ext>
            </a:extLst>
          </p:cNvPr>
          <p:cNvPicPr>
            <a:picLocks noChangeAspect="1"/>
          </p:cNvPicPr>
          <p:nvPr/>
        </p:nvPicPr>
        <p:blipFill>
          <a:blip r:embed="rId8"/>
          <a:stretch>
            <a:fillRect/>
          </a:stretch>
        </p:blipFill>
        <p:spPr>
          <a:xfrm>
            <a:off x="6831837" y="5802298"/>
            <a:ext cx="167209" cy="167209"/>
          </a:xfrm>
          <a:prstGeom prst="rect">
            <a:avLst/>
          </a:prstGeom>
        </p:spPr>
      </p:pic>
      <p:sp>
        <p:nvSpPr>
          <p:cNvPr id="965" name="Text 42">
            <a:extLst>
              <a:ext uri="{FF2B5EF4-FFF2-40B4-BE49-F238E27FC236}">
                <a16:creationId xmlns:a16="http://schemas.microsoft.com/office/drawing/2014/main" id="{6F20287D-68CF-8B2E-3EF9-F7864609C2B4}"/>
              </a:ext>
            </a:extLst>
          </p:cNvPr>
          <p:cNvSpPr txBox="1"/>
          <p:nvPr/>
        </p:nvSpPr>
        <p:spPr>
          <a:xfrm>
            <a:off x="702944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CI/CD Pipeline</a:t>
            </a:r>
            <a:endParaRPr lang="en-US" sz="738" dirty="0"/>
          </a:p>
        </p:txBody>
      </p:sp>
      <p:sp>
        <p:nvSpPr>
          <p:cNvPr id="969" name="Text 43">
            <a:extLst>
              <a:ext uri="{FF2B5EF4-FFF2-40B4-BE49-F238E27FC236}">
                <a16:creationId xmlns:a16="http://schemas.microsoft.com/office/drawing/2014/main" id="{0B6B7E52-BAD4-62AF-480A-FB553D2E5080}"/>
              </a:ext>
            </a:extLst>
          </p:cNvPr>
          <p:cNvSpPr txBox="1"/>
          <p:nvPr/>
        </p:nvSpPr>
        <p:spPr>
          <a:xfrm>
            <a:off x="702944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(Build / Test / Scan / Deploy)</a:t>
            </a:r>
            <a:endParaRPr lang="en-US" sz="658" dirty="0"/>
          </a:p>
        </p:txBody>
      </p:sp>
      <p:sp>
        <p:nvSpPr>
          <p:cNvPr id="973" name="Shape 44">
            <a:extLst>
              <a:ext uri="{FF2B5EF4-FFF2-40B4-BE49-F238E27FC236}">
                <a16:creationId xmlns:a16="http://schemas.microsoft.com/office/drawing/2014/main" id="{27835CE2-4864-E37B-BD32-F4144FD3BDC8}"/>
              </a:ext>
            </a:extLst>
          </p:cNvPr>
          <p:cNvSpPr/>
          <p:nvPr/>
        </p:nvSpPr>
        <p:spPr>
          <a:xfrm>
            <a:off x="8458325"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977" name="Image 9" descr="preencoded.png">
            <a:extLst>
              <a:ext uri="{FF2B5EF4-FFF2-40B4-BE49-F238E27FC236}">
                <a16:creationId xmlns:a16="http://schemas.microsoft.com/office/drawing/2014/main" id="{62912D7F-39E4-3F79-D586-F482354A058E}"/>
              </a:ext>
            </a:extLst>
          </p:cNvPr>
          <p:cNvPicPr>
            <a:picLocks noChangeAspect="1"/>
          </p:cNvPicPr>
          <p:nvPr/>
        </p:nvPicPr>
        <p:blipFill>
          <a:blip r:embed="rId9"/>
          <a:stretch>
            <a:fillRect/>
          </a:stretch>
        </p:blipFill>
        <p:spPr>
          <a:xfrm>
            <a:off x="8519128" y="5802298"/>
            <a:ext cx="167209" cy="167209"/>
          </a:xfrm>
          <a:prstGeom prst="rect">
            <a:avLst/>
          </a:prstGeom>
        </p:spPr>
      </p:pic>
      <p:sp>
        <p:nvSpPr>
          <p:cNvPr id="981" name="Text 45">
            <a:extLst>
              <a:ext uri="{FF2B5EF4-FFF2-40B4-BE49-F238E27FC236}">
                <a16:creationId xmlns:a16="http://schemas.microsoft.com/office/drawing/2014/main" id="{33165AD5-CCBB-0986-C851-A02E66BA6B5B}"/>
              </a:ext>
            </a:extLst>
          </p:cNvPr>
          <p:cNvSpPr txBox="1"/>
          <p:nvPr/>
        </p:nvSpPr>
        <p:spPr>
          <a:xfrm>
            <a:off x="871673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Cloud Network Security</a:t>
            </a:r>
            <a:endParaRPr lang="en-US" sz="738" dirty="0"/>
          </a:p>
        </p:txBody>
      </p:sp>
      <p:sp>
        <p:nvSpPr>
          <p:cNvPr id="985" name="Text 46">
            <a:extLst>
              <a:ext uri="{FF2B5EF4-FFF2-40B4-BE49-F238E27FC236}">
                <a16:creationId xmlns:a16="http://schemas.microsoft.com/office/drawing/2014/main" id="{978C56FE-A0AB-67E7-2AEC-BE302A50ED72}"/>
              </a:ext>
            </a:extLst>
          </p:cNvPr>
          <p:cNvSpPr txBox="1"/>
          <p:nvPr/>
        </p:nvSpPr>
        <p:spPr>
          <a:xfrm>
            <a:off x="871673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(Network / Firewall / Private Endpoints)</a:t>
            </a:r>
            <a:endParaRPr lang="en-US" sz="658" dirty="0"/>
          </a:p>
        </p:txBody>
      </p:sp>
      <p:sp>
        <p:nvSpPr>
          <p:cNvPr id="989" name="Shape 47">
            <a:extLst>
              <a:ext uri="{FF2B5EF4-FFF2-40B4-BE49-F238E27FC236}">
                <a16:creationId xmlns:a16="http://schemas.microsoft.com/office/drawing/2014/main" id="{3EB615B4-189D-5799-006D-95538E05CDE0}"/>
              </a:ext>
            </a:extLst>
          </p:cNvPr>
          <p:cNvSpPr/>
          <p:nvPr/>
        </p:nvSpPr>
        <p:spPr>
          <a:xfrm>
            <a:off x="10145615"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993" name="Image 10" descr="preencoded.png">
            <a:extLst>
              <a:ext uri="{FF2B5EF4-FFF2-40B4-BE49-F238E27FC236}">
                <a16:creationId xmlns:a16="http://schemas.microsoft.com/office/drawing/2014/main" id="{F706206C-7257-A170-5E53-145619A63A26}"/>
              </a:ext>
            </a:extLst>
          </p:cNvPr>
          <p:cNvPicPr>
            <a:picLocks noChangeAspect="1"/>
          </p:cNvPicPr>
          <p:nvPr/>
        </p:nvPicPr>
        <p:blipFill>
          <a:blip r:embed="rId10"/>
          <a:stretch>
            <a:fillRect/>
          </a:stretch>
        </p:blipFill>
        <p:spPr>
          <a:xfrm>
            <a:off x="10206418" y="5802298"/>
            <a:ext cx="167209" cy="167209"/>
          </a:xfrm>
          <a:prstGeom prst="rect">
            <a:avLst/>
          </a:prstGeom>
        </p:spPr>
      </p:pic>
      <p:sp>
        <p:nvSpPr>
          <p:cNvPr id="997" name="Text 48">
            <a:extLst>
              <a:ext uri="{FF2B5EF4-FFF2-40B4-BE49-F238E27FC236}">
                <a16:creationId xmlns:a16="http://schemas.microsoft.com/office/drawing/2014/main" id="{79348883-4DBA-AD4F-A4C1-3F3D5E5F950F}"/>
              </a:ext>
            </a:extLst>
          </p:cNvPr>
          <p:cNvSpPr txBox="1"/>
          <p:nvPr/>
        </p:nvSpPr>
        <p:spPr>
          <a:xfrm>
            <a:off x="10404029"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Backup &amp; Disaster Recovery</a:t>
            </a:r>
            <a:endParaRPr lang="en-US" sz="738" dirty="0"/>
          </a:p>
        </p:txBody>
      </p:sp>
      <p:sp>
        <p:nvSpPr>
          <p:cNvPr id="1001" name="Text 49">
            <a:extLst>
              <a:ext uri="{FF2B5EF4-FFF2-40B4-BE49-F238E27FC236}">
                <a16:creationId xmlns:a16="http://schemas.microsoft.com/office/drawing/2014/main" id="{4A7E2B00-1430-99D5-0326-F6526FE9C4C4}"/>
              </a:ext>
            </a:extLst>
          </p:cNvPr>
          <p:cNvSpPr txBox="1"/>
          <p:nvPr/>
        </p:nvSpPr>
        <p:spPr>
          <a:xfrm>
            <a:off x="10404029"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(Snapshots / Restore / RPO-RTO)</a:t>
            </a:r>
            <a:endParaRPr lang="en-US" sz="658" dirty="0"/>
          </a:p>
        </p:txBody>
      </p:sp>
      <p:sp>
        <p:nvSpPr>
          <p:cNvPr id="1005" name="Shape 50">
            <a:extLst>
              <a:ext uri="{FF2B5EF4-FFF2-40B4-BE49-F238E27FC236}">
                <a16:creationId xmlns:a16="http://schemas.microsoft.com/office/drawing/2014/main" id="{324C4F1B-AE4A-9989-8B8C-7151FDB3EA3F}"/>
              </a:ext>
            </a:extLst>
          </p:cNvPr>
          <p:cNvSpPr/>
          <p:nvPr/>
        </p:nvSpPr>
        <p:spPr>
          <a:xfrm>
            <a:off x="439895" y="6243122"/>
            <a:ext cx="6688358" cy="440824"/>
          </a:xfrm>
          <a:prstGeom prst="roundRect">
            <a:avLst>
              <a:gd name="adj" fmla="val 10345"/>
            </a:avLst>
          </a:prstGeom>
          <a:solidFill>
            <a:srgbClr val="FFFFFF"/>
          </a:solidFill>
          <a:ln w="12700">
            <a:solidFill>
              <a:srgbClr val="C2DCF0"/>
            </a:solidFill>
            <a:prstDash val="solid"/>
          </a:ln>
        </p:spPr>
        <p:txBody>
          <a:bodyPr/>
          <a:lstStyle/>
          <a:p>
            <a:endParaRPr lang="en-IN"/>
          </a:p>
        </p:txBody>
      </p:sp>
      <p:sp>
        <p:nvSpPr>
          <p:cNvPr id="1009" name="Text 51">
            <a:extLst>
              <a:ext uri="{FF2B5EF4-FFF2-40B4-BE49-F238E27FC236}">
                <a16:creationId xmlns:a16="http://schemas.microsoft.com/office/drawing/2014/main" id="{E0E064F5-8F8E-1D63-0D1E-DD4238636F08}"/>
              </a:ext>
            </a:extLst>
          </p:cNvPr>
          <p:cNvSpPr txBox="1"/>
          <p:nvPr/>
        </p:nvSpPr>
        <p:spPr>
          <a:xfrm>
            <a:off x="523499" y="6243122"/>
            <a:ext cx="456025" cy="440824"/>
          </a:xfrm>
          <a:prstGeom prst="rect">
            <a:avLst/>
          </a:prstGeom>
          <a:noFill/>
          <a:ln/>
        </p:spPr>
        <p:txBody>
          <a:bodyPr wrap="square" lIns="0" tIns="0" rIns="0" bIns="0" rtlCol="0" anchor="ctr"/>
          <a:lstStyle/>
          <a:p>
            <a:pPr>
              <a:lnSpc>
                <a:spcPct val="93000"/>
              </a:lnSpc>
            </a:pPr>
            <a:r>
              <a:rPr lang="en-US" sz="878" b="1" dirty="0">
                <a:solidFill>
                  <a:srgbClr val="1B4F8A"/>
                </a:solidFill>
                <a:latin typeface="Calibri" pitchFamily="34" charset="0"/>
                <a:ea typeface="Calibri" pitchFamily="34" charset="-122"/>
                <a:cs typeface="Calibri" pitchFamily="34" charset="-120"/>
              </a:rPr>
              <a:t>Legend</a:t>
            </a:r>
            <a:endParaRPr lang="en-US" sz="878" dirty="0"/>
          </a:p>
        </p:txBody>
      </p:sp>
      <p:sp>
        <p:nvSpPr>
          <p:cNvPr id="1013" name="Shape 52">
            <a:extLst>
              <a:ext uri="{FF2B5EF4-FFF2-40B4-BE49-F238E27FC236}">
                <a16:creationId xmlns:a16="http://schemas.microsoft.com/office/drawing/2014/main" id="{58A99AE1-9A09-FD27-1803-B36B55D1C25A}"/>
              </a:ext>
            </a:extLst>
          </p:cNvPr>
          <p:cNvSpPr/>
          <p:nvPr/>
        </p:nvSpPr>
        <p:spPr>
          <a:xfrm>
            <a:off x="1055528" y="6463533"/>
            <a:ext cx="258414" cy="0"/>
          </a:xfrm>
          <a:prstGeom prst="line">
            <a:avLst/>
          </a:prstGeom>
          <a:noFill/>
          <a:ln w="30480">
            <a:solidFill>
              <a:srgbClr val="1B4F8C"/>
            </a:solidFill>
            <a:prstDash val="solid"/>
            <a:tailEnd type="triangle"/>
          </a:ln>
        </p:spPr>
        <p:txBody>
          <a:bodyPr/>
          <a:lstStyle/>
          <a:p>
            <a:endParaRPr lang="en-IN"/>
          </a:p>
        </p:txBody>
      </p:sp>
      <p:sp>
        <p:nvSpPr>
          <p:cNvPr id="1017" name="Text 53">
            <a:extLst>
              <a:ext uri="{FF2B5EF4-FFF2-40B4-BE49-F238E27FC236}">
                <a16:creationId xmlns:a16="http://schemas.microsoft.com/office/drawing/2014/main" id="{6AA10BFE-FFF4-2369-D74D-09DAFE25E92D}"/>
              </a:ext>
            </a:extLst>
          </p:cNvPr>
          <p:cNvSpPr txBox="1"/>
          <p:nvPr/>
        </p:nvSpPr>
        <p:spPr>
          <a:xfrm>
            <a:off x="1367144" y="6243122"/>
            <a:ext cx="790442"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Primary user flow</a:t>
            </a:r>
            <a:endParaRPr lang="en-US" sz="798" dirty="0"/>
          </a:p>
        </p:txBody>
      </p:sp>
      <p:sp>
        <p:nvSpPr>
          <p:cNvPr id="1021" name="Shape 54">
            <a:extLst>
              <a:ext uri="{FF2B5EF4-FFF2-40B4-BE49-F238E27FC236}">
                <a16:creationId xmlns:a16="http://schemas.microsoft.com/office/drawing/2014/main" id="{CB5C5CA2-31D1-B0B6-27E0-904C98A897ED}"/>
              </a:ext>
            </a:extLst>
          </p:cNvPr>
          <p:cNvSpPr/>
          <p:nvPr/>
        </p:nvSpPr>
        <p:spPr>
          <a:xfrm>
            <a:off x="2301995" y="6463533"/>
            <a:ext cx="258414" cy="0"/>
          </a:xfrm>
          <a:prstGeom prst="line">
            <a:avLst/>
          </a:prstGeom>
          <a:noFill/>
          <a:ln w="20320">
            <a:solidFill>
              <a:srgbClr val="1B4F8C"/>
            </a:solidFill>
            <a:prstDash val="solid"/>
            <a:tailEnd type="triangle"/>
          </a:ln>
        </p:spPr>
        <p:txBody>
          <a:bodyPr/>
          <a:lstStyle/>
          <a:p>
            <a:endParaRPr lang="en-IN"/>
          </a:p>
        </p:txBody>
      </p:sp>
      <p:sp>
        <p:nvSpPr>
          <p:cNvPr id="1025" name="Text 55">
            <a:extLst>
              <a:ext uri="{FF2B5EF4-FFF2-40B4-BE49-F238E27FC236}">
                <a16:creationId xmlns:a16="http://schemas.microsoft.com/office/drawing/2014/main" id="{ECDE2E37-5DAF-297D-B5D7-77DD9A4D1ADA}"/>
              </a:ext>
            </a:extLst>
          </p:cNvPr>
          <p:cNvSpPr txBox="1"/>
          <p:nvPr/>
        </p:nvSpPr>
        <p:spPr>
          <a:xfrm>
            <a:off x="2613611" y="6243122"/>
            <a:ext cx="1018454"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Synchronous call / query</a:t>
            </a:r>
            <a:endParaRPr lang="en-US" sz="798" dirty="0"/>
          </a:p>
        </p:txBody>
      </p:sp>
      <p:sp>
        <p:nvSpPr>
          <p:cNvPr id="1029" name="Shape 56">
            <a:extLst>
              <a:ext uri="{FF2B5EF4-FFF2-40B4-BE49-F238E27FC236}">
                <a16:creationId xmlns:a16="http://schemas.microsoft.com/office/drawing/2014/main" id="{8320A2EE-4E46-A04E-F119-B6E36E93F53D}"/>
              </a:ext>
            </a:extLst>
          </p:cNvPr>
          <p:cNvSpPr/>
          <p:nvPr/>
        </p:nvSpPr>
        <p:spPr>
          <a:xfrm>
            <a:off x="3822076" y="6463533"/>
            <a:ext cx="258414" cy="0"/>
          </a:xfrm>
          <a:prstGeom prst="line">
            <a:avLst/>
          </a:prstGeom>
          <a:noFill/>
          <a:ln w="19050">
            <a:solidFill>
              <a:srgbClr val="0E7C6B"/>
            </a:solidFill>
            <a:prstDash val="solid"/>
            <a:tailEnd type="triangle"/>
          </a:ln>
        </p:spPr>
        <p:txBody>
          <a:bodyPr/>
          <a:lstStyle/>
          <a:p>
            <a:endParaRPr lang="en-IN"/>
          </a:p>
        </p:txBody>
      </p:sp>
      <p:sp>
        <p:nvSpPr>
          <p:cNvPr id="1033" name="Text 57">
            <a:extLst>
              <a:ext uri="{FF2B5EF4-FFF2-40B4-BE49-F238E27FC236}">
                <a16:creationId xmlns:a16="http://schemas.microsoft.com/office/drawing/2014/main" id="{EF02749F-C7BF-E37B-06ED-97F24328E1CD}"/>
              </a:ext>
            </a:extLst>
          </p:cNvPr>
          <p:cNvSpPr txBox="1"/>
          <p:nvPr/>
        </p:nvSpPr>
        <p:spPr>
          <a:xfrm>
            <a:off x="4133693" y="6243122"/>
            <a:ext cx="653635"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Authentication</a:t>
            </a:r>
            <a:endParaRPr lang="en-US" sz="798" dirty="0"/>
          </a:p>
        </p:txBody>
      </p:sp>
      <p:sp>
        <p:nvSpPr>
          <p:cNvPr id="1035" name="Shape 58">
            <a:extLst>
              <a:ext uri="{FF2B5EF4-FFF2-40B4-BE49-F238E27FC236}">
                <a16:creationId xmlns:a16="http://schemas.microsoft.com/office/drawing/2014/main" id="{048D3CC4-9329-5DE2-BB48-873B14DDF8D8}"/>
              </a:ext>
            </a:extLst>
          </p:cNvPr>
          <p:cNvSpPr/>
          <p:nvPr/>
        </p:nvSpPr>
        <p:spPr>
          <a:xfrm>
            <a:off x="4886133" y="6463533"/>
            <a:ext cx="258414" cy="0"/>
          </a:xfrm>
          <a:prstGeom prst="line">
            <a:avLst/>
          </a:prstGeom>
          <a:noFill/>
          <a:ln w="19050">
            <a:solidFill>
              <a:srgbClr val="6A4C93"/>
            </a:solidFill>
            <a:prstDash val="dash"/>
            <a:tailEnd type="triangle"/>
          </a:ln>
        </p:spPr>
        <p:txBody>
          <a:bodyPr/>
          <a:lstStyle/>
          <a:p>
            <a:endParaRPr lang="en-IN"/>
          </a:p>
        </p:txBody>
      </p:sp>
      <p:sp>
        <p:nvSpPr>
          <p:cNvPr id="1037" name="Text 59">
            <a:extLst>
              <a:ext uri="{FF2B5EF4-FFF2-40B4-BE49-F238E27FC236}">
                <a16:creationId xmlns:a16="http://schemas.microsoft.com/office/drawing/2014/main" id="{2D28809A-CCBB-EC9E-FDB5-22E5AD4BD4BF}"/>
              </a:ext>
            </a:extLst>
          </p:cNvPr>
          <p:cNvSpPr txBox="1"/>
          <p:nvPr/>
        </p:nvSpPr>
        <p:spPr>
          <a:xfrm>
            <a:off x="5197750" y="6243122"/>
            <a:ext cx="836045"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Asynchronous event</a:t>
            </a:r>
            <a:endParaRPr lang="en-US" sz="798" dirty="0"/>
          </a:p>
        </p:txBody>
      </p:sp>
      <p:sp>
        <p:nvSpPr>
          <p:cNvPr id="1039" name="Shape 60">
            <a:extLst>
              <a:ext uri="{FF2B5EF4-FFF2-40B4-BE49-F238E27FC236}">
                <a16:creationId xmlns:a16="http://schemas.microsoft.com/office/drawing/2014/main" id="{2F8DB5F0-F625-55BD-DA10-AA0BAB4AEAC6}"/>
              </a:ext>
            </a:extLst>
          </p:cNvPr>
          <p:cNvSpPr/>
          <p:nvPr/>
        </p:nvSpPr>
        <p:spPr>
          <a:xfrm>
            <a:off x="6178203" y="6463533"/>
            <a:ext cx="258414" cy="0"/>
          </a:xfrm>
          <a:prstGeom prst="line">
            <a:avLst/>
          </a:prstGeom>
          <a:noFill/>
          <a:ln w="15240">
            <a:solidFill>
              <a:srgbClr val="6B7280"/>
            </a:solidFill>
            <a:prstDash val="dash"/>
            <a:tailEnd type="triangle"/>
          </a:ln>
        </p:spPr>
        <p:txBody>
          <a:bodyPr/>
          <a:lstStyle/>
          <a:p>
            <a:endParaRPr lang="en-IN"/>
          </a:p>
        </p:txBody>
      </p:sp>
      <p:sp>
        <p:nvSpPr>
          <p:cNvPr id="1041" name="Text 61">
            <a:extLst>
              <a:ext uri="{FF2B5EF4-FFF2-40B4-BE49-F238E27FC236}">
                <a16:creationId xmlns:a16="http://schemas.microsoft.com/office/drawing/2014/main" id="{112EF033-74D0-DAAF-5907-81B42034948E}"/>
              </a:ext>
            </a:extLst>
          </p:cNvPr>
          <p:cNvSpPr txBox="1"/>
          <p:nvPr/>
        </p:nvSpPr>
        <p:spPr>
          <a:xfrm>
            <a:off x="6489819" y="6243122"/>
            <a:ext cx="608033"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Replication</a:t>
            </a:r>
            <a:endParaRPr lang="en-US" sz="798" dirty="0"/>
          </a:p>
        </p:txBody>
      </p:sp>
      <p:sp>
        <p:nvSpPr>
          <p:cNvPr id="1043" name="Shape 62">
            <a:extLst>
              <a:ext uri="{FF2B5EF4-FFF2-40B4-BE49-F238E27FC236}">
                <a16:creationId xmlns:a16="http://schemas.microsoft.com/office/drawing/2014/main" id="{CE21519D-E6FC-E160-2603-A5022804B72A}"/>
              </a:ext>
            </a:extLst>
          </p:cNvPr>
          <p:cNvSpPr/>
          <p:nvPr/>
        </p:nvSpPr>
        <p:spPr>
          <a:xfrm>
            <a:off x="7242259" y="6243122"/>
            <a:ext cx="4522243" cy="440824"/>
          </a:xfrm>
          <a:prstGeom prst="roundRect">
            <a:avLst>
              <a:gd name="adj" fmla="val 10345"/>
            </a:avLst>
          </a:prstGeom>
          <a:solidFill>
            <a:srgbClr val="F4F7FA"/>
          </a:solidFill>
          <a:ln w="12700">
            <a:solidFill>
              <a:srgbClr val="B9CBDD"/>
            </a:solidFill>
            <a:prstDash val="solid"/>
          </a:ln>
        </p:spPr>
        <p:txBody>
          <a:bodyPr/>
          <a:lstStyle/>
          <a:p>
            <a:endParaRPr lang="en-IN"/>
          </a:p>
        </p:txBody>
      </p:sp>
      <p:sp>
        <p:nvSpPr>
          <p:cNvPr id="1045" name="Text 63">
            <a:extLst>
              <a:ext uri="{FF2B5EF4-FFF2-40B4-BE49-F238E27FC236}">
                <a16:creationId xmlns:a16="http://schemas.microsoft.com/office/drawing/2014/main" id="{062D3536-A0D7-D999-DC62-69F10233DD19}"/>
              </a:ext>
            </a:extLst>
          </p:cNvPr>
          <p:cNvSpPr txBox="1"/>
          <p:nvPr/>
        </p:nvSpPr>
        <p:spPr>
          <a:xfrm>
            <a:off x="7333465" y="6258322"/>
            <a:ext cx="4339832" cy="152008"/>
          </a:xfrm>
          <a:prstGeom prst="rect">
            <a:avLst/>
          </a:prstGeom>
          <a:noFill/>
          <a:ln/>
        </p:spPr>
        <p:txBody>
          <a:bodyPr wrap="square" lIns="0" tIns="0" rIns="0" bIns="0" rtlCol="0" anchor="ctr"/>
          <a:lstStyle/>
          <a:p>
            <a:pPr>
              <a:lnSpc>
                <a:spcPct val="93000"/>
              </a:lnSpc>
            </a:pPr>
            <a:r>
              <a:rPr lang="en-US" sz="838" b="1" dirty="0">
                <a:solidFill>
                  <a:srgbClr val="1B4F8A"/>
                </a:solidFill>
                <a:latin typeface="Calibri" pitchFamily="34" charset="0"/>
                <a:ea typeface="Calibri" pitchFamily="34" charset="-122"/>
                <a:cs typeface="Calibri" pitchFamily="34" charset="-120"/>
              </a:rPr>
              <a:t>Deployment Options:  Microsoft Azure  |  AWS</a:t>
            </a:r>
            <a:endParaRPr lang="en-US" sz="838" dirty="0"/>
          </a:p>
        </p:txBody>
      </p:sp>
      <p:sp>
        <p:nvSpPr>
          <p:cNvPr id="1047" name="Text 64">
            <a:extLst>
              <a:ext uri="{FF2B5EF4-FFF2-40B4-BE49-F238E27FC236}">
                <a16:creationId xmlns:a16="http://schemas.microsoft.com/office/drawing/2014/main" id="{D122EEB8-FAAB-B731-5F65-AD56CB97BECA}"/>
              </a:ext>
            </a:extLst>
          </p:cNvPr>
          <p:cNvSpPr txBox="1"/>
          <p:nvPr/>
        </p:nvSpPr>
        <p:spPr>
          <a:xfrm>
            <a:off x="7333465" y="6410331"/>
            <a:ext cx="4339832" cy="258414"/>
          </a:xfrm>
          <a:prstGeom prst="rect">
            <a:avLst/>
          </a:prstGeom>
          <a:noFill/>
          <a:ln/>
        </p:spPr>
        <p:txBody>
          <a:bodyPr wrap="square" lIns="0" tIns="0" rIns="0" bIns="0" rtlCol="0" anchor="ctr"/>
          <a:lstStyle/>
          <a:p>
            <a:pPr>
              <a:lnSpc>
                <a:spcPct val="95000"/>
              </a:lnSpc>
            </a:pPr>
            <a:r>
              <a:rPr lang="en-US" sz="718" i="1" dirty="0">
                <a:solidFill>
                  <a:srgbClr val="5B6472"/>
                </a:solidFill>
                <a:latin typeface="Calibri" pitchFamily="34" charset="0"/>
                <a:ea typeface="Calibri" pitchFamily="34" charset="-122"/>
                <a:cs typeface="Calibri" pitchFamily="34" charset="-120"/>
              </a:rPr>
              <a:t>Core application architecture remains cloud agnostic; equivalent managed services can be used on the selected cloud platform.</a:t>
            </a:r>
            <a:endParaRPr lang="en-US" sz="718" dirty="0"/>
          </a:p>
        </p:txBody>
      </p:sp>
      <p:sp>
        <p:nvSpPr>
          <p:cNvPr id="1049" name="Shape 65">
            <a:extLst>
              <a:ext uri="{FF2B5EF4-FFF2-40B4-BE49-F238E27FC236}">
                <a16:creationId xmlns:a16="http://schemas.microsoft.com/office/drawing/2014/main" id="{6C33D996-950B-2DDF-EF54-2FB0ECC9385D}"/>
              </a:ext>
            </a:extLst>
          </p:cNvPr>
          <p:cNvSpPr/>
          <p:nvPr/>
        </p:nvSpPr>
        <p:spPr>
          <a:xfrm>
            <a:off x="3252046" y="1409262"/>
            <a:ext cx="2204118" cy="668836"/>
          </a:xfrm>
          <a:prstGeom prst="roundRect">
            <a:avLst>
              <a:gd name="adj" fmla="val 6818"/>
            </a:avLst>
          </a:prstGeom>
          <a:solidFill>
            <a:srgbClr val="F2FAF8"/>
          </a:solidFill>
          <a:ln w="12700">
            <a:solidFill>
              <a:srgbClr val="9BCEC4"/>
            </a:solidFill>
            <a:prstDash val="solid"/>
          </a:ln>
        </p:spPr>
        <p:txBody>
          <a:bodyPr/>
          <a:lstStyle/>
          <a:p>
            <a:endParaRPr lang="en-IN"/>
          </a:p>
        </p:txBody>
      </p:sp>
      <p:pic>
        <p:nvPicPr>
          <p:cNvPr id="1051" name="Image 11" descr="preencoded.png">
            <a:extLst>
              <a:ext uri="{FF2B5EF4-FFF2-40B4-BE49-F238E27FC236}">
                <a16:creationId xmlns:a16="http://schemas.microsoft.com/office/drawing/2014/main" id="{6F1BA1C7-1A25-9127-8BC3-93A307E4CFCC}"/>
              </a:ext>
            </a:extLst>
          </p:cNvPr>
          <p:cNvPicPr>
            <a:picLocks noChangeAspect="1"/>
          </p:cNvPicPr>
          <p:nvPr/>
        </p:nvPicPr>
        <p:blipFill>
          <a:blip r:embed="rId11"/>
          <a:stretch>
            <a:fillRect/>
          </a:stretch>
        </p:blipFill>
        <p:spPr>
          <a:xfrm>
            <a:off x="3343250" y="1500467"/>
            <a:ext cx="243213" cy="243213"/>
          </a:xfrm>
          <a:prstGeom prst="rect">
            <a:avLst/>
          </a:prstGeom>
        </p:spPr>
      </p:pic>
      <p:sp>
        <p:nvSpPr>
          <p:cNvPr id="1053" name="Text 66">
            <a:extLst>
              <a:ext uri="{FF2B5EF4-FFF2-40B4-BE49-F238E27FC236}">
                <a16:creationId xmlns:a16="http://schemas.microsoft.com/office/drawing/2014/main" id="{763D4888-1605-2228-3A01-64914A43997C}"/>
              </a:ext>
            </a:extLst>
          </p:cNvPr>
          <p:cNvSpPr txBox="1"/>
          <p:nvPr/>
        </p:nvSpPr>
        <p:spPr>
          <a:xfrm>
            <a:off x="3632066" y="1485266"/>
            <a:ext cx="1763295" cy="167209"/>
          </a:xfrm>
          <a:prstGeom prst="rect">
            <a:avLst/>
          </a:prstGeom>
          <a:noFill/>
          <a:ln/>
        </p:spPr>
        <p:txBody>
          <a:bodyPr wrap="square" lIns="0" tIns="0" rIns="0" bIns="0" rtlCol="0" anchor="ctr"/>
          <a:lstStyle/>
          <a:p>
            <a:pPr>
              <a:lnSpc>
                <a:spcPct val="93000"/>
              </a:lnSpc>
            </a:pPr>
            <a:r>
              <a:rPr lang="en-US" sz="998" b="1" dirty="0">
                <a:solidFill>
                  <a:srgbClr val="0E5F52"/>
                </a:solidFill>
                <a:latin typeface="Calibri" pitchFamily="34" charset="0"/>
                <a:ea typeface="Calibri" pitchFamily="34" charset="-122"/>
                <a:cs typeface="Calibri" pitchFamily="34" charset="-120"/>
              </a:rPr>
              <a:t>Identity Provider</a:t>
            </a:r>
            <a:endParaRPr lang="en-US" sz="998" dirty="0"/>
          </a:p>
        </p:txBody>
      </p:sp>
      <p:sp>
        <p:nvSpPr>
          <p:cNvPr id="1055" name="Text 67">
            <a:extLst>
              <a:ext uri="{FF2B5EF4-FFF2-40B4-BE49-F238E27FC236}">
                <a16:creationId xmlns:a16="http://schemas.microsoft.com/office/drawing/2014/main" id="{A508AC51-A780-4865-F391-6EF3358EABD1}"/>
              </a:ext>
            </a:extLst>
          </p:cNvPr>
          <p:cNvSpPr txBox="1"/>
          <p:nvPr/>
        </p:nvSpPr>
        <p:spPr>
          <a:xfrm>
            <a:off x="3343251" y="1758881"/>
            <a:ext cx="2021708" cy="228012"/>
          </a:xfrm>
          <a:prstGeom prst="rect">
            <a:avLst/>
          </a:prstGeom>
          <a:noFill/>
          <a:ln/>
        </p:spPr>
        <p:txBody>
          <a:bodyPr wrap="square" lIns="0" tIns="0" rIns="0" bIns="0" rtlCol="0" anchor="ctr"/>
          <a:lstStyle/>
          <a:p>
            <a:pPr algn="ctr">
              <a:lnSpc>
                <a:spcPct val="93000"/>
              </a:lnSpc>
            </a:pPr>
            <a:r>
              <a:rPr lang="en-US" sz="798" dirty="0">
                <a:solidFill>
                  <a:srgbClr val="2C6F63"/>
                </a:solidFill>
                <a:latin typeface="Calibri" pitchFamily="34" charset="0"/>
                <a:ea typeface="Calibri" pitchFamily="34" charset="-122"/>
                <a:cs typeface="Calibri" pitchFamily="34" charset="-120"/>
              </a:rPr>
              <a:t>OAuth2 / OIDC / JWT   ·   MFA / SSO</a:t>
            </a:r>
            <a:endParaRPr lang="en-US" sz="798" dirty="0"/>
          </a:p>
        </p:txBody>
      </p:sp>
      <p:sp>
        <p:nvSpPr>
          <p:cNvPr id="1057" name="Shape 68">
            <a:extLst>
              <a:ext uri="{FF2B5EF4-FFF2-40B4-BE49-F238E27FC236}">
                <a16:creationId xmlns:a16="http://schemas.microsoft.com/office/drawing/2014/main" id="{959660AA-BA0A-F464-D8D5-4520D167420D}"/>
              </a:ext>
            </a:extLst>
          </p:cNvPr>
          <p:cNvSpPr/>
          <p:nvPr/>
        </p:nvSpPr>
        <p:spPr>
          <a:xfrm>
            <a:off x="3252046" y="2382115"/>
            <a:ext cx="912049" cy="3192171"/>
          </a:xfrm>
          <a:prstGeom prst="roundRect">
            <a:avLst>
              <a:gd name="adj" fmla="val 5000"/>
            </a:avLst>
          </a:prstGeom>
          <a:solidFill>
            <a:srgbClr val="F7FAFD"/>
          </a:solidFill>
          <a:ln w="12700">
            <a:solidFill>
              <a:srgbClr val="C2DCF0"/>
            </a:solidFill>
            <a:prstDash val="solid"/>
          </a:ln>
        </p:spPr>
        <p:txBody>
          <a:bodyPr/>
          <a:lstStyle/>
          <a:p>
            <a:endParaRPr lang="en-IN"/>
          </a:p>
        </p:txBody>
      </p:sp>
      <p:pic>
        <p:nvPicPr>
          <p:cNvPr id="1059" name="Image 12" descr="preencoded.png">
            <a:extLst>
              <a:ext uri="{FF2B5EF4-FFF2-40B4-BE49-F238E27FC236}">
                <a16:creationId xmlns:a16="http://schemas.microsoft.com/office/drawing/2014/main" id="{1C150A38-4403-4775-F312-F92BFE8F659A}"/>
              </a:ext>
            </a:extLst>
          </p:cNvPr>
          <p:cNvPicPr>
            <a:picLocks noChangeAspect="1"/>
          </p:cNvPicPr>
          <p:nvPr/>
        </p:nvPicPr>
        <p:blipFill>
          <a:blip r:embed="rId12"/>
          <a:stretch>
            <a:fillRect/>
          </a:stretch>
        </p:blipFill>
        <p:spPr>
          <a:xfrm>
            <a:off x="3540861" y="2488520"/>
            <a:ext cx="334418" cy="334418"/>
          </a:xfrm>
          <a:prstGeom prst="rect">
            <a:avLst/>
          </a:prstGeom>
        </p:spPr>
      </p:pic>
      <p:sp>
        <p:nvSpPr>
          <p:cNvPr id="1061" name="Text 69">
            <a:extLst>
              <a:ext uri="{FF2B5EF4-FFF2-40B4-BE49-F238E27FC236}">
                <a16:creationId xmlns:a16="http://schemas.microsoft.com/office/drawing/2014/main" id="{78F48B95-736A-3066-1345-793CDF48084E}"/>
              </a:ext>
            </a:extLst>
          </p:cNvPr>
          <p:cNvSpPr txBox="1"/>
          <p:nvPr/>
        </p:nvSpPr>
        <p:spPr>
          <a:xfrm>
            <a:off x="3282447" y="2868540"/>
            <a:ext cx="851246" cy="152008"/>
          </a:xfrm>
          <a:prstGeom prst="rect">
            <a:avLst/>
          </a:prstGeom>
          <a:noFill/>
          <a:ln/>
        </p:spPr>
        <p:txBody>
          <a:bodyPr wrap="square" lIns="0" tIns="0" rIns="0" bIns="0" rtlCol="0" anchor="ctr"/>
          <a:lstStyle/>
          <a:p>
            <a:pPr algn="ctr">
              <a:lnSpc>
                <a:spcPct val="93000"/>
              </a:lnSpc>
            </a:pPr>
            <a:r>
              <a:rPr lang="en-US" sz="958" b="1" dirty="0">
                <a:solidFill>
                  <a:srgbClr val="11397C"/>
                </a:solidFill>
                <a:latin typeface="Calibri" pitchFamily="34" charset="0"/>
                <a:ea typeface="Calibri" pitchFamily="34" charset="-122"/>
                <a:cs typeface="Calibri" pitchFamily="34" charset="-120"/>
              </a:rPr>
              <a:t>Frontend</a:t>
            </a:r>
            <a:endParaRPr lang="en-US" sz="958" dirty="0"/>
          </a:p>
        </p:txBody>
      </p:sp>
      <p:sp>
        <p:nvSpPr>
          <p:cNvPr id="1063" name="Text 70">
            <a:extLst>
              <a:ext uri="{FF2B5EF4-FFF2-40B4-BE49-F238E27FC236}">
                <a16:creationId xmlns:a16="http://schemas.microsoft.com/office/drawing/2014/main" id="{D458DA42-8486-E87B-A23E-2956607EF8D7}"/>
              </a:ext>
            </a:extLst>
          </p:cNvPr>
          <p:cNvSpPr txBox="1"/>
          <p:nvPr/>
        </p:nvSpPr>
        <p:spPr>
          <a:xfrm>
            <a:off x="3282447" y="3020549"/>
            <a:ext cx="851246" cy="136808"/>
          </a:xfrm>
          <a:prstGeom prst="rect">
            <a:avLst/>
          </a:prstGeom>
          <a:noFill/>
          <a:ln/>
        </p:spPr>
        <p:txBody>
          <a:bodyPr wrap="square" lIns="0" tIns="0" rIns="0" bIns="0" rtlCol="0" anchor="ctr"/>
          <a:lstStyle/>
          <a:p>
            <a:pPr algn="ctr">
              <a:lnSpc>
                <a:spcPct val="93000"/>
              </a:lnSpc>
            </a:pPr>
            <a:r>
              <a:rPr lang="en-US" sz="858" dirty="0">
                <a:solidFill>
                  <a:srgbClr val="2A6099"/>
                </a:solidFill>
                <a:latin typeface="Calibri" pitchFamily="34" charset="0"/>
                <a:ea typeface="Calibri" pitchFamily="34" charset="-122"/>
                <a:cs typeface="Calibri" pitchFamily="34" charset="-120"/>
              </a:rPr>
              <a:t>Next.js 14+</a:t>
            </a:r>
            <a:endParaRPr lang="en-US" sz="858" dirty="0"/>
          </a:p>
        </p:txBody>
      </p:sp>
      <p:sp>
        <p:nvSpPr>
          <p:cNvPr id="1065" name="Text 71">
            <a:extLst>
              <a:ext uri="{FF2B5EF4-FFF2-40B4-BE49-F238E27FC236}">
                <a16:creationId xmlns:a16="http://schemas.microsoft.com/office/drawing/2014/main" id="{2CE464F7-26D0-3F84-4378-50C94F48D73F}"/>
              </a:ext>
            </a:extLst>
          </p:cNvPr>
          <p:cNvSpPr txBox="1"/>
          <p:nvPr/>
        </p:nvSpPr>
        <p:spPr>
          <a:xfrm>
            <a:off x="3312849" y="3233360"/>
            <a:ext cx="790442" cy="456025"/>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Responsive UI</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Secure Communication</a:t>
            </a:r>
            <a:endParaRPr lang="en-US" sz="818" dirty="0"/>
          </a:p>
        </p:txBody>
      </p:sp>
      <p:sp>
        <p:nvSpPr>
          <p:cNvPr id="1067" name="Shape 72">
            <a:extLst>
              <a:ext uri="{FF2B5EF4-FFF2-40B4-BE49-F238E27FC236}">
                <a16:creationId xmlns:a16="http://schemas.microsoft.com/office/drawing/2014/main" id="{7FBD0375-8C8C-59A2-5E4B-F5044C532F84}"/>
              </a:ext>
            </a:extLst>
          </p:cNvPr>
          <p:cNvSpPr/>
          <p:nvPr/>
        </p:nvSpPr>
        <p:spPr>
          <a:xfrm>
            <a:off x="3692869" y="2078098"/>
            <a:ext cx="0" cy="304016"/>
          </a:xfrm>
          <a:prstGeom prst="line">
            <a:avLst/>
          </a:prstGeom>
          <a:noFill/>
          <a:ln w="19050">
            <a:solidFill>
              <a:srgbClr val="0E7C6B"/>
            </a:solidFill>
            <a:prstDash val="solid"/>
            <a:headEnd type="triangle"/>
            <a:tailEnd type="triangle"/>
          </a:ln>
        </p:spPr>
        <p:txBody>
          <a:bodyPr/>
          <a:lstStyle/>
          <a:p>
            <a:endParaRPr lang="en-IN"/>
          </a:p>
        </p:txBody>
      </p:sp>
      <p:sp>
        <p:nvSpPr>
          <p:cNvPr id="1069" name="Text 73">
            <a:extLst>
              <a:ext uri="{FF2B5EF4-FFF2-40B4-BE49-F238E27FC236}">
                <a16:creationId xmlns:a16="http://schemas.microsoft.com/office/drawing/2014/main" id="{8C8F4AB8-C5D7-9098-1DF0-7A1815AC9E82}"/>
              </a:ext>
            </a:extLst>
          </p:cNvPr>
          <p:cNvSpPr txBox="1"/>
          <p:nvPr/>
        </p:nvSpPr>
        <p:spPr>
          <a:xfrm>
            <a:off x="3723271" y="2138901"/>
            <a:ext cx="425622" cy="228012"/>
          </a:xfrm>
          <a:prstGeom prst="rect">
            <a:avLst/>
          </a:prstGeom>
          <a:noFill/>
          <a:ln/>
        </p:spPr>
        <p:txBody>
          <a:bodyPr wrap="square" lIns="0" tIns="0" rIns="0" bIns="0" rtlCol="0" anchor="ctr"/>
          <a:lstStyle/>
          <a:p>
            <a:pPr algn="ctr">
              <a:lnSpc>
                <a:spcPct val="88000"/>
              </a:lnSpc>
            </a:pPr>
            <a:r>
              <a:rPr lang="en-US" sz="678" dirty="0">
                <a:solidFill>
                  <a:srgbClr val="0E7C6B"/>
                </a:solidFill>
                <a:latin typeface="Calibri" pitchFamily="34" charset="0"/>
                <a:ea typeface="Calibri" pitchFamily="34" charset="-122"/>
                <a:cs typeface="Calibri" pitchFamily="34" charset="-120"/>
              </a:rPr>
              <a:t>OAuth2 /</a:t>
            </a:r>
            <a:endParaRPr lang="en-US" sz="678" dirty="0"/>
          </a:p>
          <a:p>
            <a:pPr algn="ctr">
              <a:lnSpc>
                <a:spcPct val="88000"/>
              </a:lnSpc>
            </a:pPr>
            <a:r>
              <a:rPr lang="en-US" sz="678" dirty="0">
                <a:solidFill>
                  <a:srgbClr val="0E7C6B"/>
                </a:solidFill>
                <a:latin typeface="Calibri" pitchFamily="34" charset="0"/>
                <a:ea typeface="Calibri" pitchFamily="34" charset="-122"/>
                <a:cs typeface="Calibri" pitchFamily="34" charset="-120"/>
              </a:rPr>
              <a:t>OIDC / JWT</a:t>
            </a:r>
            <a:endParaRPr lang="en-US" sz="678" dirty="0"/>
          </a:p>
        </p:txBody>
      </p:sp>
      <p:sp>
        <p:nvSpPr>
          <p:cNvPr id="1071" name="Shape 74">
            <a:extLst>
              <a:ext uri="{FF2B5EF4-FFF2-40B4-BE49-F238E27FC236}">
                <a16:creationId xmlns:a16="http://schemas.microsoft.com/office/drawing/2014/main" id="{1A757B73-2A97-19E1-7418-F632B49CE95C}"/>
              </a:ext>
            </a:extLst>
          </p:cNvPr>
          <p:cNvSpPr/>
          <p:nvPr/>
        </p:nvSpPr>
        <p:spPr>
          <a:xfrm>
            <a:off x="4984939" y="2078098"/>
            <a:ext cx="0" cy="304016"/>
          </a:xfrm>
          <a:prstGeom prst="line">
            <a:avLst/>
          </a:prstGeom>
          <a:noFill/>
          <a:ln w="19050">
            <a:solidFill>
              <a:srgbClr val="0E7C6B"/>
            </a:solidFill>
            <a:prstDash val="solid"/>
            <a:headEnd type="none"/>
            <a:tailEnd type="triangle"/>
          </a:ln>
        </p:spPr>
        <p:txBody>
          <a:bodyPr/>
          <a:lstStyle/>
          <a:p>
            <a:endParaRPr lang="en-IN"/>
          </a:p>
        </p:txBody>
      </p:sp>
      <p:sp>
        <p:nvSpPr>
          <p:cNvPr id="1073" name="Text 75">
            <a:extLst>
              <a:ext uri="{FF2B5EF4-FFF2-40B4-BE49-F238E27FC236}">
                <a16:creationId xmlns:a16="http://schemas.microsoft.com/office/drawing/2014/main" id="{576A265F-CB30-AA85-73A5-9D0BC896D171}"/>
              </a:ext>
            </a:extLst>
          </p:cNvPr>
          <p:cNvSpPr txBox="1"/>
          <p:nvPr/>
        </p:nvSpPr>
        <p:spPr>
          <a:xfrm>
            <a:off x="5015341" y="2138901"/>
            <a:ext cx="425622" cy="228012"/>
          </a:xfrm>
          <a:prstGeom prst="rect">
            <a:avLst/>
          </a:prstGeom>
          <a:noFill/>
          <a:ln/>
        </p:spPr>
        <p:txBody>
          <a:bodyPr wrap="square" lIns="0" tIns="0" rIns="0" bIns="0" rtlCol="0" anchor="ctr"/>
          <a:lstStyle/>
          <a:p>
            <a:pPr algn="ctr">
              <a:lnSpc>
                <a:spcPct val="88000"/>
              </a:lnSpc>
            </a:pPr>
            <a:r>
              <a:rPr lang="en-US" sz="678" dirty="0">
                <a:solidFill>
                  <a:srgbClr val="0E7C6B"/>
                </a:solidFill>
                <a:latin typeface="Calibri" pitchFamily="34" charset="0"/>
                <a:ea typeface="Calibri" pitchFamily="34" charset="-122"/>
                <a:cs typeface="Calibri" pitchFamily="34" charset="-120"/>
              </a:rPr>
              <a:t>Token</a:t>
            </a:r>
            <a:endParaRPr lang="en-US" sz="678" dirty="0"/>
          </a:p>
          <a:p>
            <a:pPr algn="ctr">
              <a:lnSpc>
                <a:spcPct val="88000"/>
              </a:lnSpc>
            </a:pPr>
            <a:r>
              <a:rPr lang="en-US" sz="678" dirty="0">
                <a:solidFill>
                  <a:srgbClr val="0E7C6B"/>
                </a:solidFill>
                <a:latin typeface="Calibri" pitchFamily="34" charset="0"/>
                <a:ea typeface="Calibri" pitchFamily="34" charset="-122"/>
                <a:cs typeface="Calibri" pitchFamily="34" charset="-120"/>
              </a:rPr>
              <a:t>Validation</a:t>
            </a:r>
            <a:endParaRPr lang="en-US" sz="678" dirty="0"/>
          </a:p>
        </p:txBody>
      </p:sp>
      <p:sp>
        <p:nvSpPr>
          <p:cNvPr id="1075" name="Shape 76">
            <a:extLst>
              <a:ext uri="{FF2B5EF4-FFF2-40B4-BE49-F238E27FC236}">
                <a16:creationId xmlns:a16="http://schemas.microsoft.com/office/drawing/2014/main" id="{D8A10F32-9208-6240-17A9-57AB60D4A263}"/>
              </a:ext>
            </a:extLst>
          </p:cNvPr>
          <p:cNvSpPr/>
          <p:nvPr/>
        </p:nvSpPr>
        <p:spPr>
          <a:xfrm>
            <a:off x="4544115" y="2382115"/>
            <a:ext cx="912049" cy="3192171"/>
          </a:xfrm>
          <a:prstGeom prst="roundRect">
            <a:avLst>
              <a:gd name="adj" fmla="val 5000"/>
            </a:avLst>
          </a:prstGeom>
          <a:solidFill>
            <a:srgbClr val="F7FAFD"/>
          </a:solidFill>
          <a:ln w="12700">
            <a:solidFill>
              <a:srgbClr val="C2DCF0"/>
            </a:solidFill>
            <a:prstDash val="solid"/>
          </a:ln>
        </p:spPr>
        <p:txBody>
          <a:bodyPr/>
          <a:lstStyle/>
          <a:p>
            <a:endParaRPr lang="en-IN"/>
          </a:p>
        </p:txBody>
      </p:sp>
      <p:sp>
        <p:nvSpPr>
          <p:cNvPr id="1077" name="Shape 77">
            <a:extLst>
              <a:ext uri="{FF2B5EF4-FFF2-40B4-BE49-F238E27FC236}">
                <a16:creationId xmlns:a16="http://schemas.microsoft.com/office/drawing/2014/main" id="{E4EDA9D4-AABF-8EF6-5AE2-243FAC38149F}"/>
              </a:ext>
            </a:extLst>
          </p:cNvPr>
          <p:cNvSpPr/>
          <p:nvPr/>
        </p:nvSpPr>
        <p:spPr>
          <a:xfrm>
            <a:off x="5106545" y="2427718"/>
            <a:ext cx="304016" cy="114006"/>
          </a:xfrm>
          <a:prstGeom prst="roundRect">
            <a:avLst>
              <a:gd name="adj" fmla="val 128003"/>
            </a:avLst>
          </a:prstGeom>
          <a:solidFill>
            <a:srgbClr val="FDF1E3"/>
          </a:solidFill>
          <a:ln w="12700">
            <a:solidFill>
              <a:srgbClr val="D9A441"/>
            </a:solidFill>
            <a:prstDash val="solid"/>
          </a:ln>
        </p:spPr>
        <p:txBody>
          <a:bodyPr/>
          <a:lstStyle/>
          <a:p>
            <a:endParaRPr lang="en-IN"/>
          </a:p>
        </p:txBody>
      </p:sp>
      <p:sp>
        <p:nvSpPr>
          <p:cNvPr id="1079" name="Text 78">
            <a:extLst>
              <a:ext uri="{FF2B5EF4-FFF2-40B4-BE49-F238E27FC236}">
                <a16:creationId xmlns:a16="http://schemas.microsoft.com/office/drawing/2014/main" id="{A10C1308-D948-B497-EF5A-E3F46C635407}"/>
              </a:ext>
            </a:extLst>
          </p:cNvPr>
          <p:cNvSpPr txBox="1"/>
          <p:nvPr/>
        </p:nvSpPr>
        <p:spPr>
          <a:xfrm>
            <a:off x="5121746" y="2427718"/>
            <a:ext cx="273615" cy="114006"/>
          </a:xfrm>
          <a:prstGeom prst="rect">
            <a:avLst/>
          </a:prstGeom>
          <a:noFill/>
          <a:ln/>
        </p:spPr>
        <p:txBody>
          <a:bodyPr wrap="square" lIns="0" tIns="0" rIns="0" bIns="0" rtlCol="0" anchor="ctr"/>
          <a:lstStyle/>
          <a:p>
            <a:pPr algn="ctr">
              <a:lnSpc>
                <a:spcPct val="93000"/>
              </a:lnSpc>
            </a:pPr>
            <a:r>
              <a:rPr lang="en-US" sz="618" b="1" dirty="0">
                <a:solidFill>
                  <a:srgbClr val="8A6A16"/>
                </a:solidFill>
                <a:latin typeface="Calibri" pitchFamily="34" charset="0"/>
                <a:ea typeface="Calibri" pitchFamily="34" charset="-122"/>
                <a:cs typeface="Calibri" pitchFamily="34" charset="-120"/>
              </a:rPr>
              <a:t>NEW</a:t>
            </a:r>
            <a:endParaRPr lang="en-US" sz="618" dirty="0"/>
          </a:p>
        </p:txBody>
      </p:sp>
      <p:pic>
        <p:nvPicPr>
          <p:cNvPr id="1081" name="Image 13" descr="preencoded.png">
            <a:extLst>
              <a:ext uri="{FF2B5EF4-FFF2-40B4-BE49-F238E27FC236}">
                <a16:creationId xmlns:a16="http://schemas.microsoft.com/office/drawing/2014/main" id="{9253D88F-76B3-F589-EE52-C75F9D0D783D}"/>
              </a:ext>
            </a:extLst>
          </p:cNvPr>
          <p:cNvPicPr>
            <a:picLocks noChangeAspect="1"/>
          </p:cNvPicPr>
          <p:nvPr/>
        </p:nvPicPr>
        <p:blipFill>
          <a:blip r:embed="rId13"/>
          <a:stretch>
            <a:fillRect/>
          </a:stretch>
        </p:blipFill>
        <p:spPr>
          <a:xfrm>
            <a:off x="4832930" y="2549323"/>
            <a:ext cx="334418" cy="334418"/>
          </a:xfrm>
          <a:prstGeom prst="rect">
            <a:avLst/>
          </a:prstGeom>
        </p:spPr>
      </p:pic>
      <p:sp>
        <p:nvSpPr>
          <p:cNvPr id="1083" name="Text 79">
            <a:extLst>
              <a:ext uri="{FF2B5EF4-FFF2-40B4-BE49-F238E27FC236}">
                <a16:creationId xmlns:a16="http://schemas.microsoft.com/office/drawing/2014/main" id="{1A717DCD-AA51-B98A-FE27-86CEE7B72591}"/>
              </a:ext>
            </a:extLst>
          </p:cNvPr>
          <p:cNvSpPr txBox="1"/>
          <p:nvPr/>
        </p:nvSpPr>
        <p:spPr>
          <a:xfrm>
            <a:off x="4574517" y="2929344"/>
            <a:ext cx="851246" cy="167209"/>
          </a:xfrm>
          <a:prstGeom prst="rect">
            <a:avLst/>
          </a:prstGeom>
          <a:noFill/>
          <a:ln/>
        </p:spPr>
        <p:txBody>
          <a:bodyPr wrap="square" lIns="0" tIns="0" rIns="0" bIns="0" rtlCol="0" anchor="ctr"/>
          <a:lstStyle/>
          <a:p>
            <a:pPr algn="ctr">
              <a:lnSpc>
                <a:spcPct val="93000"/>
              </a:lnSpc>
            </a:pPr>
            <a:r>
              <a:rPr lang="en-US" sz="958" b="1" dirty="0">
                <a:solidFill>
                  <a:srgbClr val="11397C"/>
                </a:solidFill>
                <a:latin typeface="Calibri" pitchFamily="34" charset="0"/>
                <a:ea typeface="Calibri" pitchFamily="34" charset="-122"/>
                <a:cs typeface="Calibri" pitchFamily="34" charset="-120"/>
              </a:rPr>
              <a:t>API Gateway</a:t>
            </a:r>
            <a:endParaRPr lang="en-US" sz="958" dirty="0"/>
          </a:p>
        </p:txBody>
      </p:sp>
      <p:sp>
        <p:nvSpPr>
          <p:cNvPr id="1085" name="Text 80">
            <a:extLst>
              <a:ext uri="{FF2B5EF4-FFF2-40B4-BE49-F238E27FC236}">
                <a16:creationId xmlns:a16="http://schemas.microsoft.com/office/drawing/2014/main" id="{377C6969-5AB2-26EE-2795-AEA7C48F83D7}"/>
              </a:ext>
            </a:extLst>
          </p:cNvPr>
          <p:cNvSpPr txBox="1"/>
          <p:nvPr/>
        </p:nvSpPr>
        <p:spPr>
          <a:xfrm>
            <a:off x="4604918" y="3172557"/>
            <a:ext cx="790442" cy="1140061"/>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API Security</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Authentication / Authorization</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Rate Limiting</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Routing</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API Versioning</a:t>
            </a:r>
            <a:endParaRPr lang="en-US" sz="818" dirty="0"/>
          </a:p>
        </p:txBody>
      </p:sp>
      <p:sp>
        <p:nvSpPr>
          <p:cNvPr id="1087" name="Shape 81">
            <a:extLst>
              <a:ext uri="{FF2B5EF4-FFF2-40B4-BE49-F238E27FC236}">
                <a16:creationId xmlns:a16="http://schemas.microsoft.com/office/drawing/2014/main" id="{FE168D16-415F-29AD-71AB-4C5C2C3F4BDC}"/>
              </a:ext>
            </a:extLst>
          </p:cNvPr>
          <p:cNvSpPr/>
          <p:nvPr/>
        </p:nvSpPr>
        <p:spPr>
          <a:xfrm>
            <a:off x="5836184" y="1409262"/>
            <a:ext cx="2736146" cy="4165024"/>
          </a:xfrm>
          <a:prstGeom prst="roundRect">
            <a:avLst>
              <a:gd name="adj" fmla="val 1667"/>
            </a:avLst>
          </a:prstGeom>
          <a:solidFill>
            <a:srgbClr val="FFFFFF"/>
          </a:solidFill>
          <a:ln w="12700">
            <a:solidFill>
              <a:srgbClr val="C2DCF0"/>
            </a:solidFill>
            <a:prstDash val="solid"/>
          </a:ln>
        </p:spPr>
        <p:txBody>
          <a:bodyPr/>
          <a:lstStyle/>
          <a:p>
            <a:endParaRPr lang="en-IN"/>
          </a:p>
        </p:txBody>
      </p:sp>
      <p:pic>
        <p:nvPicPr>
          <p:cNvPr id="705" name="Image 14" descr="preencoded.png">
            <a:extLst>
              <a:ext uri="{FF2B5EF4-FFF2-40B4-BE49-F238E27FC236}">
                <a16:creationId xmlns:a16="http://schemas.microsoft.com/office/drawing/2014/main" id="{F2E07610-34AC-B4C6-99F1-3A7F4CBF08F7}"/>
              </a:ext>
            </a:extLst>
          </p:cNvPr>
          <p:cNvPicPr>
            <a:picLocks noChangeAspect="1"/>
          </p:cNvPicPr>
          <p:nvPr/>
        </p:nvPicPr>
        <p:blipFill>
          <a:blip r:embed="rId14"/>
          <a:stretch>
            <a:fillRect/>
          </a:stretch>
        </p:blipFill>
        <p:spPr>
          <a:xfrm>
            <a:off x="5972991" y="1500467"/>
            <a:ext cx="243213" cy="243213"/>
          </a:xfrm>
          <a:prstGeom prst="rect">
            <a:avLst/>
          </a:prstGeom>
        </p:spPr>
      </p:pic>
      <p:sp>
        <p:nvSpPr>
          <p:cNvPr id="707" name="Text 82">
            <a:extLst>
              <a:ext uri="{FF2B5EF4-FFF2-40B4-BE49-F238E27FC236}">
                <a16:creationId xmlns:a16="http://schemas.microsoft.com/office/drawing/2014/main" id="{D42A2446-788E-E337-2404-F934E8C1BADD}"/>
              </a:ext>
            </a:extLst>
          </p:cNvPr>
          <p:cNvSpPr txBox="1"/>
          <p:nvPr/>
        </p:nvSpPr>
        <p:spPr>
          <a:xfrm>
            <a:off x="6277008" y="1485266"/>
            <a:ext cx="2128114" cy="167209"/>
          </a:xfrm>
          <a:prstGeom prst="rect">
            <a:avLst/>
          </a:prstGeom>
          <a:noFill/>
          <a:ln/>
        </p:spPr>
        <p:txBody>
          <a:bodyPr wrap="square" lIns="0" tIns="0" rIns="0" bIns="0" rtlCol="0" anchor="ctr"/>
          <a:lstStyle/>
          <a:p>
            <a:pPr>
              <a:lnSpc>
                <a:spcPct val="93000"/>
              </a:lnSpc>
            </a:pPr>
            <a:r>
              <a:rPr lang="en-US" sz="1097" b="1" dirty="0">
                <a:solidFill>
                  <a:srgbClr val="11397C"/>
                </a:solidFill>
                <a:latin typeface="Calibri" pitchFamily="34" charset="0"/>
                <a:ea typeface="Calibri" pitchFamily="34" charset="-122"/>
                <a:cs typeface="Calibri" pitchFamily="34" charset="-120"/>
              </a:rPr>
              <a:t>Managed Kubernetes</a:t>
            </a:r>
            <a:endParaRPr lang="en-US" sz="1097" dirty="0"/>
          </a:p>
        </p:txBody>
      </p:sp>
      <p:sp>
        <p:nvSpPr>
          <p:cNvPr id="709" name="Text 83">
            <a:extLst>
              <a:ext uri="{FF2B5EF4-FFF2-40B4-BE49-F238E27FC236}">
                <a16:creationId xmlns:a16="http://schemas.microsoft.com/office/drawing/2014/main" id="{4AF7544F-D909-6C60-3E42-50C7F4C9E6F5}"/>
              </a:ext>
            </a:extLst>
          </p:cNvPr>
          <p:cNvSpPr txBox="1"/>
          <p:nvPr/>
        </p:nvSpPr>
        <p:spPr>
          <a:xfrm>
            <a:off x="5896987" y="1789283"/>
            <a:ext cx="2614540" cy="136808"/>
          </a:xfrm>
          <a:prstGeom prst="rect">
            <a:avLst/>
          </a:prstGeom>
          <a:noFill/>
          <a:ln/>
        </p:spPr>
        <p:txBody>
          <a:bodyPr wrap="square" lIns="0" tIns="0" rIns="0" bIns="0" rtlCol="0" anchor="ctr"/>
          <a:lstStyle/>
          <a:p>
            <a:pPr algn="ctr">
              <a:lnSpc>
                <a:spcPct val="93000"/>
              </a:lnSpc>
            </a:pPr>
            <a:r>
              <a:rPr lang="en-US" sz="838" b="1" dirty="0">
                <a:solidFill>
                  <a:srgbClr val="5B6472"/>
                </a:solidFill>
                <a:latin typeface="Calibri" pitchFamily="34" charset="0"/>
                <a:ea typeface="Calibri" pitchFamily="34" charset="-122"/>
                <a:cs typeface="Calibri" pitchFamily="34" charset="-120"/>
              </a:rPr>
              <a:t>Java 25 + Spring Boot 4  ·  Containerised Microservices</a:t>
            </a:r>
            <a:endParaRPr lang="en-US" sz="838" dirty="0"/>
          </a:p>
        </p:txBody>
      </p:sp>
      <p:sp>
        <p:nvSpPr>
          <p:cNvPr id="711" name="Shape 84">
            <a:extLst>
              <a:ext uri="{FF2B5EF4-FFF2-40B4-BE49-F238E27FC236}">
                <a16:creationId xmlns:a16="http://schemas.microsoft.com/office/drawing/2014/main" id="{E6425A42-9343-D18E-12BF-C672C39376DA}"/>
              </a:ext>
            </a:extLst>
          </p:cNvPr>
          <p:cNvSpPr/>
          <p:nvPr/>
        </p:nvSpPr>
        <p:spPr>
          <a:xfrm>
            <a:off x="5927389" y="2002094"/>
            <a:ext cx="2553737" cy="1231266"/>
          </a:xfrm>
          <a:prstGeom prst="roundRect">
            <a:avLst>
              <a:gd name="adj" fmla="val 3704"/>
            </a:avLst>
          </a:prstGeom>
          <a:solidFill>
            <a:srgbClr val="EAF6EE"/>
          </a:solidFill>
          <a:ln w="12700">
            <a:solidFill>
              <a:srgbClr val="A9D6B7"/>
            </a:solidFill>
            <a:prstDash val="solid"/>
          </a:ln>
        </p:spPr>
        <p:txBody>
          <a:bodyPr/>
          <a:lstStyle/>
          <a:p>
            <a:endParaRPr lang="en-IN"/>
          </a:p>
        </p:txBody>
      </p:sp>
      <p:sp>
        <p:nvSpPr>
          <p:cNvPr id="713" name="Text 85">
            <a:extLst>
              <a:ext uri="{FF2B5EF4-FFF2-40B4-BE49-F238E27FC236}">
                <a16:creationId xmlns:a16="http://schemas.microsoft.com/office/drawing/2014/main" id="{EBF24496-B755-C1F9-C2C3-9686545460F5}"/>
              </a:ext>
            </a:extLst>
          </p:cNvPr>
          <p:cNvSpPr txBox="1"/>
          <p:nvPr/>
        </p:nvSpPr>
        <p:spPr>
          <a:xfrm>
            <a:off x="5927389" y="2032495"/>
            <a:ext cx="2553737" cy="152008"/>
          </a:xfrm>
          <a:prstGeom prst="rect">
            <a:avLst/>
          </a:prstGeom>
          <a:noFill/>
          <a:ln/>
        </p:spPr>
        <p:txBody>
          <a:bodyPr wrap="square" lIns="0" tIns="0" rIns="0" bIns="0" rtlCol="0" anchor="ctr"/>
          <a:lstStyle/>
          <a:p>
            <a:pPr algn="ctr">
              <a:lnSpc>
                <a:spcPct val="93000"/>
              </a:lnSpc>
            </a:pPr>
            <a:r>
              <a:rPr lang="en-US" sz="998" b="1" dirty="0">
                <a:solidFill>
                  <a:srgbClr val="1E6B3B"/>
                </a:solidFill>
                <a:latin typeface="Calibri" pitchFamily="34" charset="0"/>
                <a:ea typeface="Calibri" pitchFamily="34" charset="-122"/>
                <a:cs typeface="Calibri" pitchFamily="34" charset="-120"/>
              </a:rPr>
              <a:t>Application Services</a:t>
            </a:r>
            <a:endParaRPr lang="en-US" sz="998" dirty="0"/>
          </a:p>
        </p:txBody>
      </p:sp>
      <p:sp>
        <p:nvSpPr>
          <p:cNvPr id="715" name="Shape 86">
            <a:extLst>
              <a:ext uri="{FF2B5EF4-FFF2-40B4-BE49-F238E27FC236}">
                <a16:creationId xmlns:a16="http://schemas.microsoft.com/office/drawing/2014/main" id="{37F7242B-8E85-351E-2B34-2893A777D938}"/>
              </a:ext>
            </a:extLst>
          </p:cNvPr>
          <p:cNvSpPr/>
          <p:nvPr/>
        </p:nvSpPr>
        <p:spPr>
          <a:xfrm>
            <a:off x="6018595" y="2230106"/>
            <a:ext cx="2371327" cy="927250"/>
          </a:xfrm>
          <a:prstGeom prst="roundRect">
            <a:avLst>
              <a:gd name="adj" fmla="val 3935"/>
            </a:avLst>
          </a:prstGeom>
          <a:solidFill>
            <a:srgbClr val="FFFFFF"/>
          </a:solidFill>
          <a:ln w="12700">
            <a:solidFill>
              <a:srgbClr val="CFE3D6"/>
            </a:solidFill>
            <a:prstDash val="solid"/>
          </a:ln>
        </p:spPr>
        <p:txBody>
          <a:bodyPr/>
          <a:lstStyle/>
          <a:p>
            <a:endParaRPr lang="en-IN"/>
          </a:p>
        </p:txBody>
      </p:sp>
      <p:pic>
        <p:nvPicPr>
          <p:cNvPr id="717" name="Image 15" descr="preencoded.png">
            <a:extLst>
              <a:ext uri="{FF2B5EF4-FFF2-40B4-BE49-F238E27FC236}">
                <a16:creationId xmlns:a16="http://schemas.microsoft.com/office/drawing/2014/main" id="{A9532B29-1D31-7A3B-1C3B-44D0901EA07A}"/>
              </a:ext>
            </a:extLst>
          </p:cNvPr>
          <p:cNvPicPr>
            <a:picLocks noChangeAspect="1"/>
          </p:cNvPicPr>
          <p:nvPr/>
        </p:nvPicPr>
        <p:blipFill>
          <a:blip r:embed="rId15"/>
          <a:stretch>
            <a:fillRect/>
          </a:stretch>
        </p:blipFill>
        <p:spPr>
          <a:xfrm>
            <a:off x="7067450" y="2321311"/>
            <a:ext cx="273615" cy="273615"/>
          </a:xfrm>
          <a:prstGeom prst="rect">
            <a:avLst/>
          </a:prstGeom>
        </p:spPr>
      </p:pic>
      <p:sp>
        <p:nvSpPr>
          <p:cNvPr id="719" name="Text 87">
            <a:extLst>
              <a:ext uri="{FF2B5EF4-FFF2-40B4-BE49-F238E27FC236}">
                <a16:creationId xmlns:a16="http://schemas.microsoft.com/office/drawing/2014/main" id="{0A43A4CF-E26D-7BBD-FAAC-20CE355A1416}"/>
              </a:ext>
            </a:extLst>
          </p:cNvPr>
          <p:cNvSpPr txBox="1"/>
          <p:nvPr/>
        </p:nvSpPr>
        <p:spPr>
          <a:xfrm>
            <a:off x="6048995" y="2640528"/>
            <a:ext cx="2310524" cy="152008"/>
          </a:xfrm>
          <a:prstGeom prst="rect">
            <a:avLst/>
          </a:prstGeom>
          <a:noFill/>
          <a:ln/>
        </p:spPr>
        <p:txBody>
          <a:bodyPr wrap="square" lIns="0" tIns="0" rIns="0" bIns="0" rtlCol="0" anchor="ctr"/>
          <a:lstStyle/>
          <a:p>
            <a:pPr algn="ctr">
              <a:lnSpc>
                <a:spcPct val="93000"/>
              </a:lnSpc>
            </a:pPr>
            <a:r>
              <a:rPr lang="en-US" sz="1047" b="1" dirty="0">
                <a:solidFill>
                  <a:srgbClr val="11397C"/>
                </a:solidFill>
                <a:latin typeface="Calibri" pitchFamily="34" charset="0"/>
                <a:ea typeface="Calibri" pitchFamily="34" charset="-122"/>
                <a:cs typeface="Calibri" pitchFamily="34" charset="-120"/>
              </a:rPr>
              <a:t>Microservices</a:t>
            </a:r>
            <a:endParaRPr lang="en-US" sz="1047" dirty="0"/>
          </a:p>
        </p:txBody>
      </p:sp>
      <p:sp>
        <p:nvSpPr>
          <p:cNvPr id="721" name="Text 88">
            <a:extLst>
              <a:ext uri="{FF2B5EF4-FFF2-40B4-BE49-F238E27FC236}">
                <a16:creationId xmlns:a16="http://schemas.microsoft.com/office/drawing/2014/main" id="{5DE15BDD-A844-BB3C-9008-028372C10EAF}"/>
              </a:ext>
            </a:extLst>
          </p:cNvPr>
          <p:cNvSpPr txBox="1"/>
          <p:nvPr/>
        </p:nvSpPr>
        <p:spPr>
          <a:xfrm>
            <a:off x="6048995" y="2807737"/>
            <a:ext cx="2310524" cy="152008"/>
          </a:xfrm>
          <a:prstGeom prst="rect">
            <a:avLst/>
          </a:prstGeom>
          <a:noFill/>
          <a:ln/>
        </p:spPr>
        <p:txBody>
          <a:bodyPr wrap="square" lIns="0" tIns="0" rIns="0" bIns="0" rtlCol="0" anchor="ctr"/>
          <a:lstStyle/>
          <a:p>
            <a:pPr algn="ctr">
              <a:lnSpc>
                <a:spcPct val="93000"/>
              </a:lnSpc>
            </a:pPr>
            <a:r>
              <a:rPr lang="en-US" sz="838" dirty="0">
                <a:solidFill>
                  <a:srgbClr val="2A6099"/>
                </a:solidFill>
                <a:latin typeface="Calibri" pitchFamily="34" charset="0"/>
                <a:ea typeface="Calibri" pitchFamily="34" charset="-122"/>
                <a:cs typeface="Calibri" pitchFamily="34" charset="-120"/>
              </a:rPr>
              <a:t>Independently deployable &amp; scalable</a:t>
            </a:r>
            <a:endParaRPr lang="en-US" sz="838" dirty="0"/>
          </a:p>
        </p:txBody>
      </p:sp>
      <p:sp>
        <p:nvSpPr>
          <p:cNvPr id="723" name="Shape 89">
            <a:extLst>
              <a:ext uri="{FF2B5EF4-FFF2-40B4-BE49-F238E27FC236}">
                <a16:creationId xmlns:a16="http://schemas.microsoft.com/office/drawing/2014/main" id="{A4CE06EE-4244-7B6A-1140-4D9D4CA2A941}"/>
              </a:ext>
            </a:extLst>
          </p:cNvPr>
          <p:cNvSpPr/>
          <p:nvPr/>
        </p:nvSpPr>
        <p:spPr>
          <a:xfrm>
            <a:off x="5927389" y="3324565"/>
            <a:ext cx="2553737" cy="1216066"/>
          </a:xfrm>
          <a:prstGeom prst="roundRect">
            <a:avLst>
              <a:gd name="adj" fmla="val 3750"/>
            </a:avLst>
          </a:prstGeom>
          <a:solidFill>
            <a:srgbClr val="EFF6FD"/>
          </a:solidFill>
          <a:ln w="12700">
            <a:solidFill>
              <a:srgbClr val="C4DEF5"/>
            </a:solidFill>
            <a:prstDash val="solid"/>
          </a:ln>
        </p:spPr>
        <p:txBody>
          <a:bodyPr/>
          <a:lstStyle/>
          <a:p>
            <a:endParaRPr lang="en-IN"/>
          </a:p>
        </p:txBody>
      </p:sp>
      <p:sp>
        <p:nvSpPr>
          <p:cNvPr id="725" name="Text 90">
            <a:extLst>
              <a:ext uri="{FF2B5EF4-FFF2-40B4-BE49-F238E27FC236}">
                <a16:creationId xmlns:a16="http://schemas.microsoft.com/office/drawing/2014/main" id="{2AC9170C-B537-C97D-5241-42A160028FD9}"/>
              </a:ext>
            </a:extLst>
          </p:cNvPr>
          <p:cNvSpPr txBox="1"/>
          <p:nvPr/>
        </p:nvSpPr>
        <p:spPr>
          <a:xfrm>
            <a:off x="5927389" y="3354966"/>
            <a:ext cx="2553737" cy="152008"/>
          </a:xfrm>
          <a:prstGeom prst="rect">
            <a:avLst/>
          </a:prstGeom>
          <a:noFill/>
          <a:ln/>
        </p:spPr>
        <p:txBody>
          <a:bodyPr wrap="square" lIns="0" tIns="0" rIns="0" bIns="0" rtlCol="0" anchor="ctr"/>
          <a:lstStyle/>
          <a:p>
            <a:pPr algn="ctr">
              <a:lnSpc>
                <a:spcPct val="93000"/>
              </a:lnSpc>
            </a:pPr>
            <a:r>
              <a:rPr lang="en-US" sz="998" b="1" dirty="0">
                <a:solidFill>
                  <a:srgbClr val="1B4F8A"/>
                </a:solidFill>
                <a:latin typeface="Calibri" pitchFamily="34" charset="0"/>
                <a:ea typeface="Calibri" pitchFamily="34" charset="-122"/>
                <a:cs typeface="Calibri" pitchFamily="34" charset="-120"/>
              </a:rPr>
              <a:t>Platform Services</a:t>
            </a:r>
            <a:endParaRPr lang="en-US" sz="998" dirty="0"/>
          </a:p>
        </p:txBody>
      </p:sp>
      <p:sp>
        <p:nvSpPr>
          <p:cNvPr id="727" name="Shape 91">
            <a:extLst>
              <a:ext uri="{FF2B5EF4-FFF2-40B4-BE49-F238E27FC236}">
                <a16:creationId xmlns:a16="http://schemas.microsoft.com/office/drawing/2014/main" id="{F1306449-F5D8-C093-09A9-5131BD295E75}"/>
              </a:ext>
            </a:extLst>
          </p:cNvPr>
          <p:cNvSpPr/>
          <p:nvPr/>
        </p:nvSpPr>
        <p:spPr>
          <a:xfrm>
            <a:off x="6018594" y="3552577"/>
            <a:ext cx="1155262" cy="927250"/>
          </a:xfrm>
          <a:prstGeom prst="roundRect">
            <a:avLst>
              <a:gd name="adj" fmla="val 3935"/>
            </a:avLst>
          </a:prstGeom>
          <a:solidFill>
            <a:srgbClr val="FFFFFF"/>
          </a:solidFill>
          <a:ln w="12700">
            <a:solidFill>
              <a:srgbClr val="CFE0F0"/>
            </a:solidFill>
            <a:prstDash val="solid"/>
          </a:ln>
        </p:spPr>
        <p:txBody>
          <a:bodyPr/>
          <a:lstStyle/>
          <a:p>
            <a:endParaRPr lang="en-IN"/>
          </a:p>
        </p:txBody>
      </p:sp>
      <p:sp>
        <p:nvSpPr>
          <p:cNvPr id="729" name="Shape 92">
            <a:extLst>
              <a:ext uri="{FF2B5EF4-FFF2-40B4-BE49-F238E27FC236}">
                <a16:creationId xmlns:a16="http://schemas.microsoft.com/office/drawing/2014/main" id="{7E449C40-308D-982C-5F63-43DB06FEF809}"/>
              </a:ext>
            </a:extLst>
          </p:cNvPr>
          <p:cNvSpPr/>
          <p:nvPr/>
        </p:nvSpPr>
        <p:spPr>
          <a:xfrm>
            <a:off x="6809036" y="3582980"/>
            <a:ext cx="304016" cy="114006"/>
          </a:xfrm>
          <a:prstGeom prst="roundRect">
            <a:avLst>
              <a:gd name="adj" fmla="val 128003"/>
            </a:avLst>
          </a:prstGeom>
          <a:solidFill>
            <a:srgbClr val="FDF1E3"/>
          </a:solidFill>
          <a:ln w="12700">
            <a:solidFill>
              <a:srgbClr val="D9A441"/>
            </a:solidFill>
            <a:prstDash val="solid"/>
          </a:ln>
        </p:spPr>
        <p:txBody>
          <a:bodyPr/>
          <a:lstStyle/>
          <a:p>
            <a:endParaRPr lang="en-IN"/>
          </a:p>
        </p:txBody>
      </p:sp>
      <p:sp>
        <p:nvSpPr>
          <p:cNvPr id="731" name="Text 93">
            <a:extLst>
              <a:ext uri="{FF2B5EF4-FFF2-40B4-BE49-F238E27FC236}">
                <a16:creationId xmlns:a16="http://schemas.microsoft.com/office/drawing/2014/main" id="{0CB25CD0-E571-B1BE-3D27-41768AF15C68}"/>
              </a:ext>
            </a:extLst>
          </p:cNvPr>
          <p:cNvSpPr txBox="1"/>
          <p:nvPr/>
        </p:nvSpPr>
        <p:spPr>
          <a:xfrm>
            <a:off x="6824237" y="3582980"/>
            <a:ext cx="273615" cy="114006"/>
          </a:xfrm>
          <a:prstGeom prst="rect">
            <a:avLst/>
          </a:prstGeom>
          <a:noFill/>
          <a:ln/>
        </p:spPr>
        <p:txBody>
          <a:bodyPr wrap="square" lIns="0" tIns="0" rIns="0" bIns="0" rtlCol="0" anchor="ctr"/>
          <a:lstStyle/>
          <a:p>
            <a:pPr algn="ctr">
              <a:lnSpc>
                <a:spcPct val="93000"/>
              </a:lnSpc>
            </a:pPr>
            <a:r>
              <a:rPr lang="en-US" sz="618" b="1" dirty="0">
                <a:solidFill>
                  <a:srgbClr val="8A6A16"/>
                </a:solidFill>
                <a:latin typeface="Calibri" pitchFamily="34" charset="0"/>
                <a:ea typeface="Calibri" pitchFamily="34" charset="-122"/>
                <a:cs typeface="Calibri" pitchFamily="34" charset="-120"/>
              </a:rPr>
              <a:t>NEW</a:t>
            </a:r>
            <a:endParaRPr lang="en-US" sz="618" dirty="0"/>
          </a:p>
        </p:txBody>
      </p:sp>
      <p:pic>
        <p:nvPicPr>
          <p:cNvPr id="733" name="Image 16" descr="preencoded.png">
            <a:extLst>
              <a:ext uri="{FF2B5EF4-FFF2-40B4-BE49-F238E27FC236}">
                <a16:creationId xmlns:a16="http://schemas.microsoft.com/office/drawing/2014/main" id="{E8040F2C-2944-B218-1F3E-6E18C70685E8}"/>
              </a:ext>
            </a:extLst>
          </p:cNvPr>
          <p:cNvPicPr>
            <a:picLocks noChangeAspect="1"/>
          </p:cNvPicPr>
          <p:nvPr/>
        </p:nvPicPr>
        <p:blipFill>
          <a:blip r:embed="rId16"/>
          <a:stretch>
            <a:fillRect/>
          </a:stretch>
        </p:blipFill>
        <p:spPr>
          <a:xfrm>
            <a:off x="6489819" y="3734987"/>
            <a:ext cx="212812" cy="212812"/>
          </a:xfrm>
          <a:prstGeom prst="rect">
            <a:avLst/>
          </a:prstGeom>
        </p:spPr>
      </p:pic>
      <p:sp>
        <p:nvSpPr>
          <p:cNvPr id="735" name="Text 94">
            <a:extLst>
              <a:ext uri="{FF2B5EF4-FFF2-40B4-BE49-F238E27FC236}">
                <a16:creationId xmlns:a16="http://schemas.microsoft.com/office/drawing/2014/main" id="{3696E130-9B79-11CE-9890-099330A62451}"/>
              </a:ext>
            </a:extLst>
          </p:cNvPr>
          <p:cNvSpPr txBox="1"/>
          <p:nvPr/>
        </p:nvSpPr>
        <p:spPr>
          <a:xfrm>
            <a:off x="6048996" y="3993401"/>
            <a:ext cx="1094459" cy="136808"/>
          </a:xfrm>
          <a:prstGeom prst="rect">
            <a:avLst/>
          </a:prstGeom>
          <a:noFill/>
          <a:ln/>
        </p:spPr>
        <p:txBody>
          <a:bodyPr wrap="square" lIns="0" tIns="0" rIns="0" bIns="0" rtlCol="0" anchor="ctr"/>
          <a:lstStyle/>
          <a:p>
            <a:pPr algn="ctr">
              <a:lnSpc>
                <a:spcPct val="93000"/>
              </a:lnSpc>
            </a:pPr>
            <a:r>
              <a:rPr lang="en-US" sz="858" b="1" dirty="0">
                <a:solidFill>
                  <a:srgbClr val="11397C"/>
                </a:solidFill>
                <a:latin typeface="Calibri" pitchFamily="34" charset="0"/>
                <a:ea typeface="Calibri" pitchFamily="34" charset="-122"/>
                <a:cs typeface="Calibri" pitchFamily="34" charset="-120"/>
              </a:rPr>
              <a:t>Saga Orchestration</a:t>
            </a:r>
            <a:endParaRPr lang="en-US" sz="858" dirty="0"/>
          </a:p>
        </p:txBody>
      </p:sp>
      <p:sp>
        <p:nvSpPr>
          <p:cNvPr id="737" name="Text 95">
            <a:extLst>
              <a:ext uri="{FF2B5EF4-FFF2-40B4-BE49-F238E27FC236}">
                <a16:creationId xmlns:a16="http://schemas.microsoft.com/office/drawing/2014/main" id="{BF5682A4-BBFE-6A1A-5860-631D05D4A93A}"/>
              </a:ext>
            </a:extLst>
          </p:cNvPr>
          <p:cNvSpPr txBox="1"/>
          <p:nvPr/>
        </p:nvSpPr>
        <p:spPr>
          <a:xfrm>
            <a:off x="6048996" y="4130208"/>
            <a:ext cx="1094459" cy="304016"/>
          </a:xfrm>
          <a:prstGeom prst="rect">
            <a:avLst/>
          </a:prstGeom>
          <a:noFill/>
          <a:ln/>
        </p:spPr>
        <p:txBody>
          <a:bodyPr wrap="square" lIns="0" tIns="0" rIns="0" bIns="0" rtlCol="0" anchor="ctr"/>
          <a:lstStyle/>
          <a:p>
            <a:pPr algn="ctr">
              <a:lnSpc>
                <a:spcPct val="95000"/>
              </a:lnSpc>
            </a:pPr>
            <a:r>
              <a:rPr lang="en-US" sz="718" dirty="0">
                <a:solidFill>
                  <a:srgbClr val="2A6099"/>
                </a:solidFill>
                <a:latin typeface="Calibri" pitchFamily="34" charset="0"/>
                <a:ea typeface="Calibri" pitchFamily="34" charset="-122"/>
                <a:cs typeface="Calibri" pitchFamily="34" charset="-120"/>
              </a:rPr>
              <a:t>Distributed transaction consistency</a:t>
            </a:r>
            <a:endParaRPr lang="en-US" sz="718" dirty="0"/>
          </a:p>
          <a:p>
            <a:pPr algn="ctr">
              <a:lnSpc>
                <a:spcPct val="95000"/>
              </a:lnSpc>
            </a:pPr>
            <a:r>
              <a:rPr lang="en-US" sz="718" dirty="0">
                <a:solidFill>
                  <a:srgbClr val="2A6099"/>
                </a:solidFill>
                <a:latin typeface="Calibri" pitchFamily="34" charset="0"/>
                <a:ea typeface="Calibri" pitchFamily="34" charset="-122"/>
                <a:cs typeface="Calibri" pitchFamily="34" charset="-120"/>
              </a:rPr>
              <a:t>compensating actions</a:t>
            </a:r>
            <a:endParaRPr lang="en-US" sz="718" dirty="0"/>
          </a:p>
        </p:txBody>
      </p:sp>
      <p:sp>
        <p:nvSpPr>
          <p:cNvPr id="741" name="Shape 96">
            <a:extLst>
              <a:ext uri="{FF2B5EF4-FFF2-40B4-BE49-F238E27FC236}">
                <a16:creationId xmlns:a16="http://schemas.microsoft.com/office/drawing/2014/main" id="{8F979074-181C-7E01-0E06-FC45C0C743E0}"/>
              </a:ext>
            </a:extLst>
          </p:cNvPr>
          <p:cNvSpPr/>
          <p:nvPr/>
        </p:nvSpPr>
        <p:spPr>
          <a:xfrm>
            <a:off x="7234659" y="3552577"/>
            <a:ext cx="1155262" cy="927250"/>
          </a:xfrm>
          <a:prstGeom prst="roundRect">
            <a:avLst>
              <a:gd name="adj" fmla="val 3935"/>
            </a:avLst>
          </a:prstGeom>
          <a:solidFill>
            <a:srgbClr val="FFFFFF"/>
          </a:solidFill>
          <a:ln w="12700">
            <a:solidFill>
              <a:srgbClr val="CFE0F0"/>
            </a:solidFill>
            <a:prstDash val="solid"/>
          </a:ln>
        </p:spPr>
        <p:txBody>
          <a:bodyPr/>
          <a:lstStyle/>
          <a:p>
            <a:endParaRPr lang="en-IN"/>
          </a:p>
        </p:txBody>
      </p:sp>
      <p:pic>
        <p:nvPicPr>
          <p:cNvPr id="745" name="Image 17" descr="preencoded.png">
            <a:extLst>
              <a:ext uri="{FF2B5EF4-FFF2-40B4-BE49-F238E27FC236}">
                <a16:creationId xmlns:a16="http://schemas.microsoft.com/office/drawing/2014/main" id="{90811082-B147-D5A6-8B7C-9285E060D284}"/>
              </a:ext>
            </a:extLst>
          </p:cNvPr>
          <p:cNvPicPr>
            <a:picLocks noChangeAspect="1"/>
          </p:cNvPicPr>
          <p:nvPr/>
        </p:nvPicPr>
        <p:blipFill>
          <a:blip r:embed="rId17"/>
          <a:stretch>
            <a:fillRect/>
          </a:stretch>
        </p:blipFill>
        <p:spPr>
          <a:xfrm>
            <a:off x="7705884" y="3734987"/>
            <a:ext cx="212812" cy="212812"/>
          </a:xfrm>
          <a:prstGeom prst="rect">
            <a:avLst/>
          </a:prstGeom>
        </p:spPr>
      </p:pic>
      <p:sp>
        <p:nvSpPr>
          <p:cNvPr id="749" name="Text 97">
            <a:extLst>
              <a:ext uri="{FF2B5EF4-FFF2-40B4-BE49-F238E27FC236}">
                <a16:creationId xmlns:a16="http://schemas.microsoft.com/office/drawing/2014/main" id="{75592237-EA30-564A-05F4-BFE5D7EB1119}"/>
              </a:ext>
            </a:extLst>
          </p:cNvPr>
          <p:cNvSpPr txBox="1"/>
          <p:nvPr/>
        </p:nvSpPr>
        <p:spPr>
          <a:xfrm>
            <a:off x="7265060" y="3993401"/>
            <a:ext cx="1094459" cy="136808"/>
          </a:xfrm>
          <a:prstGeom prst="rect">
            <a:avLst/>
          </a:prstGeom>
          <a:noFill/>
          <a:ln/>
        </p:spPr>
        <p:txBody>
          <a:bodyPr wrap="square" lIns="0" tIns="0" rIns="0" bIns="0" rtlCol="0" anchor="ctr"/>
          <a:lstStyle/>
          <a:p>
            <a:pPr algn="ctr">
              <a:lnSpc>
                <a:spcPct val="93000"/>
              </a:lnSpc>
            </a:pPr>
            <a:r>
              <a:rPr lang="en-US" sz="818" b="1" dirty="0">
                <a:solidFill>
                  <a:srgbClr val="11397C"/>
                </a:solidFill>
                <a:latin typeface="Calibri" pitchFamily="34" charset="0"/>
                <a:ea typeface="Calibri" pitchFamily="34" charset="-122"/>
                <a:cs typeface="Calibri" pitchFamily="34" charset="-120"/>
              </a:rPr>
              <a:t>Shared Platform Services</a:t>
            </a:r>
            <a:endParaRPr lang="en-US" sz="818" dirty="0"/>
          </a:p>
        </p:txBody>
      </p:sp>
      <p:sp>
        <p:nvSpPr>
          <p:cNvPr id="753" name="Text 98">
            <a:extLst>
              <a:ext uri="{FF2B5EF4-FFF2-40B4-BE49-F238E27FC236}">
                <a16:creationId xmlns:a16="http://schemas.microsoft.com/office/drawing/2014/main" id="{69A58A2A-F731-FFB3-B046-59EF65329221}"/>
              </a:ext>
            </a:extLst>
          </p:cNvPr>
          <p:cNvSpPr txBox="1"/>
          <p:nvPr/>
        </p:nvSpPr>
        <p:spPr>
          <a:xfrm>
            <a:off x="7265060" y="4130208"/>
            <a:ext cx="1094459" cy="304016"/>
          </a:xfrm>
          <a:prstGeom prst="rect">
            <a:avLst/>
          </a:prstGeom>
          <a:noFill/>
          <a:ln/>
        </p:spPr>
        <p:txBody>
          <a:bodyPr wrap="square" lIns="0" tIns="0" rIns="0" bIns="0" rtlCol="0" anchor="ctr"/>
          <a:lstStyle/>
          <a:p>
            <a:pPr algn="ctr">
              <a:lnSpc>
                <a:spcPct val="95000"/>
              </a:lnSpc>
            </a:pPr>
            <a:r>
              <a:rPr lang="en-US" sz="718" dirty="0">
                <a:solidFill>
                  <a:srgbClr val="2A6099"/>
                </a:solidFill>
                <a:latin typeface="Calibri" pitchFamily="34" charset="0"/>
                <a:ea typeface="Calibri" pitchFamily="34" charset="-122"/>
                <a:cs typeface="Calibri" pitchFamily="34" charset="-120"/>
              </a:rPr>
              <a:t>Configuration  ·  service</a:t>
            </a:r>
            <a:endParaRPr lang="en-US" sz="718" dirty="0"/>
          </a:p>
          <a:p>
            <a:pPr algn="ctr">
              <a:lnSpc>
                <a:spcPct val="95000"/>
              </a:lnSpc>
            </a:pPr>
            <a:r>
              <a:rPr lang="en-US" sz="718" dirty="0">
                <a:solidFill>
                  <a:srgbClr val="2A6099"/>
                </a:solidFill>
                <a:latin typeface="Calibri" pitchFamily="34" charset="0"/>
                <a:ea typeface="Calibri" pitchFamily="34" charset="-122"/>
                <a:cs typeface="Calibri" pitchFamily="34" charset="-120"/>
              </a:rPr>
              <a:t>discovery  ·  resilience</a:t>
            </a:r>
            <a:endParaRPr lang="en-US" sz="718" dirty="0"/>
          </a:p>
        </p:txBody>
      </p:sp>
      <p:sp>
        <p:nvSpPr>
          <p:cNvPr id="757" name="Shape 99">
            <a:extLst>
              <a:ext uri="{FF2B5EF4-FFF2-40B4-BE49-F238E27FC236}">
                <a16:creationId xmlns:a16="http://schemas.microsoft.com/office/drawing/2014/main" id="{B4BF01F1-2943-07BF-CA4B-3D29055FDC97}"/>
              </a:ext>
            </a:extLst>
          </p:cNvPr>
          <p:cNvSpPr/>
          <p:nvPr/>
        </p:nvSpPr>
        <p:spPr>
          <a:xfrm>
            <a:off x="5927389" y="4631835"/>
            <a:ext cx="2553737" cy="836045"/>
          </a:xfrm>
          <a:prstGeom prst="roundRect">
            <a:avLst>
              <a:gd name="adj" fmla="val 5455"/>
            </a:avLst>
          </a:prstGeom>
          <a:solidFill>
            <a:srgbClr val="EFF6FD"/>
          </a:solidFill>
          <a:ln w="12700">
            <a:solidFill>
              <a:srgbClr val="C4DEF5"/>
            </a:solidFill>
            <a:prstDash val="solid"/>
          </a:ln>
        </p:spPr>
        <p:txBody>
          <a:bodyPr/>
          <a:lstStyle/>
          <a:p>
            <a:endParaRPr lang="en-IN"/>
          </a:p>
        </p:txBody>
      </p:sp>
      <p:sp>
        <p:nvSpPr>
          <p:cNvPr id="761" name="Text 100">
            <a:extLst>
              <a:ext uri="{FF2B5EF4-FFF2-40B4-BE49-F238E27FC236}">
                <a16:creationId xmlns:a16="http://schemas.microsoft.com/office/drawing/2014/main" id="{DE670D55-CB92-2517-9287-697B083E32B4}"/>
              </a:ext>
            </a:extLst>
          </p:cNvPr>
          <p:cNvSpPr txBox="1"/>
          <p:nvPr/>
        </p:nvSpPr>
        <p:spPr>
          <a:xfrm>
            <a:off x="5927389" y="4662237"/>
            <a:ext cx="2553737" cy="152008"/>
          </a:xfrm>
          <a:prstGeom prst="rect">
            <a:avLst/>
          </a:prstGeom>
          <a:noFill/>
          <a:ln/>
        </p:spPr>
        <p:txBody>
          <a:bodyPr wrap="square" lIns="0" tIns="0" rIns="0" bIns="0" rtlCol="0" anchor="ctr"/>
          <a:lstStyle/>
          <a:p>
            <a:pPr algn="ctr">
              <a:lnSpc>
                <a:spcPct val="93000"/>
              </a:lnSpc>
            </a:pPr>
            <a:r>
              <a:rPr lang="en-US" sz="998" b="1" dirty="0">
                <a:solidFill>
                  <a:srgbClr val="1B4F8A"/>
                </a:solidFill>
                <a:latin typeface="Calibri" pitchFamily="34" charset="0"/>
                <a:ea typeface="Calibri" pitchFamily="34" charset="-122"/>
                <a:cs typeface="Calibri" pitchFamily="34" charset="-120"/>
              </a:rPr>
              <a:t>Integration Services</a:t>
            </a:r>
            <a:endParaRPr lang="en-US" sz="998" dirty="0"/>
          </a:p>
        </p:txBody>
      </p:sp>
      <p:sp>
        <p:nvSpPr>
          <p:cNvPr id="765" name="Shape 101">
            <a:extLst>
              <a:ext uri="{FF2B5EF4-FFF2-40B4-BE49-F238E27FC236}">
                <a16:creationId xmlns:a16="http://schemas.microsoft.com/office/drawing/2014/main" id="{62151482-4A5D-AB42-C521-0089EEE54120}"/>
              </a:ext>
            </a:extLst>
          </p:cNvPr>
          <p:cNvSpPr/>
          <p:nvPr/>
        </p:nvSpPr>
        <p:spPr>
          <a:xfrm>
            <a:off x="6018594" y="4844647"/>
            <a:ext cx="1155262" cy="516828"/>
          </a:xfrm>
          <a:prstGeom prst="roundRect">
            <a:avLst>
              <a:gd name="adj" fmla="val 7059"/>
            </a:avLst>
          </a:prstGeom>
          <a:solidFill>
            <a:srgbClr val="FFFFFF"/>
          </a:solidFill>
          <a:ln w="12700">
            <a:solidFill>
              <a:srgbClr val="CFE0F0"/>
            </a:solidFill>
            <a:prstDash val="solid"/>
          </a:ln>
        </p:spPr>
        <p:txBody>
          <a:bodyPr/>
          <a:lstStyle/>
          <a:p>
            <a:endParaRPr lang="en-IN"/>
          </a:p>
        </p:txBody>
      </p:sp>
      <p:sp>
        <p:nvSpPr>
          <p:cNvPr id="769" name="Text 102">
            <a:extLst>
              <a:ext uri="{FF2B5EF4-FFF2-40B4-BE49-F238E27FC236}">
                <a16:creationId xmlns:a16="http://schemas.microsoft.com/office/drawing/2014/main" id="{03E9A914-AF90-0669-C92C-E1E5C191CCDE}"/>
              </a:ext>
            </a:extLst>
          </p:cNvPr>
          <p:cNvSpPr txBox="1"/>
          <p:nvPr/>
        </p:nvSpPr>
        <p:spPr>
          <a:xfrm>
            <a:off x="6048996" y="4844647"/>
            <a:ext cx="1094459" cy="516828"/>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API Integration</a:t>
            </a:r>
            <a:endParaRPr lang="en-US" sz="838" dirty="0"/>
          </a:p>
          <a:p>
            <a:pPr algn="ctr">
              <a:lnSpc>
                <a:spcPct val="93000"/>
              </a:lnSpc>
            </a:pPr>
            <a:r>
              <a:rPr lang="en-US" sz="838" b="1" dirty="0">
                <a:solidFill>
                  <a:srgbClr val="1B3A66"/>
                </a:solidFill>
                <a:latin typeface="Calibri" pitchFamily="34" charset="0"/>
                <a:ea typeface="Calibri" pitchFamily="34" charset="-122"/>
                <a:cs typeface="Calibri" pitchFamily="34" charset="-120"/>
              </a:rPr>
              <a:t>(REST / HTTPS)</a:t>
            </a:r>
            <a:endParaRPr lang="en-US" sz="838" dirty="0"/>
          </a:p>
        </p:txBody>
      </p:sp>
      <p:sp>
        <p:nvSpPr>
          <p:cNvPr id="773" name="Shape 103">
            <a:extLst>
              <a:ext uri="{FF2B5EF4-FFF2-40B4-BE49-F238E27FC236}">
                <a16:creationId xmlns:a16="http://schemas.microsoft.com/office/drawing/2014/main" id="{B34E05C0-EC0F-F61A-C19D-541880956777}"/>
              </a:ext>
            </a:extLst>
          </p:cNvPr>
          <p:cNvSpPr/>
          <p:nvPr/>
        </p:nvSpPr>
        <p:spPr>
          <a:xfrm>
            <a:off x="7234659" y="4844647"/>
            <a:ext cx="1155262" cy="516828"/>
          </a:xfrm>
          <a:prstGeom prst="roundRect">
            <a:avLst>
              <a:gd name="adj" fmla="val 7059"/>
            </a:avLst>
          </a:prstGeom>
          <a:solidFill>
            <a:srgbClr val="FFFFFF"/>
          </a:solidFill>
          <a:ln w="12700">
            <a:solidFill>
              <a:srgbClr val="CFE0F0"/>
            </a:solidFill>
            <a:prstDash val="solid"/>
          </a:ln>
        </p:spPr>
        <p:txBody>
          <a:bodyPr/>
          <a:lstStyle/>
          <a:p>
            <a:endParaRPr lang="en-IN"/>
          </a:p>
        </p:txBody>
      </p:sp>
      <p:sp>
        <p:nvSpPr>
          <p:cNvPr id="777" name="Text 104">
            <a:extLst>
              <a:ext uri="{FF2B5EF4-FFF2-40B4-BE49-F238E27FC236}">
                <a16:creationId xmlns:a16="http://schemas.microsoft.com/office/drawing/2014/main" id="{75D82FF6-933E-8C22-3196-F3E186500493}"/>
              </a:ext>
            </a:extLst>
          </p:cNvPr>
          <p:cNvSpPr txBox="1"/>
          <p:nvPr/>
        </p:nvSpPr>
        <p:spPr>
          <a:xfrm>
            <a:off x="7265060" y="4844647"/>
            <a:ext cx="1094459" cy="516828"/>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Event Integration</a:t>
            </a:r>
            <a:endParaRPr lang="en-US" sz="838" dirty="0"/>
          </a:p>
          <a:p>
            <a:pPr algn="ctr">
              <a:lnSpc>
                <a:spcPct val="93000"/>
              </a:lnSpc>
            </a:pPr>
            <a:r>
              <a:rPr lang="en-US" sz="838" b="1" dirty="0">
                <a:solidFill>
                  <a:srgbClr val="1B3A66"/>
                </a:solidFill>
                <a:latin typeface="Calibri" pitchFamily="34" charset="0"/>
                <a:ea typeface="Calibri" pitchFamily="34" charset="-122"/>
                <a:cs typeface="Calibri" pitchFamily="34" charset="-120"/>
              </a:rPr>
              <a:t>(Async)</a:t>
            </a:r>
            <a:endParaRPr lang="en-US" sz="838" dirty="0"/>
          </a:p>
        </p:txBody>
      </p:sp>
      <p:sp>
        <p:nvSpPr>
          <p:cNvPr id="781" name="Shape 105">
            <a:extLst>
              <a:ext uri="{FF2B5EF4-FFF2-40B4-BE49-F238E27FC236}">
                <a16:creationId xmlns:a16="http://schemas.microsoft.com/office/drawing/2014/main" id="{F1F10021-2892-9418-5D97-D5A8DCEB1F87}"/>
              </a:ext>
            </a:extLst>
          </p:cNvPr>
          <p:cNvSpPr/>
          <p:nvPr/>
        </p:nvSpPr>
        <p:spPr>
          <a:xfrm>
            <a:off x="9028355" y="1409262"/>
            <a:ext cx="2736146" cy="942450"/>
          </a:xfrm>
          <a:prstGeom prst="roundRect">
            <a:avLst>
              <a:gd name="adj" fmla="val 4839"/>
            </a:avLst>
          </a:prstGeom>
          <a:solidFill>
            <a:srgbClr val="FFFFFF"/>
          </a:solidFill>
          <a:ln w="12700">
            <a:solidFill>
              <a:srgbClr val="C2DCF0"/>
            </a:solidFill>
            <a:prstDash val="solid"/>
          </a:ln>
        </p:spPr>
        <p:txBody>
          <a:bodyPr/>
          <a:lstStyle/>
          <a:p>
            <a:endParaRPr lang="en-IN"/>
          </a:p>
        </p:txBody>
      </p:sp>
      <p:sp>
        <p:nvSpPr>
          <p:cNvPr id="785" name="Text 106">
            <a:extLst>
              <a:ext uri="{FF2B5EF4-FFF2-40B4-BE49-F238E27FC236}">
                <a16:creationId xmlns:a16="http://schemas.microsoft.com/office/drawing/2014/main" id="{1C10728D-4297-A0DF-BC32-CDE2C22AE66F}"/>
              </a:ext>
            </a:extLst>
          </p:cNvPr>
          <p:cNvSpPr txBox="1"/>
          <p:nvPr/>
        </p:nvSpPr>
        <p:spPr>
          <a:xfrm>
            <a:off x="9119560" y="1454865"/>
            <a:ext cx="2280122" cy="167209"/>
          </a:xfrm>
          <a:prstGeom prst="rect">
            <a:avLst/>
          </a:prstGeom>
          <a:noFill/>
          <a:ln/>
        </p:spPr>
        <p:txBody>
          <a:bodyPr wrap="square" lIns="0" tIns="0" rIns="0" bIns="0" rtlCol="0" anchor="ctr"/>
          <a:lstStyle/>
          <a:p>
            <a:pPr>
              <a:lnSpc>
                <a:spcPct val="93000"/>
              </a:lnSpc>
            </a:pPr>
            <a:r>
              <a:rPr lang="en-US" sz="1047" b="1" dirty="0">
                <a:solidFill>
                  <a:srgbClr val="1B4F8A"/>
                </a:solidFill>
                <a:latin typeface="Calibri" pitchFamily="34" charset="0"/>
                <a:ea typeface="Calibri" pitchFamily="34" charset="-122"/>
                <a:cs typeface="Calibri" pitchFamily="34" charset="-120"/>
              </a:rPr>
              <a:t>External Integration</a:t>
            </a:r>
            <a:endParaRPr lang="en-US" sz="1047" dirty="0"/>
          </a:p>
        </p:txBody>
      </p:sp>
      <p:sp>
        <p:nvSpPr>
          <p:cNvPr id="789" name="Shape 107">
            <a:extLst>
              <a:ext uri="{FF2B5EF4-FFF2-40B4-BE49-F238E27FC236}">
                <a16:creationId xmlns:a16="http://schemas.microsoft.com/office/drawing/2014/main" id="{B96A0C2E-07C6-5A12-603C-FFFB401C4BC5}"/>
              </a:ext>
            </a:extLst>
          </p:cNvPr>
          <p:cNvSpPr/>
          <p:nvPr/>
        </p:nvSpPr>
        <p:spPr>
          <a:xfrm>
            <a:off x="9119560" y="1637274"/>
            <a:ext cx="2553737" cy="319217"/>
          </a:xfrm>
          <a:prstGeom prst="roundRect">
            <a:avLst>
              <a:gd name="adj" fmla="val 14286"/>
            </a:avLst>
          </a:prstGeom>
          <a:solidFill>
            <a:srgbClr val="FFFFFF"/>
          </a:solidFill>
          <a:ln w="12700">
            <a:solidFill>
              <a:srgbClr val="C2DCF0"/>
            </a:solidFill>
            <a:prstDash val="solid"/>
          </a:ln>
        </p:spPr>
        <p:txBody>
          <a:bodyPr/>
          <a:lstStyle/>
          <a:p>
            <a:endParaRPr lang="en-IN"/>
          </a:p>
        </p:txBody>
      </p:sp>
      <p:pic>
        <p:nvPicPr>
          <p:cNvPr id="793" name="Image 18" descr="preencoded.png">
            <a:extLst>
              <a:ext uri="{FF2B5EF4-FFF2-40B4-BE49-F238E27FC236}">
                <a16:creationId xmlns:a16="http://schemas.microsoft.com/office/drawing/2014/main" id="{1362D98F-146E-D1FE-7CAD-2E204EE68039}"/>
              </a:ext>
            </a:extLst>
          </p:cNvPr>
          <p:cNvPicPr>
            <a:picLocks noChangeAspect="1"/>
          </p:cNvPicPr>
          <p:nvPr/>
        </p:nvPicPr>
        <p:blipFill>
          <a:blip r:embed="rId18"/>
          <a:stretch>
            <a:fillRect/>
          </a:stretch>
        </p:blipFill>
        <p:spPr>
          <a:xfrm>
            <a:off x="9210765" y="1698078"/>
            <a:ext cx="197611" cy="197611"/>
          </a:xfrm>
          <a:prstGeom prst="rect">
            <a:avLst/>
          </a:prstGeom>
        </p:spPr>
      </p:pic>
      <p:sp>
        <p:nvSpPr>
          <p:cNvPr id="797" name="Text 108">
            <a:extLst>
              <a:ext uri="{FF2B5EF4-FFF2-40B4-BE49-F238E27FC236}">
                <a16:creationId xmlns:a16="http://schemas.microsoft.com/office/drawing/2014/main" id="{7FB75C55-2686-C5BB-E0E1-7ECCFF189D9C}"/>
              </a:ext>
            </a:extLst>
          </p:cNvPr>
          <p:cNvSpPr txBox="1"/>
          <p:nvPr/>
        </p:nvSpPr>
        <p:spPr>
          <a:xfrm>
            <a:off x="9469178" y="1637274"/>
            <a:ext cx="2082512" cy="319217"/>
          </a:xfrm>
          <a:prstGeom prst="rect">
            <a:avLst/>
          </a:prstGeom>
          <a:noFill/>
          <a:ln/>
        </p:spPr>
        <p:txBody>
          <a:bodyPr wrap="square" lIns="0" tIns="0" rIns="0" bIns="0" rtlCol="0" anchor="ctr"/>
          <a:lstStyle/>
          <a:p>
            <a:pPr>
              <a:lnSpc>
                <a:spcPct val="93000"/>
              </a:lnSpc>
            </a:pPr>
            <a:r>
              <a:rPr lang="en-US" sz="838" b="1" dirty="0">
                <a:solidFill>
                  <a:srgbClr val="11397C"/>
                </a:solidFill>
                <a:latin typeface="Calibri" pitchFamily="34" charset="0"/>
                <a:ea typeface="Calibri" pitchFamily="34" charset="-122"/>
                <a:cs typeface="Calibri" pitchFamily="34" charset="-120"/>
              </a:rPr>
              <a:t>PAS Application  ·  Other External Systems</a:t>
            </a:r>
            <a:endParaRPr lang="en-US" sz="838" dirty="0"/>
          </a:p>
        </p:txBody>
      </p:sp>
      <p:sp>
        <p:nvSpPr>
          <p:cNvPr id="801" name="Shape 109">
            <a:extLst>
              <a:ext uri="{FF2B5EF4-FFF2-40B4-BE49-F238E27FC236}">
                <a16:creationId xmlns:a16="http://schemas.microsoft.com/office/drawing/2014/main" id="{6BD45F1E-ABB2-370E-D793-0CB9B98C76BC}"/>
              </a:ext>
            </a:extLst>
          </p:cNvPr>
          <p:cNvSpPr/>
          <p:nvPr/>
        </p:nvSpPr>
        <p:spPr>
          <a:xfrm>
            <a:off x="9119560" y="1986894"/>
            <a:ext cx="2553737" cy="319217"/>
          </a:xfrm>
          <a:prstGeom prst="roundRect">
            <a:avLst>
              <a:gd name="adj" fmla="val 14286"/>
            </a:avLst>
          </a:prstGeom>
          <a:solidFill>
            <a:srgbClr val="FFFFFF"/>
          </a:solidFill>
          <a:ln w="12700">
            <a:solidFill>
              <a:srgbClr val="C2DCF0"/>
            </a:solidFill>
            <a:prstDash val="solid"/>
          </a:ln>
        </p:spPr>
        <p:txBody>
          <a:bodyPr/>
          <a:lstStyle/>
          <a:p>
            <a:endParaRPr lang="en-IN"/>
          </a:p>
        </p:txBody>
      </p:sp>
      <p:pic>
        <p:nvPicPr>
          <p:cNvPr id="805" name="Image 19" descr="preencoded.png">
            <a:extLst>
              <a:ext uri="{FF2B5EF4-FFF2-40B4-BE49-F238E27FC236}">
                <a16:creationId xmlns:a16="http://schemas.microsoft.com/office/drawing/2014/main" id="{15354414-CE92-31EF-EAF1-24F20A8C7245}"/>
              </a:ext>
            </a:extLst>
          </p:cNvPr>
          <p:cNvPicPr>
            <a:picLocks noChangeAspect="1"/>
          </p:cNvPicPr>
          <p:nvPr/>
        </p:nvPicPr>
        <p:blipFill>
          <a:blip r:embed="rId19"/>
          <a:stretch>
            <a:fillRect/>
          </a:stretch>
        </p:blipFill>
        <p:spPr>
          <a:xfrm>
            <a:off x="9210765" y="2047697"/>
            <a:ext cx="197611" cy="197611"/>
          </a:xfrm>
          <a:prstGeom prst="rect">
            <a:avLst/>
          </a:prstGeom>
        </p:spPr>
      </p:pic>
      <p:sp>
        <p:nvSpPr>
          <p:cNvPr id="809" name="Text 110">
            <a:extLst>
              <a:ext uri="{FF2B5EF4-FFF2-40B4-BE49-F238E27FC236}">
                <a16:creationId xmlns:a16="http://schemas.microsoft.com/office/drawing/2014/main" id="{3588BACA-AD50-CD1F-65F8-36433894C179}"/>
              </a:ext>
            </a:extLst>
          </p:cNvPr>
          <p:cNvSpPr txBox="1"/>
          <p:nvPr/>
        </p:nvSpPr>
        <p:spPr>
          <a:xfrm>
            <a:off x="9469178" y="1986894"/>
            <a:ext cx="2082512" cy="319217"/>
          </a:xfrm>
          <a:prstGeom prst="rect">
            <a:avLst/>
          </a:prstGeom>
          <a:noFill/>
          <a:ln/>
        </p:spPr>
        <p:txBody>
          <a:bodyPr wrap="square" lIns="0" tIns="0" rIns="0" bIns="0" rtlCol="0" anchor="ctr"/>
          <a:lstStyle/>
          <a:p>
            <a:pPr>
              <a:lnSpc>
                <a:spcPct val="93000"/>
              </a:lnSpc>
            </a:pPr>
            <a:r>
              <a:rPr lang="en-US" sz="878" b="1" dirty="0">
                <a:solidFill>
                  <a:srgbClr val="11397C"/>
                </a:solidFill>
                <a:latin typeface="Calibri" pitchFamily="34" charset="0"/>
                <a:ea typeface="Calibri" pitchFamily="34" charset="-122"/>
                <a:cs typeface="Calibri" pitchFamily="34" charset="-120"/>
              </a:rPr>
              <a:t>Email / Notification Gateway</a:t>
            </a:r>
            <a:endParaRPr lang="en-US" sz="878" dirty="0"/>
          </a:p>
        </p:txBody>
      </p:sp>
      <p:sp>
        <p:nvSpPr>
          <p:cNvPr id="813" name="Shape 111">
            <a:extLst>
              <a:ext uri="{FF2B5EF4-FFF2-40B4-BE49-F238E27FC236}">
                <a16:creationId xmlns:a16="http://schemas.microsoft.com/office/drawing/2014/main" id="{7532DC21-4423-396F-515A-32ACA9DE34A7}"/>
              </a:ext>
            </a:extLst>
          </p:cNvPr>
          <p:cNvSpPr/>
          <p:nvPr/>
        </p:nvSpPr>
        <p:spPr>
          <a:xfrm>
            <a:off x="9028355" y="2442918"/>
            <a:ext cx="2736146" cy="3131368"/>
          </a:xfrm>
          <a:prstGeom prst="roundRect">
            <a:avLst>
              <a:gd name="adj" fmla="val 1667"/>
            </a:avLst>
          </a:prstGeom>
          <a:solidFill>
            <a:srgbClr val="F4F2FC"/>
          </a:solidFill>
          <a:ln w="12700">
            <a:solidFill>
              <a:srgbClr val="CFC7EC"/>
            </a:solidFill>
            <a:prstDash val="solid"/>
          </a:ln>
        </p:spPr>
        <p:txBody>
          <a:bodyPr/>
          <a:lstStyle/>
          <a:p>
            <a:endParaRPr lang="en-IN"/>
          </a:p>
        </p:txBody>
      </p:sp>
      <p:sp>
        <p:nvSpPr>
          <p:cNvPr id="817" name="Text 112">
            <a:extLst>
              <a:ext uri="{FF2B5EF4-FFF2-40B4-BE49-F238E27FC236}">
                <a16:creationId xmlns:a16="http://schemas.microsoft.com/office/drawing/2014/main" id="{50E067C9-66C3-B1B2-88B0-BBE04AC9620A}"/>
              </a:ext>
            </a:extLst>
          </p:cNvPr>
          <p:cNvSpPr txBox="1"/>
          <p:nvPr/>
        </p:nvSpPr>
        <p:spPr>
          <a:xfrm>
            <a:off x="9119560" y="2488521"/>
            <a:ext cx="2280122" cy="182409"/>
          </a:xfrm>
          <a:prstGeom prst="rect">
            <a:avLst/>
          </a:prstGeom>
          <a:noFill/>
          <a:ln/>
        </p:spPr>
        <p:txBody>
          <a:bodyPr wrap="square" lIns="0" tIns="0" rIns="0" bIns="0" rtlCol="0" anchor="ctr"/>
          <a:lstStyle/>
          <a:p>
            <a:pPr>
              <a:lnSpc>
                <a:spcPct val="93000"/>
              </a:lnSpc>
            </a:pPr>
            <a:r>
              <a:rPr lang="en-US" sz="1047" b="1" dirty="0">
                <a:solidFill>
                  <a:srgbClr val="4B3E8E"/>
                </a:solidFill>
                <a:latin typeface="Calibri" pitchFamily="34" charset="0"/>
                <a:ea typeface="Calibri" pitchFamily="34" charset="-122"/>
                <a:cs typeface="Calibri" pitchFamily="34" charset="-120"/>
              </a:rPr>
              <a:t>Data &amp; Messaging</a:t>
            </a:r>
            <a:endParaRPr lang="en-US" sz="1047" dirty="0"/>
          </a:p>
        </p:txBody>
      </p:sp>
      <p:sp>
        <p:nvSpPr>
          <p:cNvPr id="821" name="Shape 113">
            <a:extLst>
              <a:ext uri="{FF2B5EF4-FFF2-40B4-BE49-F238E27FC236}">
                <a16:creationId xmlns:a16="http://schemas.microsoft.com/office/drawing/2014/main" id="{5ACE6DC1-4FC9-738B-CDC7-474B98FBEBD0}"/>
              </a:ext>
            </a:extLst>
          </p:cNvPr>
          <p:cNvSpPr/>
          <p:nvPr/>
        </p:nvSpPr>
        <p:spPr>
          <a:xfrm>
            <a:off x="9119560" y="2655729"/>
            <a:ext cx="2553737" cy="942450"/>
          </a:xfrm>
          <a:prstGeom prst="roundRect">
            <a:avLst>
              <a:gd name="adj" fmla="val 3871"/>
            </a:avLst>
          </a:prstGeom>
          <a:solidFill>
            <a:srgbClr val="FFFFFF"/>
          </a:solidFill>
          <a:ln w="12700">
            <a:solidFill>
              <a:srgbClr val="D8D2F0"/>
            </a:solidFill>
            <a:prstDash val="solid"/>
          </a:ln>
        </p:spPr>
        <p:txBody>
          <a:bodyPr/>
          <a:lstStyle/>
          <a:p>
            <a:endParaRPr lang="en-IN"/>
          </a:p>
        </p:txBody>
      </p:sp>
      <p:pic>
        <p:nvPicPr>
          <p:cNvPr id="825" name="Image 20" descr="preencoded.png">
            <a:extLst>
              <a:ext uri="{FF2B5EF4-FFF2-40B4-BE49-F238E27FC236}">
                <a16:creationId xmlns:a16="http://schemas.microsoft.com/office/drawing/2014/main" id="{C632FA33-5CCB-7CF3-6984-FB8C0100E85C}"/>
              </a:ext>
            </a:extLst>
          </p:cNvPr>
          <p:cNvPicPr>
            <a:picLocks noChangeAspect="1"/>
          </p:cNvPicPr>
          <p:nvPr/>
        </p:nvPicPr>
        <p:blipFill>
          <a:blip r:embed="rId20"/>
          <a:stretch>
            <a:fillRect/>
          </a:stretch>
        </p:blipFill>
        <p:spPr>
          <a:xfrm>
            <a:off x="9210765" y="2701332"/>
            <a:ext cx="212812" cy="212812"/>
          </a:xfrm>
          <a:prstGeom prst="rect">
            <a:avLst/>
          </a:prstGeom>
        </p:spPr>
      </p:pic>
      <p:sp>
        <p:nvSpPr>
          <p:cNvPr id="829" name="Text 114">
            <a:extLst>
              <a:ext uri="{FF2B5EF4-FFF2-40B4-BE49-F238E27FC236}">
                <a16:creationId xmlns:a16="http://schemas.microsoft.com/office/drawing/2014/main" id="{4E6B5892-599F-8545-1E0A-F4EEA5219B8E}"/>
              </a:ext>
            </a:extLst>
          </p:cNvPr>
          <p:cNvSpPr txBox="1"/>
          <p:nvPr/>
        </p:nvSpPr>
        <p:spPr>
          <a:xfrm>
            <a:off x="9484379" y="2686131"/>
            <a:ext cx="2006508" cy="136808"/>
          </a:xfrm>
          <a:prstGeom prst="rect">
            <a:avLst/>
          </a:prstGeom>
          <a:noFill/>
          <a:ln/>
        </p:spPr>
        <p:txBody>
          <a:bodyPr wrap="square" lIns="0" tIns="0" rIns="0" bIns="0" rtlCol="0" anchor="ctr"/>
          <a:lstStyle/>
          <a:p>
            <a:pPr>
              <a:lnSpc>
                <a:spcPct val="93000"/>
              </a:lnSpc>
            </a:pPr>
            <a:r>
              <a:rPr lang="en-US" sz="918" b="1" dirty="0">
                <a:solidFill>
                  <a:srgbClr val="11397C"/>
                </a:solidFill>
                <a:latin typeface="Calibri" pitchFamily="34" charset="0"/>
                <a:ea typeface="Calibri" pitchFamily="34" charset="-122"/>
                <a:cs typeface="Calibri" pitchFamily="34" charset="-120"/>
              </a:rPr>
              <a:t>Managed PostgreSQL</a:t>
            </a:r>
            <a:endParaRPr lang="en-US" sz="918" dirty="0"/>
          </a:p>
        </p:txBody>
      </p:sp>
      <p:sp>
        <p:nvSpPr>
          <p:cNvPr id="833" name="Text 115">
            <a:extLst>
              <a:ext uri="{FF2B5EF4-FFF2-40B4-BE49-F238E27FC236}">
                <a16:creationId xmlns:a16="http://schemas.microsoft.com/office/drawing/2014/main" id="{1039A269-16B9-99B5-85FD-895304643F74}"/>
              </a:ext>
            </a:extLst>
          </p:cNvPr>
          <p:cNvSpPr txBox="1"/>
          <p:nvPr/>
        </p:nvSpPr>
        <p:spPr>
          <a:xfrm>
            <a:off x="9484379" y="2822939"/>
            <a:ext cx="2006508" cy="121607"/>
          </a:xfrm>
          <a:prstGeom prst="rect">
            <a:avLst/>
          </a:prstGeom>
          <a:noFill/>
          <a:ln/>
        </p:spPr>
        <p:txBody>
          <a:bodyPr wrap="square" lIns="0" tIns="0" rIns="0" bIns="0" rtlCol="0" anchor="ctr"/>
          <a:lstStyle/>
          <a:p>
            <a:pPr>
              <a:lnSpc>
                <a:spcPct val="93000"/>
              </a:lnSpc>
            </a:pPr>
            <a:r>
              <a:rPr lang="en-US" sz="758" dirty="0">
                <a:solidFill>
                  <a:srgbClr val="2A6099"/>
                </a:solidFill>
                <a:latin typeface="Calibri" pitchFamily="34" charset="0"/>
                <a:ea typeface="Calibri" pitchFamily="34" charset="-122"/>
                <a:cs typeface="Calibri" pitchFamily="34" charset="-120"/>
              </a:rPr>
              <a:t>Single logical database  ·  application &amp; audit data</a:t>
            </a:r>
            <a:endParaRPr lang="en-US" sz="758" dirty="0"/>
          </a:p>
        </p:txBody>
      </p:sp>
      <p:sp>
        <p:nvSpPr>
          <p:cNvPr id="837" name="Shape 116">
            <a:extLst>
              <a:ext uri="{FF2B5EF4-FFF2-40B4-BE49-F238E27FC236}">
                <a16:creationId xmlns:a16="http://schemas.microsoft.com/office/drawing/2014/main" id="{E8B416A2-A819-ACBE-B0EF-FA8AF8B94902}"/>
              </a:ext>
            </a:extLst>
          </p:cNvPr>
          <p:cNvSpPr/>
          <p:nvPr/>
        </p:nvSpPr>
        <p:spPr>
          <a:xfrm>
            <a:off x="9499580" y="2990147"/>
            <a:ext cx="1793696" cy="197611"/>
          </a:xfrm>
          <a:prstGeom prst="roundRect">
            <a:avLst>
              <a:gd name="adj" fmla="val 46155"/>
            </a:avLst>
          </a:prstGeom>
          <a:solidFill>
            <a:srgbClr val="F4F2FC"/>
          </a:solidFill>
          <a:ln w="12700">
            <a:solidFill>
              <a:srgbClr val="BFB6E4"/>
            </a:solidFill>
            <a:prstDash val="solid"/>
          </a:ln>
        </p:spPr>
        <p:txBody>
          <a:bodyPr/>
          <a:lstStyle/>
          <a:p>
            <a:endParaRPr lang="en-IN"/>
          </a:p>
        </p:txBody>
      </p:sp>
      <p:sp>
        <p:nvSpPr>
          <p:cNvPr id="841" name="Text 117">
            <a:extLst>
              <a:ext uri="{FF2B5EF4-FFF2-40B4-BE49-F238E27FC236}">
                <a16:creationId xmlns:a16="http://schemas.microsoft.com/office/drawing/2014/main" id="{15178A49-1DF4-8569-EE9C-3AE1655A493E}"/>
              </a:ext>
            </a:extLst>
          </p:cNvPr>
          <p:cNvSpPr txBox="1"/>
          <p:nvPr/>
        </p:nvSpPr>
        <p:spPr>
          <a:xfrm>
            <a:off x="9529983" y="2990147"/>
            <a:ext cx="1732893" cy="197611"/>
          </a:xfrm>
          <a:prstGeom prst="rect">
            <a:avLst/>
          </a:prstGeom>
          <a:noFill/>
          <a:ln/>
        </p:spPr>
        <p:txBody>
          <a:bodyPr wrap="square" lIns="0" tIns="0" rIns="0" bIns="0" rtlCol="0" anchor="ctr"/>
          <a:lstStyle/>
          <a:p>
            <a:pPr algn="ctr">
              <a:lnSpc>
                <a:spcPct val="93000"/>
              </a:lnSpc>
            </a:pPr>
            <a:r>
              <a:rPr lang="en-US" sz="798" b="1" dirty="0">
                <a:solidFill>
                  <a:srgbClr val="46326B"/>
                </a:solidFill>
                <a:latin typeface="Calibri" pitchFamily="34" charset="0"/>
                <a:ea typeface="Calibri" pitchFamily="34" charset="-122"/>
                <a:cs typeface="Calibri" pitchFamily="34" charset="-120"/>
              </a:rPr>
              <a:t>Primary  (Read / Write)</a:t>
            </a:r>
            <a:endParaRPr lang="en-US" sz="798" dirty="0"/>
          </a:p>
        </p:txBody>
      </p:sp>
      <p:sp>
        <p:nvSpPr>
          <p:cNvPr id="845" name="Shape 118">
            <a:extLst>
              <a:ext uri="{FF2B5EF4-FFF2-40B4-BE49-F238E27FC236}">
                <a16:creationId xmlns:a16="http://schemas.microsoft.com/office/drawing/2014/main" id="{0AD5B98E-9F53-845E-A21D-2FFAC2D5FD04}"/>
              </a:ext>
            </a:extLst>
          </p:cNvPr>
          <p:cNvSpPr/>
          <p:nvPr/>
        </p:nvSpPr>
        <p:spPr>
          <a:xfrm>
            <a:off x="10396428" y="3202958"/>
            <a:ext cx="0" cy="121607"/>
          </a:xfrm>
          <a:prstGeom prst="line">
            <a:avLst/>
          </a:prstGeom>
          <a:noFill/>
          <a:ln w="15240">
            <a:solidFill>
              <a:srgbClr val="6B7280"/>
            </a:solidFill>
            <a:prstDash val="dash"/>
            <a:headEnd type="none"/>
            <a:tailEnd type="triangle"/>
          </a:ln>
        </p:spPr>
        <p:txBody>
          <a:bodyPr/>
          <a:lstStyle/>
          <a:p>
            <a:endParaRPr lang="en-IN"/>
          </a:p>
        </p:txBody>
      </p:sp>
      <p:sp>
        <p:nvSpPr>
          <p:cNvPr id="849" name="Text 119">
            <a:extLst>
              <a:ext uri="{FF2B5EF4-FFF2-40B4-BE49-F238E27FC236}">
                <a16:creationId xmlns:a16="http://schemas.microsoft.com/office/drawing/2014/main" id="{649B06E2-D9B2-9BD2-8835-3C2E385070B0}"/>
              </a:ext>
            </a:extLst>
          </p:cNvPr>
          <p:cNvSpPr txBox="1"/>
          <p:nvPr/>
        </p:nvSpPr>
        <p:spPr>
          <a:xfrm>
            <a:off x="10457231" y="3187757"/>
            <a:ext cx="608033" cy="152008"/>
          </a:xfrm>
          <a:prstGeom prst="rect">
            <a:avLst/>
          </a:prstGeom>
          <a:noFill/>
          <a:ln/>
        </p:spPr>
        <p:txBody>
          <a:bodyPr wrap="square" lIns="0" tIns="0" rIns="0" bIns="0" rtlCol="0" anchor="ctr"/>
          <a:lstStyle/>
          <a:p>
            <a:pPr>
              <a:lnSpc>
                <a:spcPct val="93000"/>
              </a:lnSpc>
            </a:pPr>
            <a:r>
              <a:rPr lang="en-US" sz="658" i="1" dirty="0">
                <a:solidFill>
                  <a:srgbClr val="6B7280"/>
                </a:solidFill>
                <a:latin typeface="Calibri" pitchFamily="34" charset="0"/>
                <a:ea typeface="Calibri" pitchFamily="34" charset="-122"/>
                <a:cs typeface="Calibri" pitchFamily="34" charset="-120"/>
              </a:rPr>
              <a:t>Replication</a:t>
            </a:r>
            <a:endParaRPr lang="en-US" sz="658" dirty="0"/>
          </a:p>
        </p:txBody>
      </p:sp>
      <p:sp>
        <p:nvSpPr>
          <p:cNvPr id="853" name="Shape 120">
            <a:extLst>
              <a:ext uri="{FF2B5EF4-FFF2-40B4-BE49-F238E27FC236}">
                <a16:creationId xmlns:a16="http://schemas.microsoft.com/office/drawing/2014/main" id="{DF4DB8D1-9AE7-E185-E4C6-5B608327013F}"/>
              </a:ext>
            </a:extLst>
          </p:cNvPr>
          <p:cNvSpPr/>
          <p:nvPr/>
        </p:nvSpPr>
        <p:spPr>
          <a:xfrm>
            <a:off x="9499580" y="3339766"/>
            <a:ext cx="1793696" cy="197611"/>
          </a:xfrm>
          <a:prstGeom prst="roundRect">
            <a:avLst>
              <a:gd name="adj" fmla="val 46155"/>
            </a:avLst>
          </a:prstGeom>
          <a:solidFill>
            <a:srgbClr val="FBFAFE"/>
          </a:solidFill>
          <a:ln w="12700">
            <a:solidFill>
              <a:srgbClr val="CFC7EC"/>
            </a:solidFill>
            <a:prstDash val="solid"/>
          </a:ln>
        </p:spPr>
        <p:txBody>
          <a:bodyPr/>
          <a:lstStyle/>
          <a:p>
            <a:endParaRPr lang="en-IN"/>
          </a:p>
        </p:txBody>
      </p:sp>
      <p:sp>
        <p:nvSpPr>
          <p:cNvPr id="857" name="Text 121">
            <a:extLst>
              <a:ext uri="{FF2B5EF4-FFF2-40B4-BE49-F238E27FC236}">
                <a16:creationId xmlns:a16="http://schemas.microsoft.com/office/drawing/2014/main" id="{9C48360E-59AD-2544-5668-FAC5D4598D23}"/>
              </a:ext>
            </a:extLst>
          </p:cNvPr>
          <p:cNvSpPr txBox="1"/>
          <p:nvPr/>
        </p:nvSpPr>
        <p:spPr>
          <a:xfrm>
            <a:off x="9529983" y="3339766"/>
            <a:ext cx="1732893" cy="197611"/>
          </a:xfrm>
          <a:prstGeom prst="rect">
            <a:avLst/>
          </a:prstGeom>
          <a:noFill/>
          <a:ln/>
        </p:spPr>
        <p:txBody>
          <a:bodyPr wrap="square" lIns="0" tIns="0" rIns="0" bIns="0" rtlCol="0" anchor="ctr"/>
          <a:lstStyle/>
          <a:p>
            <a:pPr algn="ctr">
              <a:lnSpc>
                <a:spcPct val="93000"/>
              </a:lnSpc>
            </a:pPr>
            <a:r>
              <a:rPr lang="en-US" sz="778" b="1" dirty="0">
                <a:solidFill>
                  <a:srgbClr val="6A5E8E"/>
                </a:solidFill>
                <a:latin typeface="Calibri" pitchFamily="34" charset="0"/>
                <a:ea typeface="Calibri" pitchFamily="34" charset="-122"/>
                <a:cs typeface="Calibri" pitchFamily="34" charset="-120"/>
              </a:rPr>
              <a:t>Read Replica  (Read / Reporting)</a:t>
            </a:r>
            <a:endParaRPr lang="en-US" sz="778" dirty="0"/>
          </a:p>
        </p:txBody>
      </p:sp>
      <p:sp>
        <p:nvSpPr>
          <p:cNvPr id="861" name="Shape 122">
            <a:extLst>
              <a:ext uri="{FF2B5EF4-FFF2-40B4-BE49-F238E27FC236}">
                <a16:creationId xmlns:a16="http://schemas.microsoft.com/office/drawing/2014/main" id="{E82BEC71-090E-8A27-46E2-5E338FD11439}"/>
              </a:ext>
            </a:extLst>
          </p:cNvPr>
          <p:cNvSpPr/>
          <p:nvPr/>
        </p:nvSpPr>
        <p:spPr>
          <a:xfrm>
            <a:off x="9119560" y="3674183"/>
            <a:ext cx="2553737" cy="486426"/>
          </a:xfrm>
          <a:prstGeom prst="roundRect">
            <a:avLst>
              <a:gd name="adj" fmla="val 7500"/>
            </a:avLst>
          </a:prstGeom>
          <a:solidFill>
            <a:srgbClr val="FFFFFF"/>
          </a:solidFill>
          <a:ln w="12700">
            <a:solidFill>
              <a:srgbClr val="D8D2F0"/>
            </a:solidFill>
            <a:prstDash val="solid"/>
          </a:ln>
        </p:spPr>
        <p:txBody>
          <a:bodyPr/>
          <a:lstStyle/>
          <a:p>
            <a:endParaRPr lang="en-IN"/>
          </a:p>
        </p:txBody>
      </p:sp>
      <p:pic>
        <p:nvPicPr>
          <p:cNvPr id="865" name="Image 21" descr="preencoded.png">
            <a:extLst>
              <a:ext uri="{FF2B5EF4-FFF2-40B4-BE49-F238E27FC236}">
                <a16:creationId xmlns:a16="http://schemas.microsoft.com/office/drawing/2014/main" id="{90D0DF52-ADEB-FAF4-F9E8-47B69E711059}"/>
              </a:ext>
            </a:extLst>
          </p:cNvPr>
          <p:cNvPicPr>
            <a:picLocks noChangeAspect="1"/>
          </p:cNvPicPr>
          <p:nvPr/>
        </p:nvPicPr>
        <p:blipFill>
          <a:blip r:embed="rId21"/>
          <a:stretch>
            <a:fillRect/>
          </a:stretch>
        </p:blipFill>
        <p:spPr>
          <a:xfrm>
            <a:off x="9210765" y="3795790"/>
            <a:ext cx="212812" cy="212812"/>
          </a:xfrm>
          <a:prstGeom prst="rect">
            <a:avLst/>
          </a:prstGeom>
        </p:spPr>
      </p:pic>
      <p:sp>
        <p:nvSpPr>
          <p:cNvPr id="869" name="Text 123">
            <a:extLst>
              <a:ext uri="{FF2B5EF4-FFF2-40B4-BE49-F238E27FC236}">
                <a16:creationId xmlns:a16="http://schemas.microsoft.com/office/drawing/2014/main" id="{9B8B34DE-6037-3AF3-390E-E0C34C236BF6}"/>
              </a:ext>
            </a:extLst>
          </p:cNvPr>
          <p:cNvSpPr txBox="1"/>
          <p:nvPr/>
        </p:nvSpPr>
        <p:spPr>
          <a:xfrm>
            <a:off x="9484379" y="3704586"/>
            <a:ext cx="2006508" cy="136808"/>
          </a:xfrm>
          <a:prstGeom prst="rect">
            <a:avLst/>
          </a:prstGeom>
          <a:noFill/>
          <a:ln/>
        </p:spPr>
        <p:txBody>
          <a:bodyPr wrap="square" lIns="0" tIns="0" rIns="0" bIns="0" rtlCol="0" anchor="ctr"/>
          <a:lstStyle/>
          <a:p>
            <a:pPr>
              <a:lnSpc>
                <a:spcPct val="93000"/>
              </a:lnSpc>
            </a:pPr>
            <a:r>
              <a:rPr lang="en-US" sz="918" b="1" dirty="0">
                <a:solidFill>
                  <a:srgbClr val="11397C"/>
                </a:solidFill>
                <a:latin typeface="Calibri" pitchFamily="34" charset="0"/>
                <a:ea typeface="Calibri" pitchFamily="34" charset="-122"/>
                <a:cs typeface="Calibri" pitchFamily="34" charset="-120"/>
              </a:rPr>
              <a:t>Object Storage</a:t>
            </a:r>
            <a:endParaRPr lang="en-US" sz="918" dirty="0"/>
          </a:p>
        </p:txBody>
      </p:sp>
      <p:sp>
        <p:nvSpPr>
          <p:cNvPr id="873" name="Text 124">
            <a:extLst>
              <a:ext uri="{FF2B5EF4-FFF2-40B4-BE49-F238E27FC236}">
                <a16:creationId xmlns:a16="http://schemas.microsoft.com/office/drawing/2014/main" id="{30FC8902-5433-73E1-231D-32D3F321DE8E}"/>
              </a:ext>
            </a:extLst>
          </p:cNvPr>
          <p:cNvSpPr txBox="1"/>
          <p:nvPr/>
        </p:nvSpPr>
        <p:spPr>
          <a:xfrm>
            <a:off x="9484379" y="3841392"/>
            <a:ext cx="2006508" cy="228012"/>
          </a:xfrm>
          <a:prstGeom prst="rect">
            <a:avLst/>
          </a:prstGeom>
          <a:noFill/>
          <a:ln/>
        </p:spPr>
        <p:txBody>
          <a:bodyPr wrap="square" lIns="0" tIns="0" rIns="0" bIns="0" rtlCol="0" anchor="ctr"/>
          <a:lstStyle/>
          <a:p>
            <a:pPr>
              <a:lnSpc>
                <a:spcPct val="95000"/>
              </a:lnSpc>
            </a:pPr>
            <a:r>
              <a:rPr lang="en-US" sz="758" dirty="0">
                <a:solidFill>
                  <a:srgbClr val="2A6099"/>
                </a:solidFill>
                <a:latin typeface="Calibri" pitchFamily="34" charset="0"/>
                <a:ea typeface="Calibri" pitchFamily="34" charset="-122"/>
                <a:cs typeface="Calibri" pitchFamily="34" charset="-120"/>
              </a:rPr>
              <a:t>Documents &amp; artefacts  ·  retention / lifecycle policy</a:t>
            </a:r>
            <a:endParaRPr lang="en-US" sz="758" dirty="0"/>
          </a:p>
        </p:txBody>
      </p:sp>
      <p:sp>
        <p:nvSpPr>
          <p:cNvPr id="877" name="Shape 125">
            <a:extLst>
              <a:ext uri="{FF2B5EF4-FFF2-40B4-BE49-F238E27FC236}">
                <a16:creationId xmlns:a16="http://schemas.microsoft.com/office/drawing/2014/main" id="{21E4E103-EE0E-B53C-3ED3-EE456BF3A524}"/>
              </a:ext>
            </a:extLst>
          </p:cNvPr>
          <p:cNvSpPr/>
          <p:nvPr/>
        </p:nvSpPr>
        <p:spPr>
          <a:xfrm>
            <a:off x="9119560" y="4236614"/>
            <a:ext cx="2553737" cy="456025"/>
          </a:xfrm>
          <a:prstGeom prst="roundRect">
            <a:avLst>
              <a:gd name="adj" fmla="val 8000"/>
            </a:avLst>
          </a:prstGeom>
          <a:solidFill>
            <a:srgbClr val="FFFFFF"/>
          </a:solidFill>
          <a:ln w="12700">
            <a:solidFill>
              <a:srgbClr val="D8D2F0"/>
            </a:solidFill>
            <a:prstDash val="solid"/>
          </a:ln>
        </p:spPr>
        <p:txBody>
          <a:bodyPr/>
          <a:lstStyle/>
          <a:p>
            <a:endParaRPr lang="en-IN"/>
          </a:p>
        </p:txBody>
      </p:sp>
      <p:sp>
        <p:nvSpPr>
          <p:cNvPr id="881" name="Shape 126">
            <a:extLst>
              <a:ext uri="{FF2B5EF4-FFF2-40B4-BE49-F238E27FC236}">
                <a16:creationId xmlns:a16="http://schemas.microsoft.com/office/drawing/2014/main" id="{112405E5-2E87-D4EC-D357-E428A8AF917D}"/>
              </a:ext>
            </a:extLst>
          </p:cNvPr>
          <p:cNvSpPr/>
          <p:nvPr/>
        </p:nvSpPr>
        <p:spPr>
          <a:xfrm>
            <a:off x="11323678" y="4267015"/>
            <a:ext cx="304016" cy="114006"/>
          </a:xfrm>
          <a:prstGeom prst="roundRect">
            <a:avLst>
              <a:gd name="adj" fmla="val 128003"/>
            </a:avLst>
          </a:prstGeom>
          <a:solidFill>
            <a:srgbClr val="FDF1E3"/>
          </a:solidFill>
          <a:ln w="12700">
            <a:solidFill>
              <a:srgbClr val="D9A441"/>
            </a:solidFill>
            <a:prstDash val="solid"/>
          </a:ln>
        </p:spPr>
        <p:txBody>
          <a:bodyPr/>
          <a:lstStyle/>
          <a:p>
            <a:endParaRPr lang="en-IN"/>
          </a:p>
        </p:txBody>
      </p:sp>
      <p:sp>
        <p:nvSpPr>
          <p:cNvPr id="885" name="Text 127">
            <a:extLst>
              <a:ext uri="{FF2B5EF4-FFF2-40B4-BE49-F238E27FC236}">
                <a16:creationId xmlns:a16="http://schemas.microsoft.com/office/drawing/2014/main" id="{2D481713-F797-2E55-DE23-AA7307A89485}"/>
              </a:ext>
            </a:extLst>
          </p:cNvPr>
          <p:cNvSpPr txBox="1"/>
          <p:nvPr/>
        </p:nvSpPr>
        <p:spPr>
          <a:xfrm>
            <a:off x="11338878" y="4267015"/>
            <a:ext cx="273615" cy="114006"/>
          </a:xfrm>
          <a:prstGeom prst="rect">
            <a:avLst/>
          </a:prstGeom>
          <a:noFill/>
          <a:ln/>
        </p:spPr>
        <p:txBody>
          <a:bodyPr wrap="square" lIns="0" tIns="0" rIns="0" bIns="0" rtlCol="0" anchor="ctr"/>
          <a:lstStyle/>
          <a:p>
            <a:pPr algn="ctr">
              <a:lnSpc>
                <a:spcPct val="93000"/>
              </a:lnSpc>
            </a:pPr>
            <a:r>
              <a:rPr lang="en-US" sz="618" b="1" dirty="0">
                <a:solidFill>
                  <a:srgbClr val="8A6A16"/>
                </a:solidFill>
                <a:latin typeface="Calibri" pitchFamily="34" charset="0"/>
                <a:ea typeface="Calibri" pitchFamily="34" charset="-122"/>
                <a:cs typeface="Calibri" pitchFamily="34" charset="-120"/>
              </a:rPr>
              <a:t>NEW</a:t>
            </a:r>
            <a:endParaRPr lang="en-US" sz="618" dirty="0"/>
          </a:p>
        </p:txBody>
      </p:sp>
      <p:pic>
        <p:nvPicPr>
          <p:cNvPr id="889" name="Image 22" descr="preencoded.png">
            <a:extLst>
              <a:ext uri="{FF2B5EF4-FFF2-40B4-BE49-F238E27FC236}">
                <a16:creationId xmlns:a16="http://schemas.microsoft.com/office/drawing/2014/main" id="{0F5DCCB9-615E-85BC-E940-49152D71BB35}"/>
              </a:ext>
            </a:extLst>
          </p:cNvPr>
          <p:cNvPicPr>
            <a:picLocks noChangeAspect="1"/>
          </p:cNvPicPr>
          <p:nvPr/>
        </p:nvPicPr>
        <p:blipFill>
          <a:blip r:embed="rId22"/>
          <a:stretch>
            <a:fillRect/>
          </a:stretch>
        </p:blipFill>
        <p:spPr>
          <a:xfrm>
            <a:off x="9210765" y="4358220"/>
            <a:ext cx="197611" cy="197611"/>
          </a:xfrm>
          <a:prstGeom prst="rect">
            <a:avLst/>
          </a:prstGeom>
        </p:spPr>
      </p:pic>
      <p:sp>
        <p:nvSpPr>
          <p:cNvPr id="893" name="Text 128">
            <a:extLst>
              <a:ext uri="{FF2B5EF4-FFF2-40B4-BE49-F238E27FC236}">
                <a16:creationId xmlns:a16="http://schemas.microsoft.com/office/drawing/2014/main" id="{DBA7B57D-67EB-4A6E-8C29-2D5AECD224E5}"/>
              </a:ext>
            </a:extLst>
          </p:cNvPr>
          <p:cNvSpPr txBox="1"/>
          <p:nvPr/>
        </p:nvSpPr>
        <p:spPr>
          <a:xfrm>
            <a:off x="9469178" y="4267015"/>
            <a:ext cx="1444078" cy="136808"/>
          </a:xfrm>
          <a:prstGeom prst="rect">
            <a:avLst/>
          </a:prstGeom>
          <a:noFill/>
          <a:ln/>
        </p:spPr>
        <p:txBody>
          <a:bodyPr wrap="square" lIns="0" tIns="0" rIns="0" bIns="0" rtlCol="0" anchor="ctr"/>
          <a:lstStyle/>
          <a:p>
            <a:pPr>
              <a:lnSpc>
                <a:spcPct val="93000"/>
              </a:lnSpc>
            </a:pPr>
            <a:r>
              <a:rPr lang="en-US" sz="918" b="1" dirty="0">
                <a:solidFill>
                  <a:srgbClr val="11397C"/>
                </a:solidFill>
                <a:latin typeface="Calibri" pitchFamily="34" charset="0"/>
                <a:ea typeface="Calibri" pitchFamily="34" charset="-122"/>
                <a:cs typeface="Calibri" pitchFamily="34" charset="-120"/>
              </a:rPr>
              <a:t>Managed Redis</a:t>
            </a:r>
            <a:endParaRPr lang="en-US" sz="918" dirty="0"/>
          </a:p>
        </p:txBody>
      </p:sp>
      <p:sp>
        <p:nvSpPr>
          <p:cNvPr id="1088" name="Text 129">
            <a:extLst>
              <a:ext uri="{FF2B5EF4-FFF2-40B4-BE49-F238E27FC236}">
                <a16:creationId xmlns:a16="http://schemas.microsoft.com/office/drawing/2014/main" id="{DFACF6C3-EEAB-FB8D-026D-4692B50ED03B}"/>
              </a:ext>
            </a:extLst>
          </p:cNvPr>
          <p:cNvSpPr txBox="1"/>
          <p:nvPr/>
        </p:nvSpPr>
        <p:spPr>
          <a:xfrm>
            <a:off x="9469178" y="4403823"/>
            <a:ext cx="2006508" cy="136808"/>
          </a:xfrm>
          <a:prstGeom prst="rect">
            <a:avLst/>
          </a:prstGeom>
          <a:noFill/>
          <a:ln/>
        </p:spPr>
        <p:txBody>
          <a:bodyPr wrap="square" lIns="0" tIns="0" rIns="0" bIns="0" rtlCol="0" anchor="ctr"/>
          <a:lstStyle/>
          <a:p>
            <a:pPr>
              <a:lnSpc>
                <a:spcPct val="93000"/>
              </a:lnSpc>
            </a:pPr>
            <a:r>
              <a:rPr lang="en-US" sz="758" dirty="0">
                <a:solidFill>
                  <a:srgbClr val="2A6099"/>
                </a:solidFill>
                <a:latin typeface="Calibri" pitchFamily="34" charset="0"/>
                <a:ea typeface="Calibri" pitchFamily="34" charset="-122"/>
                <a:cs typeface="Calibri" pitchFamily="34" charset="-120"/>
              </a:rPr>
              <a:t>Distributed cache  ·  session</a:t>
            </a:r>
            <a:endParaRPr lang="en-US" sz="758" dirty="0"/>
          </a:p>
        </p:txBody>
      </p:sp>
      <p:sp>
        <p:nvSpPr>
          <p:cNvPr id="1090" name="Shape 130">
            <a:extLst>
              <a:ext uri="{FF2B5EF4-FFF2-40B4-BE49-F238E27FC236}">
                <a16:creationId xmlns:a16="http://schemas.microsoft.com/office/drawing/2014/main" id="{0A11D851-BEDA-3709-BB0D-57EE7C1CB046}"/>
              </a:ext>
            </a:extLst>
          </p:cNvPr>
          <p:cNvSpPr/>
          <p:nvPr/>
        </p:nvSpPr>
        <p:spPr>
          <a:xfrm>
            <a:off x="9119560" y="4768643"/>
            <a:ext cx="2553737" cy="760041"/>
          </a:xfrm>
          <a:prstGeom prst="roundRect">
            <a:avLst>
              <a:gd name="adj" fmla="val 4800"/>
            </a:avLst>
          </a:prstGeom>
          <a:solidFill>
            <a:srgbClr val="FFFFFF"/>
          </a:solidFill>
          <a:ln w="12700">
            <a:solidFill>
              <a:srgbClr val="D8D2F0"/>
            </a:solidFill>
            <a:prstDash val="solid"/>
          </a:ln>
        </p:spPr>
        <p:txBody>
          <a:bodyPr/>
          <a:lstStyle/>
          <a:p>
            <a:endParaRPr lang="en-IN"/>
          </a:p>
        </p:txBody>
      </p:sp>
      <p:sp>
        <p:nvSpPr>
          <p:cNvPr id="1092" name="Shape 131">
            <a:extLst>
              <a:ext uri="{FF2B5EF4-FFF2-40B4-BE49-F238E27FC236}">
                <a16:creationId xmlns:a16="http://schemas.microsoft.com/office/drawing/2014/main" id="{6F9E404E-F8A3-C012-7989-C461E1C16A0C}"/>
              </a:ext>
            </a:extLst>
          </p:cNvPr>
          <p:cNvSpPr/>
          <p:nvPr/>
        </p:nvSpPr>
        <p:spPr>
          <a:xfrm>
            <a:off x="11323678" y="4799044"/>
            <a:ext cx="304016" cy="114006"/>
          </a:xfrm>
          <a:prstGeom prst="roundRect">
            <a:avLst>
              <a:gd name="adj" fmla="val 128003"/>
            </a:avLst>
          </a:prstGeom>
          <a:solidFill>
            <a:srgbClr val="FDF1E3"/>
          </a:solidFill>
          <a:ln w="12700">
            <a:solidFill>
              <a:srgbClr val="D9A441"/>
            </a:solidFill>
            <a:prstDash val="solid"/>
          </a:ln>
        </p:spPr>
        <p:txBody>
          <a:bodyPr/>
          <a:lstStyle/>
          <a:p>
            <a:endParaRPr lang="en-IN"/>
          </a:p>
        </p:txBody>
      </p:sp>
      <p:sp>
        <p:nvSpPr>
          <p:cNvPr id="1094" name="Text 132">
            <a:extLst>
              <a:ext uri="{FF2B5EF4-FFF2-40B4-BE49-F238E27FC236}">
                <a16:creationId xmlns:a16="http://schemas.microsoft.com/office/drawing/2014/main" id="{7DDEA48E-FD8A-BBE7-0384-C206EE62896E}"/>
              </a:ext>
            </a:extLst>
          </p:cNvPr>
          <p:cNvSpPr txBox="1"/>
          <p:nvPr/>
        </p:nvSpPr>
        <p:spPr>
          <a:xfrm>
            <a:off x="11338878" y="4799044"/>
            <a:ext cx="273615" cy="114006"/>
          </a:xfrm>
          <a:prstGeom prst="rect">
            <a:avLst/>
          </a:prstGeom>
          <a:noFill/>
          <a:ln/>
        </p:spPr>
        <p:txBody>
          <a:bodyPr wrap="square" lIns="0" tIns="0" rIns="0" bIns="0" rtlCol="0" anchor="ctr"/>
          <a:lstStyle/>
          <a:p>
            <a:pPr algn="ctr">
              <a:lnSpc>
                <a:spcPct val="93000"/>
              </a:lnSpc>
            </a:pPr>
            <a:r>
              <a:rPr lang="en-US" sz="618" b="1" dirty="0">
                <a:solidFill>
                  <a:srgbClr val="8A6A16"/>
                </a:solidFill>
                <a:latin typeface="Calibri" pitchFamily="34" charset="0"/>
                <a:ea typeface="Calibri" pitchFamily="34" charset="-122"/>
                <a:cs typeface="Calibri" pitchFamily="34" charset="-120"/>
              </a:rPr>
              <a:t>NEW</a:t>
            </a:r>
            <a:endParaRPr lang="en-US" sz="618" dirty="0"/>
          </a:p>
        </p:txBody>
      </p:sp>
      <p:pic>
        <p:nvPicPr>
          <p:cNvPr id="1096" name="Image 23" descr="preencoded.png">
            <a:extLst>
              <a:ext uri="{FF2B5EF4-FFF2-40B4-BE49-F238E27FC236}">
                <a16:creationId xmlns:a16="http://schemas.microsoft.com/office/drawing/2014/main" id="{BE4B6A68-BD48-A9BE-32E5-35173260265F}"/>
              </a:ext>
            </a:extLst>
          </p:cNvPr>
          <p:cNvPicPr>
            <a:picLocks noChangeAspect="1"/>
          </p:cNvPicPr>
          <p:nvPr/>
        </p:nvPicPr>
        <p:blipFill>
          <a:blip r:embed="rId23"/>
          <a:stretch>
            <a:fillRect/>
          </a:stretch>
        </p:blipFill>
        <p:spPr>
          <a:xfrm>
            <a:off x="9210765" y="4829445"/>
            <a:ext cx="197611" cy="197611"/>
          </a:xfrm>
          <a:prstGeom prst="rect">
            <a:avLst/>
          </a:prstGeom>
        </p:spPr>
      </p:pic>
      <p:sp>
        <p:nvSpPr>
          <p:cNvPr id="1098" name="Text 133">
            <a:extLst>
              <a:ext uri="{FF2B5EF4-FFF2-40B4-BE49-F238E27FC236}">
                <a16:creationId xmlns:a16="http://schemas.microsoft.com/office/drawing/2014/main" id="{B813DA73-DBF5-29B7-9B96-6B07964EF507}"/>
              </a:ext>
            </a:extLst>
          </p:cNvPr>
          <p:cNvSpPr txBox="1"/>
          <p:nvPr/>
        </p:nvSpPr>
        <p:spPr>
          <a:xfrm>
            <a:off x="9469178" y="4799044"/>
            <a:ext cx="1444078" cy="136808"/>
          </a:xfrm>
          <a:prstGeom prst="rect">
            <a:avLst/>
          </a:prstGeom>
          <a:noFill/>
          <a:ln/>
        </p:spPr>
        <p:txBody>
          <a:bodyPr wrap="square" lIns="0" tIns="0" rIns="0" bIns="0" rtlCol="0" anchor="ctr"/>
          <a:lstStyle/>
          <a:p>
            <a:pPr>
              <a:lnSpc>
                <a:spcPct val="93000"/>
              </a:lnSpc>
            </a:pPr>
            <a:r>
              <a:rPr lang="en-US" sz="918" b="1" dirty="0">
                <a:solidFill>
                  <a:srgbClr val="11397C"/>
                </a:solidFill>
                <a:latin typeface="Calibri" pitchFamily="34" charset="0"/>
                <a:ea typeface="Calibri" pitchFamily="34" charset="-122"/>
                <a:cs typeface="Calibri" pitchFamily="34" charset="-120"/>
              </a:rPr>
              <a:t>Event Streaming Platform</a:t>
            </a:r>
            <a:endParaRPr lang="en-US" sz="918" dirty="0"/>
          </a:p>
        </p:txBody>
      </p:sp>
      <p:sp>
        <p:nvSpPr>
          <p:cNvPr id="1100" name="Text 134">
            <a:extLst>
              <a:ext uri="{FF2B5EF4-FFF2-40B4-BE49-F238E27FC236}">
                <a16:creationId xmlns:a16="http://schemas.microsoft.com/office/drawing/2014/main" id="{183192D3-5052-A46D-6EAC-32C1BCED0140}"/>
              </a:ext>
            </a:extLst>
          </p:cNvPr>
          <p:cNvSpPr txBox="1"/>
          <p:nvPr/>
        </p:nvSpPr>
        <p:spPr>
          <a:xfrm>
            <a:off x="9469178" y="4935852"/>
            <a:ext cx="2006508" cy="121607"/>
          </a:xfrm>
          <a:prstGeom prst="rect">
            <a:avLst/>
          </a:prstGeom>
          <a:noFill/>
          <a:ln/>
        </p:spPr>
        <p:txBody>
          <a:bodyPr wrap="square" lIns="0" tIns="0" rIns="0" bIns="0" rtlCol="0" anchor="ctr"/>
          <a:lstStyle/>
          <a:p>
            <a:pPr>
              <a:lnSpc>
                <a:spcPct val="93000"/>
              </a:lnSpc>
            </a:pPr>
            <a:r>
              <a:rPr lang="en-US" sz="758" dirty="0">
                <a:solidFill>
                  <a:srgbClr val="5B6472"/>
                </a:solidFill>
                <a:latin typeface="Calibri" pitchFamily="34" charset="0"/>
                <a:ea typeface="Calibri" pitchFamily="34" charset="-122"/>
                <a:cs typeface="Calibri" pitchFamily="34" charset="-120"/>
              </a:rPr>
              <a:t>(Kafka-compatible)</a:t>
            </a:r>
            <a:endParaRPr lang="en-US" sz="758" dirty="0"/>
          </a:p>
        </p:txBody>
      </p:sp>
      <p:sp>
        <p:nvSpPr>
          <p:cNvPr id="1102" name="Text 135">
            <a:extLst>
              <a:ext uri="{FF2B5EF4-FFF2-40B4-BE49-F238E27FC236}">
                <a16:creationId xmlns:a16="http://schemas.microsoft.com/office/drawing/2014/main" id="{A6224259-FBB9-8276-C111-2E6FB8373677}"/>
              </a:ext>
            </a:extLst>
          </p:cNvPr>
          <p:cNvSpPr txBox="1"/>
          <p:nvPr/>
        </p:nvSpPr>
        <p:spPr>
          <a:xfrm>
            <a:off x="9469179" y="5087860"/>
            <a:ext cx="2052110" cy="410422"/>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38" dirty="0">
                <a:solidFill>
                  <a:srgbClr val="2A6099"/>
                </a:solidFill>
                <a:latin typeface="Calibri" pitchFamily="34" charset="0"/>
                <a:ea typeface="Calibri" pitchFamily="34" charset="-122"/>
                <a:cs typeface="Calibri" pitchFamily="34" charset="-120"/>
              </a:rPr>
              <a:t>Transactional outbox from the application database</a:t>
            </a:r>
            <a:endParaRPr lang="en-US" sz="738" dirty="0"/>
          </a:p>
          <a:p>
            <a:pPr marL="114014" indent="-114014">
              <a:lnSpc>
                <a:spcPct val="95000"/>
              </a:lnSpc>
              <a:spcAft>
                <a:spcPts val="200"/>
              </a:spcAft>
              <a:buSzPct val="100000"/>
              <a:buChar char="•"/>
            </a:pPr>
            <a:r>
              <a:rPr lang="en-US" sz="738" dirty="0">
                <a:solidFill>
                  <a:srgbClr val="2A6099"/>
                </a:solidFill>
                <a:latin typeface="Calibri" pitchFamily="34" charset="0"/>
                <a:ea typeface="Calibri" pitchFamily="34" charset="-122"/>
                <a:cs typeface="Calibri" pitchFamily="34" charset="-120"/>
              </a:rPr>
              <a:t>Asynchronous, event-driven communication</a:t>
            </a:r>
            <a:endParaRPr lang="en-US" sz="738" dirty="0"/>
          </a:p>
        </p:txBody>
      </p:sp>
      <p:sp>
        <p:nvSpPr>
          <p:cNvPr id="1104" name="Shape 136">
            <a:extLst>
              <a:ext uri="{FF2B5EF4-FFF2-40B4-BE49-F238E27FC236}">
                <a16:creationId xmlns:a16="http://schemas.microsoft.com/office/drawing/2014/main" id="{C473FBFD-66C6-AECA-C751-7E63E9373A32}"/>
              </a:ext>
            </a:extLst>
          </p:cNvPr>
          <p:cNvSpPr/>
          <p:nvPr/>
        </p:nvSpPr>
        <p:spPr>
          <a:xfrm>
            <a:off x="4164094" y="3826191"/>
            <a:ext cx="380020" cy="0"/>
          </a:xfrm>
          <a:prstGeom prst="line">
            <a:avLst/>
          </a:prstGeom>
          <a:noFill/>
          <a:ln w="30480">
            <a:solidFill>
              <a:srgbClr val="1B4F8C"/>
            </a:solidFill>
            <a:prstDash val="solid"/>
            <a:headEnd type="none"/>
            <a:tailEnd type="triangle"/>
          </a:ln>
        </p:spPr>
        <p:txBody>
          <a:bodyPr/>
          <a:lstStyle/>
          <a:p>
            <a:endParaRPr lang="en-IN"/>
          </a:p>
        </p:txBody>
      </p:sp>
      <p:sp>
        <p:nvSpPr>
          <p:cNvPr id="1106" name="Text 137">
            <a:extLst>
              <a:ext uri="{FF2B5EF4-FFF2-40B4-BE49-F238E27FC236}">
                <a16:creationId xmlns:a16="http://schemas.microsoft.com/office/drawing/2014/main" id="{0DBAC5C6-28DC-9E52-A399-26EE1B3D4CE1}"/>
              </a:ext>
            </a:extLst>
          </p:cNvPr>
          <p:cNvSpPr txBox="1"/>
          <p:nvPr/>
        </p:nvSpPr>
        <p:spPr>
          <a:xfrm>
            <a:off x="4164094" y="3582979"/>
            <a:ext cx="380020" cy="212812"/>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REST API /</a:t>
            </a:r>
            <a:endParaRPr lang="en-US" sz="678" dirty="0"/>
          </a:p>
          <a:p>
            <a:pPr algn="ctr">
              <a:lnSpc>
                <a:spcPct val="88000"/>
              </a:lnSpc>
            </a:pPr>
            <a:r>
              <a:rPr lang="en-US" sz="678" dirty="0">
                <a:solidFill>
                  <a:srgbClr val="5B6472"/>
                </a:solidFill>
                <a:latin typeface="Calibri" pitchFamily="34" charset="0"/>
                <a:ea typeface="Calibri" pitchFamily="34" charset="-122"/>
                <a:cs typeface="Calibri" pitchFamily="34" charset="-120"/>
              </a:rPr>
              <a:t>HTTPS</a:t>
            </a:r>
            <a:endParaRPr lang="en-US" sz="678" dirty="0"/>
          </a:p>
        </p:txBody>
      </p:sp>
      <p:sp>
        <p:nvSpPr>
          <p:cNvPr id="1108" name="Shape 138">
            <a:extLst>
              <a:ext uri="{FF2B5EF4-FFF2-40B4-BE49-F238E27FC236}">
                <a16:creationId xmlns:a16="http://schemas.microsoft.com/office/drawing/2014/main" id="{A3B347B7-D1E2-4D88-A430-707347025456}"/>
              </a:ext>
            </a:extLst>
          </p:cNvPr>
          <p:cNvSpPr/>
          <p:nvPr/>
        </p:nvSpPr>
        <p:spPr>
          <a:xfrm>
            <a:off x="5456164" y="3826191"/>
            <a:ext cx="380020" cy="0"/>
          </a:xfrm>
          <a:prstGeom prst="line">
            <a:avLst/>
          </a:prstGeom>
          <a:noFill/>
          <a:ln w="30480">
            <a:solidFill>
              <a:srgbClr val="1B4F8C"/>
            </a:solidFill>
            <a:prstDash val="solid"/>
            <a:headEnd type="none"/>
            <a:tailEnd type="triangle"/>
          </a:ln>
        </p:spPr>
        <p:txBody>
          <a:bodyPr/>
          <a:lstStyle/>
          <a:p>
            <a:endParaRPr lang="en-IN"/>
          </a:p>
        </p:txBody>
      </p:sp>
      <p:sp>
        <p:nvSpPr>
          <p:cNvPr id="1110" name="Text 139">
            <a:extLst>
              <a:ext uri="{FF2B5EF4-FFF2-40B4-BE49-F238E27FC236}">
                <a16:creationId xmlns:a16="http://schemas.microsoft.com/office/drawing/2014/main" id="{21A70E91-8D7A-E4AC-B215-DDA5BE434EF0}"/>
              </a:ext>
            </a:extLst>
          </p:cNvPr>
          <p:cNvSpPr txBox="1"/>
          <p:nvPr/>
        </p:nvSpPr>
        <p:spPr>
          <a:xfrm>
            <a:off x="5456164" y="3628581"/>
            <a:ext cx="380020"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REST API</a:t>
            </a:r>
            <a:endParaRPr lang="en-US" sz="678" dirty="0"/>
          </a:p>
        </p:txBody>
      </p:sp>
      <p:sp>
        <p:nvSpPr>
          <p:cNvPr id="1112" name="Shape 140">
            <a:extLst>
              <a:ext uri="{FF2B5EF4-FFF2-40B4-BE49-F238E27FC236}">
                <a16:creationId xmlns:a16="http://schemas.microsoft.com/office/drawing/2014/main" id="{06BF1A39-85AD-F5ED-D6BC-FD311388A9FA}"/>
              </a:ext>
            </a:extLst>
          </p:cNvPr>
          <p:cNvSpPr/>
          <p:nvPr/>
        </p:nvSpPr>
        <p:spPr>
          <a:xfrm>
            <a:off x="8572331" y="1796883"/>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1114" name="Text 141">
            <a:extLst>
              <a:ext uri="{FF2B5EF4-FFF2-40B4-BE49-F238E27FC236}">
                <a16:creationId xmlns:a16="http://schemas.microsoft.com/office/drawing/2014/main" id="{CC13EA07-B43C-A0A7-F696-AFCAF18DDF8C}"/>
              </a:ext>
            </a:extLst>
          </p:cNvPr>
          <p:cNvSpPr txBox="1"/>
          <p:nvPr/>
        </p:nvSpPr>
        <p:spPr>
          <a:xfrm>
            <a:off x="8572331" y="1614473"/>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REST / HTTPS</a:t>
            </a:r>
            <a:endParaRPr lang="en-US" sz="678" dirty="0"/>
          </a:p>
        </p:txBody>
      </p:sp>
      <p:sp>
        <p:nvSpPr>
          <p:cNvPr id="1116" name="Shape 142">
            <a:extLst>
              <a:ext uri="{FF2B5EF4-FFF2-40B4-BE49-F238E27FC236}">
                <a16:creationId xmlns:a16="http://schemas.microsoft.com/office/drawing/2014/main" id="{DF921E18-6250-67ED-7F87-A359F4C488A9}"/>
              </a:ext>
            </a:extLst>
          </p:cNvPr>
          <p:cNvSpPr/>
          <p:nvPr/>
        </p:nvSpPr>
        <p:spPr>
          <a:xfrm>
            <a:off x="8572331" y="2146502"/>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1118" name="Text 143">
            <a:extLst>
              <a:ext uri="{FF2B5EF4-FFF2-40B4-BE49-F238E27FC236}">
                <a16:creationId xmlns:a16="http://schemas.microsoft.com/office/drawing/2014/main" id="{40A6D742-7517-A7DE-5A82-7CA82BDBF61D}"/>
              </a:ext>
            </a:extLst>
          </p:cNvPr>
          <p:cNvSpPr txBox="1"/>
          <p:nvPr/>
        </p:nvSpPr>
        <p:spPr>
          <a:xfrm>
            <a:off x="8572331" y="1964092"/>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SMTP / API</a:t>
            </a:r>
            <a:endParaRPr lang="en-US" sz="678" dirty="0"/>
          </a:p>
        </p:txBody>
      </p:sp>
      <p:sp>
        <p:nvSpPr>
          <p:cNvPr id="1120" name="Shape 144">
            <a:extLst>
              <a:ext uri="{FF2B5EF4-FFF2-40B4-BE49-F238E27FC236}">
                <a16:creationId xmlns:a16="http://schemas.microsoft.com/office/drawing/2014/main" id="{401E1218-F670-11A1-B4A5-CC7C1D92BF83}"/>
              </a:ext>
            </a:extLst>
          </p:cNvPr>
          <p:cNvSpPr/>
          <p:nvPr/>
        </p:nvSpPr>
        <p:spPr>
          <a:xfrm>
            <a:off x="8572331" y="3088952"/>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1122" name="Text 145">
            <a:extLst>
              <a:ext uri="{FF2B5EF4-FFF2-40B4-BE49-F238E27FC236}">
                <a16:creationId xmlns:a16="http://schemas.microsoft.com/office/drawing/2014/main" id="{74DB3F5B-7761-7079-9174-3C06F3847E8E}"/>
              </a:ext>
            </a:extLst>
          </p:cNvPr>
          <p:cNvSpPr txBox="1"/>
          <p:nvPr/>
        </p:nvSpPr>
        <p:spPr>
          <a:xfrm>
            <a:off x="8572331" y="2906543"/>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Read / Write</a:t>
            </a:r>
            <a:endParaRPr lang="en-US" sz="678" dirty="0"/>
          </a:p>
        </p:txBody>
      </p:sp>
      <p:sp>
        <p:nvSpPr>
          <p:cNvPr id="1124" name="Shape 146">
            <a:extLst>
              <a:ext uri="{FF2B5EF4-FFF2-40B4-BE49-F238E27FC236}">
                <a16:creationId xmlns:a16="http://schemas.microsoft.com/office/drawing/2014/main" id="{C0445120-1492-D9D8-2922-A90B0B5AE663}"/>
              </a:ext>
            </a:extLst>
          </p:cNvPr>
          <p:cNvSpPr/>
          <p:nvPr/>
        </p:nvSpPr>
        <p:spPr>
          <a:xfrm>
            <a:off x="8572331" y="3917396"/>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1126" name="Text 147">
            <a:extLst>
              <a:ext uri="{FF2B5EF4-FFF2-40B4-BE49-F238E27FC236}">
                <a16:creationId xmlns:a16="http://schemas.microsoft.com/office/drawing/2014/main" id="{3A6FC79E-0EAC-42DE-4107-40D78EFB9681}"/>
              </a:ext>
            </a:extLst>
          </p:cNvPr>
          <p:cNvSpPr txBox="1"/>
          <p:nvPr/>
        </p:nvSpPr>
        <p:spPr>
          <a:xfrm>
            <a:off x="8572331" y="3734987"/>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Upload / Read</a:t>
            </a:r>
            <a:endParaRPr lang="en-US" sz="678" dirty="0"/>
          </a:p>
        </p:txBody>
      </p:sp>
      <p:sp>
        <p:nvSpPr>
          <p:cNvPr id="1128" name="Shape 148">
            <a:extLst>
              <a:ext uri="{FF2B5EF4-FFF2-40B4-BE49-F238E27FC236}">
                <a16:creationId xmlns:a16="http://schemas.microsoft.com/office/drawing/2014/main" id="{AD24F773-617A-FFF0-CE85-8AD0BB12E9A5}"/>
              </a:ext>
            </a:extLst>
          </p:cNvPr>
          <p:cNvSpPr/>
          <p:nvPr/>
        </p:nvSpPr>
        <p:spPr>
          <a:xfrm>
            <a:off x="8572331" y="4464625"/>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1130" name="Text 149">
            <a:extLst>
              <a:ext uri="{FF2B5EF4-FFF2-40B4-BE49-F238E27FC236}">
                <a16:creationId xmlns:a16="http://schemas.microsoft.com/office/drawing/2014/main" id="{80A7DA14-24A1-5BBE-6BD9-11C2184056E1}"/>
              </a:ext>
            </a:extLst>
          </p:cNvPr>
          <p:cNvSpPr txBox="1"/>
          <p:nvPr/>
        </p:nvSpPr>
        <p:spPr>
          <a:xfrm>
            <a:off x="8572331" y="4282216"/>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Cache / Session</a:t>
            </a:r>
            <a:endParaRPr lang="en-US" sz="678" dirty="0"/>
          </a:p>
        </p:txBody>
      </p:sp>
      <p:sp>
        <p:nvSpPr>
          <p:cNvPr id="1132" name="Shape 150">
            <a:extLst>
              <a:ext uri="{FF2B5EF4-FFF2-40B4-BE49-F238E27FC236}">
                <a16:creationId xmlns:a16="http://schemas.microsoft.com/office/drawing/2014/main" id="{475C812C-6132-4390-5652-ECF9127C9182}"/>
              </a:ext>
            </a:extLst>
          </p:cNvPr>
          <p:cNvSpPr/>
          <p:nvPr/>
        </p:nvSpPr>
        <p:spPr>
          <a:xfrm>
            <a:off x="8572331" y="5133462"/>
            <a:ext cx="456025" cy="0"/>
          </a:xfrm>
          <a:prstGeom prst="line">
            <a:avLst/>
          </a:prstGeom>
          <a:noFill/>
          <a:ln w="19050">
            <a:solidFill>
              <a:srgbClr val="6A4C93"/>
            </a:solidFill>
            <a:prstDash val="dash"/>
            <a:headEnd type="triangle"/>
            <a:tailEnd type="triangle"/>
          </a:ln>
        </p:spPr>
        <p:txBody>
          <a:bodyPr/>
          <a:lstStyle/>
          <a:p>
            <a:endParaRPr lang="en-IN"/>
          </a:p>
        </p:txBody>
      </p:sp>
      <p:sp>
        <p:nvSpPr>
          <p:cNvPr id="1134" name="Text 151">
            <a:extLst>
              <a:ext uri="{FF2B5EF4-FFF2-40B4-BE49-F238E27FC236}">
                <a16:creationId xmlns:a16="http://schemas.microsoft.com/office/drawing/2014/main" id="{36BF300E-C56A-5107-3104-2427FDFAEC96}"/>
              </a:ext>
            </a:extLst>
          </p:cNvPr>
          <p:cNvSpPr txBox="1"/>
          <p:nvPr/>
        </p:nvSpPr>
        <p:spPr>
          <a:xfrm>
            <a:off x="8572331" y="4951052"/>
            <a:ext cx="456025" cy="167209"/>
          </a:xfrm>
          <a:prstGeom prst="rect">
            <a:avLst/>
          </a:prstGeom>
          <a:noFill/>
          <a:ln/>
        </p:spPr>
        <p:txBody>
          <a:bodyPr wrap="square" lIns="0" tIns="0" rIns="0" bIns="0" rtlCol="0" anchor="ctr"/>
          <a:lstStyle/>
          <a:p>
            <a:pPr algn="ctr">
              <a:lnSpc>
                <a:spcPct val="88000"/>
              </a:lnSpc>
            </a:pPr>
            <a:r>
              <a:rPr lang="en-US" sz="678" dirty="0">
                <a:solidFill>
                  <a:srgbClr val="6A4C93"/>
                </a:solidFill>
                <a:latin typeface="Calibri" pitchFamily="34" charset="0"/>
                <a:ea typeface="Calibri" pitchFamily="34" charset="-122"/>
                <a:cs typeface="Calibri" pitchFamily="34" charset="-120"/>
              </a:rPr>
              <a:t>Events / Async</a:t>
            </a:r>
            <a:endParaRPr lang="en-US" sz="678" dirty="0"/>
          </a:p>
        </p:txBody>
      </p:sp>
    </p:spTree>
    <p:extLst>
      <p:ext uri="{BB962C8B-B14F-4D97-AF65-F5344CB8AC3E}">
        <p14:creationId xmlns:p14="http://schemas.microsoft.com/office/powerpoint/2010/main" val="3316265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A09ED-0756-D56E-8E78-B6C89CD044BE}"/>
            </a:ext>
          </a:extLst>
        </p:cNvPr>
        <p:cNvGrpSpPr/>
        <p:nvPr/>
      </p:nvGrpSpPr>
      <p:grpSpPr>
        <a:xfrm>
          <a:off x="0" y="0"/>
          <a:ext cx="0" cy="0"/>
          <a:chOff x="0" y="0"/>
          <a:chExt cx="0" cy="0"/>
        </a:xfrm>
      </p:grpSpPr>
      <p:sp>
        <p:nvSpPr>
          <p:cNvPr id="4" name="Google Shape;161;p28">
            <a:extLst>
              <a:ext uri="{FF2B5EF4-FFF2-40B4-BE49-F238E27FC236}">
                <a16:creationId xmlns:a16="http://schemas.microsoft.com/office/drawing/2014/main" id="{D7E41F6E-FA2A-FB47-12F7-16B78B7CB5FF}"/>
              </a:ext>
            </a:extLst>
          </p:cNvPr>
          <p:cNvSpPr txBox="1">
            <a:spLocks noGrp="1"/>
          </p:cNvSpPr>
          <p:nvPr/>
        </p:nvSpPr>
        <p:spPr>
          <a:xfrm>
            <a:off x="508383" y="292428"/>
            <a:ext cx="11187938" cy="581084"/>
          </a:xfrm>
          <a:prstGeom prst="rect">
            <a:avLst/>
          </a:prstGeom>
          <a:noFill/>
          <a:ln>
            <a:noFill/>
          </a:ln>
        </p:spPr>
        <p:txBody>
          <a:bodyPr vert="horz" wrap="square" lIns="90866" tIns="45421" rIns="90866" bIns="45421" rtlCol="0" anchor="ctr" anchorCtr="0">
            <a:noAutofit/>
          </a:bodyPr>
          <a:lstStyle>
            <a:lvl1pPr lvl="0" algn="l" defTabSz="914400" rtl="0" eaLnBrk="1" latinLnBrk="0" hangingPunct="1">
              <a:lnSpc>
                <a:spcPct val="90000"/>
              </a:lnSpc>
              <a:spcBef>
                <a:spcPts val="0"/>
              </a:spcBef>
              <a:spcAft>
                <a:spcPts val="0"/>
              </a:spcAft>
              <a:buClr>
                <a:schemeClr val="dk1"/>
              </a:buClr>
              <a:buSzPts val="3600"/>
              <a:buFont typeface="Outfit"/>
              <a:buNone/>
              <a:defRPr sz="3585" kern="1200">
                <a:solidFill>
                  <a:schemeClr val="tx1"/>
                </a:solidFill>
                <a:latin typeface="+mj-lt"/>
                <a:ea typeface="+mj-ea"/>
                <a:cs typeface="+mj-cs"/>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pPr>
              <a:lnSpc>
                <a:spcPct val="100000"/>
              </a:lnSpc>
              <a:buClr>
                <a:srgbClr val="000000"/>
              </a:buClr>
              <a:buFont typeface="Arial" panose="020B0604020202090204"/>
            </a:pPr>
            <a:r>
              <a:rPr lang="en-US" sz="3180" b="1" dirty="0">
                <a:solidFill>
                  <a:srgbClr val="000000"/>
                </a:solidFill>
                <a:latin typeface="Outfit" pitchFamily="2" charset="0"/>
                <a:cs typeface="Arial" panose="020B0604020202090204"/>
              </a:rPr>
              <a:t>Lender’s Portal Overall Technical Architecture</a:t>
            </a:r>
            <a:endParaRPr sz="3180" b="1" dirty="0">
              <a:solidFill>
                <a:srgbClr val="000000"/>
              </a:solidFill>
              <a:latin typeface="Outfit" pitchFamily="2" charset="0"/>
              <a:cs typeface="Arial" panose="020B0604020202090204"/>
            </a:endParaRPr>
          </a:p>
        </p:txBody>
      </p:sp>
      <p:sp>
        <p:nvSpPr>
          <p:cNvPr id="6" name="Shape 3">
            <a:extLst>
              <a:ext uri="{FF2B5EF4-FFF2-40B4-BE49-F238E27FC236}">
                <a16:creationId xmlns:a16="http://schemas.microsoft.com/office/drawing/2014/main" id="{9D680219-30AB-8C69-206D-A409573FB60D}"/>
              </a:ext>
            </a:extLst>
          </p:cNvPr>
          <p:cNvSpPr/>
          <p:nvPr/>
        </p:nvSpPr>
        <p:spPr>
          <a:xfrm>
            <a:off x="9537582" y="339617"/>
            <a:ext cx="2173717" cy="501626"/>
          </a:xfrm>
          <a:prstGeom prst="roundRect">
            <a:avLst>
              <a:gd name="adj" fmla="val 9091"/>
            </a:avLst>
          </a:prstGeom>
          <a:solidFill>
            <a:srgbClr val="E4F2FB"/>
          </a:solidFill>
          <a:ln w="12700">
            <a:solidFill>
              <a:srgbClr val="9CCBE8"/>
            </a:solidFill>
            <a:prstDash val="solid"/>
          </a:ln>
        </p:spPr>
        <p:txBody>
          <a:bodyPr/>
          <a:lstStyle/>
          <a:p>
            <a:endParaRPr lang="en-IN"/>
          </a:p>
        </p:txBody>
      </p:sp>
      <p:sp>
        <p:nvSpPr>
          <p:cNvPr id="8" name="Text 4">
            <a:extLst>
              <a:ext uri="{FF2B5EF4-FFF2-40B4-BE49-F238E27FC236}">
                <a16:creationId xmlns:a16="http://schemas.microsoft.com/office/drawing/2014/main" id="{BC133CE8-9FFB-0428-5CCF-B441104D2E1F}"/>
              </a:ext>
            </a:extLst>
          </p:cNvPr>
          <p:cNvSpPr txBox="1"/>
          <p:nvPr/>
        </p:nvSpPr>
        <p:spPr>
          <a:xfrm>
            <a:off x="9537582" y="339617"/>
            <a:ext cx="2112913" cy="501626"/>
          </a:xfrm>
          <a:prstGeom prst="rect">
            <a:avLst/>
          </a:prstGeom>
          <a:noFill/>
          <a:ln/>
        </p:spPr>
        <p:txBody>
          <a:bodyPr wrap="square" lIns="0" tIns="0" rIns="0" bIns="0" rtlCol="0" anchor="ctr"/>
          <a:lstStyle/>
          <a:p>
            <a:pPr algn="ctr">
              <a:lnSpc>
                <a:spcPct val="94000"/>
              </a:lnSpc>
            </a:pPr>
            <a:r>
              <a:rPr lang="en-US" sz="878" b="1" dirty="0">
                <a:solidFill>
                  <a:srgbClr val="11397C"/>
                </a:solidFill>
                <a:latin typeface="Calibri" pitchFamily="34" charset="0"/>
                <a:ea typeface="Calibri" pitchFamily="34" charset="-122"/>
                <a:cs typeface="Calibri" pitchFamily="34" charset="-120"/>
              </a:rPr>
              <a:t>Java 25 + Spring Boot 4</a:t>
            </a:r>
            <a:endParaRPr lang="en-US" sz="878" dirty="0"/>
          </a:p>
          <a:p>
            <a:pPr algn="ctr">
              <a:lnSpc>
                <a:spcPct val="94000"/>
              </a:lnSpc>
            </a:pPr>
            <a:r>
              <a:rPr lang="en-US" sz="878" b="1" dirty="0">
                <a:solidFill>
                  <a:srgbClr val="11397C"/>
                </a:solidFill>
                <a:latin typeface="Calibri" pitchFamily="34" charset="0"/>
                <a:ea typeface="Calibri" pitchFamily="34" charset="-122"/>
                <a:cs typeface="Calibri" pitchFamily="34" charset="-120"/>
              </a:rPr>
              <a:t>Microservices on Managed Kubernetes</a:t>
            </a:r>
            <a:endParaRPr lang="en-US" sz="878" dirty="0"/>
          </a:p>
        </p:txBody>
      </p:sp>
      <p:sp>
        <p:nvSpPr>
          <p:cNvPr id="3" name="Text 5">
            <a:extLst>
              <a:ext uri="{FF2B5EF4-FFF2-40B4-BE49-F238E27FC236}">
                <a16:creationId xmlns:a16="http://schemas.microsoft.com/office/drawing/2014/main" id="{AC89AA4F-23EC-0666-1B39-4859E0851907}"/>
              </a:ext>
            </a:extLst>
          </p:cNvPr>
          <p:cNvSpPr txBox="1"/>
          <p:nvPr/>
        </p:nvSpPr>
        <p:spPr>
          <a:xfrm>
            <a:off x="439895" y="1059644"/>
            <a:ext cx="1140061" cy="288816"/>
          </a:xfrm>
          <a:prstGeom prst="rect">
            <a:avLst/>
          </a:prstGeom>
          <a:noFill/>
          <a:ln/>
        </p:spPr>
        <p:txBody>
          <a:bodyPr wrap="square" lIns="0" tIns="0" rIns="0" bIns="0" rtlCol="0" anchor="ctr"/>
          <a:lstStyle/>
          <a:p>
            <a:pPr>
              <a:lnSpc>
                <a:spcPct val="90000"/>
              </a:lnSpc>
            </a:pPr>
            <a:r>
              <a:rPr lang="en-US" sz="858" b="1" dirty="0">
                <a:solidFill>
                  <a:srgbClr val="1B4F8A"/>
                </a:solidFill>
                <a:latin typeface="Calibri" pitchFamily="34" charset="0"/>
                <a:ea typeface="Calibri" pitchFamily="34" charset="-122"/>
                <a:cs typeface="Calibri" pitchFamily="34" charset="-120"/>
              </a:rPr>
              <a:t>Architecture</a:t>
            </a:r>
            <a:endParaRPr lang="en-US" sz="858" dirty="0"/>
          </a:p>
          <a:p>
            <a:pPr>
              <a:lnSpc>
                <a:spcPct val="90000"/>
              </a:lnSpc>
            </a:pPr>
            <a:r>
              <a:rPr lang="en-US" sz="858" b="1" dirty="0">
                <a:solidFill>
                  <a:srgbClr val="1B4F8A"/>
                </a:solidFill>
                <a:latin typeface="Calibri" pitchFamily="34" charset="0"/>
                <a:ea typeface="Calibri" pitchFamily="34" charset="-122"/>
                <a:cs typeface="Calibri" pitchFamily="34" charset="-120"/>
              </a:rPr>
              <a:t>Evolution</a:t>
            </a:r>
            <a:endParaRPr lang="en-US" sz="858" dirty="0"/>
          </a:p>
        </p:txBody>
      </p:sp>
      <p:sp>
        <p:nvSpPr>
          <p:cNvPr id="7" name="Shape 6">
            <a:extLst>
              <a:ext uri="{FF2B5EF4-FFF2-40B4-BE49-F238E27FC236}">
                <a16:creationId xmlns:a16="http://schemas.microsoft.com/office/drawing/2014/main" id="{D79011F2-8F64-7F5A-4076-F5356C3207BB}"/>
              </a:ext>
            </a:extLst>
          </p:cNvPr>
          <p:cNvSpPr/>
          <p:nvPr/>
        </p:nvSpPr>
        <p:spPr>
          <a:xfrm>
            <a:off x="1655960" y="1029242"/>
            <a:ext cx="1748093" cy="273615"/>
          </a:xfrm>
          <a:prstGeom prst="roundRect">
            <a:avLst>
              <a:gd name="adj" fmla="val 46668"/>
            </a:avLst>
          </a:prstGeom>
          <a:solidFill>
            <a:srgbClr val="F2F6FB"/>
          </a:solidFill>
          <a:ln w="12700">
            <a:solidFill>
              <a:srgbClr val="C6D5E4"/>
            </a:solidFill>
            <a:prstDash val="solid"/>
          </a:ln>
        </p:spPr>
        <p:txBody>
          <a:bodyPr/>
          <a:lstStyle/>
          <a:p>
            <a:endParaRPr lang="en-IN"/>
          </a:p>
        </p:txBody>
      </p:sp>
      <p:sp>
        <p:nvSpPr>
          <p:cNvPr id="10" name="Text 7">
            <a:extLst>
              <a:ext uri="{FF2B5EF4-FFF2-40B4-BE49-F238E27FC236}">
                <a16:creationId xmlns:a16="http://schemas.microsoft.com/office/drawing/2014/main" id="{619A84C9-36BC-8FD7-B6D7-87846EBAE522}"/>
              </a:ext>
            </a:extLst>
          </p:cNvPr>
          <p:cNvSpPr txBox="1"/>
          <p:nvPr/>
        </p:nvSpPr>
        <p:spPr>
          <a:xfrm>
            <a:off x="170156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7E8CA0"/>
                </a:solidFill>
                <a:latin typeface="Calibri" pitchFamily="34" charset="0"/>
                <a:ea typeface="Calibri" pitchFamily="34" charset="-122"/>
                <a:cs typeface="Calibri" pitchFamily="34" charset="-120"/>
              </a:rPr>
              <a:t>Phase 1</a:t>
            </a:r>
            <a:endParaRPr lang="en-US" sz="838" dirty="0"/>
          </a:p>
          <a:p>
            <a:pPr algn="ctr">
              <a:lnSpc>
                <a:spcPct val="90000"/>
              </a:lnSpc>
            </a:pPr>
            <a:r>
              <a:rPr lang="en-US" sz="778" dirty="0">
                <a:solidFill>
                  <a:srgbClr val="7E8CA0"/>
                </a:solidFill>
                <a:latin typeface="Calibri" pitchFamily="34" charset="0"/>
                <a:ea typeface="Calibri" pitchFamily="34" charset="-122"/>
                <a:cs typeface="Calibri" pitchFamily="34" charset="-120"/>
              </a:rPr>
              <a:t>Lean MVP Foundation</a:t>
            </a:r>
            <a:endParaRPr lang="en-US" sz="838" dirty="0"/>
          </a:p>
        </p:txBody>
      </p:sp>
      <p:sp>
        <p:nvSpPr>
          <p:cNvPr id="12" name="Shape 8">
            <a:extLst>
              <a:ext uri="{FF2B5EF4-FFF2-40B4-BE49-F238E27FC236}">
                <a16:creationId xmlns:a16="http://schemas.microsoft.com/office/drawing/2014/main" id="{DCF1D9D9-E5D8-98B6-4C7C-4C193CCADBF5}"/>
              </a:ext>
            </a:extLst>
          </p:cNvPr>
          <p:cNvSpPr/>
          <p:nvPr/>
        </p:nvSpPr>
        <p:spPr>
          <a:xfrm>
            <a:off x="3449656" y="1166049"/>
            <a:ext cx="212812" cy="0"/>
          </a:xfrm>
          <a:prstGeom prst="line">
            <a:avLst/>
          </a:prstGeom>
          <a:noFill/>
          <a:ln w="17780">
            <a:solidFill>
              <a:srgbClr val="9CB0C6"/>
            </a:solidFill>
            <a:prstDash val="solid"/>
            <a:tailEnd type="triangle"/>
          </a:ln>
        </p:spPr>
        <p:txBody>
          <a:bodyPr/>
          <a:lstStyle/>
          <a:p>
            <a:endParaRPr lang="en-IN"/>
          </a:p>
        </p:txBody>
      </p:sp>
      <p:sp>
        <p:nvSpPr>
          <p:cNvPr id="14" name="Shape 9">
            <a:extLst>
              <a:ext uri="{FF2B5EF4-FFF2-40B4-BE49-F238E27FC236}">
                <a16:creationId xmlns:a16="http://schemas.microsoft.com/office/drawing/2014/main" id="{404969C2-38CB-B765-3BC4-AAD064C7841E}"/>
              </a:ext>
            </a:extLst>
          </p:cNvPr>
          <p:cNvSpPr/>
          <p:nvPr/>
        </p:nvSpPr>
        <p:spPr>
          <a:xfrm>
            <a:off x="3708070" y="1029242"/>
            <a:ext cx="1748093" cy="273615"/>
          </a:xfrm>
          <a:prstGeom prst="roundRect">
            <a:avLst>
              <a:gd name="adj" fmla="val 46668"/>
            </a:avLst>
          </a:prstGeom>
          <a:solidFill>
            <a:srgbClr val="F2F6FB"/>
          </a:solidFill>
          <a:ln w="12700">
            <a:solidFill>
              <a:srgbClr val="C6D5E4"/>
            </a:solidFill>
            <a:prstDash val="solid"/>
          </a:ln>
        </p:spPr>
        <p:txBody>
          <a:bodyPr/>
          <a:lstStyle/>
          <a:p>
            <a:endParaRPr lang="en-IN"/>
          </a:p>
        </p:txBody>
      </p:sp>
      <p:sp>
        <p:nvSpPr>
          <p:cNvPr id="16" name="Text 10">
            <a:extLst>
              <a:ext uri="{FF2B5EF4-FFF2-40B4-BE49-F238E27FC236}">
                <a16:creationId xmlns:a16="http://schemas.microsoft.com/office/drawing/2014/main" id="{6405A854-0327-0905-D1D7-9CBF79F784F7}"/>
              </a:ext>
            </a:extLst>
          </p:cNvPr>
          <p:cNvSpPr txBox="1"/>
          <p:nvPr/>
        </p:nvSpPr>
        <p:spPr>
          <a:xfrm>
            <a:off x="375367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7E8CA0"/>
                </a:solidFill>
                <a:latin typeface="Calibri" pitchFamily="34" charset="0"/>
                <a:ea typeface="Calibri" pitchFamily="34" charset="-122"/>
                <a:cs typeface="Calibri" pitchFamily="34" charset="-120"/>
              </a:rPr>
              <a:t>Phase 2</a:t>
            </a:r>
            <a:endParaRPr lang="en-US" sz="838" dirty="0"/>
          </a:p>
          <a:p>
            <a:pPr algn="ctr">
              <a:lnSpc>
                <a:spcPct val="90000"/>
              </a:lnSpc>
            </a:pPr>
            <a:r>
              <a:rPr lang="en-US" sz="778" dirty="0">
                <a:solidFill>
                  <a:srgbClr val="7E8CA0"/>
                </a:solidFill>
                <a:latin typeface="Calibri" pitchFamily="34" charset="0"/>
                <a:ea typeface="Calibri" pitchFamily="34" charset="-122"/>
                <a:cs typeface="Calibri" pitchFamily="34" charset="-120"/>
              </a:rPr>
              <a:t>Shared Platform Capabilities</a:t>
            </a:r>
            <a:endParaRPr lang="en-US" sz="838" dirty="0"/>
          </a:p>
        </p:txBody>
      </p:sp>
      <p:sp>
        <p:nvSpPr>
          <p:cNvPr id="18" name="Shape 11">
            <a:extLst>
              <a:ext uri="{FF2B5EF4-FFF2-40B4-BE49-F238E27FC236}">
                <a16:creationId xmlns:a16="http://schemas.microsoft.com/office/drawing/2014/main" id="{7419A944-865C-FE61-DD10-0565D92F975E}"/>
              </a:ext>
            </a:extLst>
          </p:cNvPr>
          <p:cNvSpPr/>
          <p:nvPr/>
        </p:nvSpPr>
        <p:spPr>
          <a:xfrm>
            <a:off x="5501767" y="1166049"/>
            <a:ext cx="212812" cy="0"/>
          </a:xfrm>
          <a:prstGeom prst="line">
            <a:avLst/>
          </a:prstGeom>
          <a:noFill/>
          <a:ln w="17780">
            <a:solidFill>
              <a:srgbClr val="9CB0C6"/>
            </a:solidFill>
            <a:prstDash val="solid"/>
            <a:tailEnd type="triangle"/>
          </a:ln>
        </p:spPr>
        <p:txBody>
          <a:bodyPr/>
          <a:lstStyle/>
          <a:p>
            <a:endParaRPr lang="en-IN"/>
          </a:p>
        </p:txBody>
      </p:sp>
      <p:sp>
        <p:nvSpPr>
          <p:cNvPr id="20" name="Shape 12">
            <a:extLst>
              <a:ext uri="{FF2B5EF4-FFF2-40B4-BE49-F238E27FC236}">
                <a16:creationId xmlns:a16="http://schemas.microsoft.com/office/drawing/2014/main" id="{6F6E2391-0F22-20D2-A91A-4E4D445655C2}"/>
              </a:ext>
            </a:extLst>
          </p:cNvPr>
          <p:cNvSpPr/>
          <p:nvPr/>
        </p:nvSpPr>
        <p:spPr>
          <a:xfrm>
            <a:off x="5760180" y="1029242"/>
            <a:ext cx="1748093" cy="273615"/>
          </a:xfrm>
          <a:prstGeom prst="roundRect">
            <a:avLst>
              <a:gd name="adj" fmla="val 46668"/>
            </a:avLst>
          </a:prstGeom>
          <a:solidFill>
            <a:srgbClr val="11397C"/>
          </a:solidFill>
          <a:ln w="12700">
            <a:solidFill>
              <a:srgbClr val="11397C"/>
            </a:solidFill>
            <a:prstDash val="solid"/>
          </a:ln>
        </p:spPr>
        <p:txBody>
          <a:bodyPr/>
          <a:lstStyle/>
          <a:p>
            <a:endParaRPr lang="en-IN"/>
          </a:p>
        </p:txBody>
      </p:sp>
      <p:sp>
        <p:nvSpPr>
          <p:cNvPr id="22" name="Text 13">
            <a:extLst>
              <a:ext uri="{FF2B5EF4-FFF2-40B4-BE49-F238E27FC236}">
                <a16:creationId xmlns:a16="http://schemas.microsoft.com/office/drawing/2014/main" id="{AD7BEB4D-4B48-B71F-D438-33B84DFE6CB8}"/>
              </a:ext>
            </a:extLst>
          </p:cNvPr>
          <p:cNvSpPr txBox="1"/>
          <p:nvPr/>
        </p:nvSpPr>
        <p:spPr>
          <a:xfrm>
            <a:off x="5805782" y="1029242"/>
            <a:ext cx="1656888" cy="273615"/>
          </a:xfrm>
          <a:prstGeom prst="rect">
            <a:avLst/>
          </a:prstGeom>
          <a:noFill/>
          <a:ln/>
        </p:spPr>
        <p:txBody>
          <a:bodyPr wrap="square" lIns="0" tIns="0" rIns="0" bIns="0" rtlCol="0" anchor="ctr"/>
          <a:lstStyle/>
          <a:p>
            <a:pPr algn="ctr">
              <a:lnSpc>
                <a:spcPct val="90000"/>
              </a:lnSpc>
            </a:pPr>
            <a:r>
              <a:rPr lang="en-US" sz="838" b="1" dirty="0">
                <a:solidFill>
                  <a:srgbClr val="FFFFFF"/>
                </a:solidFill>
                <a:latin typeface="Calibri" pitchFamily="34" charset="0"/>
                <a:ea typeface="Calibri" pitchFamily="34" charset="-122"/>
                <a:cs typeface="Calibri" pitchFamily="34" charset="-120"/>
              </a:rPr>
              <a:t>Phase 3</a:t>
            </a:r>
            <a:endParaRPr lang="en-US" sz="838" dirty="0"/>
          </a:p>
          <a:p>
            <a:pPr algn="ctr">
              <a:lnSpc>
                <a:spcPct val="90000"/>
              </a:lnSpc>
            </a:pPr>
            <a:r>
              <a:rPr lang="en-US" sz="778" dirty="0">
                <a:solidFill>
                  <a:srgbClr val="FFFFFF"/>
                </a:solidFill>
                <a:latin typeface="Calibri" pitchFamily="34" charset="0"/>
                <a:ea typeface="Calibri" pitchFamily="34" charset="-122"/>
                <a:cs typeface="Calibri" pitchFamily="34" charset="-120"/>
              </a:rPr>
              <a:t>Enterprise Platform  ·  Portal + PAS</a:t>
            </a:r>
            <a:endParaRPr lang="en-US" sz="838" dirty="0"/>
          </a:p>
        </p:txBody>
      </p:sp>
      <p:sp>
        <p:nvSpPr>
          <p:cNvPr id="24" name="Text 14">
            <a:extLst>
              <a:ext uri="{FF2B5EF4-FFF2-40B4-BE49-F238E27FC236}">
                <a16:creationId xmlns:a16="http://schemas.microsoft.com/office/drawing/2014/main" id="{8C4C0D26-CD9E-26B6-51FE-F4C2FCFF87AC}"/>
              </a:ext>
            </a:extLst>
          </p:cNvPr>
          <p:cNvSpPr txBox="1"/>
          <p:nvPr/>
        </p:nvSpPr>
        <p:spPr>
          <a:xfrm>
            <a:off x="7622280" y="998840"/>
            <a:ext cx="4142222" cy="334418"/>
          </a:xfrm>
          <a:prstGeom prst="rect">
            <a:avLst/>
          </a:prstGeom>
          <a:noFill/>
          <a:ln/>
        </p:spPr>
        <p:txBody>
          <a:bodyPr wrap="square" lIns="0" tIns="0" rIns="0" bIns="0" rtlCol="0" anchor="ctr"/>
          <a:lstStyle/>
          <a:p>
            <a:pPr>
              <a:lnSpc>
                <a:spcPct val="95000"/>
              </a:lnSpc>
            </a:pPr>
            <a:r>
              <a:rPr lang="en-US" sz="798" i="1" dirty="0">
                <a:solidFill>
                  <a:srgbClr val="5B6472"/>
                </a:solidFill>
                <a:latin typeface="Calibri" pitchFamily="34" charset="0"/>
                <a:ea typeface="Calibri" pitchFamily="34" charset="-122"/>
                <a:cs typeface="Calibri" pitchFamily="34" charset="-120"/>
              </a:rPr>
              <a:t>Portal and PAS converge into one application composed of independently deployable microservices, sharing one runtime, one data platform and one set of platform services.</a:t>
            </a:r>
            <a:endParaRPr lang="en-US" sz="798" dirty="0"/>
          </a:p>
        </p:txBody>
      </p:sp>
      <p:sp>
        <p:nvSpPr>
          <p:cNvPr id="26" name="Shape 15">
            <a:extLst>
              <a:ext uri="{FF2B5EF4-FFF2-40B4-BE49-F238E27FC236}">
                <a16:creationId xmlns:a16="http://schemas.microsoft.com/office/drawing/2014/main" id="{9A08CFCE-EE8C-8A7B-5476-0C59238A1A3F}"/>
              </a:ext>
            </a:extLst>
          </p:cNvPr>
          <p:cNvSpPr/>
          <p:nvPr/>
        </p:nvSpPr>
        <p:spPr>
          <a:xfrm>
            <a:off x="439895" y="2382115"/>
            <a:ext cx="912049" cy="3192171"/>
          </a:xfrm>
          <a:prstGeom prst="roundRect">
            <a:avLst>
              <a:gd name="adj" fmla="val 5000"/>
            </a:avLst>
          </a:prstGeom>
          <a:solidFill>
            <a:srgbClr val="F2F7FC"/>
          </a:solidFill>
          <a:ln w="12700">
            <a:solidFill>
              <a:srgbClr val="C2DCF0"/>
            </a:solidFill>
            <a:prstDash val="solid"/>
          </a:ln>
        </p:spPr>
        <p:txBody>
          <a:bodyPr/>
          <a:lstStyle/>
          <a:p>
            <a:endParaRPr lang="en-IN"/>
          </a:p>
        </p:txBody>
      </p:sp>
      <p:sp>
        <p:nvSpPr>
          <p:cNvPr id="28" name="Text 16">
            <a:extLst>
              <a:ext uri="{FF2B5EF4-FFF2-40B4-BE49-F238E27FC236}">
                <a16:creationId xmlns:a16="http://schemas.microsoft.com/office/drawing/2014/main" id="{54C73C30-12B0-6321-08CE-DB883896DC2A}"/>
              </a:ext>
            </a:extLst>
          </p:cNvPr>
          <p:cNvSpPr txBox="1"/>
          <p:nvPr/>
        </p:nvSpPr>
        <p:spPr>
          <a:xfrm>
            <a:off x="439895" y="2442917"/>
            <a:ext cx="912049" cy="167209"/>
          </a:xfrm>
          <a:prstGeom prst="rect">
            <a:avLst/>
          </a:prstGeom>
          <a:noFill/>
          <a:ln/>
        </p:spPr>
        <p:txBody>
          <a:bodyPr wrap="square" lIns="0" tIns="0" rIns="0" bIns="0" rtlCol="0" anchor="ctr"/>
          <a:lstStyle/>
          <a:p>
            <a:pPr algn="ctr">
              <a:lnSpc>
                <a:spcPct val="93000"/>
              </a:lnSpc>
            </a:pPr>
            <a:r>
              <a:rPr lang="en-US" sz="1047" b="1" dirty="0">
                <a:solidFill>
                  <a:srgbClr val="1B4F8A"/>
                </a:solidFill>
                <a:latin typeface="Calibri" pitchFamily="34" charset="0"/>
                <a:ea typeface="Calibri" pitchFamily="34" charset="-122"/>
                <a:cs typeface="Calibri" pitchFamily="34" charset="-120"/>
              </a:rPr>
              <a:t>Users</a:t>
            </a:r>
            <a:endParaRPr lang="en-US" sz="1047" dirty="0"/>
          </a:p>
        </p:txBody>
      </p:sp>
      <p:pic>
        <p:nvPicPr>
          <p:cNvPr id="30" name="Image 0" descr="preencoded.png">
            <a:extLst>
              <a:ext uri="{FF2B5EF4-FFF2-40B4-BE49-F238E27FC236}">
                <a16:creationId xmlns:a16="http://schemas.microsoft.com/office/drawing/2014/main" id="{4566CA35-6550-F0DA-DCD9-9F2135C19803}"/>
              </a:ext>
            </a:extLst>
          </p:cNvPr>
          <p:cNvPicPr>
            <a:picLocks noChangeAspect="1"/>
          </p:cNvPicPr>
          <p:nvPr/>
        </p:nvPicPr>
        <p:blipFill>
          <a:blip r:embed="rId2"/>
          <a:stretch>
            <a:fillRect/>
          </a:stretch>
        </p:blipFill>
        <p:spPr>
          <a:xfrm>
            <a:off x="743911" y="2807737"/>
            <a:ext cx="304016" cy="304016"/>
          </a:xfrm>
          <a:prstGeom prst="rect">
            <a:avLst/>
          </a:prstGeom>
        </p:spPr>
      </p:pic>
      <p:sp>
        <p:nvSpPr>
          <p:cNvPr id="32" name="Text 17">
            <a:extLst>
              <a:ext uri="{FF2B5EF4-FFF2-40B4-BE49-F238E27FC236}">
                <a16:creationId xmlns:a16="http://schemas.microsoft.com/office/drawing/2014/main" id="{C35D3B94-7FBF-DA16-9156-346017F9D6C4}"/>
              </a:ext>
            </a:extLst>
          </p:cNvPr>
          <p:cNvSpPr txBox="1"/>
          <p:nvPr/>
        </p:nvSpPr>
        <p:spPr>
          <a:xfrm>
            <a:off x="470297" y="3142155"/>
            <a:ext cx="851246" cy="243213"/>
          </a:xfrm>
          <a:prstGeom prst="rect">
            <a:avLst/>
          </a:prstGeom>
          <a:noFill/>
          <a:ln/>
        </p:spPr>
        <p:txBody>
          <a:bodyPr wrap="square" lIns="0" tIns="0" rIns="0" bIns="0" rtlCol="0" anchor="ctr"/>
          <a:lstStyle/>
          <a:p>
            <a:pPr algn="ctr">
              <a:lnSpc>
                <a:spcPct val="93000"/>
              </a:lnSpc>
            </a:pPr>
            <a:r>
              <a:rPr lang="en-US" sz="858" b="1" dirty="0">
                <a:solidFill>
                  <a:srgbClr val="1B3A66"/>
                </a:solidFill>
                <a:latin typeface="Calibri" pitchFamily="34" charset="0"/>
                <a:ea typeface="Calibri" pitchFamily="34" charset="-122"/>
                <a:cs typeface="Calibri" pitchFamily="34" charset="-120"/>
              </a:rPr>
              <a:t>Lender Users</a:t>
            </a:r>
            <a:endParaRPr lang="en-US" sz="858" dirty="0"/>
          </a:p>
          <a:p>
            <a:pPr algn="ctr">
              <a:lnSpc>
                <a:spcPct val="93000"/>
              </a:lnSpc>
            </a:pPr>
            <a:r>
              <a:rPr lang="en-US" sz="858" b="1" dirty="0">
                <a:solidFill>
                  <a:srgbClr val="1B3A66"/>
                </a:solidFill>
                <a:latin typeface="Calibri" pitchFamily="34" charset="0"/>
                <a:ea typeface="Calibri" pitchFamily="34" charset="-122"/>
                <a:cs typeface="Calibri" pitchFamily="34" charset="-120"/>
              </a:rPr>
              <a:t>(External)</a:t>
            </a:r>
            <a:endParaRPr lang="en-US" sz="858" dirty="0"/>
          </a:p>
        </p:txBody>
      </p:sp>
      <p:pic>
        <p:nvPicPr>
          <p:cNvPr id="34" name="Image 1" descr="preencoded.png">
            <a:extLst>
              <a:ext uri="{FF2B5EF4-FFF2-40B4-BE49-F238E27FC236}">
                <a16:creationId xmlns:a16="http://schemas.microsoft.com/office/drawing/2014/main" id="{A95DFDE6-1F36-EE31-421E-1B85DC17704B}"/>
              </a:ext>
            </a:extLst>
          </p:cNvPr>
          <p:cNvPicPr>
            <a:picLocks noChangeAspect="1"/>
          </p:cNvPicPr>
          <p:nvPr/>
        </p:nvPicPr>
        <p:blipFill>
          <a:blip r:embed="rId2"/>
          <a:stretch>
            <a:fillRect/>
          </a:stretch>
        </p:blipFill>
        <p:spPr>
          <a:xfrm>
            <a:off x="743911" y="3522175"/>
            <a:ext cx="304016" cy="304016"/>
          </a:xfrm>
          <a:prstGeom prst="rect">
            <a:avLst/>
          </a:prstGeom>
        </p:spPr>
      </p:pic>
      <p:sp>
        <p:nvSpPr>
          <p:cNvPr id="36" name="Text 18">
            <a:extLst>
              <a:ext uri="{FF2B5EF4-FFF2-40B4-BE49-F238E27FC236}">
                <a16:creationId xmlns:a16="http://schemas.microsoft.com/office/drawing/2014/main" id="{1A60F047-2D26-E12E-7483-6551D8528EC4}"/>
              </a:ext>
            </a:extLst>
          </p:cNvPr>
          <p:cNvSpPr txBox="1"/>
          <p:nvPr/>
        </p:nvSpPr>
        <p:spPr>
          <a:xfrm>
            <a:off x="470297" y="3856594"/>
            <a:ext cx="851246" cy="243213"/>
          </a:xfrm>
          <a:prstGeom prst="rect">
            <a:avLst/>
          </a:prstGeom>
          <a:noFill/>
          <a:ln/>
        </p:spPr>
        <p:txBody>
          <a:bodyPr wrap="square" lIns="0" tIns="0" rIns="0" bIns="0" rtlCol="0" anchor="ctr"/>
          <a:lstStyle/>
          <a:p>
            <a:pPr algn="ctr">
              <a:lnSpc>
                <a:spcPct val="93000"/>
              </a:lnSpc>
            </a:pPr>
            <a:r>
              <a:rPr lang="en-US" sz="858" b="1" dirty="0">
                <a:solidFill>
                  <a:srgbClr val="1B3A66"/>
                </a:solidFill>
                <a:latin typeface="Calibri" pitchFamily="34" charset="0"/>
                <a:ea typeface="Calibri" pitchFamily="34" charset="-122"/>
                <a:cs typeface="Calibri" pitchFamily="34" charset="-120"/>
              </a:rPr>
              <a:t>IMGC Users</a:t>
            </a:r>
            <a:endParaRPr lang="en-US" sz="858" dirty="0"/>
          </a:p>
          <a:p>
            <a:pPr algn="ctr">
              <a:lnSpc>
                <a:spcPct val="93000"/>
              </a:lnSpc>
            </a:pPr>
            <a:r>
              <a:rPr lang="en-US" sz="858" b="1" dirty="0">
                <a:solidFill>
                  <a:srgbClr val="1B3A66"/>
                </a:solidFill>
                <a:latin typeface="Calibri" pitchFamily="34" charset="0"/>
                <a:ea typeface="Calibri" pitchFamily="34" charset="-122"/>
                <a:cs typeface="Calibri" pitchFamily="34" charset="-120"/>
              </a:rPr>
              <a:t>(Internal)</a:t>
            </a:r>
            <a:endParaRPr lang="en-US" sz="858" dirty="0"/>
          </a:p>
        </p:txBody>
      </p:sp>
      <p:sp>
        <p:nvSpPr>
          <p:cNvPr id="38" name="Shape 19">
            <a:extLst>
              <a:ext uri="{FF2B5EF4-FFF2-40B4-BE49-F238E27FC236}">
                <a16:creationId xmlns:a16="http://schemas.microsoft.com/office/drawing/2014/main" id="{B5A3E8DE-25C5-BCDE-DD23-F2838ACD5D6B}"/>
              </a:ext>
            </a:extLst>
          </p:cNvPr>
          <p:cNvSpPr/>
          <p:nvPr/>
        </p:nvSpPr>
        <p:spPr>
          <a:xfrm>
            <a:off x="895919" y="4191011"/>
            <a:ext cx="0" cy="212812"/>
          </a:xfrm>
          <a:prstGeom prst="line">
            <a:avLst/>
          </a:prstGeom>
          <a:noFill/>
          <a:ln w="16510">
            <a:solidFill>
              <a:srgbClr val="1B4F8C"/>
            </a:solidFill>
            <a:prstDash val="solid"/>
            <a:headEnd type="none"/>
            <a:tailEnd type="triangle"/>
          </a:ln>
        </p:spPr>
        <p:txBody>
          <a:bodyPr/>
          <a:lstStyle/>
          <a:p>
            <a:endParaRPr lang="en-IN"/>
          </a:p>
        </p:txBody>
      </p:sp>
      <p:pic>
        <p:nvPicPr>
          <p:cNvPr id="40" name="Image 2" descr="preencoded.png">
            <a:extLst>
              <a:ext uri="{FF2B5EF4-FFF2-40B4-BE49-F238E27FC236}">
                <a16:creationId xmlns:a16="http://schemas.microsoft.com/office/drawing/2014/main" id="{14C4C20A-C9D1-F1D0-CC55-AB119D6EAFBE}"/>
              </a:ext>
            </a:extLst>
          </p:cNvPr>
          <p:cNvPicPr>
            <a:picLocks noChangeAspect="1"/>
          </p:cNvPicPr>
          <p:nvPr/>
        </p:nvPicPr>
        <p:blipFill>
          <a:blip r:embed="rId3"/>
          <a:stretch>
            <a:fillRect/>
          </a:stretch>
        </p:blipFill>
        <p:spPr>
          <a:xfrm>
            <a:off x="743911" y="4464625"/>
            <a:ext cx="304016" cy="304016"/>
          </a:xfrm>
          <a:prstGeom prst="rect">
            <a:avLst/>
          </a:prstGeom>
        </p:spPr>
      </p:pic>
      <p:sp>
        <p:nvSpPr>
          <p:cNvPr id="42" name="Text 20">
            <a:extLst>
              <a:ext uri="{FF2B5EF4-FFF2-40B4-BE49-F238E27FC236}">
                <a16:creationId xmlns:a16="http://schemas.microsoft.com/office/drawing/2014/main" id="{F1D50D44-45AA-4E23-1A92-88DFD86C99F3}"/>
              </a:ext>
            </a:extLst>
          </p:cNvPr>
          <p:cNvSpPr txBox="1"/>
          <p:nvPr/>
        </p:nvSpPr>
        <p:spPr>
          <a:xfrm>
            <a:off x="470297" y="4799044"/>
            <a:ext cx="851246" cy="197611"/>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Internet / HTTPS</a:t>
            </a:r>
            <a:endParaRPr lang="en-US" sz="838" dirty="0"/>
          </a:p>
        </p:txBody>
      </p:sp>
      <p:sp>
        <p:nvSpPr>
          <p:cNvPr id="44" name="Shape 21">
            <a:extLst>
              <a:ext uri="{FF2B5EF4-FFF2-40B4-BE49-F238E27FC236}">
                <a16:creationId xmlns:a16="http://schemas.microsoft.com/office/drawing/2014/main" id="{579EC343-94CD-E2FA-2DD3-399E59DDD07C}"/>
              </a:ext>
            </a:extLst>
          </p:cNvPr>
          <p:cNvSpPr/>
          <p:nvPr/>
        </p:nvSpPr>
        <p:spPr>
          <a:xfrm>
            <a:off x="1731964" y="2382115"/>
            <a:ext cx="1140061" cy="3192171"/>
          </a:xfrm>
          <a:prstGeom prst="roundRect">
            <a:avLst>
              <a:gd name="adj" fmla="val 4000"/>
            </a:avLst>
          </a:prstGeom>
          <a:solidFill>
            <a:srgbClr val="FFFFFF"/>
          </a:solidFill>
          <a:ln w="12700">
            <a:solidFill>
              <a:srgbClr val="C2DCF0"/>
            </a:solidFill>
            <a:prstDash val="solid"/>
          </a:ln>
        </p:spPr>
        <p:txBody>
          <a:bodyPr/>
          <a:lstStyle/>
          <a:p>
            <a:endParaRPr lang="en-IN"/>
          </a:p>
        </p:txBody>
      </p:sp>
      <p:sp>
        <p:nvSpPr>
          <p:cNvPr id="46" name="Text 22">
            <a:extLst>
              <a:ext uri="{FF2B5EF4-FFF2-40B4-BE49-F238E27FC236}">
                <a16:creationId xmlns:a16="http://schemas.microsoft.com/office/drawing/2014/main" id="{F159EC27-A8EF-8967-BA48-23F4A4A6D307}"/>
              </a:ext>
            </a:extLst>
          </p:cNvPr>
          <p:cNvSpPr txBox="1"/>
          <p:nvPr/>
        </p:nvSpPr>
        <p:spPr>
          <a:xfrm>
            <a:off x="1731964" y="2442917"/>
            <a:ext cx="1140061" cy="167209"/>
          </a:xfrm>
          <a:prstGeom prst="rect">
            <a:avLst/>
          </a:prstGeom>
          <a:noFill/>
          <a:ln/>
        </p:spPr>
        <p:txBody>
          <a:bodyPr wrap="square" lIns="0" tIns="0" rIns="0" bIns="0" rtlCol="0" anchor="ctr"/>
          <a:lstStyle/>
          <a:p>
            <a:pPr algn="ctr">
              <a:lnSpc>
                <a:spcPct val="93000"/>
              </a:lnSpc>
            </a:pPr>
            <a:r>
              <a:rPr lang="en-US" sz="1047" b="1" dirty="0">
                <a:solidFill>
                  <a:srgbClr val="1B4F8A"/>
                </a:solidFill>
                <a:latin typeface="Calibri" pitchFamily="34" charset="0"/>
                <a:ea typeface="Calibri" pitchFamily="34" charset="-122"/>
                <a:cs typeface="Calibri" pitchFamily="34" charset="-120"/>
              </a:rPr>
              <a:t>Edge &amp; Security</a:t>
            </a:r>
            <a:endParaRPr lang="en-US" sz="1047" dirty="0"/>
          </a:p>
        </p:txBody>
      </p:sp>
      <p:sp>
        <p:nvSpPr>
          <p:cNvPr id="48" name="Shape 23">
            <a:extLst>
              <a:ext uri="{FF2B5EF4-FFF2-40B4-BE49-F238E27FC236}">
                <a16:creationId xmlns:a16="http://schemas.microsoft.com/office/drawing/2014/main" id="{C4331E10-D8A2-95C4-DF82-A455FC5DA80A}"/>
              </a:ext>
            </a:extLst>
          </p:cNvPr>
          <p:cNvSpPr/>
          <p:nvPr/>
        </p:nvSpPr>
        <p:spPr>
          <a:xfrm>
            <a:off x="1792768" y="2701332"/>
            <a:ext cx="1018454" cy="1413676"/>
          </a:xfrm>
          <a:prstGeom prst="roundRect">
            <a:avLst>
              <a:gd name="adj" fmla="val 4478"/>
            </a:avLst>
          </a:prstGeom>
          <a:solidFill>
            <a:srgbClr val="FFFFFF"/>
          </a:solidFill>
          <a:ln w="12700">
            <a:solidFill>
              <a:srgbClr val="C2DCF0"/>
            </a:solidFill>
            <a:prstDash val="solid"/>
          </a:ln>
        </p:spPr>
        <p:txBody>
          <a:bodyPr/>
          <a:lstStyle/>
          <a:p>
            <a:endParaRPr lang="en-IN"/>
          </a:p>
        </p:txBody>
      </p:sp>
      <p:pic>
        <p:nvPicPr>
          <p:cNvPr id="50" name="Image 3" descr="preencoded.png">
            <a:extLst>
              <a:ext uri="{FF2B5EF4-FFF2-40B4-BE49-F238E27FC236}">
                <a16:creationId xmlns:a16="http://schemas.microsoft.com/office/drawing/2014/main" id="{4A352695-2706-4C2E-14E0-BB0FD4199DE4}"/>
              </a:ext>
            </a:extLst>
          </p:cNvPr>
          <p:cNvPicPr>
            <a:picLocks noChangeAspect="1"/>
          </p:cNvPicPr>
          <p:nvPr/>
        </p:nvPicPr>
        <p:blipFill>
          <a:blip r:embed="rId4"/>
          <a:stretch>
            <a:fillRect/>
          </a:stretch>
        </p:blipFill>
        <p:spPr>
          <a:xfrm>
            <a:off x="2119584" y="2777336"/>
            <a:ext cx="334418" cy="334418"/>
          </a:xfrm>
          <a:prstGeom prst="rect">
            <a:avLst/>
          </a:prstGeom>
        </p:spPr>
      </p:pic>
      <p:sp>
        <p:nvSpPr>
          <p:cNvPr id="52" name="Text 24">
            <a:extLst>
              <a:ext uri="{FF2B5EF4-FFF2-40B4-BE49-F238E27FC236}">
                <a16:creationId xmlns:a16="http://schemas.microsoft.com/office/drawing/2014/main" id="{F94C5A55-7522-7B27-831C-DF1F63CED29A}"/>
              </a:ext>
            </a:extLst>
          </p:cNvPr>
          <p:cNvSpPr txBox="1"/>
          <p:nvPr/>
        </p:nvSpPr>
        <p:spPr>
          <a:xfrm>
            <a:off x="1823169" y="3157356"/>
            <a:ext cx="957651" cy="243213"/>
          </a:xfrm>
          <a:prstGeom prst="rect">
            <a:avLst/>
          </a:prstGeom>
          <a:noFill/>
          <a:ln/>
        </p:spPr>
        <p:txBody>
          <a:bodyPr wrap="square" lIns="0" tIns="0" rIns="0" bIns="0" rtlCol="0" anchor="ctr"/>
          <a:lstStyle/>
          <a:p>
            <a:pPr algn="ctr">
              <a:lnSpc>
                <a:spcPct val="93000"/>
              </a:lnSpc>
            </a:pPr>
            <a:r>
              <a:rPr lang="en-US" sz="918" b="1" dirty="0">
                <a:solidFill>
                  <a:srgbClr val="11397C"/>
                </a:solidFill>
                <a:latin typeface="Calibri" pitchFamily="34" charset="0"/>
                <a:ea typeface="Calibri" pitchFamily="34" charset="-122"/>
                <a:cs typeface="Calibri" pitchFamily="34" charset="-120"/>
              </a:rPr>
              <a:t>Global Edge /</a:t>
            </a:r>
            <a:endParaRPr lang="en-US" sz="918" dirty="0"/>
          </a:p>
          <a:p>
            <a:pPr algn="ctr">
              <a:lnSpc>
                <a:spcPct val="93000"/>
              </a:lnSpc>
            </a:pPr>
            <a:r>
              <a:rPr lang="en-US" sz="918" b="1" dirty="0">
                <a:solidFill>
                  <a:srgbClr val="11397C"/>
                </a:solidFill>
                <a:latin typeface="Calibri" pitchFamily="34" charset="0"/>
                <a:ea typeface="Calibri" pitchFamily="34" charset="-122"/>
                <a:cs typeface="Calibri" pitchFamily="34" charset="-120"/>
              </a:rPr>
              <a:t>Load Balancer</a:t>
            </a:r>
            <a:endParaRPr lang="en-US" sz="918" dirty="0"/>
          </a:p>
        </p:txBody>
      </p:sp>
      <p:sp>
        <p:nvSpPr>
          <p:cNvPr id="54" name="Text 25">
            <a:extLst>
              <a:ext uri="{FF2B5EF4-FFF2-40B4-BE49-F238E27FC236}">
                <a16:creationId xmlns:a16="http://schemas.microsoft.com/office/drawing/2014/main" id="{074E2649-8DF9-F993-E39D-2FE3BFC26F82}"/>
              </a:ext>
            </a:extLst>
          </p:cNvPr>
          <p:cNvSpPr txBox="1"/>
          <p:nvPr/>
        </p:nvSpPr>
        <p:spPr>
          <a:xfrm>
            <a:off x="1838370" y="3430970"/>
            <a:ext cx="927250" cy="608033"/>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WAF (Web Application Firewall)</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DDoS Protection</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Global Routing</a:t>
            </a:r>
            <a:endParaRPr lang="en-US" sz="778" dirty="0"/>
          </a:p>
        </p:txBody>
      </p:sp>
      <p:sp>
        <p:nvSpPr>
          <p:cNvPr id="56" name="Shape 26">
            <a:extLst>
              <a:ext uri="{FF2B5EF4-FFF2-40B4-BE49-F238E27FC236}">
                <a16:creationId xmlns:a16="http://schemas.microsoft.com/office/drawing/2014/main" id="{01796D76-20EA-A16E-16B4-4CE38701DA9D}"/>
              </a:ext>
            </a:extLst>
          </p:cNvPr>
          <p:cNvSpPr/>
          <p:nvPr/>
        </p:nvSpPr>
        <p:spPr>
          <a:xfrm>
            <a:off x="1792768" y="4221414"/>
            <a:ext cx="1018454" cy="1064057"/>
          </a:xfrm>
          <a:prstGeom prst="roundRect">
            <a:avLst>
              <a:gd name="adj" fmla="val 4478"/>
            </a:avLst>
          </a:prstGeom>
          <a:solidFill>
            <a:srgbClr val="FFFFFF"/>
          </a:solidFill>
          <a:ln w="12700">
            <a:solidFill>
              <a:srgbClr val="C2DCF0"/>
            </a:solidFill>
            <a:prstDash val="solid"/>
          </a:ln>
        </p:spPr>
        <p:txBody>
          <a:bodyPr/>
          <a:lstStyle/>
          <a:p>
            <a:endParaRPr lang="en-IN"/>
          </a:p>
        </p:txBody>
      </p:sp>
      <p:pic>
        <p:nvPicPr>
          <p:cNvPr id="58" name="Image 4" descr="preencoded.png">
            <a:extLst>
              <a:ext uri="{FF2B5EF4-FFF2-40B4-BE49-F238E27FC236}">
                <a16:creationId xmlns:a16="http://schemas.microsoft.com/office/drawing/2014/main" id="{C360E975-E9EE-1C34-8A89-68C7742FAFE7}"/>
              </a:ext>
            </a:extLst>
          </p:cNvPr>
          <p:cNvPicPr>
            <a:picLocks noChangeAspect="1"/>
          </p:cNvPicPr>
          <p:nvPr/>
        </p:nvPicPr>
        <p:blipFill>
          <a:blip r:embed="rId3"/>
          <a:stretch>
            <a:fillRect/>
          </a:stretch>
        </p:blipFill>
        <p:spPr>
          <a:xfrm>
            <a:off x="2149987" y="4312618"/>
            <a:ext cx="273615" cy="273615"/>
          </a:xfrm>
          <a:prstGeom prst="rect">
            <a:avLst/>
          </a:prstGeom>
        </p:spPr>
      </p:pic>
      <p:sp>
        <p:nvSpPr>
          <p:cNvPr id="60" name="Text 27">
            <a:extLst>
              <a:ext uri="{FF2B5EF4-FFF2-40B4-BE49-F238E27FC236}">
                <a16:creationId xmlns:a16="http://schemas.microsoft.com/office/drawing/2014/main" id="{BD80CC34-4E49-4C3B-6DCF-C07388F55605}"/>
              </a:ext>
            </a:extLst>
          </p:cNvPr>
          <p:cNvSpPr txBox="1"/>
          <p:nvPr/>
        </p:nvSpPr>
        <p:spPr>
          <a:xfrm>
            <a:off x="1823169" y="4631835"/>
            <a:ext cx="957651" cy="152008"/>
          </a:xfrm>
          <a:prstGeom prst="rect">
            <a:avLst/>
          </a:prstGeom>
          <a:noFill/>
          <a:ln/>
        </p:spPr>
        <p:txBody>
          <a:bodyPr wrap="square" lIns="0" tIns="0" rIns="0" bIns="0" rtlCol="0" anchor="ctr"/>
          <a:lstStyle/>
          <a:p>
            <a:pPr algn="ctr">
              <a:lnSpc>
                <a:spcPct val="93000"/>
              </a:lnSpc>
            </a:pPr>
            <a:r>
              <a:rPr lang="en-US" sz="918" b="1" dirty="0">
                <a:solidFill>
                  <a:srgbClr val="11397C"/>
                </a:solidFill>
                <a:latin typeface="Calibri" pitchFamily="34" charset="0"/>
                <a:ea typeface="Calibri" pitchFamily="34" charset="-122"/>
                <a:cs typeface="Calibri" pitchFamily="34" charset="-120"/>
              </a:rPr>
              <a:t>Custom Domain</a:t>
            </a:r>
            <a:endParaRPr lang="en-US" sz="918" dirty="0"/>
          </a:p>
        </p:txBody>
      </p:sp>
      <p:sp>
        <p:nvSpPr>
          <p:cNvPr id="62" name="Text 28">
            <a:extLst>
              <a:ext uri="{FF2B5EF4-FFF2-40B4-BE49-F238E27FC236}">
                <a16:creationId xmlns:a16="http://schemas.microsoft.com/office/drawing/2014/main" id="{2B199FBC-8566-1179-C38D-DD2F81E0AA78}"/>
              </a:ext>
            </a:extLst>
          </p:cNvPr>
          <p:cNvSpPr txBox="1"/>
          <p:nvPr/>
        </p:nvSpPr>
        <p:spPr>
          <a:xfrm>
            <a:off x="1838370" y="4829445"/>
            <a:ext cx="927250" cy="395221"/>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DNS</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SSL / TLS (HTTPS)</a:t>
            </a:r>
            <a:endParaRPr lang="en-US" sz="778" dirty="0"/>
          </a:p>
        </p:txBody>
      </p:sp>
      <p:sp>
        <p:nvSpPr>
          <p:cNvPr id="449" name="Shape 29">
            <a:extLst>
              <a:ext uri="{FF2B5EF4-FFF2-40B4-BE49-F238E27FC236}">
                <a16:creationId xmlns:a16="http://schemas.microsoft.com/office/drawing/2014/main" id="{0D270A15-D9B0-56A5-1034-AB35495EBC83}"/>
              </a:ext>
            </a:extLst>
          </p:cNvPr>
          <p:cNvSpPr/>
          <p:nvPr/>
        </p:nvSpPr>
        <p:spPr>
          <a:xfrm>
            <a:off x="439895" y="5650290"/>
            <a:ext cx="11324607" cy="516828"/>
          </a:xfrm>
          <a:prstGeom prst="roundRect">
            <a:avLst>
              <a:gd name="adj" fmla="val 8824"/>
            </a:avLst>
          </a:prstGeom>
          <a:solidFill>
            <a:srgbClr val="F8FBFE"/>
          </a:solidFill>
          <a:ln w="12700">
            <a:solidFill>
              <a:srgbClr val="A9C6DF"/>
            </a:solidFill>
            <a:prstDash val="dash"/>
          </a:ln>
        </p:spPr>
        <p:txBody>
          <a:bodyPr/>
          <a:lstStyle/>
          <a:p>
            <a:endParaRPr lang="en-IN"/>
          </a:p>
        </p:txBody>
      </p:sp>
      <p:sp>
        <p:nvSpPr>
          <p:cNvPr id="453" name="Text 30">
            <a:extLst>
              <a:ext uri="{FF2B5EF4-FFF2-40B4-BE49-F238E27FC236}">
                <a16:creationId xmlns:a16="http://schemas.microsoft.com/office/drawing/2014/main" id="{D3C8FB1E-0402-43F9-95F4-6F0497F161F4}"/>
              </a:ext>
            </a:extLst>
          </p:cNvPr>
          <p:cNvSpPr txBox="1"/>
          <p:nvPr/>
        </p:nvSpPr>
        <p:spPr>
          <a:xfrm>
            <a:off x="508299" y="5665490"/>
            <a:ext cx="1140061" cy="167209"/>
          </a:xfrm>
          <a:prstGeom prst="rect">
            <a:avLst/>
          </a:prstGeom>
          <a:noFill/>
          <a:ln/>
        </p:spPr>
        <p:txBody>
          <a:bodyPr wrap="square" lIns="0" tIns="0" rIns="0" bIns="0" rtlCol="0" anchor="ctr"/>
          <a:lstStyle/>
          <a:p>
            <a:pPr>
              <a:lnSpc>
                <a:spcPct val="93000"/>
              </a:lnSpc>
            </a:pPr>
            <a:r>
              <a:rPr lang="en-US" sz="958" b="1" dirty="0">
                <a:solidFill>
                  <a:srgbClr val="1B4F8A"/>
                </a:solidFill>
                <a:latin typeface="Calibri" pitchFamily="34" charset="0"/>
                <a:ea typeface="Calibri" pitchFamily="34" charset="-122"/>
                <a:cs typeface="Calibri" pitchFamily="34" charset="-120"/>
              </a:rPr>
              <a:t>Cross-Cutting Services</a:t>
            </a:r>
            <a:endParaRPr lang="en-US" sz="958" dirty="0"/>
          </a:p>
        </p:txBody>
      </p:sp>
      <p:sp>
        <p:nvSpPr>
          <p:cNvPr id="457" name="Text 31">
            <a:extLst>
              <a:ext uri="{FF2B5EF4-FFF2-40B4-BE49-F238E27FC236}">
                <a16:creationId xmlns:a16="http://schemas.microsoft.com/office/drawing/2014/main" id="{997E8B59-2852-CE59-FF21-C2C65DCE7D75}"/>
              </a:ext>
            </a:extLst>
          </p:cNvPr>
          <p:cNvSpPr txBox="1"/>
          <p:nvPr/>
        </p:nvSpPr>
        <p:spPr>
          <a:xfrm>
            <a:off x="508299" y="5817499"/>
            <a:ext cx="1140061" cy="304016"/>
          </a:xfrm>
          <a:prstGeom prst="rect">
            <a:avLst/>
          </a:prstGeom>
          <a:noFill/>
          <a:ln/>
        </p:spPr>
        <p:txBody>
          <a:bodyPr wrap="square" lIns="0" tIns="0" rIns="0" bIns="0" rtlCol="0" anchor="ctr"/>
          <a:lstStyle/>
          <a:p>
            <a:pPr>
              <a:lnSpc>
                <a:spcPct val="95000"/>
              </a:lnSpc>
            </a:pPr>
            <a:r>
              <a:rPr lang="en-US" sz="678" i="1" dirty="0">
                <a:solidFill>
                  <a:srgbClr val="5B6472"/>
                </a:solidFill>
                <a:latin typeface="Calibri" pitchFamily="34" charset="0"/>
                <a:ea typeface="Calibri" pitchFamily="34" charset="-122"/>
                <a:cs typeface="Calibri" pitchFamily="34" charset="-120"/>
              </a:rPr>
              <a:t>shared across all layers</a:t>
            </a:r>
            <a:endParaRPr lang="en-US" sz="678" dirty="0"/>
          </a:p>
          <a:p>
            <a:pPr>
              <a:lnSpc>
                <a:spcPct val="95000"/>
              </a:lnSpc>
            </a:pPr>
            <a:r>
              <a:rPr lang="en-US" sz="678" i="1" dirty="0">
                <a:solidFill>
                  <a:srgbClr val="5B6472"/>
                </a:solidFill>
                <a:latin typeface="Calibri" pitchFamily="34" charset="0"/>
                <a:ea typeface="Calibri" pitchFamily="34" charset="-122"/>
                <a:cs typeface="Calibri" pitchFamily="34" charset="-120"/>
              </a:rPr>
              <a:t>separate non-prod &amp; production environments</a:t>
            </a:r>
            <a:endParaRPr lang="en-US" sz="678" dirty="0"/>
          </a:p>
        </p:txBody>
      </p:sp>
      <p:sp>
        <p:nvSpPr>
          <p:cNvPr id="461" name="Shape 32">
            <a:extLst>
              <a:ext uri="{FF2B5EF4-FFF2-40B4-BE49-F238E27FC236}">
                <a16:creationId xmlns:a16="http://schemas.microsoft.com/office/drawing/2014/main" id="{13E20455-2422-3997-431C-D5B63CDDBA36}"/>
              </a:ext>
            </a:extLst>
          </p:cNvPr>
          <p:cNvSpPr/>
          <p:nvPr/>
        </p:nvSpPr>
        <p:spPr>
          <a:xfrm>
            <a:off x="1709163"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465" name="Image 5" descr="preencoded.png">
            <a:extLst>
              <a:ext uri="{FF2B5EF4-FFF2-40B4-BE49-F238E27FC236}">
                <a16:creationId xmlns:a16="http://schemas.microsoft.com/office/drawing/2014/main" id="{2F9FE2DE-7F3C-7EF4-B2C2-08BAE8CABFF9}"/>
              </a:ext>
            </a:extLst>
          </p:cNvPr>
          <p:cNvPicPr>
            <a:picLocks noChangeAspect="1"/>
          </p:cNvPicPr>
          <p:nvPr/>
        </p:nvPicPr>
        <p:blipFill>
          <a:blip r:embed="rId5"/>
          <a:stretch>
            <a:fillRect/>
          </a:stretch>
        </p:blipFill>
        <p:spPr>
          <a:xfrm>
            <a:off x="1769966" y="5802298"/>
            <a:ext cx="167209" cy="167209"/>
          </a:xfrm>
          <a:prstGeom prst="rect">
            <a:avLst/>
          </a:prstGeom>
        </p:spPr>
      </p:pic>
      <p:sp>
        <p:nvSpPr>
          <p:cNvPr id="469" name="Text 33">
            <a:extLst>
              <a:ext uri="{FF2B5EF4-FFF2-40B4-BE49-F238E27FC236}">
                <a16:creationId xmlns:a16="http://schemas.microsoft.com/office/drawing/2014/main" id="{FD5D3004-53A3-7E2A-220A-B467EC603982}"/>
              </a:ext>
            </a:extLst>
          </p:cNvPr>
          <p:cNvSpPr txBox="1"/>
          <p:nvPr/>
        </p:nvSpPr>
        <p:spPr>
          <a:xfrm>
            <a:off x="1967577"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Secrets &amp; Key Management</a:t>
            </a:r>
            <a:endParaRPr lang="en-US" sz="738" dirty="0"/>
          </a:p>
        </p:txBody>
      </p:sp>
      <p:sp>
        <p:nvSpPr>
          <p:cNvPr id="473" name="Text 34">
            <a:extLst>
              <a:ext uri="{FF2B5EF4-FFF2-40B4-BE49-F238E27FC236}">
                <a16:creationId xmlns:a16="http://schemas.microsoft.com/office/drawing/2014/main" id="{B432FFFF-8AC0-ADE4-0818-102866B4F0EC}"/>
              </a:ext>
            </a:extLst>
          </p:cNvPr>
          <p:cNvSpPr txBox="1"/>
          <p:nvPr/>
        </p:nvSpPr>
        <p:spPr>
          <a:xfrm>
            <a:off x="1967577"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(Secrets / Certificates / Keys)</a:t>
            </a:r>
            <a:endParaRPr lang="en-US" sz="658" dirty="0"/>
          </a:p>
        </p:txBody>
      </p:sp>
      <p:sp>
        <p:nvSpPr>
          <p:cNvPr id="477" name="Shape 35">
            <a:extLst>
              <a:ext uri="{FF2B5EF4-FFF2-40B4-BE49-F238E27FC236}">
                <a16:creationId xmlns:a16="http://schemas.microsoft.com/office/drawing/2014/main" id="{85FBA969-0F98-DECE-30FA-BB03E2DB9EC5}"/>
              </a:ext>
            </a:extLst>
          </p:cNvPr>
          <p:cNvSpPr/>
          <p:nvPr/>
        </p:nvSpPr>
        <p:spPr>
          <a:xfrm>
            <a:off x="3396453"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481" name="Image 6" descr="preencoded.png">
            <a:extLst>
              <a:ext uri="{FF2B5EF4-FFF2-40B4-BE49-F238E27FC236}">
                <a16:creationId xmlns:a16="http://schemas.microsoft.com/office/drawing/2014/main" id="{E6F0652F-8D02-4973-14E4-A4201266511E}"/>
              </a:ext>
            </a:extLst>
          </p:cNvPr>
          <p:cNvPicPr>
            <a:picLocks noChangeAspect="1"/>
          </p:cNvPicPr>
          <p:nvPr/>
        </p:nvPicPr>
        <p:blipFill>
          <a:blip r:embed="rId6"/>
          <a:stretch>
            <a:fillRect/>
          </a:stretch>
        </p:blipFill>
        <p:spPr>
          <a:xfrm>
            <a:off x="3457256" y="5802298"/>
            <a:ext cx="167209" cy="167209"/>
          </a:xfrm>
          <a:prstGeom prst="rect">
            <a:avLst/>
          </a:prstGeom>
        </p:spPr>
      </p:pic>
      <p:sp>
        <p:nvSpPr>
          <p:cNvPr id="485" name="Text 36">
            <a:extLst>
              <a:ext uri="{FF2B5EF4-FFF2-40B4-BE49-F238E27FC236}">
                <a16:creationId xmlns:a16="http://schemas.microsoft.com/office/drawing/2014/main" id="{1779D439-5F0E-E341-8098-5640596A17DC}"/>
              </a:ext>
            </a:extLst>
          </p:cNvPr>
          <p:cNvSpPr txBox="1"/>
          <p:nvPr/>
        </p:nvSpPr>
        <p:spPr>
          <a:xfrm>
            <a:off x="3654867"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Observability Platform</a:t>
            </a:r>
            <a:endParaRPr lang="en-US" sz="738" dirty="0"/>
          </a:p>
        </p:txBody>
      </p:sp>
      <p:sp>
        <p:nvSpPr>
          <p:cNvPr id="489" name="Text 37">
            <a:extLst>
              <a:ext uri="{FF2B5EF4-FFF2-40B4-BE49-F238E27FC236}">
                <a16:creationId xmlns:a16="http://schemas.microsoft.com/office/drawing/2014/main" id="{BF070B7D-7C8A-4F72-C383-9FD627DD721C}"/>
              </a:ext>
            </a:extLst>
          </p:cNvPr>
          <p:cNvSpPr txBox="1"/>
          <p:nvPr/>
        </p:nvSpPr>
        <p:spPr>
          <a:xfrm>
            <a:off x="3654867"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(Logs / Metrics / Traces / Alerts / SLOs  —  unified)</a:t>
            </a:r>
            <a:endParaRPr lang="en-US" sz="658" dirty="0"/>
          </a:p>
        </p:txBody>
      </p:sp>
      <p:sp>
        <p:nvSpPr>
          <p:cNvPr id="493" name="Shape 38">
            <a:extLst>
              <a:ext uri="{FF2B5EF4-FFF2-40B4-BE49-F238E27FC236}">
                <a16:creationId xmlns:a16="http://schemas.microsoft.com/office/drawing/2014/main" id="{42B51ADA-DB43-59ED-A1DE-444C9469EACA}"/>
              </a:ext>
            </a:extLst>
          </p:cNvPr>
          <p:cNvSpPr/>
          <p:nvPr/>
        </p:nvSpPr>
        <p:spPr>
          <a:xfrm>
            <a:off x="5083744"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497" name="Image 7" descr="preencoded.png">
            <a:extLst>
              <a:ext uri="{FF2B5EF4-FFF2-40B4-BE49-F238E27FC236}">
                <a16:creationId xmlns:a16="http://schemas.microsoft.com/office/drawing/2014/main" id="{4E3CBB3F-E4DD-914D-F1E0-89D66832D356}"/>
              </a:ext>
            </a:extLst>
          </p:cNvPr>
          <p:cNvPicPr>
            <a:picLocks noChangeAspect="1"/>
          </p:cNvPicPr>
          <p:nvPr/>
        </p:nvPicPr>
        <p:blipFill>
          <a:blip r:embed="rId7"/>
          <a:stretch>
            <a:fillRect/>
          </a:stretch>
        </p:blipFill>
        <p:spPr>
          <a:xfrm>
            <a:off x="5144547" y="5802298"/>
            <a:ext cx="167209" cy="167209"/>
          </a:xfrm>
          <a:prstGeom prst="rect">
            <a:avLst/>
          </a:prstGeom>
        </p:spPr>
      </p:pic>
      <p:sp>
        <p:nvSpPr>
          <p:cNvPr id="501" name="Text 39">
            <a:extLst>
              <a:ext uri="{FF2B5EF4-FFF2-40B4-BE49-F238E27FC236}">
                <a16:creationId xmlns:a16="http://schemas.microsoft.com/office/drawing/2014/main" id="{A509BBFE-3343-FBB0-7317-9D24A417BB93}"/>
              </a:ext>
            </a:extLst>
          </p:cNvPr>
          <p:cNvSpPr txBox="1"/>
          <p:nvPr/>
        </p:nvSpPr>
        <p:spPr>
          <a:xfrm>
            <a:off x="534215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Container Registry</a:t>
            </a:r>
            <a:endParaRPr lang="en-US" sz="738" dirty="0"/>
          </a:p>
        </p:txBody>
      </p:sp>
      <p:sp>
        <p:nvSpPr>
          <p:cNvPr id="505" name="Text 40">
            <a:extLst>
              <a:ext uri="{FF2B5EF4-FFF2-40B4-BE49-F238E27FC236}">
                <a16:creationId xmlns:a16="http://schemas.microsoft.com/office/drawing/2014/main" id="{F2868347-B988-B5E7-5294-D1777B1FBB6A}"/>
              </a:ext>
            </a:extLst>
          </p:cNvPr>
          <p:cNvSpPr txBox="1"/>
          <p:nvPr/>
        </p:nvSpPr>
        <p:spPr>
          <a:xfrm>
            <a:off x="534215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(Container Images)</a:t>
            </a:r>
            <a:endParaRPr lang="en-US" sz="658" dirty="0"/>
          </a:p>
        </p:txBody>
      </p:sp>
      <p:sp>
        <p:nvSpPr>
          <p:cNvPr id="509" name="Shape 41">
            <a:extLst>
              <a:ext uri="{FF2B5EF4-FFF2-40B4-BE49-F238E27FC236}">
                <a16:creationId xmlns:a16="http://schemas.microsoft.com/office/drawing/2014/main" id="{5DCD9DE8-7188-6879-07D3-76C393C94760}"/>
              </a:ext>
            </a:extLst>
          </p:cNvPr>
          <p:cNvSpPr/>
          <p:nvPr/>
        </p:nvSpPr>
        <p:spPr>
          <a:xfrm>
            <a:off x="6771034"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513" name="Image 8" descr="preencoded.png">
            <a:extLst>
              <a:ext uri="{FF2B5EF4-FFF2-40B4-BE49-F238E27FC236}">
                <a16:creationId xmlns:a16="http://schemas.microsoft.com/office/drawing/2014/main" id="{0A64C4B1-8D41-8533-A2DD-B47AEE4BFCAA}"/>
              </a:ext>
            </a:extLst>
          </p:cNvPr>
          <p:cNvPicPr>
            <a:picLocks noChangeAspect="1"/>
          </p:cNvPicPr>
          <p:nvPr/>
        </p:nvPicPr>
        <p:blipFill>
          <a:blip r:embed="rId8"/>
          <a:stretch>
            <a:fillRect/>
          </a:stretch>
        </p:blipFill>
        <p:spPr>
          <a:xfrm>
            <a:off x="6831837" y="5802298"/>
            <a:ext cx="167209" cy="167209"/>
          </a:xfrm>
          <a:prstGeom prst="rect">
            <a:avLst/>
          </a:prstGeom>
        </p:spPr>
      </p:pic>
      <p:sp>
        <p:nvSpPr>
          <p:cNvPr id="517" name="Text 42">
            <a:extLst>
              <a:ext uri="{FF2B5EF4-FFF2-40B4-BE49-F238E27FC236}">
                <a16:creationId xmlns:a16="http://schemas.microsoft.com/office/drawing/2014/main" id="{46FCA554-FD62-0ED9-AD25-0BBAB0F0DC39}"/>
              </a:ext>
            </a:extLst>
          </p:cNvPr>
          <p:cNvSpPr txBox="1"/>
          <p:nvPr/>
        </p:nvSpPr>
        <p:spPr>
          <a:xfrm>
            <a:off x="702944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CI/CD Pipeline</a:t>
            </a:r>
            <a:endParaRPr lang="en-US" sz="738" dirty="0"/>
          </a:p>
        </p:txBody>
      </p:sp>
      <p:sp>
        <p:nvSpPr>
          <p:cNvPr id="521" name="Text 43">
            <a:extLst>
              <a:ext uri="{FF2B5EF4-FFF2-40B4-BE49-F238E27FC236}">
                <a16:creationId xmlns:a16="http://schemas.microsoft.com/office/drawing/2014/main" id="{C859875B-18BD-E48B-1609-B6DD4C35E6D9}"/>
              </a:ext>
            </a:extLst>
          </p:cNvPr>
          <p:cNvSpPr txBox="1"/>
          <p:nvPr/>
        </p:nvSpPr>
        <p:spPr>
          <a:xfrm>
            <a:off x="702944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(Build / Test / Scan / Deploy)</a:t>
            </a:r>
            <a:endParaRPr lang="en-US" sz="658" dirty="0"/>
          </a:p>
        </p:txBody>
      </p:sp>
      <p:sp>
        <p:nvSpPr>
          <p:cNvPr id="525" name="Shape 44">
            <a:extLst>
              <a:ext uri="{FF2B5EF4-FFF2-40B4-BE49-F238E27FC236}">
                <a16:creationId xmlns:a16="http://schemas.microsoft.com/office/drawing/2014/main" id="{7D434F30-BF46-68A4-6838-457590B09027}"/>
              </a:ext>
            </a:extLst>
          </p:cNvPr>
          <p:cNvSpPr/>
          <p:nvPr/>
        </p:nvSpPr>
        <p:spPr>
          <a:xfrm>
            <a:off x="8458325"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529" name="Image 9" descr="preencoded.png">
            <a:extLst>
              <a:ext uri="{FF2B5EF4-FFF2-40B4-BE49-F238E27FC236}">
                <a16:creationId xmlns:a16="http://schemas.microsoft.com/office/drawing/2014/main" id="{A9D92874-D355-BCE5-7A9D-BA9159FF505B}"/>
              </a:ext>
            </a:extLst>
          </p:cNvPr>
          <p:cNvPicPr>
            <a:picLocks noChangeAspect="1"/>
          </p:cNvPicPr>
          <p:nvPr/>
        </p:nvPicPr>
        <p:blipFill>
          <a:blip r:embed="rId9"/>
          <a:stretch>
            <a:fillRect/>
          </a:stretch>
        </p:blipFill>
        <p:spPr>
          <a:xfrm>
            <a:off x="8519128" y="5802298"/>
            <a:ext cx="167209" cy="167209"/>
          </a:xfrm>
          <a:prstGeom prst="rect">
            <a:avLst/>
          </a:prstGeom>
        </p:spPr>
      </p:pic>
      <p:sp>
        <p:nvSpPr>
          <p:cNvPr id="533" name="Text 45">
            <a:extLst>
              <a:ext uri="{FF2B5EF4-FFF2-40B4-BE49-F238E27FC236}">
                <a16:creationId xmlns:a16="http://schemas.microsoft.com/office/drawing/2014/main" id="{7EA2AE51-791A-1ADC-70EB-2CA1120BAE56}"/>
              </a:ext>
            </a:extLst>
          </p:cNvPr>
          <p:cNvSpPr txBox="1"/>
          <p:nvPr/>
        </p:nvSpPr>
        <p:spPr>
          <a:xfrm>
            <a:off x="8716738"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Cloud Network Security</a:t>
            </a:r>
            <a:endParaRPr lang="en-US" sz="738" dirty="0"/>
          </a:p>
        </p:txBody>
      </p:sp>
      <p:sp>
        <p:nvSpPr>
          <p:cNvPr id="537" name="Text 46">
            <a:extLst>
              <a:ext uri="{FF2B5EF4-FFF2-40B4-BE49-F238E27FC236}">
                <a16:creationId xmlns:a16="http://schemas.microsoft.com/office/drawing/2014/main" id="{8E55FD82-4170-731A-4E5D-E5282D551C6D}"/>
              </a:ext>
            </a:extLst>
          </p:cNvPr>
          <p:cNvSpPr txBox="1"/>
          <p:nvPr/>
        </p:nvSpPr>
        <p:spPr>
          <a:xfrm>
            <a:off x="8716738"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(Network / Firewall / Private Endpoints)</a:t>
            </a:r>
            <a:endParaRPr lang="en-US" sz="658" dirty="0"/>
          </a:p>
        </p:txBody>
      </p:sp>
      <p:sp>
        <p:nvSpPr>
          <p:cNvPr id="541" name="Shape 47">
            <a:extLst>
              <a:ext uri="{FF2B5EF4-FFF2-40B4-BE49-F238E27FC236}">
                <a16:creationId xmlns:a16="http://schemas.microsoft.com/office/drawing/2014/main" id="{27B40ED7-1492-E68F-210D-2CD8A415D0E7}"/>
              </a:ext>
            </a:extLst>
          </p:cNvPr>
          <p:cNvSpPr/>
          <p:nvPr/>
        </p:nvSpPr>
        <p:spPr>
          <a:xfrm>
            <a:off x="10145615" y="5695893"/>
            <a:ext cx="1626487" cy="425622"/>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545" name="Image 10" descr="preencoded.png">
            <a:extLst>
              <a:ext uri="{FF2B5EF4-FFF2-40B4-BE49-F238E27FC236}">
                <a16:creationId xmlns:a16="http://schemas.microsoft.com/office/drawing/2014/main" id="{959D597B-5479-DB3D-5F33-DCAA8295DB8A}"/>
              </a:ext>
            </a:extLst>
          </p:cNvPr>
          <p:cNvPicPr>
            <a:picLocks noChangeAspect="1"/>
          </p:cNvPicPr>
          <p:nvPr/>
        </p:nvPicPr>
        <p:blipFill>
          <a:blip r:embed="rId10"/>
          <a:stretch>
            <a:fillRect/>
          </a:stretch>
        </p:blipFill>
        <p:spPr>
          <a:xfrm>
            <a:off x="10206418" y="5802298"/>
            <a:ext cx="167209" cy="167209"/>
          </a:xfrm>
          <a:prstGeom prst="rect">
            <a:avLst/>
          </a:prstGeom>
        </p:spPr>
      </p:pic>
      <p:sp>
        <p:nvSpPr>
          <p:cNvPr id="549" name="Text 48">
            <a:extLst>
              <a:ext uri="{FF2B5EF4-FFF2-40B4-BE49-F238E27FC236}">
                <a16:creationId xmlns:a16="http://schemas.microsoft.com/office/drawing/2014/main" id="{86C50B1B-DFC6-2767-5911-99048323F04A}"/>
              </a:ext>
            </a:extLst>
          </p:cNvPr>
          <p:cNvSpPr txBox="1"/>
          <p:nvPr/>
        </p:nvSpPr>
        <p:spPr>
          <a:xfrm>
            <a:off x="10404029" y="5711092"/>
            <a:ext cx="1322471" cy="228012"/>
          </a:xfrm>
          <a:prstGeom prst="rect">
            <a:avLst/>
          </a:prstGeom>
          <a:noFill/>
          <a:ln/>
        </p:spPr>
        <p:txBody>
          <a:bodyPr wrap="square" lIns="0" tIns="0" rIns="0" bIns="0" rtlCol="0" anchor="b"/>
          <a:lstStyle/>
          <a:p>
            <a:pPr>
              <a:lnSpc>
                <a:spcPct val="88000"/>
              </a:lnSpc>
            </a:pPr>
            <a:r>
              <a:rPr lang="en-US" sz="738" b="1" dirty="0">
                <a:solidFill>
                  <a:srgbClr val="11397C"/>
                </a:solidFill>
                <a:latin typeface="Calibri" pitchFamily="34" charset="0"/>
                <a:ea typeface="Calibri" pitchFamily="34" charset="-122"/>
                <a:cs typeface="Calibri" pitchFamily="34" charset="-120"/>
              </a:rPr>
              <a:t>Backup &amp; Disaster Recovery</a:t>
            </a:r>
            <a:endParaRPr lang="en-US" sz="738" dirty="0"/>
          </a:p>
        </p:txBody>
      </p:sp>
      <p:sp>
        <p:nvSpPr>
          <p:cNvPr id="553" name="Text 49">
            <a:extLst>
              <a:ext uri="{FF2B5EF4-FFF2-40B4-BE49-F238E27FC236}">
                <a16:creationId xmlns:a16="http://schemas.microsoft.com/office/drawing/2014/main" id="{2276C1FE-B651-5C67-D2C3-6BE5B56796FB}"/>
              </a:ext>
            </a:extLst>
          </p:cNvPr>
          <p:cNvSpPr txBox="1"/>
          <p:nvPr/>
        </p:nvSpPr>
        <p:spPr>
          <a:xfrm>
            <a:off x="10404029" y="5939105"/>
            <a:ext cx="1322471" cy="152008"/>
          </a:xfrm>
          <a:prstGeom prst="rect">
            <a:avLst/>
          </a:prstGeom>
          <a:noFill/>
          <a:ln/>
        </p:spPr>
        <p:txBody>
          <a:bodyPr wrap="square" lIns="0" tIns="0" rIns="0" bIns="0" rtlCol="0" anchor="t"/>
          <a:lstStyle/>
          <a:p>
            <a:pPr>
              <a:lnSpc>
                <a:spcPct val="88000"/>
              </a:lnSpc>
            </a:pPr>
            <a:r>
              <a:rPr lang="en-US" sz="658" dirty="0">
                <a:solidFill>
                  <a:srgbClr val="5B6472"/>
                </a:solidFill>
                <a:latin typeface="Calibri" pitchFamily="34" charset="0"/>
                <a:ea typeface="Calibri" pitchFamily="34" charset="-122"/>
                <a:cs typeface="Calibri" pitchFamily="34" charset="-120"/>
              </a:rPr>
              <a:t>(Snapshots / Restore / RPO-RTO)</a:t>
            </a:r>
            <a:endParaRPr lang="en-US" sz="658" dirty="0"/>
          </a:p>
        </p:txBody>
      </p:sp>
      <p:sp>
        <p:nvSpPr>
          <p:cNvPr id="557" name="Shape 50">
            <a:extLst>
              <a:ext uri="{FF2B5EF4-FFF2-40B4-BE49-F238E27FC236}">
                <a16:creationId xmlns:a16="http://schemas.microsoft.com/office/drawing/2014/main" id="{AA4FCA39-A973-0525-71AF-DF765D6749B0}"/>
              </a:ext>
            </a:extLst>
          </p:cNvPr>
          <p:cNvSpPr/>
          <p:nvPr/>
        </p:nvSpPr>
        <p:spPr>
          <a:xfrm>
            <a:off x="439895" y="6243122"/>
            <a:ext cx="6688358" cy="440824"/>
          </a:xfrm>
          <a:prstGeom prst="roundRect">
            <a:avLst>
              <a:gd name="adj" fmla="val 10345"/>
            </a:avLst>
          </a:prstGeom>
          <a:solidFill>
            <a:srgbClr val="FFFFFF"/>
          </a:solidFill>
          <a:ln w="12700">
            <a:solidFill>
              <a:srgbClr val="C2DCF0"/>
            </a:solidFill>
            <a:prstDash val="solid"/>
          </a:ln>
        </p:spPr>
        <p:txBody>
          <a:bodyPr/>
          <a:lstStyle/>
          <a:p>
            <a:endParaRPr lang="en-IN"/>
          </a:p>
        </p:txBody>
      </p:sp>
      <p:sp>
        <p:nvSpPr>
          <p:cNvPr id="561" name="Text 51">
            <a:extLst>
              <a:ext uri="{FF2B5EF4-FFF2-40B4-BE49-F238E27FC236}">
                <a16:creationId xmlns:a16="http://schemas.microsoft.com/office/drawing/2014/main" id="{5630C0EB-989F-997F-FCD5-6921E127C450}"/>
              </a:ext>
            </a:extLst>
          </p:cNvPr>
          <p:cNvSpPr txBox="1"/>
          <p:nvPr/>
        </p:nvSpPr>
        <p:spPr>
          <a:xfrm>
            <a:off x="523499" y="6243122"/>
            <a:ext cx="456025" cy="440824"/>
          </a:xfrm>
          <a:prstGeom prst="rect">
            <a:avLst/>
          </a:prstGeom>
          <a:noFill/>
          <a:ln/>
        </p:spPr>
        <p:txBody>
          <a:bodyPr wrap="square" lIns="0" tIns="0" rIns="0" bIns="0" rtlCol="0" anchor="ctr"/>
          <a:lstStyle/>
          <a:p>
            <a:pPr>
              <a:lnSpc>
                <a:spcPct val="93000"/>
              </a:lnSpc>
            </a:pPr>
            <a:r>
              <a:rPr lang="en-US" sz="878" b="1" dirty="0">
                <a:solidFill>
                  <a:srgbClr val="1B4F8A"/>
                </a:solidFill>
                <a:latin typeface="Calibri" pitchFamily="34" charset="0"/>
                <a:ea typeface="Calibri" pitchFamily="34" charset="-122"/>
                <a:cs typeface="Calibri" pitchFamily="34" charset="-120"/>
              </a:rPr>
              <a:t>Legend</a:t>
            </a:r>
            <a:endParaRPr lang="en-US" sz="878" dirty="0"/>
          </a:p>
        </p:txBody>
      </p:sp>
      <p:sp>
        <p:nvSpPr>
          <p:cNvPr id="565" name="Shape 52">
            <a:extLst>
              <a:ext uri="{FF2B5EF4-FFF2-40B4-BE49-F238E27FC236}">
                <a16:creationId xmlns:a16="http://schemas.microsoft.com/office/drawing/2014/main" id="{3A877103-1ABD-9360-7F4C-1683C604C1F5}"/>
              </a:ext>
            </a:extLst>
          </p:cNvPr>
          <p:cNvSpPr/>
          <p:nvPr/>
        </p:nvSpPr>
        <p:spPr>
          <a:xfrm>
            <a:off x="1055528" y="6463533"/>
            <a:ext cx="258414" cy="0"/>
          </a:xfrm>
          <a:prstGeom prst="line">
            <a:avLst/>
          </a:prstGeom>
          <a:noFill/>
          <a:ln w="30480">
            <a:solidFill>
              <a:srgbClr val="1B4F8C"/>
            </a:solidFill>
            <a:prstDash val="solid"/>
            <a:tailEnd type="triangle"/>
          </a:ln>
        </p:spPr>
        <p:txBody>
          <a:bodyPr/>
          <a:lstStyle/>
          <a:p>
            <a:endParaRPr lang="en-IN"/>
          </a:p>
        </p:txBody>
      </p:sp>
      <p:sp>
        <p:nvSpPr>
          <p:cNvPr id="569" name="Text 53">
            <a:extLst>
              <a:ext uri="{FF2B5EF4-FFF2-40B4-BE49-F238E27FC236}">
                <a16:creationId xmlns:a16="http://schemas.microsoft.com/office/drawing/2014/main" id="{59C34C6F-C7F0-509A-C113-5EAE20452D05}"/>
              </a:ext>
            </a:extLst>
          </p:cNvPr>
          <p:cNvSpPr txBox="1"/>
          <p:nvPr/>
        </p:nvSpPr>
        <p:spPr>
          <a:xfrm>
            <a:off x="1367144" y="6243122"/>
            <a:ext cx="790442"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Primary user flow</a:t>
            </a:r>
            <a:endParaRPr lang="en-US" sz="798" dirty="0"/>
          </a:p>
        </p:txBody>
      </p:sp>
      <p:sp>
        <p:nvSpPr>
          <p:cNvPr id="573" name="Shape 54">
            <a:extLst>
              <a:ext uri="{FF2B5EF4-FFF2-40B4-BE49-F238E27FC236}">
                <a16:creationId xmlns:a16="http://schemas.microsoft.com/office/drawing/2014/main" id="{387CC745-3E8D-FF74-3EDD-DF33C1FD5F81}"/>
              </a:ext>
            </a:extLst>
          </p:cNvPr>
          <p:cNvSpPr/>
          <p:nvPr/>
        </p:nvSpPr>
        <p:spPr>
          <a:xfrm>
            <a:off x="2301995" y="6463533"/>
            <a:ext cx="258414" cy="0"/>
          </a:xfrm>
          <a:prstGeom prst="line">
            <a:avLst/>
          </a:prstGeom>
          <a:noFill/>
          <a:ln w="20320">
            <a:solidFill>
              <a:srgbClr val="1B4F8C"/>
            </a:solidFill>
            <a:prstDash val="solid"/>
            <a:tailEnd type="triangle"/>
          </a:ln>
        </p:spPr>
        <p:txBody>
          <a:bodyPr/>
          <a:lstStyle/>
          <a:p>
            <a:endParaRPr lang="en-IN"/>
          </a:p>
        </p:txBody>
      </p:sp>
      <p:sp>
        <p:nvSpPr>
          <p:cNvPr id="577" name="Text 55">
            <a:extLst>
              <a:ext uri="{FF2B5EF4-FFF2-40B4-BE49-F238E27FC236}">
                <a16:creationId xmlns:a16="http://schemas.microsoft.com/office/drawing/2014/main" id="{4B983433-4FFA-6275-CB02-1D9BEF3ABB2C}"/>
              </a:ext>
            </a:extLst>
          </p:cNvPr>
          <p:cNvSpPr txBox="1"/>
          <p:nvPr/>
        </p:nvSpPr>
        <p:spPr>
          <a:xfrm>
            <a:off x="2613611" y="6243122"/>
            <a:ext cx="1018454"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Synchronous call / query</a:t>
            </a:r>
            <a:endParaRPr lang="en-US" sz="798" dirty="0"/>
          </a:p>
        </p:txBody>
      </p:sp>
      <p:sp>
        <p:nvSpPr>
          <p:cNvPr id="581" name="Shape 56">
            <a:extLst>
              <a:ext uri="{FF2B5EF4-FFF2-40B4-BE49-F238E27FC236}">
                <a16:creationId xmlns:a16="http://schemas.microsoft.com/office/drawing/2014/main" id="{A6F0B73E-3A46-7C1C-2EEE-FB693FD19945}"/>
              </a:ext>
            </a:extLst>
          </p:cNvPr>
          <p:cNvSpPr/>
          <p:nvPr/>
        </p:nvSpPr>
        <p:spPr>
          <a:xfrm>
            <a:off x="3822076" y="6463533"/>
            <a:ext cx="258414" cy="0"/>
          </a:xfrm>
          <a:prstGeom prst="line">
            <a:avLst/>
          </a:prstGeom>
          <a:noFill/>
          <a:ln w="19050">
            <a:solidFill>
              <a:srgbClr val="0E7C6B"/>
            </a:solidFill>
            <a:prstDash val="solid"/>
            <a:tailEnd type="triangle"/>
          </a:ln>
        </p:spPr>
        <p:txBody>
          <a:bodyPr/>
          <a:lstStyle/>
          <a:p>
            <a:endParaRPr lang="en-IN"/>
          </a:p>
        </p:txBody>
      </p:sp>
      <p:sp>
        <p:nvSpPr>
          <p:cNvPr id="585" name="Text 57">
            <a:extLst>
              <a:ext uri="{FF2B5EF4-FFF2-40B4-BE49-F238E27FC236}">
                <a16:creationId xmlns:a16="http://schemas.microsoft.com/office/drawing/2014/main" id="{6D82D313-E5D4-8772-5C36-7561D8D2570D}"/>
              </a:ext>
            </a:extLst>
          </p:cNvPr>
          <p:cNvSpPr txBox="1"/>
          <p:nvPr/>
        </p:nvSpPr>
        <p:spPr>
          <a:xfrm>
            <a:off x="4133693" y="6243122"/>
            <a:ext cx="653635"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Authentication</a:t>
            </a:r>
            <a:endParaRPr lang="en-US" sz="798" dirty="0"/>
          </a:p>
        </p:txBody>
      </p:sp>
      <p:sp>
        <p:nvSpPr>
          <p:cNvPr id="589" name="Shape 58">
            <a:extLst>
              <a:ext uri="{FF2B5EF4-FFF2-40B4-BE49-F238E27FC236}">
                <a16:creationId xmlns:a16="http://schemas.microsoft.com/office/drawing/2014/main" id="{BD6C5BD1-3CDB-EE0B-9162-859FE09A4020}"/>
              </a:ext>
            </a:extLst>
          </p:cNvPr>
          <p:cNvSpPr/>
          <p:nvPr/>
        </p:nvSpPr>
        <p:spPr>
          <a:xfrm>
            <a:off x="4886133" y="6463533"/>
            <a:ext cx="258414" cy="0"/>
          </a:xfrm>
          <a:prstGeom prst="line">
            <a:avLst/>
          </a:prstGeom>
          <a:noFill/>
          <a:ln w="19050">
            <a:solidFill>
              <a:srgbClr val="6A4C93"/>
            </a:solidFill>
            <a:prstDash val="dash"/>
            <a:tailEnd type="triangle"/>
          </a:ln>
        </p:spPr>
        <p:txBody>
          <a:bodyPr/>
          <a:lstStyle/>
          <a:p>
            <a:endParaRPr lang="en-IN"/>
          </a:p>
        </p:txBody>
      </p:sp>
      <p:sp>
        <p:nvSpPr>
          <p:cNvPr id="593" name="Text 59">
            <a:extLst>
              <a:ext uri="{FF2B5EF4-FFF2-40B4-BE49-F238E27FC236}">
                <a16:creationId xmlns:a16="http://schemas.microsoft.com/office/drawing/2014/main" id="{5702EEA7-DC73-0065-87BE-FE2E9329513A}"/>
              </a:ext>
            </a:extLst>
          </p:cNvPr>
          <p:cNvSpPr txBox="1"/>
          <p:nvPr/>
        </p:nvSpPr>
        <p:spPr>
          <a:xfrm>
            <a:off x="5197750" y="6243122"/>
            <a:ext cx="836045"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Asynchronous event</a:t>
            </a:r>
            <a:endParaRPr lang="en-US" sz="798" dirty="0"/>
          </a:p>
        </p:txBody>
      </p:sp>
      <p:sp>
        <p:nvSpPr>
          <p:cNvPr id="597" name="Shape 60">
            <a:extLst>
              <a:ext uri="{FF2B5EF4-FFF2-40B4-BE49-F238E27FC236}">
                <a16:creationId xmlns:a16="http://schemas.microsoft.com/office/drawing/2014/main" id="{E2A7A5C6-D792-939B-0403-C266A49BC94C}"/>
              </a:ext>
            </a:extLst>
          </p:cNvPr>
          <p:cNvSpPr/>
          <p:nvPr/>
        </p:nvSpPr>
        <p:spPr>
          <a:xfrm>
            <a:off x="6178203" y="6463533"/>
            <a:ext cx="258414" cy="0"/>
          </a:xfrm>
          <a:prstGeom prst="line">
            <a:avLst/>
          </a:prstGeom>
          <a:noFill/>
          <a:ln w="15240">
            <a:solidFill>
              <a:srgbClr val="6B7280"/>
            </a:solidFill>
            <a:prstDash val="dash"/>
            <a:tailEnd type="triangle"/>
          </a:ln>
        </p:spPr>
        <p:txBody>
          <a:bodyPr/>
          <a:lstStyle/>
          <a:p>
            <a:endParaRPr lang="en-IN"/>
          </a:p>
        </p:txBody>
      </p:sp>
      <p:sp>
        <p:nvSpPr>
          <p:cNvPr id="601" name="Text 61">
            <a:extLst>
              <a:ext uri="{FF2B5EF4-FFF2-40B4-BE49-F238E27FC236}">
                <a16:creationId xmlns:a16="http://schemas.microsoft.com/office/drawing/2014/main" id="{8295CBE6-DC6A-935F-C3B5-57874842728C}"/>
              </a:ext>
            </a:extLst>
          </p:cNvPr>
          <p:cNvSpPr txBox="1"/>
          <p:nvPr/>
        </p:nvSpPr>
        <p:spPr>
          <a:xfrm>
            <a:off x="6489819" y="6243122"/>
            <a:ext cx="608033" cy="440824"/>
          </a:xfrm>
          <a:prstGeom prst="rect">
            <a:avLst/>
          </a:prstGeom>
          <a:noFill/>
          <a:ln/>
        </p:spPr>
        <p:txBody>
          <a:bodyPr wrap="square" lIns="0" tIns="0" rIns="0" bIns="0" rtlCol="0" anchor="ctr"/>
          <a:lstStyle/>
          <a:p>
            <a:pPr>
              <a:lnSpc>
                <a:spcPct val="93000"/>
              </a:lnSpc>
            </a:pPr>
            <a:r>
              <a:rPr lang="en-US" sz="798" dirty="0">
                <a:solidFill>
                  <a:srgbClr val="5B6472"/>
                </a:solidFill>
                <a:latin typeface="Calibri" pitchFamily="34" charset="0"/>
                <a:ea typeface="Calibri" pitchFamily="34" charset="-122"/>
                <a:cs typeface="Calibri" pitchFamily="34" charset="-120"/>
              </a:rPr>
              <a:t>Replication</a:t>
            </a:r>
            <a:endParaRPr lang="en-US" sz="798" dirty="0"/>
          </a:p>
        </p:txBody>
      </p:sp>
      <p:sp>
        <p:nvSpPr>
          <p:cNvPr id="605" name="Shape 62">
            <a:extLst>
              <a:ext uri="{FF2B5EF4-FFF2-40B4-BE49-F238E27FC236}">
                <a16:creationId xmlns:a16="http://schemas.microsoft.com/office/drawing/2014/main" id="{85881907-4481-EC9B-CD79-A7D3C9F8F806}"/>
              </a:ext>
            </a:extLst>
          </p:cNvPr>
          <p:cNvSpPr/>
          <p:nvPr/>
        </p:nvSpPr>
        <p:spPr>
          <a:xfrm>
            <a:off x="7242259" y="6243122"/>
            <a:ext cx="4522243" cy="440824"/>
          </a:xfrm>
          <a:prstGeom prst="roundRect">
            <a:avLst>
              <a:gd name="adj" fmla="val 10345"/>
            </a:avLst>
          </a:prstGeom>
          <a:solidFill>
            <a:srgbClr val="F4F7FA"/>
          </a:solidFill>
          <a:ln w="12700">
            <a:solidFill>
              <a:srgbClr val="B9CBDD"/>
            </a:solidFill>
            <a:prstDash val="solid"/>
          </a:ln>
        </p:spPr>
        <p:txBody>
          <a:bodyPr/>
          <a:lstStyle/>
          <a:p>
            <a:endParaRPr lang="en-IN"/>
          </a:p>
        </p:txBody>
      </p:sp>
      <p:sp>
        <p:nvSpPr>
          <p:cNvPr id="609" name="Text 63">
            <a:extLst>
              <a:ext uri="{FF2B5EF4-FFF2-40B4-BE49-F238E27FC236}">
                <a16:creationId xmlns:a16="http://schemas.microsoft.com/office/drawing/2014/main" id="{65973386-ECEE-1885-99DA-092953F60711}"/>
              </a:ext>
            </a:extLst>
          </p:cNvPr>
          <p:cNvSpPr txBox="1"/>
          <p:nvPr/>
        </p:nvSpPr>
        <p:spPr>
          <a:xfrm>
            <a:off x="7333465" y="6258322"/>
            <a:ext cx="4339832" cy="152008"/>
          </a:xfrm>
          <a:prstGeom prst="rect">
            <a:avLst/>
          </a:prstGeom>
          <a:noFill/>
          <a:ln/>
        </p:spPr>
        <p:txBody>
          <a:bodyPr wrap="square" lIns="0" tIns="0" rIns="0" bIns="0" rtlCol="0" anchor="ctr"/>
          <a:lstStyle/>
          <a:p>
            <a:pPr>
              <a:lnSpc>
                <a:spcPct val="93000"/>
              </a:lnSpc>
            </a:pPr>
            <a:r>
              <a:rPr lang="en-US" sz="838" b="1" dirty="0">
                <a:solidFill>
                  <a:srgbClr val="1B4F8A"/>
                </a:solidFill>
                <a:latin typeface="Calibri" pitchFamily="34" charset="0"/>
                <a:ea typeface="Calibri" pitchFamily="34" charset="-122"/>
                <a:cs typeface="Calibri" pitchFamily="34" charset="-120"/>
              </a:rPr>
              <a:t>Deployment Options:  Microsoft Azure  |  AWS</a:t>
            </a:r>
            <a:endParaRPr lang="en-US" sz="838" dirty="0"/>
          </a:p>
        </p:txBody>
      </p:sp>
      <p:sp>
        <p:nvSpPr>
          <p:cNvPr id="613" name="Text 64">
            <a:extLst>
              <a:ext uri="{FF2B5EF4-FFF2-40B4-BE49-F238E27FC236}">
                <a16:creationId xmlns:a16="http://schemas.microsoft.com/office/drawing/2014/main" id="{106EBDAE-DCD9-7589-DF68-A60F72007D13}"/>
              </a:ext>
            </a:extLst>
          </p:cNvPr>
          <p:cNvSpPr txBox="1"/>
          <p:nvPr/>
        </p:nvSpPr>
        <p:spPr>
          <a:xfrm>
            <a:off x="7333465" y="6410331"/>
            <a:ext cx="4339832" cy="258414"/>
          </a:xfrm>
          <a:prstGeom prst="rect">
            <a:avLst/>
          </a:prstGeom>
          <a:noFill/>
          <a:ln/>
        </p:spPr>
        <p:txBody>
          <a:bodyPr wrap="square" lIns="0" tIns="0" rIns="0" bIns="0" rtlCol="0" anchor="ctr"/>
          <a:lstStyle/>
          <a:p>
            <a:pPr>
              <a:lnSpc>
                <a:spcPct val="95000"/>
              </a:lnSpc>
            </a:pPr>
            <a:r>
              <a:rPr lang="en-US" sz="718" i="1" dirty="0">
                <a:solidFill>
                  <a:srgbClr val="5B6472"/>
                </a:solidFill>
                <a:latin typeface="Calibri" pitchFamily="34" charset="0"/>
                <a:ea typeface="Calibri" pitchFamily="34" charset="-122"/>
                <a:cs typeface="Calibri" pitchFamily="34" charset="-120"/>
              </a:rPr>
              <a:t>Core application architecture remains cloud agnostic; equivalent managed services can be used on the selected cloud platform.</a:t>
            </a:r>
            <a:endParaRPr lang="en-US" sz="718" dirty="0"/>
          </a:p>
        </p:txBody>
      </p:sp>
      <p:sp>
        <p:nvSpPr>
          <p:cNvPr id="617" name="Shape 65">
            <a:extLst>
              <a:ext uri="{FF2B5EF4-FFF2-40B4-BE49-F238E27FC236}">
                <a16:creationId xmlns:a16="http://schemas.microsoft.com/office/drawing/2014/main" id="{98C72608-F695-5619-DE98-6E2C880BED21}"/>
              </a:ext>
            </a:extLst>
          </p:cNvPr>
          <p:cNvSpPr/>
          <p:nvPr/>
        </p:nvSpPr>
        <p:spPr>
          <a:xfrm>
            <a:off x="3176042" y="1394061"/>
            <a:ext cx="8664464" cy="4241028"/>
          </a:xfrm>
          <a:prstGeom prst="roundRect">
            <a:avLst>
              <a:gd name="adj" fmla="val 645"/>
            </a:avLst>
          </a:prstGeom>
          <a:ln w="27940">
            <a:solidFill>
              <a:srgbClr val="11397C"/>
            </a:solidFill>
            <a:prstDash val="dash"/>
          </a:ln>
        </p:spPr>
        <p:txBody>
          <a:bodyPr/>
          <a:lstStyle/>
          <a:p>
            <a:endParaRPr lang="en-IN"/>
          </a:p>
        </p:txBody>
      </p:sp>
      <p:sp>
        <p:nvSpPr>
          <p:cNvPr id="621" name="Shape 66">
            <a:extLst>
              <a:ext uri="{FF2B5EF4-FFF2-40B4-BE49-F238E27FC236}">
                <a16:creationId xmlns:a16="http://schemas.microsoft.com/office/drawing/2014/main" id="{ECFBBE92-A310-7703-14AA-9CC312A9F11C}"/>
              </a:ext>
            </a:extLst>
          </p:cNvPr>
          <p:cNvSpPr/>
          <p:nvPr/>
        </p:nvSpPr>
        <p:spPr>
          <a:xfrm>
            <a:off x="3252046" y="1318057"/>
            <a:ext cx="2280122" cy="152008"/>
          </a:xfrm>
          <a:prstGeom prst="roundRect">
            <a:avLst>
              <a:gd name="adj" fmla="val 60002"/>
            </a:avLst>
          </a:prstGeom>
          <a:solidFill>
            <a:srgbClr val="11397C"/>
          </a:solidFill>
          <a:ln w="12700">
            <a:solidFill>
              <a:srgbClr val="11397C"/>
            </a:solidFill>
            <a:prstDash val="solid"/>
          </a:ln>
        </p:spPr>
        <p:txBody>
          <a:bodyPr/>
          <a:lstStyle/>
          <a:p>
            <a:endParaRPr lang="en-IN"/>
          </a:p>
        </p:txBody>
      </p:sp>
      <p:sp>
        <p:nvSpPr>
          <p:cNvPr id="625" name="Text 67">
            <a:extLst>
              <a:ext uri="{FF2B5EF4-FFF2-40B4-BE49-F238E27FC236}">
                <a16:creationId xmlns:a16="http://schemas.microsoft.com/office/drawing/2014/main" id="{352578A8-3553-BF45-EFC6-EE8D9B0F4240}"/>
              </a:ext>
            </a:extLst>
          </p:cNvPr>
          <p:cNvSpPr txBox="1"/>
          <p:nvPr/>
        </p:nvSpPr>
        <p:spPr>
          <a:xfrm>
            <a:off x="3282446" y="1318057"/>
            <a:ext cx="2219319" cy="152008"/>
          </a:xfrm>
          <a:prstGeom prst="rect">
            <a:avLst/>
          </a:prstGeom>
          <a:noFill/>
          <a:ln/>
        </p:spPr>
        <p:txBody>
          <a:bodyPr wrap="square" lIns="0" tIns="0" rIns="0" bIns="0" rtlCol="0" anchor="ctr"/>
          <a:lstStyle/>
          <a:p>
            <a:pPr algn="ctr">
              <a:lnSpc>
                <a:spcPct val="93000"/>
              </a:lnSpc>
            </a:pPr>
            <a:r>
              <a:rPr lang="en-US" sz="718" b="1" dirty="0">
                <a:solidFill>
                  <a:srgbClr val="FFFFFF"/>
                </a:solidFill>
                <a:latin typeface="Calibri" pitchFamily="34" charset="0"/>
                <a:ea typeface="Calibri" pitchFamily="34" charset="-122"/>
                <a:cs typeface="Calibri" pitchFamily="34" charset="-120"/>
              </a:rPr>
              <a:t>UNIFIED PORTAL &amp; PAS ENTERPRISE PLATFORM</a:t>
            </a:r>
            <a:endParaRPr lang="en-US" sz="718" dirty="0"/>
          </a:p>
        </p:txBody>
      </p:sp>
      <p:sp>
        <p:nvSpPr>
          <p:cNvPr id="629" name="Shape 68">
            <a:extLst>
              <a:ext uri="{FF2B5EF4-FFF2-40B4-BE49-F238E27FC236}">
                <a16:creationId xmlns:a16="http://schemas.microsoft.com/office/drawing/2014/main" id="{B7C32BBE-3B2D-0809-8CD2-5938E829ADFA}"/>
              </a:ext>
            </a:extLst>
          </p:cNvPr>
          <p:cNvSpPr/>
          <p:nvPr/>
        </p:nvSpPr>
        <p:spPr>
          <a:xfrm>
            <a:off x="3252046" y="1530869"/>
            <a:ext cx="2204118" cy="547229"/>
          </a:xfrm>
          <a:prstGeom prst="roundRect">
            <a:avLst>
              <a:gd name="adj" fmla="val 8334"/>
            </a:avLst>
          </a:prstGeom>
          <a:solidFill>
            <a:srgbClr val="F2FAF8"/>
          </a:solidFill>
          <a:ln w="12700">
            <a:solidFill>
              <a:srgbClr val="9BCEC4"/>
            </a:solidFill>
            <a:prstDash val="solid"/>
          </a:ln>
        </p:spPr>
        <p:txBody>
          <a:bodyPr/>
          <a:lstStyle/>
          <a:p>
            <a:endParaRPr lang="en-IN"/>
          </a:p>
        </p:txBody>
      </p:sp>
      <p:pic>
        <p:nvPicPr>
          <p:cNvPr id="631" name="Image 11" descr="preencoded.png">
            <a:extLst>
              <a:ext uri="{FF2B5EF4-FFF2-40B4-BE49-F238E27FC236}">
                <a16:creationId xmlns:a16="http://schemas.microsoft.com/office/drawing/2014/main" id="{58902E1A-FF17-5A80-85FC-DD3F798E7184}"/>
              </a:ext>
            </a:extLst>
          </p:cNvPr>
          <p:cNvPicPr>
            <a:picLocks noChangeAspect="1"/>
          </p:cNvPicPr>
          <p:nvPr/>
        </p:nvPicPr>
        <p:blipFill>
          <a:blip r:embed="rId11"/>
          <a:stretch>
            <a:fillRect/>
          </a:stretch>
        </p:blipFill>
        <p:spPr>
          <a:xfrm>
            <a:off x="3343251" y="1606873"/>
            <a:ext cx="212812" cy="212812"/>
          </a:xfrm>
          <a:prstGeom prst="rect">
            <a:avLst/>
          </a:prstGeom>
        </p:spPr>
      </p:pic>
      <p:sp>
        <p:nvSpPr>
          <p:cNvPr id="633" name="Text 69">
            <a:extLst>
              <a:ext uri="{FF2B5EF4-FFF2-40B4-BE49-F238E27FC236}">
                <a16:creationId xmlns:a16="http://schemas.microsoft.com/office/drawing/2014/main" id="{BF2B0189-3EAD-290B-1ADA-076BB54EAFA7}"/>
              </a:ext>
            </a:extLst>
          </p:cNvPr>
          <p:cNvSpPr txBox="1"/>
          <p:nvPr/>
        </p:nvSpPr>
        <p:spPr>
          <a:xfrm>
            <a:off x="3616865" y="1591671"/>
            <a:ext cx="1763295" cy="152008"/>
          </a:xfrm>
          <a:prstGeom prst="rect">
            <a:avLst/>
          </a:prstGeom>
          <a:noFill/>
          <a:ln/>
        </p:spPr>
        <p:txBody>
          <a:bodyPr wrap="square" lIns="0" tIns="0" rIns="0" bIns="0" rtlCol="0" anchor="ctr"/>
          <a:lstStyle/>
          <a:p>
            <a:pPr>
              <a:lnSpc>
                <a:spcPct val="93000"/>
              </a:lnSpc>
            </a:pPr>
            <a:r>
              <a:rPr lang="en-US" sz="978" b="1" dirty="0">
                <a:solidFill>
                  <a:srgbClr val="0E5F52"/>
                </a:solidFill>
                <a:latin typeface="Calibri" pitchFamily="34" charset="0"/>
                <a:ea typeface="Calibri" pitchFamily="34" charset="-122"/>
                <a:cs typeface="Calibri" pitchFamily="34" charset="-120"/>
              </a:rPr>
              <a:t>Identity Provider</a:t>
            </a:r>
            <a:endParaRPr lang="en-US" sz="978" dirty="0"/>
          </a:p>
        </p:txBody>
      </p:sp>
      <p:sp>
        <p:nvSpPr>
          <p:cNvPr id="635" name="Text 70">
            <a:extLst>
              <a:ext uri="{FF2B5EF4-FFF2-40B4-BE49-F238E27FC236}">
                <a16:creationId xmlns:a16="http://schemas.microsoft.com/office/drawing/2014/main" id="{EB4738E1-11AB-6ADE-8943-A6590582D7D0}"/>
              </a:ext>
            </a:extLst>
          </p:cNvPr>
          <p:cNvSpPr txBox="1"/>
          <p:nvPr/>
        </p:nvSpPr>
        <p:spPr>
          <a:xfrm>
            <a:off x="3343251" y="1804483"/>
            <a:ext cx="2021708" cy="197611"/>
          </a:xfrm>
          <a:prstGeom prst="rect">
            <a:avLst/>
          </a:prstGeom>
          <a:noFill/>
          <a:ln/>
        </p:spPr>
        <p:txBody>
          <a:bodyPr wrap="square" lIns="0" tIns="0" rIns="0" bIns="0" rtlCol="0" anchor="ctr"/>
          <a:lstStyle/>
          <a:p>
            <a:pPr algn="ctr">
              <a:lnSpc>
                <a:spcPct val="93000"/>
              </a:lnSpc>
            </a:pPr>
            <a:r>
              <a:rPr lang="en-US" sz="798" dirty="0">
                <a:solidFill>
                  <a:srgbClr val="2C6F63"/>
                </a:solidFill>
                <a:latin typeface="Calibri" pitchFamily="34" charset="0"/>
                <a:ea typeface="Calibri" pitchFamily="34" charset="-122"/>
                <a:cs typeface="Calibri" pitchFamily="34" charset="-120"/>
              </a:rPr>
              <a:t>OAuth2 / OIDC / JWT   ·   MFA / SSO</a:t>
            </a:r>
            <a:endParaRPr lang="en-US" sz="798" dirty="0"/>
          </a:p>
        </p:txBody>
      </p:sp>
      <p:sp>
        <p:nvSpPr>
          <p:cNvPr id="637" name="Shape 71">
            <a:extLst>
              <a:ext uri="{FF2B5EF4-FFF2-40B4-BE49-F238E27FC236}">
                <a16:creationId xmlns:a16="http://schemas.microsoft.com/office/drawing/2014/main" id="{2E8ED570-43FE-8A6E-A924-9256A5D27CEA}"/>
              </a:ext>
            </a:extLst>
          </p:cNvPr>
          <p:cNvSpPr/>
          <p:nvPr/>
        </p:nvSpPr>
        <p:spPr>
          <a:xfrm>
            <a:off x="3252046" y="2382115"/>
            <a:ext cx="912049" cy="3192171"/>
          </a:xfrm>
          <a:prstGeom prst="roundRect">
            <a:avLst>
              <a:gd name="adj" fmla="val 5000"/>
            </a:avLst>
          </a:prstGeom>
          <a:solidFill>
            <a:srgbClr val="F7FAFD"/>
          </a:solidFill>
          <a:ln w="12700">
            <a:solidFill>
              <a:srgbClr val="C2DCF0"/>
            </a:solidFill>
            <a:prstDash val="solid"/>
          </a:ln>
        </p:spPr>
        <p:txBody>
          <a:bodyPr/>
          <a:lstStyle/>
          <a:p>
            <a:endParaRPr lang="en-IN"/>
          </a:p>
        </p:txBody>
      </p:sp>
      <p:pic>
        <p:nvPicPr>
          <p:cNvPr id="639" name="Image 12" descr="preencoded.png">
            <a:extLst>
              <a:ext uri="{FF2B5EF4-FFF2-40B4-BE49-F238E27FC236}">
                <a16:creationId xmlns:a16="http://schemas.microsoft.com/office/drawing/2014/main" id="{14D84E94-AF85-F87B-D6FD-7BAE062357C9}"/>
              </a:ext>
            </a:extLst>
          </p:cNvPr>
          <p:cNvPicPr>
            <a:picLocks noChangeAspect="1"/>
          </p:cNvPicPr>
          <p:nvPr/>
        </p:nvPicPr>
        <p:blipFill>
          <a:blip r:embed="rId12"/>
          <a:stretch>
            <a:fillRect/>
          </a:stretch>
        </p:blipFill>
        <p:spPr>
          <a:xfrm>
            <a:off x="3540861" y="2488520"/>
            <a:ext cx="334418" cy="334418"/>
          </a:xfrm>
          <a:prstGeom prst="rect">
            <a:avLst/>
          </a:prstGeom>
        </p:spPr>
      </p:pic>
      <p:sp>
        <p:nvSpPr>
          <p:cNvPr id="257" name="Text 72">
            <a:extLst>
              <a:ext uri="{FF2B5EF4-FFF2-40B4-BE49-F238E27FC236}">
                <a16:creationId xmlns:a16="http://schemas.microsoft.com/office/drawing/2014/main" id="{6E59315F-08DF-E07F-C505-765D1B489D7C}"/>
              </a:ext>
            </a:extLst>
          </p:cNvPr>
          <p:cNvSpPr txBox="1"/>
          <p:nvPr/>
        </p:nvSpPr>
        <p:spPr>
          <a:xfrm>
            <a:off x="3282447" y="2868540"/>
            <a:ext cx="851246" cy="152008"/>
          </a:xfrm>
          <a:prstGeom prst="rect">
            <a:avLst/>
          </a:prstGeom>
          <a:noFill/>
          <a:ln/>
        </p:spPr>
        <p:txBody>
          <a:bodyPr wrap="square" lIns="0" tIns="0" rIns="0" bIns="0" rtlCol="0" anchor="ctr"/>
          <a:lstStyle/>
          <a:p>
            <a:pPr algn="ctr">
              <a:lnSpc>
                <a:spcPct val="93000"/>
              </a:lnSpc>
            </a:pPr>
            <a:r>
              <a:rPr lang="en-US" sz="958" b="1" dirty="0">
                <a:solidFill>
                  <a:srgbClr val="11397C"/>
                </a:solidFill>
                <a:latin typeface="Calibri" pitchFamily="34" charset="0"/>
                <a:ea typeface="Calibri" pitchFamily="34" charset="-122"/>
                <a:cs typeface="Calibri" pitchFamily="34" charset="-120"/>
              </a:rPr>
              <a:t>Experience Layer</a:t>
            </a:r>
            <a:endParaRPr lang="en-US" sz="958" dirty="0"/>
          </a:p>
        </p:txBody>
      </p:sp>
      <p:sp>
        <p:nvSpPr>
          <p:cNvPr id="259" name="Text 73">
            <a:extLst>
              <a:ext uri="{FF2B5EF4-FFF2-40B4-BE49-F238E27FC236}">
                <a16:creationId xmlns:a16="http://schemas.microsoft.com/office/drawing/2014/main" id="{E6AAC250-BF29-9339-FB74-7C025FFA6C7D}"/>
              </a:ext>
            </a:extLst>
          </p:cNvPr>
          <p:cNvSpPr txBox="1"/>
          <p:nvPr/>
        </p:nvSpPr>
        <p:spPr>
          <a:xfrm>
            <a:off x="3282447" y="3020549"/>
            <a:ext cx="851246" cy="136808"/>
          </a:xfrm>
          <a:prstGeom prst="rect">
            <a:avLst/>
          </a:prstGeom>
          <a:noFill/>
          <a:ln/>
        </p:spPr>
        <p:txBody>
          <a:bodyPr wrap="square" lIns="0" tIns="0" rIns="0" bIns="0" rtlCol="0" anchor="ctr"/>
          <a:lstStyle/>
          <a:p>
            <a:pPr algn="ctr">
              <a:lnSpc>
                <a:spcPct val="93000"/>
              </a:lnSpc>
            </a:pPr>
            <a:r>
              <a:rPr lang="en-US" sz="858" dirty="0">
                <a:solidFill>
                  <a:srgbClr val="2A6099"/>
                </a:solidFill>
                <a:latin typeface="Calibri" pitchFamily="34" charset="0"/>
                <a:ea typeface="Calibri" pitchFamily="34" charset="-122"/>
                <a:cs typeface="Calibri" pitchFamily="34" charset="-120"/>
              </a:rPr>
              <a:t>Next.js 14+</a:t>
            </a:r>
            <a:endParaRPr lang="en-US" sz="858" dirty="0"/>
          </a:p>
        </p:txBody>
      </p:sp>
      <p:sp>
        <p:nvSpPr>
          <p:cNvPr id="261" name="Text 74">
            <a:extLst>
              <a:ext uri="{FF2B5EF4-FFF2-40B4-BE49-F238E27FC236}">
                <a16:creationId xmlns:a16="http://schemas.microsoft.com/office/drawing/2014/main" id="{B831CF0F-85E9-659B-5BF8-BEF8F6ED4AE0}"/>
              </a:ext>
            </a:extLst>
          </p:cNvPr>
          <p:cNvSpPr txBox="1"/>
          <p:nvPr/>
        </p:nvSpPr>
        <p:spPr>
          <a:xfrm>
            <a:off x="3312849" y="3233360"/>
            <a:ext cx="790442" cy="440824"/>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Responsive UI</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Secure Communication</a:t>
            </a:r>
            <a:endParaRPr lang="en-US" sz="818" dirty="0"/>
          </a:p>
        </p:txBody>
      </p:sp>
      <p:sp>
        <p:nvSpPr>
          <p:cNvPr id="263" name="Shape 75">
            <a:extLst>
              <a:ext uri="{FF2B5EF4-FFF2-40B4-BE49-F238E27FC236}">
                <a16:creationId xmlns:a16="http://schemas.microsoft.com/office/drawing/2014/main" id="{E9404950-4250-A82D-4742-4B6F247C4D4F}"/>
              </a:ext>
            </a:extLst>
          </p:cNvPr>
          <p:cNvSpPr/>
          <p:nvPr/>
        </p:nvSpPr>
        <p:spPr>
          <a:xfrm>
            <a:off x="3312849" y="3750187"/>
            <a:ext cx="790442" cy="729639"/>
          </a:xfrm>
          <a:prstGeom prst="roundRect">
            <a:avLst>
              <a:gd name="adj" fmla="val 5000"/>
            </a:avLst>
          </a:prstGeom>
          <a:solidFill>
            <a:srgbClr val="FFFFFF"/>
          </a:solidFill>
          <a:ln w="12700">
            <a:solidFill>
              <a:srgbClr val="C2DCF0"/>
            </a:solidFill>
            <a:prstDash val="solid"/>
          </a:ln>
        </p:spPr>
        <p:txBody>
          <a:bodyPr/>
          <a:lstStyle/>
          <a:p>
            <a:endParaRPr lang="en-IN"/>
          </a:p>
        </p:txBody>
      </p:sp>
      <p:sp>
        <p:nvSpPr>
          <p:cNvPr id="265" name="Text 76">
            <a:extLst>
              <a:ext uri="{FF2B5EF4-FFF2-40B4-BE49-F238E27FC236}">
                <a16:creationId xmlns:a16="http://schemas.microsoft.com/office/drawing/2014/main" id="{C1568F2F-1E89-D4BF-ECC1-AB61B66FF996}"/>
              </a:ext>
            </a:extLst>
          </p:cNvPr>
          <p:cNvSpPr txBox="1"/>
          <p:nvPr/>
        </p:nvSpPr>
        <p:spPr>
          <a:xfrm>
            <a:off x="3343251" y="3750187"/>
            <a:ext cx="729639" cy="729639"/>
          </a:xfrm>
          <a:prstGeom prst="rect">
            <a:avLst/>
          </a:prstGeom>
          <a:noFill/>
          <a:ln/>
        </p:spPr>
        <p:txBody>
          <a:bodyPr wrap="square" lIns="0" tIns="0" rIns="0" bIns="0" rtlCol="0" anchor="ctr"/>
          <a:lstStyle/>
          <a:p>
            <a:pPr algn="ctr">
              <a:lnSpc>
                <a:spcPct val="93000"/>
              </a:lnSpc>
            </a:pPr>
            <a:r>
              <a:rPr lang="en-US" sz="838" b="1" dirty="0">
                <a:solidFill>
                  <a:srgbClr val="11397C"/>
                </a:solidFill>
                <a:latin typeface="Calibri" pitchFamily="34" charset="0"/>
                <a:ea typeface="Calibri" pitchFamily="34" charset="-122"/>
                <a:cs typeface="Calibri" pitchFamily="34" charset="-120"/>
              </a:rPr>
              <a:t>Additional</a:t>
            </a:r>
            <a:endParaRPr lang="en-US" sz="838" dirty="0"/>
          </a:p>
          <a:p>
            <a:pPr algn="ctr">
              <a:lnSpc>
                <a:spcPct val="93000"/>
              </a:lnSpc>
            </a:pPr>
            <a:r>
              <a:rPr lang="en-US" sz="838" b="1" dirty="0">
                <a:solidFill>
                  <a:srgbClr val="11397C"/>
                </a:solidFill>
                <a:latin typeface="Calibri" pitchFamily="34" charset="0"/>
                <a:ea typeface="Calibri" pitchFamily="34" charset="-122"/>
                <a:cs typeface="Calibri" pitchFamily="34" charset="-120"/>
              </a:rPr>
              <a:t>Channels /</a:t>
            </a:r>
            <a:endParaRPr lang="en-US" sz="838" dirty="0"/>
          </a:p>
          <a:p>
            <a:pPr algn="ctr">
              <a:lnSpc>
                <a:spcPct val="93000"/>
              </a:lnSpc>
            </a:pPr>
            <a:r>
              <a:rPr lang="en-US" sz="838" b="1" dirty="0">
                <a:solidFill>
                  <a:srgbClr val="11397C"/>
                </a:solidFill>
                <a:latin typeface="Calibri" pitchFamily="34" charset="0"/>
                <a:ea typeface="Calibri" pitchFamily="34" charset="-122"/>
                <a:cs typeface="Calibri" pitchFamily="34" charset="-120"/>
              </a:rPr>
              <a:t>Applications</a:t>
            </a:r>
            <a:endParaRPr lang="en-US" sz="838" dirty="0"/>
          </a:p>
        </p:txBody>
      </p:sp>
      <p:sp>
        <p:nvSpPr>
          <p:cNvPr id="267" name="Shape 77">
            <a:extLst>
              <a:ext uri="{FF2B5EF4-FFF2-40B4-BE49-F238E27FC236}">
                <a16:creationId xmlns:a16="http://schemas.microsoft.com/office/drawing/2014/main" id="{936557A4-E0AF-F0FF-03DB-DC06BF595ADE}"/>
              </a:ext>
            </a:extLst>
          </p:cNvPr>
          <p:cNvSpPr/>
          <p:nvPr/>
        </p:nvSpPr>
        <p:spPr>
          <a:xfrm>
            <a:off x="3692869" y="2078098"/>
            <a:ext cx="0" cy="304016"/>
          </a:xfrm>
          <a:prstGeom prst="line">
            <a:avLst/>
          </a:prstGeom>
          <a:noFill/>
          <a:ln w="19050">
            <a:solidFill>
              <a:srgbClr val="0E7C6B"/>
            </a:solidFill>
            <a:prstDash val="solid"/>
            <a:headEnd type="triangle"/>
            <a:tailEnd type="triangle"/>
          </a:ln>
        </p:spPr>
        <p:txBody>
          <a:bodyPr/>
          <a:lstStyle/>
          <a:p>
            <a:endParaRPr lang="en-IN"/>
          </a:p>
        </p:txBody>
      </p:sp>
      <p:sp>
        <p:nvSpPr>
          <p:cNvPr id="269" name="Text 78">
            <a:extLst>
              <a:ext uri="{FF2B5EF4-FFF2-40B4-BE49-F238E27FC236}">
                <a16:creationId xmlns:a16="http://schemas.microsoft.com/office/drawing/2014/main" id="{8F3759B8-6E9C-A485-72F5-EE901C39559F}"/>
              </a:ext>
            </a:extLst>
          </p:cNvPr>
          <p:cNvSpPr txBox="1"/>
          <p:nvPr/>
        </p:nvSpPr>
        <p:spPr>
          <a:xfrm>
            <a:off x="3723271" y="2123700"/>
            <a:ext cx="425622" cy="228012"/>
          </a:xfrm>
          <a:prstGeom prst="rect">
            <a:avLst/>
          </a:prstGeom>
          <a:noFill/>
          <a:ln/>
        </p:spPr>
        <p:txBody>
          <a:bodyPr wrap="square" lIns="0" tIns="0" rIns="0" bIns="0" rtlCol="0" anchor="ctr"/>
          <a:lstStyle/>
          <a:p>
            <a:pPr algn="ctr">
              <a:lnSpc>
                <a:spcPct val="88000"/>
              </a:lnSpc>
            </a:pPr>
            <a:r>
              <a:rPr lang="en-US" sz="678" dirty="0">
                <a:solidFill>
                  <a:srgbClr val="0E7C6B"/>
                </a:solidFill>
                <a:latin typeface="Calibri" pitchFamily="34" charset="0"/>
                <a:ea typeface="Calibri" pitchFamily="34" charset="-122"/>
                <a:cs typeface="Calibri" pitchFamily="34" charset="-120"/>
              </a:rPr>
              <a:t>OAuth2 /</a:t>
            </a:r>
            <a:endParaRPr lang="en-US" sz="678" dirty="0"/>
          </a:p>
          <a:p>
            <a:pPr algn="ctr">
              <a:lnSpc>
                <a:spcPct val="88000"/>
              </a:lnSpc>
            </a:pPr>
            <a:r>
              <a:rPr lang="en-US" sz="678" dirty="0">
                <a:solidFill>
                  <a:srgbClr val="0E7C6B"/>
                </a:solidFill>
                <a:latin typeface="Calibri" pitchFamily="34" charset="0"/>
                <a:ea typeface="Calibri" pitchFamily="34" charset="-122"/>
                <a:cs typeface="Calibri" pitchFamily="34" charset="-120"/>
              </a:rPr>
              <a:t>OIDC / JWT</a:t>
            </a:r>
            <a:endParaRPr lang="en-US" sz="678" dirty="0"/>
          </a:p>
        </p:txBody>
      </p:sp>
      <p:sp>
        <p:nvSpPr>
          <p:cNvPr id="271" name="Shape 79">
            <a:extLst>
              <a:ext uri="{FF2B5EF4-FFF2-40B4-BE49-F238E27FC236}">
                <a16:creationId xmlns:a16="http://schemas.microsoft.com/office/drawing/2014/main" id="{4E453575-B745-44E3-48EB-F52A5100D31A}"/>
              </a:ext>
            </a:extLst>
          </p:cNvPr>
          <p:cNvSpPr/>
          <p:nvPr/>
        </p:nvSpPr>
        <p:spPr>
          <a:xfrm>
            <a:off x="4984939" y="2078098"/>
            <a:ext cx="0" cy="304016"/>
          </a:xfrm>
          <a:prstGeom prst="line">
            <a:avLst/>
          </a:prstGeom>
          <a:noFill/>
          <a:ln w="19050">
            <a:solidFill>
              <a:srgbClr val="0E7C6B"/>
            </a:solidFill>
            <a:prstDash val="solid"/>
            <a:headEnd type="none"/>
            <a:tailEnd type="triangle"/>
          </a:ln>
        </p:spPr>
        <p:txBody>
          <a:bodyPr/>
          <a:lstStyle/>
          <a:p>
            <a:endParaRPr lang="en-IN"/>
          </a:p>
        </p:txBody>
      </p:sp>
      <p:sp>
        <p:nvSpPr>
          <p:cNvPr id="273" name="Text 80">
            <a:extLst>
              <a:ext uri="{FF2B5EF4-FFF2-40B4-BE49-F238E27FC236}">
                <a16:creationId xmlns:a16="http://schemas.microsoft.com/office/drawing/2014/main" id="{4EC0E96E-DBC1-4340-06E2-1ACD302FADBA}"/>
              </a:ext>
            </a:extLst>
          </p:cNvPr>
          <p:cNvSpPr txBox="1"/>
          <p:nvPr/>
        </p:nvSpPr>
        <p:spPr>
          <a:xfrm>
            <a:off x="5015341" y="2123700"/>
            <a:ext cx="425622" cy="228012"/>
          </a:xfrm>
          <a:prstGeom prst="rect">
            <a:avLst/>
          </a:prstGeom>
          <a:noFill/>
          <a:ln/>
        </p:spPr>
        <p:txBody>
          <a:bodyPr wrap="square" lIns="0" tIns="0" rIns="0" bIns="0" rtlCol="0" anchor="ctr"/>
          <a:lstStyle/>
          <a:p>
            <a:pPr algn="ctr">
              <a:lnSpc>
                <a:spcPct val="88000"/>
              </a:lnSpc>
            </a:pPr>
            <a:r>
              <a:rPr lang="en-US" sz="678" dirty="0">
                <a:solidFill>
                  <a:srgbClr val="0E7C6B"/>
                </a:solidFill>
                <a:latin typeface="Calibri" pitchFamily="34" charset="0"/>
                <a:ea typeface="Calibri" pitchFamily="34" charset="-122"/>
                <a:cs typeface="Calibri" pitchFamily="34" charset="-120"/>
              </a:rPr>
              <a:t>Token</a:t>
            </a:r>
            <a:endParaRPr lang="en-US" sz="678" dirty="0"/>
          </a:p>
          <a:p>
            <a:pPr algn="ctr">
              <a:lnSpc>
                <a:spcPct val="88000"/>
              </a:lnSpc>
            </a:pPr>
            <a:r>
              <a:rPr lang="en-US" sz="678" dirty="0">
                <a:solidFill>
                  <a:srgbClr val="0E7C6B"/>
                </a:solidFill>
                <a:latin typeface="Calibri" pitchFamily="34" charset="0"/>
                <a:ea typeface="Calibri" pitchFamily="34" charset="-122"/>
                <a:cs typeface="Calibri" pitchFamily="34" charset="-120"/>
              </a:rPr>
              <a:t>Validation</a:t>
            </a:r>
            <a:endParaRPr lang="en-US" sz="678" dirty="0"/>
          </a:p>
        </p:txBody>
      </p:sp>
      <p:sp>
        <p:nvSpPr>
          <p:cNvPr id="275" name="Shape 81">
            <a:extLst>
              <a:ext uri="{FF2B5EF4-FFF2-40B4-BE49-F238E27FC236}">
                <a16:creationId xmlns:a16="http://schemas.microsoft.com/office/drawing/2014/main" id="{E908C27D-81F4-052E-AA10-1BDAFC5AE644}"/>
              </a:ext>
            </a:extLst>
          </p:cNvPr>
          <p:cNvSpPr/>
          <p:nvPr/>
        </p:nvSpPr>
        <p:spPr>
          <a:xfrm>
            <a:off x="4544115" y="2382115"/>
            <a:ext cx="912049" cy="3192171"/>
          </a:xfrm>
          <a:prstGeom prst="roundRect">
            <a:avLst>
              <a:gd name="adj" fmla="val 5000"/>
            </a:avLst>
          </a:prstGeom>
          <a:solidFill>
            <a:srgbClr val="F7FAFD"/>
          </a:solidFill>
          <a:ln w="12700">
            <a:solidFill>
              <a:srgbClr val="C2DCF0"/>
            </a:solidFill>
            <a:prstDash val="solid"/>
          </a:ln>
        </p:spPr>
        <p:txBody>
          <a:bodyPr/>
          <a:lstStyle/>
          <a:p>
            <a:endParaRPr lang="en-IN"/>
          </a:p>
        </p:txBody>
      </p:sp>
      <p:pic>
        <p:nvPicPr>
          <p:cNvPr id="277" name="Image 13" descr="preencoded.png">
            <a:extLst>
              <a:ext uri="{FF2B5EF4-FFF2-40B4-BE49-F238E27FC236}">
                <a16:creationId xmlns:a16="http://schemas.microsoft.com/office/drawing/2014/main" id="{2C2FA7A7-5C1E-0DF3-36FB-CB128C47EEBC}"/>
              </a:ext>
            </a:extLst>
          </p:cNvPr>
          <p:cNvPicPr>
            <a:picLocks noChangeAspect="1"/>
          </p:cNvPicPr>
          <p:nvPr/>
        </p:nvPicPr>
        <p:blipFill>
          <a:blip r:embed="rId13"/>
          <a:stretch>
            <a:fillRect/>
          </a:stretch>
        </p:blipFill>
        <p:spPr>
          <a:xfrm>
            <a:off x="4832930" y="2488520"/>
            <a:ext cx="334418" cy="334418"/>
          </a:xfrm>
          <a:prstGeom prst="rect">
            <a:avLst/>
          </a:prstGeom>
        </p:spPr>
      </p:pic>
      <p:sp>
        <p:nvSpPr>
          <p:cNvPr id="279" name="Text 82">
            <a:extLst>
              <a:ext uri="{FF2B5EF4-FFF2-40B4-BE49-F238E27FC236}">
                <a16:creationId xmlns:a16="http://schemas.microsoft.com/office/drawing/2014/main" id="{E366378B-C6F3-6381-209D-4E831ECEEF87}"/>
              </a:ext>
            </a:extLst>
          </p:cNvPr>
          <p:cNvSpPr txBox="1"/>
          <p:nvPr/>
        </p:nvSpPr>
        <p:spPr>
          <a:xfrm>
            <a:off x="4574517" y="2868540"/>
            <a:ext cx="851246" cy="167209"/>
          </a:xfrm>
          <a:prstGeom prst="rect">
            <a:avLst/>
          </a:prstGeom>
          <a:noFill/>
          <a:ln/>
        </p:spPr>
        <p:txBody>
          <a:bodyPr wrap="square" lIns="0" tIns="0" rIns="0" bIns="0" rtlCol="0" anchor="ctr"/>
          <a:lstStyle/>
          <a:p>
            <a:pPr algn="ctr">
              <a:lnSpc>
                <a:spcPct val="93000"/>
              </a:lnSpc>
            </a:pPr>
            <a:r>
              <a:rPr lang="en-US" sz="958" b="1" dirty="0">
                <a:solidFill>
                  <a:srgbClr val="11397C"/>
                </a:solidFill>
                <a:latin typeface="Calibri" pitchFamily="34" charset="0"/>
                <a:ea typeface="Calibri" pitchFamily="34" charset="-122"/>
                <a:cs typeface="Calibri" pitchFamily="34" charset="-120"/>
              </a:rPr>
              <a:t>API Gateway</a:t>
            </a:r>
            <a:endParaRPr lang="en-US" sz="958" dirty="0"/>
          </a:p>
        </p:txBody>
      </p:sp>
      <p:sp>
        <p:nvSpPr>
          <p:cNvPr id="281" name="Text 83">
            <a:extLst>
              <a:ext uri="{FF2B5EF4-FFF2-40B4-BE49-F238E27FC236}">
                <a16:creationId xmlns:a16="http://schemas.microsoft.com/office/drawing/2014/main" id="{D9F4FEA2-CEC9-4289-679E-99EECEB65F31}"/>
              </a:ext>
            </a:extLst>
          </p:cNvPr>
          <p:cNvSpPr txBox="1"/>
          <p:nvPr/>
        </p:nvSpPr>
        <p:spPr>
          <a:xfrm>
            <a:off x="4604918" y="3126954"/>
            <a:ext cx="790442" cy="1368074"/>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API Security</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Authentication / Authorization</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Rate Limiting</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Routing</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API Versioning</a:t>
            </a:r>
            <a:endParaRPr lang="en-US" sz="818" dirty="0"/>
          </a:p>
          <a:p>
            <a:pPr marL="114014" indent="-114014">
              <a:lnSpc>
                <a:spcPct val="95000"/>
              </a:lnSpc>
              <a:spcAft>
                <a:spcPts val="200"/>
              </a:spcAft>
              <a:buSzPct val="100000"/>
              <a:buChar char="•"/>
            </a:pPr>
            <a:r>
              <a:rPr lang="en-US" sz="818" dirty="0">
                <a:solidFill>
                  <a:srgbClr val="2A6099"/>
                </a:solidFill>
                <a:latin typeface="Calibri" pitchFamily="34" charset="0"/>
                <a:ea typeface="Calibri" pitchFamily="34" charset="-122"/>
                <a:cs typeface="Calibri" pitchFamily="34" charset="-120"/>
              </a:rPr>
              <a:t>Multi-consumer access</a:t>
            </a:r>
            <a:endParaRPr lang="en-US" sz="818" dirty="0"/>
          </a:p>
        </p:txBody>
      </p:sp>
      <p:sp>
        <p:nvSpPr>
          <p:cNvPr id="283" name="Shape 84">
            <a:extLst>
              <a:ext uri="{FF2B5EF4-FFF2-40B4-BE49-F238E27FC236}">
                <a16:creationId xmlns:a16="http://schemas.microsoft.com/office/drawing/2014/main" id="{28E6CDDB-56ED-4C2A-BA5C-DB199711A683}"/>
              </a:ext>
            </a:extLst>
          </p:cNvPr>
          <p:cNvSpPr/>
          <p:nvPr/>
        </p:nvSpPr>
        <p:spPr>
          <a:xfrm>
            <a:off x="5836184" y="1409262"/>
            <a:ext cx="2736146" cy="4165024"/>
          </a:xfrm>
          <a:prstGeom prst="roundRect">
            <a:avLst>
              <a:gd name="adj" fmla="val 1667"/>
            </a:avLst>
          </a:prstGeom>
          <a:solidFill>
            <a:srgbClr val="FFFFFF"/>
          </a:solidFill>
          <a:ln w="12700">
            <a:solidFill>
              <a:srgbClr val="C2DCF0"/>
            </a:solidFill>
            <a:prstDash val="solid"/>
          </a:ln>
        </p:spPr>
        <p:txBody>
          <a:bodyPr/>
          <a:lstStyle/>
          <a:p>
            <a:endParaRPr lang="en-IN"/>
          </a:p>
        </p:txBody>
      </p:sp>
      <p:pic>
        <p:nvPicPr>
          <p:cNvPr id="285" name="Image 14" descr="preencoded.png">
            <a:extLst>
              <a:ext uri="{FF2B5EF4-FFF2-40B4-BE49-F238E27FC236}">
                <a16:creationId xmlns:a16="http://schemas.microsoft.com/office/drawing/2014/main" id="{DDA2F9A4-97AD-24F7-B6AF-0C5324613595}"/>
              </a:ext>
            </a:extLst>
          </p:cNvPr>
          <p:cNvPicPr>
            <a:picLocks noChangeAspect="1"/>
          </p:cNvPicPr>
          <p:nvPr/>
        </p:nvPicPr>
        <p:blipFill>
          <a:blip r:embed="rId14"/>
          <a:stretch>
            <a:fillRect/>
          </a:stretch>
        </p:blipFill>
        <p:spPr>
          <a:xfrm>
            <a:off x="5972991" y="1500467"/>
            <a:ext cx="243213" cy="243213"/>
          </a:xfrm>
          <a:prstGeom prst="rect">
            <a:avLst/>
          </a:prstGeom>
        </p:spPr>
      </p:pic>
      <p:sp>
        <p:nvSpPr>
          <p:cNvPr id="287" name="Text 85">
            <a:extLst>
              <a:ext uri="{FF2B5EF4-FFF2-40B4-BE49-F238E27FC236}">
                <a16:creationId xmlns:a16="http://schemas.microsoft.com/office/drawing/2014/main" id="{6F0637EA-4461-73AB-0E28-98883D82D965}"/>
              </a:ext>
            </a:extLst>
          </p:cNvPr>
          <p:cNvSpPr txBox="1"/>
          <p:nvPr/>
        </p:nvSpPr>
        <p:spPr>
          <a:xfrm>
            <a:off x="6277008" y="1485266"/>
            <a:ext cx="2128114" cy="167209"/>
          </a:xfrm>
          <a:prstGeom prst="rect">
            <a:avLst/>
          </a:prstGeom>
          <a:noFill/>
          <a:ln/>
        </p:spPr>
        <p:txBody>
          <a:bodyPr wrap="square" lIns="0" tIns="0" rIns="0" bIns="0" rtlCol="0" anchor="ctr"/>
          <a:lstStyle/>
          <a:p>
            <a:pPr>
              <a:lnSpc>
                <a:spcPct val="93000"/>
              </a:lnSpc>
            </a:pPr>
            <a:r>
              <a:rPr lang="en-US" sz="1097" b="1" dirty="0">
                <a:solidFill>
                  <a:srgbClr val="11397C"/>
                </a:solidFill>
                <a:latin typeface="Calibri" pitchFamily="34" charset="0"/>
                <a:ea typeface="Calibri" pitchFamily="34" charset="-122"/>
                <a:cs typeface="Calibri" pitchFamily="34" charset="-120"/>
              </a:rPr>
              <a:t>Managed Kubernetes</a:t>
            </a:r>
            <a:endParaRPr lang="en-US" sz="1097" dirty="0"/>
          </a:p>
        </p:txBody>
      </p:sp>
      <p:sp>
        <p:nvSpPr>
          <p:cNvPr id="289" name="Text 86">
            <a:extLst>
              <a:ext uri="{FF2B5EF4-FFF2-40B4-BE49-F238E27FC236}">
                <a16:creationId xmlns:a16="http://schemas.microsoft.com/office/drawing/2014/main" id="{7D84D6D4-9520-8523-13DF-0F7AC2C4EB8A}"/>
              </a:ext>
            </a:extLst>
          </p:cNvPr>
          <p:cNvSpPr txBox="1"/>
          <p:nvPr/>
        </p:nvSpPr>
        <p:spPr>
          <a:xfrm>
            <a:off x="5896987" y="1789283"/>
            <a:ext cx="2614540" cy="136808"/>
          </a:xfrm>
          <a:prstGeom prst="rect">
            <a:avLst/>
          </a:prstGeom>
          <a:noFill/>
          <a:ln/>
        </p:spPr>
        <p:txBody>
          <a:bodyPr wrap="square" lIns="0" tIns="0" rIns="0" bIns="0" rtlCol="0" anchor="ctr"/>
          <a:lstStyle/>
          <a:p>
            <a:pPr algn="ctr">
              <a:lnSpc>
                <a:spcPct val="93000"/>
              </a:lnSpc>
            </a:pPr>
            <a:r>
              <a:rPr lang="en-US" sz="838" b="1" dirty="0">
                <a:solidFill>
                  <a:srgbClr val="5B6472"/>
                </a:solidFill>
                <a:latin typeface="Calibri" pitchFamily="34" charset="0"/>
                <a:ea typeface="Calibri" pitchFamily="34" charset="-122"/>
                <a:cs typeface="Calibri" pitchFamily="34" charset="-120"/>
              </a:rPr>
              <a:t>Java 25 + Spring Boot 4  ·  Containerised Microservices</a:t>
            </a:r>
            <a:endParaRPr lang="en-US" sz="838" dirty="0"/>
          </a:p>
        </p:txBody>
      </p:sp>
      <p:sp>
        <p:nvSpPr>
          <p:cNvPr id="291" name="Shape 87">
            <a:extLst>
              <a:ext uri="{FF2B5EF4-FFF2-40B4-BE49-F238E27FC236}">
                <a16:creationId xmlns:a16="http://schemas.microsoft.com/office/drawing/2014/main" id="{41673497-7F52-283A-C35D-B88E5E91582C}"/>
              </a:ext>
            </a:extLst>
          </p:cNvPr>
          <p:cNvSpPr/>
          <p:nvPr/>
        </p:nvSpPr>
        <p:spPr>
          <a:xfrm>
            <a:off x="5927389" y="2002094"/>
            <a:ext cx="2553737" cy="1140061"/>
          </a:xfrm>
          <a:prstGeom prst="roundRect">
            <a:avLst>
              <a:gd name="adj" fmla="val 4000"/>
            </a:avLst>
          </a:prstGeom>
          <a:solidFill>
            <a:srgbClr val="EAF6EE"/>
          </a:solidFill>
          <a:ln w="12700">
            <a:solidFill>
              <a:srgbClr val="A9D6B7"/>
            </a:solidFill>
            <a:prstDash val="solid"/>
          </a:ln>
        </p:spPr>
        <p:txBody>
          <a:bodyPr/>
          <a:lstStyle/>
          <a:p>
            <a:endParaRPr lang="en-IN"/>
          </a:p>
        </p:txBody>
      </p:sp>
      <p:sp>
        <p:nvSpPr>
          <p:cNvPr id="293" name="Text 88">
            <a:extLst>
              <a:ext uri="{FF2B5EF4-FFF2-40B4-BE49-F238E27FC236}">
                <a16:creationId xmlns:a16="http://schemas.microsoft.com/office/drawing/2014/main" id="{4AB1A93C-EEFB-D62D-9152-7E1753DCECD6}"/>
              </a:ext>
            </a:extLst>
          </p:cNvPr>
          <p:cNvSpPr txBox="1"/>
          <p:nvPr/>
        </p:nvSpPr>
        <p:spPr>
          <a:xfrm>
            <a:off x="5927389" y="2032495"/>
            <a:ext cx="2553737" cy="152008"/>
          </a:xfrm>
          <a:prstGeom prst="rect">
            <a:avLst/>
          </a:prstGeom>
          <a:noFill/>
          <a:ln/>
        </p:spPr>
        <p:txBody>
          <a:bodyPr wrap="square" lIns="0" tIns="0" rIns="0" bIns="0" rtlCol="0" anchor="ctr"/>
          <a:lstStyle/>
          <a:p>
            <a:pPr algn="ctr">
              <a:lnSpc>
                <a:spcPct val="93000"/>
              </a:lnSpc>
            </a:pPr>
            <a:r>
              <a:rPr lang="en-US" sz="998" b="1" dirty="0">
                <a:solidFill>
                  <a:srgbClr val="1E6B3B"/>
                </a:solidFill>
                <a:latin typeface="Calibri" pitchFamily="34" charset="0"/>
                <a:ea typeface="Calibri" pitchFamily="34" charset="-122"/>
                <a:cs typeface="Calibri" pitchFamily="34" charset="-120"/>
              </a:rPr>
              <a:t>Application Services</a:t>
            </a:r>
            <a:endParaRPr lang="en-US" sz="998" dirty="0"/>
          </a:p>
        </p:txBody>
      </p:sp>
      <p:sp>
        <p:nvSpPr>
          <p:cNvPr id="295" name="Shape 89">
            <a:extLst>
              <a:ext uri="{FF2B5EF4-FFF2-40B4-BE49-F238E27FC236}">
                <a16:creationId xmlns:a16="http://schemas.microsoft.com/office/drawing/2014/main" id="{F25ACAAD-D811-1F70-8C83-5D31328FBF31}"/>
              </a:ext>
            </a:extLst>
          </p:cNvPr>
          <p:cNvSpPr/>
          <p:nvPr/>
        </p:nvSpPr>
        <p:spPr>
          <a:xfrm>
            <a:off x="6018595" y="2245307"/>
            <a:ext cx="2371327" cy="836045"/>
          </a:xfrm>
          <a:prstGeom prst="roundRect">
            <a:avLst>
              <a:gd name="adj" fmla="val 4364"/>
            </a:avLst>
          </a:prstGeom>
          <a:solidFill>
            <a:srgbClr val="FFFFFF"/>
          </a:solidFill>
          <a:ln w="12700">
            <a:solidFill>
              <a:srgbClr val="CFE3D6"/>
            </a:solidFill>
            <a:prstDash val="solid"/>
          </a:ln>
        </p:spPr>
        <p:txBody>
          <a:bodyPr/>
          <a:lstStyle/>
          <a:p>
            <a:endParaRPr lang="en-IN"/>
          </a:p>
        </p:txBody>
      </p:sp>
      <p:pic>
        <p:nvPicPr>
          <p:cNvPr id="297" name="Image 15" descr="preencoded.png">
            <a:extLst>
              <a:ext uri="{FF2B5EF4-FFF2-40B4-BE49-F238E27FC236}">
                <a16:creationId xmlns:a16="http://schemas.microsoft.com/office/drawing/2014/main" id="{C026A8ED-15E0-621E-1628-364E581D7F02}"/>
              </a:ext>
            </a:extLst>
          </p:cNvPr>
          <p:cNvPicPr>
            <a:picLocks noChangeAspect="1"/>
          </p:cNvPicPr>
          <p:nvPr/>
        </p:nvPicPr>
        <p:blipFill>
          <a:blip r:embed="rId15"/>
          <a:stretch>
            <a:fillRect/>
          </a:stretch>
        </p:blipFill>
        <p:spPr>
          <a:xfrm>
            <a:off x="7067450" y="2306111"/>
            <a:ext cx="273615" cy="273615"/>
          </a:xfrm>
          <a:prstGeom prst="rect">
            <a:avLst/>
          </a:prstGeom>
        </p:spPr>
      </p:pic>
      <p:sp>
        <p:nvSpPr>
          <p:cNvPr id="299" name="Text 90">
            <a:extLst>
              <a:ext uri="{FF2B5EF4-FFF2-40B4-BE49-F238E27FC236}">
                <a16:creationId xmlns:a16="http://schemas.microsoft.com/office/drawing/2014/main" id="{7990450B-4C85-18E6-9856-5D596BBE76A6}"/>
              </a:ext>
            </a:extLst>
          </p:cNvPr>
          <p:cNvSpPr txBox="1"/>
          <p:nvPr/>
        </p:nvSpPr>
        <p:spPr>
          <a:xfrm>
            <a:off x="6048995" y="2610127"/>
            <a:ext cx="2310524" cy="152008"/>
          </a:xfrm>
          <a:prstGeom prst="rect">
            <a:avLst/>
          </a:prstGeom>
          <a:noFill/>
          <a:ln/>
        </p:spPr>
        <p:txBody>
          <a:bodyPr wrap="square" lIns="0" tIns="0" rIns="0" bIns="0" rtlCol="0" anchor="ctr"/>
          <a:lstStyle/>
          <a:p>
            <a:pPr algn="ctr">
              <a:lnSpc>
                <a:spcPct val="93000"/>
              </a:lnSpc>
            </a:pPr>
            <a:r>
              <a:rPr lang="en-US" sz="1047" b="1" dirty="0">
                <a:solidFill>
                  <a:srgbClr val="11397C"/>
                </a:solidFill>
                <a:latin typeface="Calibri" pitchFamily="34" charset="0"/>
                <a:ea typeface="Calibri" pitchFamily="34" charset="-122"/>
                <a:cs typeface="Calibri" pitchFamily="34" charset="-120"/>
              </a:rPr>
              <a:t>Microservices</a:t>
            </a:r>
            <a:endParaRPr lang="en-US" sz="1047" dirty="0"/>
          </a:p>
        </p:txBody>
      </p:sp>
      <p:sp>
        <p:nvSpPr>
          <p:cNvPr id="301" name="Text 91">
            <a:extLst>
              <a:ext uri="{FF2B5EF4-FFF2-40B4-BE49-F238E27FC236}">
                <a16:creationId xmlns:a16="http://schemas.microsoft.com/office/drawing/2014/main" id="{A578E783-48AE-9CAC-7BD4-3FA2C05785D4}"/>
              </a:ext>
            </a:extLst>
          </p:cNvPr>
          <p:cNvSpPr txBox="1"/>
          <p:nvPr/>
        </p:nvSpPr>
        <p:spPr>
          <a:xfrm>
            <a:off x="6048995" y="2762135"/>
            <a:ext cx="2310524" cy="258414"/>
          </a:xfrm>
          <a:prstGeom prst="rect">
            <a:avLst/>
          </a:prstGeom>
          <a:noFill/>
          <a:ln/>
        </p:spPr>
        <p:txBody>
          <a:bodyPr wrap="square" lIns="0" tIns="0" rIns="0" bIns="0" rtlCol="0" anchor="ctr"/>
          <a:lstStyle/>
          <a:p>
            <a:pPr algn="ctr">
              <a:lnSpc>
                <a:spcPct val="95000"/>
              </a:lnSpc>
            </a:pPr>
            <a:r>
              <a:rPr lang="en-US" sz="778" dirty="0">
                <a:solidFill>
                  <a:srgbClr val="2A6099"/>
                </a:solidFill>
                <a:latin typeface="Calibri" pitchFamily="34" charset="0"/>
                <a:ea typeface="Calibri" pitchFamily="34" charset="-122"/>
                <a:cs typeface="Calibri" pitchFamily="34" charset="-120"/>
              </a:rPr>
              <a:t>One application  ·  domain-aligned services</a:t>
            </a:r>
            <a:endParaRPr lang="en-US" sz="778" dirty="0"/>
          </a:p>
          <a:p>
            <a:pPr algn="ctr">
              <a:lnSpc>
                <a:spcPct val="95000"/>
              </a:lnSpc>
            </a:pPr>
            <a:r>
              <a:rPr lang="en-US" sz="778" dirty="0">
                <a:solidFill>
                  <a:srgbClr val="2A6099"/>
                </a:solidFill>
                <a:latin typeface="Calibri" pitchFamily="34" charset="0"/>
                <a:ea typeface="Calibri" pitchFamily="34" charset="-122"/>
                <a:cs typeface="Calibri" pitchFamily="34" charset="-120"/>
              </a:rPr>
              <a:t>independently deployable &amp; independently scalable</a:t>
            </a:r>
            <a:endParaRPr lang="en-US" sz="778" dirty="0"/>
          </a:p>
        </p:txBody>
      </p:sp>
      <p:sp>
        <p:nvSpPr>
          <p:cNvPr id="303" name="Shape 92">
            <a:extLst>
              <a:ext uri="{FF2B5EF4-FFF2-40B4-BE49-F238E27FC236}">
                <a16:creationId xmlns:a16="http://schemas.microsoft.com/office/drawing/2014/main" id="{C289381A-E4E9-9426-B220-4EABE4A8D795}"/>
              </a:ext>
            </a:extLst>
          </p:cNvPr>
          <p:cNvSpPr/>
          <p:nvPr/>
        </p:nvSpPr>
        <p:spPr>
          <a:xfrm>
            <a:off x="5927389" y="3233360"/>
            <a:ext cx="2553737" cy="1276868"/>
          </a:xfrm>
          <a:prstGeom prst="roundRect">
            <a:avLst>
              <a:gd name="adj" fmla="val 3572"/>
            </a:avLst>
          </a:prstGeom>
          <a:solidFill>
            <a:srgbClr val="EFF6FD"/>
          </a:solidFill>
          <a:ln w="12700">
            <a:solidFill>
              <a:srgbClr val="C4DEF5"/>
            </a:solidFill>
            <a:prstDash val="solid"/>
          </a:ln>
        </p:spPr>
        <p:txBody>
          <a:bodyPr/>
          <a:lstStyle/>
          <a:p>
            <a:endParaRPr lang="en-IN"/>
          </a:p>
        </p:txBody>
      </p:sp>
      <p:sp>
        <p:nvSpPr>
          <p:cNvPr id="305" name="Text 93">
            <a:extLst>
              <a:ext uri="{FF2B5EF4-FFF2-40B4-BE49-F238E27FC236}">
                <a16:creationId xmlns:a16="http://schemas.microsoft.com/office/drawing/2014/main" id="{9CCD1946-F47A-AE2B-8343-BB656D9AF63E}"/>
              </a:ext>
            </a:extLst>
          </p:cNvPr>
          <p:cNvSpPr txBox="1"/>
          <p:nvPr/>
        </p:nvSpPr>
        <p:spPr>
          <a:xfrm>
            <a:off x="5927389" y="3263762"/>
            <a:ext cx="2553737" cy="152008"/>
          </a:xfrm>
          <a:prstGeom prst="rect">
            <a:avLst/>
          </a:prstGeom>
          <a:noFill/>
          <a:ln/>
        </p:spPr>
        <p:txBody>
          <a:bodyPr wrap="square" lIns="0" tIns="0" rIns="0" bIns="0" rtlCol="0" anchor="ctr"/>
          <a:lstStyle/>
          <a:p>
            <a:pPr algn="ctr">
              <a:lnSpc>
                <a:spcPct val="93000"/>
              </a:lnSpc>
            </a:pPr>
            <a:r>
              <a:rPr lang="en-US" sz="998" b="1" dirty="0">
                <a:solidFill>
                  <a:srgbClr val="1B4F8A"/>
                </a:solidFill>
                <a:latin typeface="Calibri" pitchFamily="34" charset="0"/>
                <a:ea typeface="Calibri" pitchFamily="34" charset="-122"/>
                <a:cs typeface="Calibri" pitchFamily="34" charset="-120"/>
              </a:rPr>
              <a:t>Platform Services</a:t>
            </a:r>
            <a:endParaRPr lang="en-US" sz="998" dirty="0"/>
          </a:p>
        </p:txBody>
      </p:sp>
      <p:sp>
        <p:nvSpPr>
          <p:cNvPr id="307" name="Shape 94">
            <a:extLst>
              <a:ext uri="{FF2B5EF4-FFF2-40B4-BE49-F238E27FC236}">
                <a16:creationId xmlns:a16="http://schemas.microsoft.com/office/drawing/2014/main" id="{285173D3-527C-DF6F-25A8-8E85308DDBF2}"/>
              </a:ext>
            </a:extLst>
          </p:cNvPr>
          <p:cNvSpPr/>
          <p:nvPr/>
        </p:nvSpPr>
        <p:spPr>
          <a:xfrm>
            <a:off x="6018594" y="3461372"/>
            <a:ext cx="1155262" cy="972853"/>
          </a:xfrm>
          <a:prstGeom prst="roundRect">
            <a:avLst>
              <a:gd name="adj" fmla="val 3750"/>
            </a:avLst>
          </a:prstGeom>
          <a:solidFill>
            <a:srgbClr val="FFFFFF"/>
          </a:solidFill>
          <a:ln w="12700">
            <a:solidFill>
              <a:srgbClr val="CFE0F0"/>
            </a:solidFill>
            <a:prstDash val="solid"/>
          </a:ln>
        </p:spPr>
        <p:txBody>
          <a:bodyPr/>
          <a:lstStyle/>
          <a:p>
            <a:endParaRPr lang="en-IN"/>
          </a:p>
        </p:txBody>
      </p:sp>
      <p:pic>
        <p:nvPicPr>
          <p:cNvPr id="309" name="Image 16" descr="preencoded.png">
            <a:extLst>
              <a:ext uri="{FF2B5EF4-FFF2-40B4-BE49-F238E27FC236}">
                <a16:creationId xmlns:a16="http://schemas.microsoft.com/office/drawing/2014/main" id="{E727BEBD-0E12-8076-B6CC-F4B8CB55B8FC}"/>
              </a:ext>
            </a:extLst>
          </p:cNvPr>
          <p:cNvPicPr>
            <a:picLocks noChangeAspect="1"/>
          </p:cNvPicPr>
          <p:nvPr/>
        </p:nvPicPr>
        <p:blipFill>
          <a:blip r:embed="rId16"/>
          <a:stretch>
            <a:fillRect/>
          </a:stretch>
        </p:blipFill>
        <p:spPr>
          <a:xfrm>
            <a:off x="6474618" y="3537376"/>
            <a:ext cx="228012" cy="228012"/>
          </a:xfrm>
          <a:prstGeom prst="rect">
            <a:avLst/>
          </a:prstGeom>
        </p:spPr>
      </p:pic>
      <p:sp>
        <p:nvSpPr>
          <p:cNvPr id="311" name="Text 95">
            <a:extLst>
              <a:ext uri="{FF2B5EF4-FFF2-40B4-BE49-F238E27FC236}">
                <a16:creationId xmlns:a16="http://schemas.microsoft.com/office/drawing/2014/main" id="{C377114F-DA58-8ACB-5479-A34BC8AB8639}"/>
              </a:ext>
            </a:extLst>
          </p:cNvPr>
          <p:cNvSpPr txBox="1"/>
          <p:nvPr/>
        </p:nvSpPr>
        <p:spPr>
          <a:xfrm>
            <a:off x="6048996" y="3826191"/>
            <a:ext cx="1094459" cy="152008"/>
          </a:xfrm>
          <a:prstGeom prst="rect">
            <a:avLst/>
          </a:prstGeom>
          <a:noFill/>
          <a:ln/>
        </p:spPr>
        <p:txBody>
          <a:bodyPr wrap="square" lIns="0" tIns="0" rIns="0" bIns="0" rtlCol="0" anchor="ctr"/>
          <a:lstStyle/>
          <a:p>
            <a:pPr algn="ctr">
              <a:lnSpc>
                <a:spcPct val="93000"/>
              </a:lnSpc>
            </a:pPr>
            <a:r>
              <a:rPr lang="en-US" sz="878" b="1" dirty="0">
                <a:solidFill>
                  <a:srgbClr val="11397C"/>
                </a:solidFill>
                <a:latin typeface="Calibri" pitchFamily="34" charset="0"/>
                <a:ea typeface="Calibri" pitchFamily="34" charset="-122"/>
                <a:cs typeface="Calibri" pitchFamily="34" charset="-120"/>
              </a:rPr>
              <a:t>Saga Orchestration</a:t>
            </a:r>
            <a:endParaRPr lang="en-US" sz="878" dirty="0"/>
          </a:p>
        </p:txBody>
      </p:sp>
      <p:sp>
        <p:nvSpPr>
          <p:cNvPr id="313" name="Text 96">
            <a:extLst>
              <a:ext uri="{FF2B5EF4-FFF2-40B4-BE49-F238E27FC236}">
                <a16:creationId xmlns:a16="http://schemas.microsoft.com/office/drawing/2014/main" id="{365F8255-F168-7C6F-1DFF-07AA16691741}"/>
              </a:ext>
            </a:extLst>
          </p:cNvPr>
          <p:cNvSpPr txBox="1"/>
          <p:nvPr/>
        </p:nvSpPr>
        <p:spPr>
          <a:xfrm>
            <a:off x="6048996" y="3978200"/>
            <a:ext cx="1094459" cy="395221"/>
          </a:xfrm>
          <a:prstGeom prst="rect">
            <a:avLst/>
          </a:prstGeom>
          <a:noFill/>
          <a:ln/>
        </p:spPr>
        <p:txBody>
          <a:bodyPr wrap="square" lIns="0" tIns="0" rIns="0" bIns="0" rtlCol="0" anchor="ctr"/>
          <a:lstStyle/>
          <a:p>
            <a:pPr algn="ctr">
              <a:lnSpc>
                <a:spcPct val="95000"/>
              </a:lnSpc>
            </a:pPr>
            <a:r>
              <a:rPr lang="en-US" sz="718" dirty="0">
                <a:solidFill>
                  <a:srgbClr val="2A6099"/>
                </a:solidFill>
                <a:latin typeface="Calibri" pitchFamily="34" charset="0"/>
                <a:ea typeface="Calibri" pitchFamily="34" charset="-122"/>
                <a:cs typeface="Calibri" pitchFamily="34" charset="-120"/>
              </a:rPr>
              <a:t>Distributed transaction</a:t>
            </a:r>
            <a:endParaRPr lang="en-US" sz="718" dirty="0"/>
          </a:p>
          <a:p>
            <a:pPr algn="ctr">
              <a:lnSpc>
                <a:spcPct val="95000"/>
              </a:lnSpc>
            </a:pPr>
            <a:r>
              <a:rPr lang="en-US" sz="718" dirty="0">
                <a:solidFill>
                  <a:srgbClr val="2A6099"/>
                </a:solidFill>
                <a:latin typeface="Calibri" pitchFamily="34" charset="0"/>
                <a:ea typeface="Calibri" pitchFamily="34" charset="-122"/>
                <a:cs typeface="Calibri" pitchFamily="34" charset="-120"/>
              </a:rPr>
              <a:t>consistency  ·  compensating</a:t>
            </a:r>
            <a:endParaRPr lang="en-US" sz="718" dirty="0"/>
          </a:p>
          <a:p>
            <a:pPr algn="ctr">
              <a:lnSpc>
                <a:spcPct val="95000"/>
              </a:lnSpc>
            </a:pPr>
            <a:r>
              <a:rPr lang="en-US" sz="718" dirty="0">
                <a:solidFill>
                  <a:srgbClr val="2A6099"/>
                </a:solidFill>
                <a:latin typeface="Calibri" pitchFamily="34" charset="0"/>
                <a:ea typeface="Calibri" pitchFamily="34" charset="-122"/>
                <a:cs typeface="Calibri" pitchFamily="34" charset="-120"/>
              </a:rPr>
              <a:t>actions across services</a:t>
            </a:r>
            <a:endParaRPr lang="en-US" sz="718" dirty="0"/>
          </a:p>
        </p:txBody>
      </p:sp>
      <p:sp>
        <p:nvSpPr>
          <p:cNvPr id="315" name="Shape 97">
            <a:extLst>
              <a:ext uri="{FF2B5EF4-FFF2-40B4-BE49-F238E27FC236}">
                <a16:creationId xmlns:a16="http://schemas.microsoft.com/office/drawing/2014/main" id="{7ED66066-B42E-9BB8-7B94-96EAE5EB010C}"/>
              </a:ext>
            </a:extLst>
          </p:cNvPr>
          <p:cNvSpPr/>
          <p:nvPr/>
        </p:nvSpPr>
        <p:spPr>
          <a:xfrm>
            <a:off x="7234659" y="3461372"/>
            <a:ext cx="1155262" cy="972853"/>
          </a:xfrm>
          <a:prstGeom prst="roundRect">
            <a:avLst>
              <a:gd name="adj" fmla="val 3750"/>
            </a:avLst>
          </a:prstGeom>
          <a:solidFill>
            <a:srgbClr val="FFFFFF"/>
          </a:solidFill>
          <a:ln w="12700">
            <a:solidFill>
              <a:srgbClr val="CFE0F0"/>
            </a:solidFill>
            <a:prstDash val="solid"/>
          </a:ln>
        </p:spPr>
        <p:txBody>
          <a:bodyPr/>
          <a:lstStyle/>
          <a:p>
            <a:endParaRPr lang="en-IN"/>
          </a:p>
        </p:txBody>
      </p:sp>
      <p:pic>
        <p:nvPicPr>
          <p:cNvPr id="317" name="Image 17" descr="preencoded.png">
            <a:extLst>
              <a:ext uri="{FF2B5EF4-FFF2-40B4-BE49-F238E27FC236}">
                <a16:creationId xmlns:a16="http://schemas.microsoft.com/office/drawing/2014/main" id="{599A0E62-E287-C816-5753-4EDCD25B9590}"/>
              </a:ext>
            </a:extLst>
          </p:cNvPr>
          <p:cNvPicPr>
            <a:picLocks noChangeAspect="1"/>
          </p:cNvPicPr>
          <p:nvPr/>
        </p:nvPicPr>
        <p:blipFill>
          <a:blip r:embed="rId17"/>
          <a:stretch>
            <a:fillRect/>
          </a:stretch>
        </p:blipFill>
        <p:spPr>
          <a:xfrm>
            <a:off x="7690683" y="3537376"/>
            <a:ext cx="228012" cy="228012"/>
          </a:xfrm>
          <a:prstGeom prst="rect">
            <a:avLst/>
          </a:prstGeom>
        </p:spPr>
      </p:pic>
      <p:sp>
        <p:nvSpPr>
          <p:cNvPr id="321" name="Text 98">
            <a:extLst>
              <a:ext uri="{FF2B5EF4-FFF2-40B4-BE49-F238E27FC236}">
                <a16:creationId xmlns:a16="http://schemas.microsoft.com/office/drawing/2014/main" id="{CDF05F1E-D2B4-7F45-0B3F-D35DF2920C58}"/>
              </a:ext>
            </a:extLst>
          </p:cNvPr>
          <p:cNvSpPr txBox="1"/>
          <p:nvPr/>
        </p:nvSpPr>
        <p:spPr>
          <a:xfrm>
            <a:off x="7265060" y="3826191"/>
            <a:ext cx="1094459" cy="152008"/>
          </a:xfrm>
          <a:prstGeom prst="rect">
            <a:avLst/>
          </a:prstGeom>
          <a:noFill/>
          <a:ln/>
        </p:spPr>
        <p:txBody>
          <a:bodyPr wrap="square" lIns="0" tIns="0" rIns="0" bIns="0" rtlCol="0" anchor="ctr"/>
          <a:lstStyle/>
          <a:p>
            <a:pPr algn="ctr">
              <a:lnSpc>
                <a:spcPct val="93000"/>
              </a:lnSpc>
            </a:pPr>
            <a:r>
              <a:rPr lang="en-US" sz="838" b="1" dirty="0">
                <a:solidFill>
                  <a:srgbClr val="11397C"/>
                </a:solidFill>
                <a:latin typeface="Calibri" pitchFamily="34" charset="0"/>
                <a:ea typeface="Calibri" pitchFamily="34" charset="-122"/>
                <a:cs typeface="Calibri" pitchFamily="34" charset="-120"/>
              </a:rPr>
              <a:t>Shared Platform Services</a:t>
            </a:r>
            <a:endParaRPr lang="en-US" sz="838" dirty="0"/>
          </a:p>
        </p:txBody>
      </p:sp>
      <p:sp>
        <p:nvSpPr>
          <p:cNvPr id="325" name="Text 99">
            <a:extLst>
              <a:ext uri="{FF2B5EF4-FFF2-40B4-BE49-F238E27FC236}">
                <a16:creationId xmlns:a16="http://schemas.microsoft.com/office/drawing/2014/main" id="{EAE87880-B61A-1516-2164-B9CC43E92D4B}"/>
              </a:ext>
            </a:extLst>
          </p:cNvPr>
          <p:cNvSpPr txBox="1"/>
          <p:nvPr/>
        </p:nvSpPr>
        <p:spPr>
          <a:xfrm>
            <a:off x="7265060" y="3978200"/>
            <a:ext cx="1094459" cy="395221"/>
          </a:xfrm>
          <a:prstGeom prst="rect">
            <a:avLst/>
          </a:prstGeom>
          <a:noFill/>
          <a:ln/>
        </p:spPr>
        <p:txBody>
          <a:bodyPr wrap="square" lIns="0" tIns="0" rIns="0" bIns="0" rtlCol="0" anchor="ctr"/>
          <a:lstStyle/>
          <a:p>
            <a:pPr algn="ctr">
              <a:lnSpc>
                <a:spcPct val="95000"/>
              </a:lnSpc>
            </a:pPr>
            <a:r>
              <a:rPr lang="en-US" sz="718" dirty="0">
                <a:solidFill>
                  <a:srgbClr val="2A6099"/>
                </a:solidFill>
                <a:latin typeface="Calibri" pitchFamily="34" charset="0"/>
                <a:ea typeface="Calibri" pitchFamily="34" charset="-122"/>
                <a:cs typeface="Calibri" pitchFamily="34" charset="-120"/>
              </a:rPr>
              <a:t>Identity  ·  configuration</a:t>
            </a:r>
            <a:endParaRPr lang="en-US" sz="718" dirty="0"/>
          </a:p>
          <a:p>
            <a:pPr algn="ctr">
              <a:lnSpc>
                <a:spcPct val="95000"/>
              </a:lnSpc>
            </a:pPr>
            <a:r>
              <a:rPr lang="en-US" sz="718" dirty="0">
                <a:solidFill>
                  <a:srgbClr val="2A6099"/>
                </a:solidFill>
                <a:latin typeface="Calibri" pitchFamily="34" charset="0"/>
                <a:ea typeface="Calibri" pitchFamily="34" charset="-122"/>
                <a:cs typeface="Calibri" pitchFamily="34" charset="-120"/>
              </a:rPr>
              <a:t>service discovery  ·  resilience</a:t>
            </a:r>
            <a:endParaRPr lang="en-US" sz="718" dirty="0"/>
          </a:p>
        </p:txBody>
      </p:sp>
      <p:sp>
        <p:nvSpPr>
          <p:cNvPr id="329" name="Shape 100">
            <a:extLst>
              <a:ext uri="{FF2B5EF4-FFF2-40B4-BE49-F238E27FC236}">
                <a16:creationId xmlns:a16="http://schemas.microsoft.com/office/drawing/2014/main" id="{28FA613C-332A-5969-59D5-1A10FBA1F7FF}"/>
              </a:ext>
            </a:extLst>
          </p:cNvPr>
          <p:cNvSpPr/>
          <p:nvPr/>
        </p:nvSpPr>
        <p:spPr>
          <a:xfrm>
            <a:off x="5927389" y="4631835"/>
            <a:ext cx="2553737" cy="881647"/>
          </a:xfrm>
          <a:prstGeom prst="roundRect">
            <a:avLst>
              <a:gd name="adj" fmla="val 5173"/>
            </a:avLst>
          </a:prstGeom>
          <a:solidFill>
            <a:srgbClr val="EFF6FD"/>
          </a:solidFill>
          <a:ln w="12700">
            <a:solidFill>
              <a:srgbClr val="C4DEF5"/>
            </a:solidFill>
            <a:prstDash val="solid"/>
          </a:ln>
        </p:spPr>
        <p:txBody>
          <a:bodyPr/>
          <a:lstStyle/>
          <a:p>
            <a:endParaRPr lang="en-IN"/>
          </a:p>
        </p:txBody>
      </p:sp>
      <p:sp>
        <p:nvSpPr>
          <p:cNvPr id="333" name="Text 101">
            <a:extLst>
              <a:ext uri="{FF2B5EF4-FFF2-40B4-BE49-F238E27FC236}">
                <a16:creationId xmlns:a16="http://schemas.microsoft.com/office/drawing/2014/main" id="{EE4BFC04-9805-5D18-35E6-7843B08E3676}"/>
              </a:ext>
            </a:extLst>
          </p:cNvPr>
          <p:cNvSpPr txBox="1"/>
          <p:nvPr/>
        </p:nvSpPr>
        <p:spPr>
          <a:xfrm>
            <a:off x="5927389" y="4662237"/>
            <a:ext cx="2553737" cy="152008"/>
          </a:xfrm>
          <a:prstGeom prst="rect">
            <a:avLst/>
          </a:prstGeom>
          <a:noFill/>
          <a:ln/>
        </p:spPr>
        <p:txBody>
          <a:bodyPr wrap="square" lIns="0" tIns="0" rIns="0" bIns="0" rtlCol="0" anchor="ctr"/>
          <a:lstStyle/>
          <a:p>
            <a:pPr algn="ctr">
              <a:lnSpc>
                <a:spcPct val="93000"/>
              </a:lnSpc>
            </a:pPr>
            <a:r>
              <a:rPr lang="en-US" sz="998" b="1" dirty="0">
                <a:solidFill>
                  <a:srgbClr val="1B4F8A"/>
                </a:solidFill>
                <a:latin typeface="Calibri" pitchFamily="34" charset="0"/>
                <a:ea typeface="Calibri" pitchFamily="34" charset="-122"/>
                <a:cs typeface="Calibri" pitchFamily="34" charset="-120"/>
              </a:rPr>
              <a:t>Integration Layer</a:t>
            </a:r>
            <a:endParaRPr lang="en-US" sz="998" dirty="0"/>
          </a:p>
        </p:txBody>
      </p:sp>
      <p:sp>
        <p:nvSpPr>
          <p:cNvPr id="337" name="Shape 102">
            <a:extLst>
              <a:ext uri="{FF2B5EF4-FFF2-40B4-BE49-F238E27FC236}">
                <a16:creationId xmlns:a16="http://schemas.microsoft.com/office/drawing/2014/main" id="{C9171C7D-23A5-9AB1-8352-B4789C5A65CE}"/>
              </a:ext>
            </a:extLst>
          </p:cNvPr>
          <p:cNvSpPr/>
          <p:nvPr/>
        </p:nvSpPr>
        <p:spPr>
          <a:xfrm>
            <a:off x="6018594" y="4844646"/>
            <a:ext cx="1155262" cy="471225"/>
          </a:xfrm>
          <a:prstGeom prst="roundRect">
            <a:avLst>
              <a:gd name="adj" fmla="val 7742"/>
            </a:avLst>
          </a:prstGeom>
          <a:solidFill>
            <a:srgbClr val="FFFFFF"/>
          </a:solidFill>
          <a:ln w="12700">
            <a:solidFill>
              <a:srgbClr val="CFE0F0"/>
            </a:solidFill>
            <a:prstDash val="solid"/>
          </a:ln>
        </p:spPr>
        <p:txBody>
          <a:bodyPr/>
          <a:lstStyle/>
          <a:p>
            <a:endParaRPr lang="en-IN"/>
          </a:p>
        </p:txBody>
      </p:sp>
      <p:sp>
        <p:nvSpPr>
          <p:cNvPr id="341" name="Text 103">
            <a:extLst>
              <a:ext uri="{FF2B5EF4-FFF2-40B4-BE49-F238E27FC236}">
                <a16:creationId xmlns:a16="http://schemas.microsoft.com/office/drawing/2014/main" id="{0FA6544E-F4A1-C862-A2CB-6254812C242D}"/>
              </a:ext>
            </a:extLst>
          </p:cNvPr>
          <p:cNvSpPr txBox="1"/>
          <p:nvPr/>
        </p:nvSpPr>
        <p:spPr>
          <a:xfrm>
            <a:off x="6048996" y="4844646"/>
            <a:ext cx="1094459" cy="471225"/>
          </a:xfrm>
          <a:prstGeom prst="rect">
            <a:avLst/>
          </a:prstGeom>
          <a:noFill/>
          <a:ln/>
        </p:spPr>
        <p:txBody>
          <a:bodyPr wrap="square" lIns="0" tIns="0" rIns="0" bIns="0" rtlCol="0" anchor="ctr"/>
          <a:lstStyle/>
          <a:p>
            <a:pPr algn="ctr">
              <a:lnSpc>
                <a:spcPct val="93000"/>
              </a:lnSpc>
            </a:pPr>
            <a:r>
              <a:rPr lang="en-US" sz="818" b="1" dirty="0">
                <a:solidFill>
                  <a:srgbClr val="1B3A66"/>
                </a:solidFill>
                <a:latin typeface="Calibri" pitchFamily="34" charset="0"/>
                <a:ea typeface="Calibri" pitchFamily="34" charset="-122"/>
                <a:cs typeface="Calibri" pitchFamily="34" charset="-120"/>
              </a:rPr>
              <a:t>API Integration</a:t>
            </a:r>
            <a:endParaRPr lang="en-US" sz="818" dirty="0"/>
          </a:p>
          <a:p>
            <a:pPr algn="ctr">
              <a:lnSpc>
                <a:spcPct val="93000"/>
              </a:lnSpc>
            </a:pPr>
            <a:r>
              <a:rPr lang="en-US" sz="818" b="1" dirty="0">
                <a:solidFill>
                  <a:srgbClr val="1B3A66"/>
                </a:solidFill>
                <a:latin typeface="Calibri" pitchFamily="34" charset="0"/>
                <a:ea typeface="Calibri" pitchFamily="34" charset="-122"/>
                <a:cs typeface="Calibri" pitchFamily="34" charset="-120"/>
              </a:rPr>
              <a:t>(REST / HTTPS)</a:t>
            </a:r>
            <a:endParaRPr lang="en-US" sz="818" dirty="0"/>
          </a:p>
        </p:txBody>
      </p:sp>
      <p:sp>
        <p:nvSpPr>
          <p:cNvPr id="345" name="Shape 104">
            <a:extLst>
              <a:ext uri="{FF2B5EF4-FFF2-40B4-BE49-F238E27FC236}">
                <a16:creationId xmlns:a16="http://schemas.microsoft.com/office/drawing/2014/main" id="{D133EBE5-086A-E60E-1A81-1499864B3541}"/>
              </a:ext>
            </a:extLst>
          </p:cNvPr>
          <p:cNvSpPr/>
          <p:nvPr/>
        </p:nvSpPr>
        <p:spPr>
          <a:xfrm>
            <a:off x="7234659" y="4844646"/>
            <a:ext cx="1155262" cy="471225"/>
          </a:xfrm>
          <a:prstGeom prst="roundRect">
            <a:avLst>
              <a:gd name="adj" fmla="val 7742"/>
            </a:avLst>
          </a:prstGeom>
          <a:solidFill>
            <a:srgbClr val="FFFFFF"/>
          </a:solidFill>
          <a:ln w="12700">
            <a:solidFill>
              <a:srgbClr val="CFE0F0"/>
            </a:solidFill>
            <a:prstDash val="solid"/>
          </a:ln>
        </p:spPr>
        <p:txBody>
          <a:bodyPr/>
          <a:lstStyle/>
          <a:p>
            <a:endParaRPr lang="en-IN"/>
          </a:p>
        </p:txBody>
      </p:sp>
      <p:sp>
        <p:nvSpPr>
          <p:cNvPr id="349" name="Text 105">
            <a:extLst>
              <a:ext uri="{FF2B5EF4-FFF2-40B4-BE49-F238E27FC236}">
                <a16:creationId xmlns:a16="http://schemas.microsoft.com/office/drawing/2014/main" id="{DEBCAF61-3B6B-CB86-966C-8E6497D72E3D}"/>
              </a:ext>
            </a:extLst>
          </p:cNvPr>
          <p:cNvSpPr txBox="1"/>
          <p:nvPr/>
        </p:nvSpPr>
        <p:spPr>
          <a:xfrm>
            <a:off x="7265060" y="4844646"/>
            <a:ext cx="1094459" cy="471225"/>
          </a:xfrm>
          <a:prstGeom prst="rect">
            <a:avLst/>
          </a:prstGeom>
          <a:noFill/>
          <a:ln/>
        </p:spPr>
        <p:txBody>
          <a:bodyPr wrap="square" lIns="0" tIns="0" rIns="0" bIns="0" rtlCol="0" anchor="ctr"/>
          <a:lstStyle/>
          <a:p>
            <a:pPr algn="ctr">
              <a:lnSpc>
                <a:spcPct val="93000"/>
              </a:lnSpc>
            </a:pPr>
            <a:r>
              <a:rPr lang="en-US" sz="818" b="1" dirty="0">
                <a:solidFill>
                  <a:srgbClr val="1B3A66"/>
                </a:solidFill>
                <a:latin typeface="Calibri" pitchFamily="34" charset="0"/>
                <a:ea typeface="Calibri" pitchFamily="34" charset="-122"/>
                <a:cs typeface="Calibri" pitchFamily="34" charset="-120"/>
              </a:rPr>
              <a:t>Event Integration</a:t>
            </a:r>
            <a:endParaRPr lang="en-US" sz="818" dirty="0"/>
          </a:p>
          <a:p>
            <a:pPr algn="ctr">
              <a:lnSpc>
                <a:spcPct val="93000"/>
              </a:lnSpc>
            </a:pPr>
            <a:r>
              <a:rPr lang="en-US" sz="818" b="1" dirty="0">
                <a:solidFill>
                  <a:srgbClr val="1B3A66"/>
                </a:solidFill>
                <a:latin typeface="Calibri" pitchFamily="34" charset="0"/>
                <a:ea typeface="Calibri" pitchFamily="34" charset="-122"/>
                <a:cs typeface="Calibri" pitchFamily="34" charset="-120"/>
              </a:rPr>
              <a:t>(Async)</a:t>
            </a:r>
            <a:endParaRPr lang="en-US" sz="818" dirty="0"/>
          </a:p>
        </p:txBody>
      </p:sp>
      <p:sp>
        <p:nvSpPr>
          <p:cNvPr id="353" name="Text 106">
            <a:extLst>
              <a:ext uri="{FF2B5EF4-FFF2-40B4-BE49-F238E27FC236}">
                <a16:creationId xmlns:a16="http://schemas.microsoft.com/office/drawing/2014/main" id="{BDA00EB1-4813-132E-3991-503EFE380104}"/>
              </a:ext>
            </a:extLst>
          </p:cNvPr>
          <p:cNvSpPr txBox="1"/>
          <p:nvPr/>
        </p:nvSpPr>
        <p:spPr>
          <a:xfrm>
            <a:off x="5957790" y="5346273"/>
            <a:ext cx="2492934" cy="136808"/>
          </a:xfrm>
          <a:prstGeom prst="rect">
            <a:avLst/>
          </a:prstGeom>
          <a:noFill/>
          <a:ln/>
        </p:spPr>
        <p:txBody>
          <a:bodyPr wrap="square" lIns="0" tIns="0" rIns="0" bIns="0" rtlCol="0" anchor="ctr"/>
          <a:lstStyle/>
          <a:p>
            <a:pPr algn="ctr">
              <a:lnSpc>
                <a:spcPct val="93000"/>
              </a:lnSpc>
            </a:pPr>
            <a:r>
              <a:rPr lang="en-US" sz="698" i="1" dirty="0">
                <a:solidFill>
                  <a:srgbClr val="5B6472"/>
                </a:solidFill>
                <a:latin typeface="Calibri" pitchFamily="34" charset="0"/>
                <a:ea typeface="Calibri" pitchFamily="34" charset="-122"/>
                <a:cs typeface="Calibri" pitchFamily="34" charset="-120"/>
              </a:rPr>
              <a:t>External enterprise &amp; partner systems integrated through this layer</a:t>
            </a:r>
            <a:endParaRPr lang="en-US" sz="698" dirty="0"/>
          </a:p>
        </p:txBody>
      </p:sp>
      <p:sp>
        <p:nvSpPr>
          <p:cNvPr id="357" name="Shape 107">
            <a:extLst>
              <a:ext uri="{FF2B5EF4-FFF2-40B4-BE49-F238E27FC236}">
                <a16:creationId xmlns:a16="http://schemas.microsoft.com/office/drawing/2014/main" id="{46452711-D949-2634-1615-B3B8519081AB}"/>
              </a:ext>
            </a:extLst>
          </p:cNvPr>
          <p:cNvSpPr/>
          <p:nvPr/>
        </p:nvSpPr>
        <p:spPr>
          <a:xfrm>
            <a:off x="9028355" y="1409262"/>
            <a:ext cx="2736146" cy="4165024"/>
          </a:xfrm>
          <a:prstGeom prst="roundRect">
            <a:avLst>
              <a:gd name="adj" fmla="val 1667"/>
            </a:avLst>
          </a:prstGeom>
          <a:solidFill>
            <a:srgbClr val="F4F2FC"/>
          </a:solidFill>
          <a:ln w="12700">
            <a:solidFill>
              <a:srgbClr val="CFC7EC"/>
            </a:solidFill>
            <a:prstDash val="solid"/>
          </a:ln>
        </p:spPr>
        <p:txBody>
          <a:bodyPr/>
          <a:lstStyle/>
          <a:p>
            <a:endParaRPr lang="en-IN"/>
          </a:p>
        </p:txBody>
      </p:sp>
      <p:sp>
        <p:nvSpPr>
          <p:cNvPr id="361" name="Text 108">
            <a:extLst>
              <a:ext uri="{FF2B5EF4-FFF2-40B4-BE49-F238E27FC236}">
                <a16:creationId xmlns:a16="http://schemas.microsoft.com/office/drawing/2014/main" id="{917BF728-B17E-3832-0D78-40F9D70B9449}"/>
              </a:ext>
            </a:extLst>
          </p:cNvPr>
          <p:cNvSpPr txBox="1"/>
          <p:nvPr/>
        </p:nvSpPr>
        <p:spPr>
          <a:xfrm>
            <a:off x="9119560" y="1454865"/>
            <a:ext cx="2584138" cy="182409"/>
          </a:xfrm>
          <a:prstGeom prst="rect">
            <a:avLst/>
          </a:prstGeom>
          <a:noFill/>
          <a:ln/>
        </p:spPr>
        <p:txBody>
          <a:bodyPr wrap="square" lIns="0" tIns="0" rIns="0" bIns="0" rtlCol="0" anchor="ctr"/>
          <a:lstStyle/>
          <a:p>
            <a:pPr>
              <a:lnSpc>
                <a:spcPct val="93000"/>
              </a:lnSpc>
            </a:pPr>
            <a:r>
              <a:rPr lang="en-US" sz="1017" b="1" dirty="0">
                <a:solidFill>
                  <a:srgbClr val="4B3E8E"/>
                </a:solidFill>
                <a:latin typeface="Calibri" pitchFamily="34" charset="0"/>
                <a:ea typeface="Calibri" pitchFamily="34" charset="-122"/>
                <a:cs typeface="Calibri" pitchFamily="34" charset="-120"/>
              </a:rPr>
              <a:t>Shared Data &amp; Integration Platform</a:t>
            </a:r>
            <a:endParaRPr lang="en-US" sz="1017" dirty="0"/>
          </a:p>
        </p:txBody>
      </p:sp>
      <p:sp>
        <p:nvSpPr>
          <p:cNvPr id="365" name="Shape 109">
            <a:extLst>
              <a:ext uri="{FF2B5EF4-FFF2-40B4-BE49-F238E27FC236}">
                <a16:creationId xmlns:a16="http://schemas.microsoft.com/office/drawing/2014/main" id="{EFFBE5E7-71AA-1C33-77F4-81388743079D}"/>
              </a:ext>
            </a:extLst>
          </p:cNvPr>
          <p:cNvSpPr/>
          <p:nvPr/>
        </p:nvSpPr>
        <p:spPr>
          <a:xfrm>
            <a:off x="9119560" y="1682877"/>
            <a:ext cx="2553737" cy="1155262"/>
          </a:xfrm>
          <a:prstGeom prst="roundRect">
            <a:avLst>
              <a:gd name="adj" fmla="val 3158"/>
            </a:avLst>
          </a:prstGeom>
          <a:solidFill>
            <a:srgbClr val="FFFFFF"/>
          </a:solidFill>
          <a:ln w="12700">
            <a:solidFill>
              <a:srgbClr val="D8D2F0"/>
            </a:solidFill>
            <a:prstDash val="solid"/>
          </a:ln>
        </p:spPr>
        <p:txBody>
          <a:bodyPr/>
          <a:lstStyle/>
          <a:p>
            <a:endParaRPr lang="en-IN"/>
          </a:p>
        </p:txBody>
      </p:sp>
      <p:pic>
        <p:nvPicPr>
          <p:cNvPr id="369" name="Image 18" descr="preencoded.png">
            <a:extLst>
              <a:ext uri="{FF2B5EF4-FFF2-40B4-BE49-F238E27FC236}">
                <a16:creationId xmlns:a16="http://schemas.microsoft.com/office/drawing/2014/main" id="{864A0BD1-B0BD-60C9-E914-7FE4FD1F4EBD}"/>
              </a:ext>
            </a:extLst>
          </p:cNvPr>
          <p:cNvPicPr>
            <a:picLocks noChangeAspect="1"/>
          </p:cNvPicPr>
          <p:nvPr/>
        </p:nvPicPr>
        <p:blipFill>
          <a:blip r:embed="rId18"/>
          <a:stretch>
            <a:fillRect/>
          </a:stretch>
        </p:blipFill>
        <p:spPr>
          <a:xfrm>
            <a:off x="9210765" y="1743681"/>
            <a:ext cx="212812" cy="212812"/>
          </a:xfrm>
          <a:prstGeom prst="rect">
            <a:avLst/>
          </a:prstGeom>
        </p:spPr>
      </p:pic>
      <p:sp>
        <p:nvSpPr>
          <p:cNvPr id="373" name="Text 110">
            <a:extLst>
              <a:ext uri="{FF2B5EF4-FFF2-40B4-BE49-F238E27FC236}">
                <a16:creationId xmlns:a16="http://schemas.microsoft.com/office/drawing/2014/main" id="{4AEFD767-E986-EA01-C51B-B1889700F7A9}"/>
              </a:ext>
            </a:extLst>
          </p:cNvPr>
          <p:cNvSpPr txBox="1"/>
          <p:nvPr/>
        </p:nvSpPr>
        <p:spPr>
          <a:xfrm>
            <a:off x="9499579" y="1728480"/>
            <a:ext cx="1991307" cy="136808"/>
          </a:xfrm>
          <a:prstGeom prst="rect">
            <a:avLst/>
          </a:prstGeom>
          <a:noFill/>
          <a:ln/>
        </p:spPr>
        <p:txBody>
          <a:bodyPr wrap="square" lIns="0" tIns="0" rIns="0" bIns="0" rtlCol="0" anchor="ctr"/>
          <a:lstStyle/>
          <a:p>
            <a:pPr>
              <a:lnSpc>
                <a:spcPct val="93000"/>
              </a:lnSpc>
            </a:pPr>
            <a:r>
              <a:rPr lang="en-US" sz="938" b="1" dirty="0">
                <a:solidFill>
                  <a:srgbClr val="11397C"/>
                </a:solidFill>
                <a:latin typeface="Calibri" pitchFamily="34" charset="0"/>
                <a:ea typeface="Calibri" pitchFamily="34" charset="-122"/>
                <a:cs typeface="Calibri" pitchFamily="34" charset="-120"/>
              </a:rPr>
              <a:t>Managed PostgreSQL</a:t>
            </a:r>
            <a:endParaRPr lang="en-US" sz="938" dirty="0"/>
          </a:p>
        </p:txBody>
      </p:sp>
      <p:sp>
        <p:nvSpPr>
          <p:cNvPr id="377" name="Text 111">
            <a:extLst>
              <a:ext uri="{FF2B5EF4-FFF2-40B4-BE49-F238E27FC236}">
                <a16:creationId xmlns:a16="http://schemas.microsoft.com/office/drawing/2014/main" id="{092B1BF1-D51F-CAC1-8C14-4BC4BD1BB190}"/>
              </a:ext>
            </a:extLst>
          </p:cNvPr>
          <p:cNvSpPr txBox="1"/>
          <p:nvPr/>
        </p:nvSpPr>
        <p:spPr>
          <a:xfrm>
            <a:off x="9499579" y="1865287"/>
            <a:ext cx="1991307" cy="121607"/>
          </a:xfrm>
          <a:prstGeom prst="rect">
            <a:avLst/>
          </a:prstGeom>
          <a:noFill/>
          <a:ln/>
        </p:spPr>
        <p:txBody>
          <a:bodyPr wrap="square" lIns="0" tIns="0" rIns="0" bIns="0" rtlCol="0" anchor="ctr"/>
          <a:lstStyle/>
          <a:p>
            <a:pPr>
              <a:lnSpc>
                <a:spcPct val="93000"/>
              </a:lnSpc>
            </a:pPr>
            <a:r>
              <a:rPr lang="en-US" sz="758" dirty="0">
                <a:solidFill>
                  <a:srgbClr val="2A6099"/>
                </a:solidFill>
                <a:latin typeface="Calibri" pitchFamily="34" charset="0"/>
                <a:ea typeface="Calibri" pitchFamily="34" charset="-122"/>
                <a:cs typeface="Calibri" pitchFamily="34" charset="-120"/>
              </a:rPr>
              <a:t>Single logical database  ·  schema per microservice</a:t>
            </a:r>
            <a:endParaRPr lang="en-US" sz="758" dirty="0"/>
          </a:p>
        </p:txBody>
      </p:sp>
      <p:sp>
        <p:nvSpPr>
          <p:cNvPr id="381" name="Text 112">
            <a:extLst>
              <a:ext uri="{FF2B5EF4-FFF2-40B4-BE49-F238E27FC236}">
                <a16:creationId xmlns:a16="http://schemas.microsoft.com/office/drawing/2014/main" id="{683D1439-4767-6FDA-31A7-8D175AADB20B}"/>
              </a:ext>
            </a:extLst>
          </p:cNvPr>
          <p:cNvSpPr txBox="1"/>
          <p:nvPr/>
        </p:nvSpPr>
        <p:spPr>
          <a:xfrm>
            <a:off x="9499579" y="1986894"/>
            <a:ext cx="1991307" cy="121607"/>
          </a:xfrm>
          <a:prstGeom prst="rect">
            <a:avLst/>
          </a:prstGeom>
          <a:noFill/>
          <a:ln/>
        </p:spPr>
        <p:txBody>
          <a:bodyPr wrap="square" lIns="0" tIns="0" rIns="0" bIns="0" rtlCol="0" anchor="ctr"/>
          <a:lstStyle/>
          <a:p>
            <a:pPr>
              <a:lnSpc>
                <a:spcPct val="93000"/>
              </a:lnSpc>
            </a:pPr>
            <a:r>
              <a:rPr lang="en-US" sz="758" dirty="0">
                <a:solidFill>
                  <a:srgbClr val="2A6099"/>
                </a:solidFill>
                <a:latin typeface="Calibri" pitchFamily="34" charset="0"/>
                <a:ea typeface="Calibri" pitchFamily="34" charset="-122"/>
                <a:cs typeface="Calibri" pitchFamily="34" charset="-120"/>
              </a:rPr>
              <a:t>Application &amp; audit data with retention policy</a:t>
            </a:r>
            <a:endParaRPr lang="en-US" sz="758" dirty="0"/>
          </a:p>
        </p:txBody>
      </p:sp>
      <p:sp>
        <p:nvSpPr>
          <p:cNvPr id="385" name="Shape 113">
            <a:extLst>
              <a:ext uri="{FF2B5EF4-FFF2-40B4-BE49-F238E27FC236}">
                <a16:creationId xmlns:a16="http://schemas.microsoft.com/office/drawing/2014/main" id="{5917BFF1-BC9E-365C-0F56-BDA4E89FC1BD}"/>
              </a:ext>
            </a:extLst>
          </p:cNvPr>
          <p:cNvSpPr/>
          <p:nvPr/>
        </p:nvSpPr>
        <p:spPr>
          <a:xfrm>
            <a:off x="9499580" y="2169303"/>
            <a:ext cx="1793696" cy="197611"/>
          </a:xfrm>
          <a:prstGeom prst="roundRect">
            <a:avLst>
              <a:gd name="adj" fmla="val 46155"/>
            </a:avLst>
          </a:prstGeom>
          <a:solidFill>
            <a:srgbClr val="F4F2FC"/>
          </a:solidFill>
          <a:ln w="12700">
            <a:solidFill>
              <a:srgbClr val="BFB6E4"/>
            </a:solidFill>
            <a:prstDash val="solid"/>
          </a:ln>
        </p:spPr>
        <p:txBody>
          <a:bodyPr/>
          <a:lstStyle/>
          <a:p>
            <a:endParaRPr lang="en-IN"/>
          </a:p>
        </p:txBody>
      </p:sp>
      <p:sp>
        <p:nvSpPr>
          <p:cNvPr id="389" name="Text 114">
            <a:extLst>
              <a:ext uri="{FF2B5EF4-FFF2-40B4-BE49-F238E27FC236}">
                <a16:creationId xmlns:a16="http://schemas.microsoft.com/office/drawing/2014/main" id="{07FE6CFA-3991-FAB2-3B59-3A3CB21BD061}"/>
              </a:ext>
            </a:extLst>
          </p:cNvPr>
          <p:cNvSpPr txBox="1"/>
          <p:nvPr/>
        </p:nvSpPr>
        <p:spPr>
          <a:xfrm>
            <a:off x="9529983" y="2169303"/>
            <a:ext cx="1732893" cy="197611"/>
          </a:xfrm>
          <a:prstGeom prst="rect">
            <a:avLst/>
          </a:prstGeom>
          <a:noFill/>
          <a:ln/>
        </p:spPr>
        <p:txBody>
          <a:bodyPr wrap="square" lIns="0" tIns="0" rIns="0" bIns="0" rtlCol="0" anchor="ctr"/>
          <a:lstStyle/>
          <a:p>
            <a:pPr algn="ctr">
              <a:lnSpc>
                <a:spcPct val="93000"/>
              </a:lnSpc>
            </a:pPr>
            <a:r>
              <a:rPr lang="en-US" sz="798" b="1" dirty="0">
                <a:solidFill>
                  <a:srgbClr val="46326B"/>
                </a:solidFill>
                <a:latin typeface="Calibri" pitchFamily="34" charset="0"/>
                <a:ea typeface="Calibri" pitchFamily="34" charset="-122"/>
                <a:cs typeface="Calibri" pitchFamily="34" charset="-120"/>
              </a:rPr>
              <a:t>Primary  (Read / Write)</a:t>
            </a:r>
            <a:endParaRPr lang="en-US" sz="798" dirty="0"/>
          </a:p>
        </p:txBody>
      </p:sp>
      <p:sp>
        <p:nvSpPr>
          <p:cNvPr id="393" name="Shape 115">
            <a:extLst>
              <a:ext uri="{FF2B5EF4-FFF2-40B4-BE49-F238E27FC236}">
                <a16:creationId xmlns:a16="http://schemas.microsoft.com/office/drawing/2014/main" id="{7816386A-AF6D-3578-3AB2-5D29AC3D0F6A}"/>
              </a:ext>
            </a:extLst>
          </p:cNvPr>
          <p:cNvSpPr/>
          <p:nvPr/>
        </p:nvSpPr>
        <p:spPr>
          <a:xfrm>
            <a:off x="10396428" y="2382115"/>
            <a:ext cx="0" cy="121607"/>
          </a:xfrm>
          <a:prstGeom prst="line">
            <a:avLst/>
          </a:prstGeom>
          <a:noFill/>
          <a:ln w="15240">
            <a:solidFill>
              <a:srgbClr val="6B7280"/>
            </a:solidFill>
            <a:prstDash val="dash"/>
            <a:headEnd type="none"/>
            <a:tailEnd type="triangle"/>
          </a:ln>
        </p:spPr>
        <p:txBody>
          <a:bodyPr/>
          <a:lstStyle/>
          <a:p>
            <a:endParaRPr lang="en-IN"/>
          </a:p>
        </p:txBody>
      </p:sp>
      <p:sp>
        <p:nvSpPr>
          <p:cNvPr id="397" name="Text 116">
            <a:extLst>
              <a:ext uri="{FF2B5EF4-FFF2-40B4-BE49-F238E27FC236}">
                <a16:creationId xmlns:a16="http://schemas.microsoft.com/office/drawing/2014/main" id="{E84813FC-B5EA-1742-2B92-EEF2F87575D7}"/>
              </a:ext>
            </a:extLst>
          </p:cNvPr>
          <p:cNvSpPr txBox="1"/>
          <p:nvPr/>
        </p:nvSpPr>
        <p:spPr>
          <a:xfrm>
            <a:off x="10457231" y="2366913"/>
            <a:ext cx="608033" cy="152008"/>
          </a:xfrm>
          <a:prstGeom prst="rect">
            <a:avLst/>
          </a:prstGeom>
          <a:noFill/>
          <a:ln/>
        </p:spPr>
        <p:txBody>
          <a:bodyPr wrap="square" lIns="0" tIns="0" rIns="0" bIns="0" rtlCol="0" anchor="ctr"/>
          <a:lstStyle/>
          <a:p>
            <a:pPr>
              <a:lnSpc>
                <a:spcPct val="93000"/>
              </a:lnSpc>
            </a:pPr>
            <a:r>
              <a:rPr lang="en-US" sz="658" i="1" dirty="0">
                <a:solidFill>
                  <a:srgbClr val="6B7280"/>
                </a:solidFill>
                <a:latin typeface="Calibri" pitchFamily="34" charset="0"/>
                <a:ea typeface="Calibri" pitchFamily="34" charset="-122"/>
                <a:cs typeface="Calibri" pitchFamily="34" charset="-120"/>
              </a:rPr>
              <a:t>Replication</a:t>
            </a:r>
            <a:endParaRPr lang="en-US" sz="658" dirty="0"/>
          </a:p>
        </p:txBody>
      </p:sp>
      <p:sp>
        <p:nvSpPr>
          <p:cNvPr id="401" name="Shape 117">
            <a:extLst>
              <a:ext uri="{FF2B5EF4-FFF2-40B4-BE49-F238E27FC236}">
                <a16:creationId xmlns:a16="http://schemas.microsoft.com/office/drawing/2014/main" id="{09C2D92A-7894-132C-88B4-D3FFB18EF192}"/>
              </a:ext>
            </a:extLst>
          </p:cNvPr>
          <p:cNvSpPr/>
          <p:nvPr/>
        </p:nvSpPr>
        <p:spPr>
          <a:xfrm>
            <a:off x="9499580" y="2518922"/>
            <a:ext cx="1793696" cy="197611"/>
          </a:xfrm>
          <a:prstGeom prst="roundRect">
            <a:avLst>
              <a:gd name="adj" fmla="val 46155"/>
            </a:avLst>
          </a:prstGeom>
          <a:solidFill>
            <a:srgbClr val="FBFAFE"/>
          </a:solidFill>
          <a:ln w="12700">
            <a:solidFill>
              <a:srgbClr val="CFC7EC"/>
            </a:solidFill>
            <a:prstDash val="solid"/>
          </a:ln>
        </p:spPr>
        <p:txBody>
          <a:bodyPr/>
          <a:lstStyle/>
          <a:p>
            <a:endParaRPr lang="en-IN"/>
          </a:p>
        </p:txBody>
      </p:sp>
      <p:sp>
        <p:nvSpPr>
          <p:cNvPr id="405" name="Text 118">
            <a:extLst>
              <a:ext uri="{FF2B5EF4-FFF2-40B4-BE49-F238E27FC236}">
                <a16:creationId xmlns:a16="http://schemas.microsoft.com/office/drawing/2014/main" id="{0BD97264-B5B8-4928-648D-2511E1DFC3E6}"/>
              </a:ext>
            </a:extLst>
          </p:cNvPr>
          <p:cNvSpPr txBox="1"/>
          <p:nvPr/>
        </p:nvSpPr>
        <p:spPr>
          <a:xfrm>
            <a:off x="9529983" y="2518922"/>
            <a:ext cx="1732893" cy="197611"/>
          </a:xfrm>
          <a:prstGeom prst="rect">
            <a:avLst/>
          </a:prstGeom>
          <a:noFill/>
          <a:ln/>
        </p:spPr>
        <p:txBody>
          <a:bodyPr wrap="square" lIns="0" tIns="0" rIns="0" bIns="0" rtlCol="0" anchor="ctr"/>
          <a:lstStyle/>
          <a:p>
            <a:pPr algn="ctr">
              <a:lnSpc>
                <a:spcPct val="93000"/>
              </a:lnSpc>
            </a:pPr>
            <a:r>
              <a:rPr lang="en-US" sz="778" b="1" dirty="0">
                <a:solidFill>
                  <a:srgbClr val="6A5E8E"/>
                </a:solidFill>
                <a:latin typeface="Calibri" pitchFamily="34" charset="0"/>
                <a:ea typeface="Calibri" pitchFamily="34" charset="-122"/>
                <a:cs typeface="Calibri" pitchFamily="34" charset="-120"/>
              </a:rPr>
              <a:t>Read Replica  (Read / Reporting)</a:t>
            </a:r>
            <a:endParaRPr lang="en-US" sz="778" dirty="0"/>
          </a:p>
        </p:txBody>
      </p:sp>
      <p:sp>
        <p:nvSpPr>
          <p:cNvPr id="409" name="Shape 119">
            <a:extLst>
              <a:ext uri="{FF2B5EF4-FFF2-40B4-BE49-F238E27FC236}">
                <a16:creationId xmlns:a16="http://schemas.microsoft.com/office/drawing/2014/main" id="{BE38F019-6F86-3CE8-3E2E-6CC54EAEEA58}"/>
              </a:ext>
            </a:extLst>
          </p:cNvPr>
          <p:cNvSpPr/>
          <p:nvPr/>
        </p:nvSpPr>
        <p:spPr>
          <a:xfrm>
            <a:off x="9119560" y="2944545"/>
            <a:ext cx="2553737" cy="562430"/>
          </a:xfrm>
          <a:prstGeom prst="roundRect">
            <a:avLst>
              <a:gd name="adj" fmla="val 6487"/>
            </a:avLst>
          </a:prstGeom>
          <a:solidFill>
            <a:srgbClr val="FFFFFF"/>
          </a:solidFill>
          <a:ln w="12700">
            <a:solidFill>
              <a:srgbClr val="D8D2F0"/>
            </a:solidFill>
            <a:prstDash val="solid"/>
          </a:ln>
        </p:spPr>
        <p:txBody>
          <a:bodyPr/>
          <a:lstStyle/>
          <a:p>
            <a:endParaRPr lang="en-IN"/>
          </a:p>
        </p:txBody>
      </p:sp>
      <p:pic>
        <p:nvPicPr>
          <p:cNvPr id="413" name="Image 19" descr="preencoded.png">
            <a:extLst>
              <a:ext uri="{FF2B5EF4-FFF2-40B4-BE49-F238E27FC236}">
                <a16:creationId xmlns:a16="http://schemas.microsoft.com/office/drawing/2014/main" id="{7BB55AB1-EFB0-2B82-8CD0-E3C873A5DBDC}"/>
              </a:ext>
            </a:extLst>
          </p:cNvPr>
          <p:cNvPicPr>
            <a:picLocks noChangeAspect="1"/>
          </p:cNvPicPr>
          <p:nvPr/>
        </p:nvPicPr>
        <p:blipFill>
          <a:blip r:embed="rId19"/>
          <a:stretch>
            <a:fillRect/>
          </a:stretch>
        </p:blipFill>
        <p:spPr>
          <a:xfrm>
            <a:off x="9210765" y="3126955"/>
            <a:ext cx="212812" cy="212812"/>
          </a:xfrm>
          <a:prstGeom prst="rect">
            <a:avLst/>
          </a:prstGeom>
        </p:spPr>
      </p:pic>
      <p:sp>
        <p:nvSpPr>
          <p:cNvPr id="417" name="Text 120">
            <a:extLst>
              <a:ext uri="{FF2B5EF4-FFF2-40B4-BE49-F238E27FC236}">
                <a16:creationId xmlns:a16="http://schemas.microsoft.com/office/drawing/2014/main" id="{581D93FA-AF7C-1ABD-1121-4AB160932477}"/>
              </a:ext>
            </a:extLst>
          </p:cNvPr>
          <p:cNvSpPr txBox="1"/>
          <p:nvPr/>
        </p:nvSpPr>
        <p:spPr>
          <a:xfrm>
            <a:off x="9499579" y="2990147"/>
            <a:ext cx="1991307" cy="136808"/>
          </a:xfrm>
          <a:prstGeom prst="rect">
            <a:avLst/>
          </a:prstGeom>
          <a:noFill/>
          <a:ln/>
        </p:spPr>
        <p:txBody>
          <a:bodyPr wrap="square" lIns="0" tIns="0" rIns="0" bIns="0" rtlCol="0" anchor="ctr"/>
          <a:lstStyle/>
          <a:p>
            <a:pPr>
              <a:lnSpc>
                <a:spcPct val="93000"/>
              </a:lnSpc>
            </a:pPr>
            <a:r>
              <a:rPr lang="en-US" sz="938" b="1" dirty="0">
                <a:solidFill>
                  <a:srgbClr val="11397C"/>
                </a:solidFill>
                <a:latin typeface="Calibri" pitchFamily="34" charset="0"/>
                <a:ea typeface="Calibri" pitchFamily="34" charset="-122"/>
                <a:cs typeface="Calibri" pitchFamily="34" charset="-120"/>
              </a:rPr>
              <a:t>Object Storage</a:t>
            </a:r>
            <a:endParaRPr lang="en-US" sz="938" dirty="0"/>
          </a:p>
        </p:txBody>
      </p:sp>
      <p:sp>
        <p:nvSpPr>
          <p:cNvPr id="421" name="Text 121">
            <a:extLst>
              <a:ext uri="{FF2B5EF4-FFF2-40B4-BE49-F238E27FC236}">
                <a16:creationId xmlns:a16="http://schemas.microsoft.com/office/drawing/2014/main" id="{1AE76749-7071-7DC8-90DC-98E88E6AFDCB}"/>
              </a:ext>
            </a:extLst>
          </p:cNvPr>
          <p:cNvSpPr txBox="1"/>
          <p:nvPr/>
        </p:nvSpPr>
        <p:spPr>
          <a:xfrm>
            <a:off x="9499579" y="3126954"/>
            <a:ext cx="1991307" cy="228012"/>
          </a:xfrm>
          <a:prstGeom prst="rect">
            <a:avLst/>
          </a:prstGeom>
          <a:noFill/>
          <a:ln/>
        </p:spPr>
        <p:txBody>
          <a:bodyPr wrap="square" lIns="0" tIns="0" rIns="0" bIns="0" rtlCol="0" anchor="ctr"/>
          <a:lstStyle/>
          <a:p>
            <a:pPr>
              <a:lnSpc>
                <a:spcPct val="95000"/>
              </a:lnSpc>
            </a:pPr>
            <a:r>
              <a:rPr lang="en-US" sz="758" dirty="0">
                <a:solidFill>
                  <a:srgbClr val="2A6099"/>
                </a:solidFill>
                <a:latin typeface="Calibri" pitchFamily="34" charset="0"/>
                <a:ea typeface="Calibri" pitchFamily="34" charset="-122"/>
                <a:cs typeface="Calibri" pitchFamily="34" charset="-120"/>
              </a:rPr>
              <a:t>Documents &amp; artefacts  ·  retention / lifecycle policy</a:t>
            </a:r>
            <a:endParaRPr lang="en-US" sz="758" dirty="0"/>
          </a:p>
        </p:txBody>
      </p:sp>
      <p:sp>
        <p:nvSpPr>
          <p:cNvPr id="425" name="Shape 122">
            <a:extLst>
              <a:ext uri="{FF2B5EF4-FFF2-40B4-BE49-F238E27FC236}">
                <a16:creationId xmlns:a16="http://schemas.microsoft.com/office/drawing/2014/main" id="{04A13B9D-5B08-258A-FAB3-D75BC043F3F6}"/>
              </a:ext>
            </a:extLst>
          </p:cNvPr>
          <p:cNvSpPr/>
          <p:nvPr/>
        </p:nvSpPr>
        <p:spPr>
          <a:xfrm>
            <a:off x="9119560" y="3613380"/>
            <a:ext cx="2553737" cy="471225"/>
          </a:xfrm>
          <a:prstGeom prst="roundRect">
            <a:avLst>
              <a:gd name="adj" fmla="val 7742"/>
            </a:avLst>
          </a:prstGeom>
          <a:solidFill>
            <a:srgbClr val="FFFFFF"/>
          </a:solidFill>
          <a:ln w="12700">
            <a:solidFill>
              <a:srgbClr val="D8D2F0"/>
            </a:solidFill>
            <a:prstDash val="solid"/>
          </a:ln>
        </p:spPr>
        <p:txBody>
          <a:bodyPr/>
          <a:lstStyle/>
          <a:p>
            <a:endParaRPr lang="en-IN"/>
          </a:p>
        </p:txBody>
      </p:sp>
      <p:pic>
        <p:nvPicPr>
          <p:cNvPr id="429" name="Image 20" descr="preencoded.png">
            <a:extLst>
              <a:ext uri="{FF2B5EF4-FFF2-40B4-BE49-F238E27FC236}">
                <a16:creationId xmlns:a16="http://schemas.microsoft.com/office/drawing/2014/main" id="{29AD87FA-460A-A343-6C77-8354F7CA83A6}"/>
              </a:ext>
            </a:extLst>
          </p:cNvPr>
          <p:cNvPicPr>
            <a:picLocks noChangeAspect="1"/>
          </p:cNvPicPr>
          <p:nvPr/>
        </p:nvPicPr>
        <p:blipFill>
          <a:blip r:embed="rId20"/>
          <a:stretch>
            <a:fillRect/>
          </a:stretch>
        </p:blipFill>
        <p:spPr>
          <a:xfrm>
            <a:off x="9210765" y="3734987"/>
            <a:ext cx="212812" cy="212812"/>
          </a:xfrm>
          <a:prstGeom prst="rect">
            <a:avLst/>
          </a:prstGeom>
        </p:spPr>
      </p:pic>
      <p:sp>
        <p:nvSpPr>
          <p:cNvPr id="433" name="Text 123">
            <a:extLst>
              <a:ext uri="{FF2B5EF4-FFF2-40B4-BE49-F238E27FC236}">
                <a16:creationId xmlns:a16="http://schemas.microsoft.com/office/drawing/2014/main" id="{9E4AA5F2-38D1-495A-A330-F80A29F78FFC}"/>
              </a:ext>
            </a:extLst>
          </p:cNvPr>
          <p:cNvSpPr txBox="1"/>
          <p:nvPr/>
        </p:nvSpPr>
        <p:spPr>
          <a:xfrm>
            <a:off x="9499579" y="3643782"/>
            <a:ext cx="1991307" cy="136808"/>
          </a:xfrm>
          <a:prstGeom prst="rect">
            <a:avLst/>
          </a:prstGeom>
          <a:noFill/>
          <a:ln/>
        </p:spPr>
        <p:txBody>
          <a:bodyPr wrap="square" lIns="0" tIns="0" rIns="0" bIns="0" rtlCol="0" anchor="ctr"/>
          <a:lstStyle/>
          <a:p>
            <a:pPr>
              <a:lnSpc>
                <a:spcPct val="93000"/>
              </a:lnSpc>
            </a:pPr>
            <a:r>
              <a:rPr lang="en-US" sz="938" b="1" dirty="0">
                <a:solidFill>
                  <a:srgbClr val="11397C"/>
                </a:solidFill>
                <a:latin typeface="Calibri" pitchFamily="34" charset="0"/>
                <a:ea typeface="Calibri" pitchFamily="34" charset="-122"/>
                <a:cs typeface="Calibri" pitchFamily="34" charset="-120"/>
              </a:rPr>
              <a:t>Distributed Cache</a:t>
            </a:r>
            <a:endParaRPr lang="en-US" sz="938" dirty="0"/>
          </a:p>
        </p:txBody>
      </p:sp>
      <p:sp>
        <p:nvSpPr>
          <p:cNvPr id="437" name="Text 124">
            <a:extLst>
              <a:ext uri="{FF2B5EF4-FFF2-40B4-BE49-F238E27FC236}">
                <a16:creationId xmlns:a16="http://schemas.microsoft.com/office/drawing/2014/main" id="{31148635-6532-C5A0-EED5-70D04EE14899}"/>
              </a:ext>
            </a:extLst>
          </p:cNvPr>
          <p:cNvSpPr txBox="1"/>
          <p:nvPr/>
        </p:nvSpPr>
        <p:spPr>
          <a:xfrm>
            <a:off x="9499579" y="3780590"/>
            <a:ext cx="1991307" cy="136808"/>
          </a:xfrm>
          <a:prstGeom prst="rect">
            <a:avLst/>
          </a:prstGeom>
          <a:noFill/>
          <a:ln/>
        </p:spPr>
        <p:txBody>
          <a:bodyPr wrap="square" lIns="0" tIns="0" rIns="0" bIns="0" rtlCol="0" anchor="ctr"/>
          <a:lstStyle/>
          <a:p>
            <a:pPr>
              <a:lnSpc>
                <a:spcPct val="93000"/>
              </a:lnSpc>
            </a:pPr>
            <a:r>
              <a:rPr lang="en-US" sz="758" dirty="0">
                <a:solidFill>
                  <a:srgbClr val="2A6099"/>
                </a:solidFill>
                <a:latin typeface="Calibri" pitchFamily="34" charset="0"/>
                <a:ea typeface="Calibri" pitchFamily="34" charset="-122"/>
                <a:cs typeface="Calibri" pitchFamily="34" charset="-120"/>
              </a:rPr>
              <a:t>Session  ·  read-path performance</a:t>
            </a:r>
            <a:endParaRPr lang="en-US" sz="758" dirty="0"/>
          </a:p>
        </p:txBody>
      </p:sp>
      <p:sp>
        <p:nvSpPr>
          <p:cNvPr id="441" name="Shape 125">
            <a:extLst>
              <a:ext uri="{FF2B5EF4-FFF2-40B4-BE49-F238E27FC236}">
                <a16:creationId xmlns:a16="http://schemas.microsoft.com/office/drawing/2014/main" id="{DD98ABF1-C667-1FFC-89BC-AB854C03E314}"/>
              </a:ext>
            </a:extLst>
          </p:cNvPr>
          <p:cNvSpPr/>
          <p:nvPr/>
        </p:nvSpPr>
        <p:spPr>
          <a:xfrm>
            <a:off x="9119560" y="4191011"/>
            <a:ext cx="2553737" cy="942450"/>
          </a:xfrm>
          <a:prstGeom prst="roundRect">
            <a:avLst>
              <a:gd name="adj" fmla="val 3871"/>
            </a:avLst>
          </a:prstGeom>
          <a:solidFill>
            <a:srgbClr val="FFFFFF"/>
          </a:solidFill>
          <a:ln w="12700">
            <a:solidFill>
              <a:srgbClr val="D8D2F0"/>
            </a:solidFill>
            <a:prstDash val="solid"/>
          </a:ln>
        </p:spPr>
        <p:txBody>
          <a:bodyPr/>
          <a:lstStyle/>
          <a:p>
            <a:endParaRPr lang="en-IN"/>
          </a:p>
        </p:txBody>
      </p:sp>
      <p:pic>
        <p:nvPicPr>
          <p:cNvPr id="445" name="Image 21" descr="preencoded.png">
            <a:extLst>
              <a:ext uri="{FF2B5EF4-FFF2-40B4-BE49-F238E27FC236}">
                <a16:creationId xmlns:a16="http://schemas.microsoft.com/office/drawing/2014/main" id="{77A02A8B-743D-56C2-9918-69393D907390}"/>
              </a:ext>
            </a:extLst>
          </p:cNvPr>
          <p:cNvPicPr>
            <a:picLocks noChangeAspect="1"/>
          </p:cNvPicPr>
          <p:nvPr/>
        </p:nvPicPr>
        <p:blipFill>
          <a:blip r:embed="rId21"/>
          <a:stretch>
            <a:fillRect/>
          </a:stretch>
        </p:blipFill>
        <p:spPr>
          <a:xfrm>
            <a:off x="9210765" y="4251815"/>
            <a:ext cx="212812" cy="212812"/>
          </a:xfrm>
          <a:prstGeom prst="rect">
            <a:avLst/>
          </a:prstGeom>
        </p:spPr>
      </p:pic>
      <p:sp>
        <p:nvSpPr>
          <p:cNvPr id="640" name="Text 126">
            <a:extLst>
              <a:ext uri="{FF2B5EF4-FFF2-40B4-BE49-F238E27FC236}">
                <a16:creationId xmlns:a16="http://schemas.microsoft.com/office/drawing/2014/main" id="{9375BB8D-B45E-D43C-BB4F-C47D386D109B}"/>
              </a:ext>
            </a:extLst>
          </p:cNvPr>
          <p:cNvSpPr txBox="1"/>
          <p:nvPr/>
        </p:nvSpPr>
        <p:spPr>
          <a:xfrm>
            <a:off x="9499579" y="4221414"/>
            <a:ext cx="1991307" cy="136808"/>
          </a:xfrm>
          <a:prstGeom prst="rect">
            <a:avLst/>
          </a:prstGeom>
          <a:noFill/>
          <a:ln/>
        </p:spPr>
        <p:txBody>
          <a:bodyPr wrap="square" lIns="0" tIns="0" rIns="0" bIns="0" rtlCol="0" anchor="ctr"/>
          <a:lstStyle/>
          <a:p>
            <a:pPr>
              <a:lnSpc>
                <a:spcPct val="93000"/>
              </a:lnSpc>
            </a:pPr>
            <a:r>
              <a:rPr lang="en-US" sz="938" b="1" dirty="0">
                <a:solidFill>
                  <a:srgbClr val="11397C"/>
                </a:solidFill>
                <a:latin typeface="Calibri" pitchFamily="34" charset="0"/>
                <a:ea typeface="Calibri" pitchFamily="34" charset="-122"/>
                <a:cs typeface="Calibri" pitchFamily="34" charset="-120"/>
              </a:rPr>
              <a:t>Event Streaming Platform</a:t>
            </a:r>
            <a:endParaRPr lang="en-US" sz="938" dirty="0"/>
          </a:p>
        </p:txBody>
      </p:sp>
      <p:sp>
        <p:nvSpPr>
          <p:cNvPr id="642" name="Text 127">
            <a:extLst>
              <a:ext uri="{FF2B5EF4-FFF2-40B4-BE49-F238E27FC236}">
                <a16:creationId xmlns:a16="http://schemas.microsoft.com/office/drawing/2014/main" id="{0CC94D2C-C2E6-D9B2-E83D-5340C7D995AB}"/>
              </a:ext>
            </a:extLst>
          </p:cNvPr>
          <p:cNvSpPr txBox="1"/>
          <p:nvPr/>
        </p:nvSpPr>
        <p:spPr>
          <a:xfrm>
            <a:off x="9499579" y="4358220"/>
            <a:ext cx="1991307" cy="121607"/>
          </a:xfrm>
          <a:prstGeom prst="rect">
            <a:avLst/>
          </a:prstGeom>
          <a:noFill/>
          <a:ln/>
        </p:spPr>
        <p:txBody>
          <a:bodyPr wrap="square" lIns="0" tIns="0" rIns="0" bIns="0" rtlCol="0" anchor="ctr"/>
          <a:lstStyle/>
          <a:p>
            <a:pPr>
              <a:lnSpc>
                <a:spcPct val="93000"/>
              </a:lnSpc>
            </a:pPr>
            <a:r>
              <a:rPr lang="en-US" sz="758" dirty="0">
                <a:solidFill>
                  <a:srgbClr val="5B6472"/>
                </a:solidFill>
                <a:latin typeface="Calibri" pitchFamily="34" charset="0"/>
                <a:ea typeface="Calibri" pitchFamily="34" charset="-122"/>
                <a:cs typeface="Calibri" pitchFamily="34" charset="-120"/>
              </a:rPr>
              <a:t>(Kafka-compatible)</a:t>
            </a:r>
            <a:endParaRPr lang="en-US" sz="758" dirty="0"/>
          </a:p>
        </p:txBody>
      </p:sp>
      <p:sp>
        <p:nvSpPr>
          <p:cNvPr id="644" name="Text 128">
            <a:extLst>
              <a:ext uri="{FF2B5EF4-FFF2-40B4-BE49-F238E27FC236}">
                <a16:creationId xmlns:a16="http://schemas.microsoft.com/office/drawing/2014/main" id="{4D26CB41-D0A7-D2F9-04CE-A997104B4C26}"/>
              </a:ext>
            </a:extLst>
          </p:cNvPr>
          <p:cNvSpPr txBox="1"/>
          <p:nvPr/>
        </p:nvSpPr>
        <p:spPr>
          <a:xfrm>
            <a:off x="9484380" y="4510228"/>
            <a:ext cx="2052110" cy="577631"/>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38" dirty="0">
                <a:solidFill>
                  <a:srgbClr val="2A6099"/>
                </a:solidFill>
                <a:latin typeface="Calibri" pitchFamily="34" charset="0"/>
                <a:ea typeface="Calibri" pitchFamily="34" charset="-122"/>
                <a:cs typeface="Calibri" pitchFamily="34" charset="-120"/>
              </a:rPr>
              <a:t>Enterprise event backbone</a:t>
            </a:r>
            <a:endParaRPr lang="en-US" sz="738" dirty="0"/>
          </a:p>
          <a:p>
            <a:pPr marL="114014" indent="-114014">
              <a:lnSpc>
                <a:spcPct val="95000"/>
              </a:lnSpc>
              <a:spcAft>
                <a:spcPts val="200"/>
              </a:spcAft>
              <a:buSzPct val="100000"/>
              <a:buChar char="•"/>
            </a:pPr>
            <a:r>
              <a:rPr lang="en-US" sz="738" dirty="0">
                <a:solidFill>
                  <a:srgbClr val="2A6099"/>
                </a:solidFill>
                <a:latin typeface="Calibri" pitchFamily="34" charset="0"/>
                <a:ea typeface="Calibri" pitchFamily="34" charset="-122"/>
                <a:cs typeface="Calibri" pitchFamily="34" charset="-120"/>
              </a:rPr>
              <a:t>Transactional outbox from the application database</a:t>
            </a:r>
            <a:endParaRPr lang="en-US" sz="738" dirty="0"/>
          </a:p>
          <a:p>
            <a:pPr marL="114014" indent="-114014">
              <a:lnSpc>
                <a:spcPct val="95000"/>
              </a:lnSpc>
              <a:spcAft>
                <a:spcPts val="200"/>
              </a:spcAft>
              <a:buSzPct val="100000"/>
              <a:buChar char="•"/>
            </a:pPr>
            <a:r>
              <a:rPr lang="en-US" sz="738" dirty="0">
                <a:solidFill>
                  <a:srgbClr val="2A6099"/>
                </a:solidFill>
                <a:latin typeface="Calibri" pitchFamily="34" charset="0"/>
                <a:ea typeface="Calibri" pitchFamily="34" charset="-122"/>
                <a:cs typeface="Calibri" pitchFamily="34" charset="-120"/>
              </a:rPr>
              <a:t>Carries saga events &amp; compensating actions</a:t>
            </a:r>
            <a:endParaRPr lang="en-US" sz="738" dirty="0"/>
          </a:p>
        </p:txBody>
      </p:sp>
      <p:sp>
        <p:nvSpPr>
          <p:cNvPr id="646" name="Text 129">
            <a:extLst>
              <a:ext uri="{FF2B5EF4-FFF2-40B4-BE49-F238E27FC236}">
                <a16:creationId xmlns:a16="http://schemas.microsoft.com/office/drawing/2014/main" id="{FCE6F304-E0ED-3769-EA26-088FFADC1985}"/>
              </a:ext>
            </a:extLst>
          </p:cNvPr>
          <p:cNvSpPr txBox="1"/>
          <p:nvPr/>
        </p:nvSpPr>
        <p:spPr>
          <a:xfrm>
            <a:off x="9119560" y="5255069"/>
            <a:ext cx="2553737" cy="197611"/>
          </a:xfrm>
          <a:prstGeom prst="rect">
            <a:avLst/>
          </a:prstGeom>
          <a:noFill/>
          <a:ln/>
        </p:spPr>
        <p:txBody>
          <a:bodyPr wrap="square" lIns="0" tIns="0" rIns="0" bIns="0" rtlCol="0" anchor="ctr"/>
          <a:lstStyle/>
          <a:p>
            <a:pPr algn="ctr">
              <a:lnSpc>
                <a:spcPct val="93000"/>
              </a:lnSpc>
            </a:pPr>
            <a:r>
              <a:rPr lang="en-US" sz="798" i="1" dirty="0">
                <a:solidFill>
                  <a:srgbClr val="4B3E8E"/>
                </a:solidFill>
                <a:latin typeface="Calibri" pitchFamily="34" charset="0"/>
                <a:ea typeface="Calibri" pitchFamily="34" charset="-122"/>
                <a:cs typeface="Calibri" pitchFamily="34" charset="-120"/>
              </a:rPr>
              <a:t>One application  ·  one runtime  ·  one data platform</a:t>
            </a:r>
            <a:endParaRPr lang="en-US" sz="798" dirty="0"/>
          </a:p>
        </p:txBody>
      </p:sp>
      <p:sp>
        <p:nvSpPr>
          <p:cNvPr id="648" name="Shape 130">
            <a:extLst>
              <a:ext uri="{FF2B5EF4-FFF2-40B4-BE49-F238E27FC236}">
                <a16:creationId xmlns:a16="http://schemas.microsoft.com/office/drawing/2014/main" id="{54AC7984-B317-60F5-6E2B-1486887FB1B6}"/>
              </a:ext>
            </a:extLst>
          </p:cNvPr>
          <p:cNvSpPr/>
          <p:nvPr/>
        </p:nvSpPr>
        <p:spPr>
          <a:xfrm>
            <a:off x="4164094" y="3826191"/>
            <a:ext cx="380020" cy="0"/>
          </a:xfrm>
          <a:prstGeom prst="line">
            <a:avLst/>
          </a:prstGeom>
          <a:noFill/>
          <a:ln w="30480">
            <a:solidFill>
              <a:srgbClr val="1B4F8C"/>
            </a:solidFill>
            <a:prstDash val="solid"/>
            <a:headEnd type="none"/>
            <a:tailEnd type="triangle"/>
          </a:ln>
        </p:spPr>
        <p:txBody>
          <a:bodyPr/>
          <a:lstStyle/>
          <a:p>
            <a:endParaRPr lang="en-IN"/>
          </a:p>
        </p:txBody>
      </p:sp>
      <p:sp>
        <p:nvSpPr>
          <p:cNvPr id="650" name="Text 131">
            <a:extLst>
              <a:ext uri="{FF2B5EF4-FFF2-40B4-BE49-F238E27FC236}">
                <a16:creationId xmlns:a16="http://schemas.microsoft.com/office/drawing/2014/main" id="{B36628A8-0A58-D065-77D0-AB169B8ACCDA}"/>
              </a:ext>
            </a:extLst>
          </p:cNvPr>
          <p:cNvSpPr txBox="1"/>
          <p:nvPr/>
        </p:nvSpPr>
        <p:spPr>
          <a:xfrm>
            <a:off x="4164094" y="3582979"/>
            <a:ext cx="380020" cy="212812"/>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REST API /</a:t>
            </a:r>
            <a:endParaRPr lang="en-US" sz="678" dirty="0"/>
          </a:p>
          <a:p>
            <a:pPr algn="ctr">
              <a:lnSpc>
                <a:spcPct val="88000"/>
              </a:lnSpc>
            </a:pPr>
            <a:r>
              <a:rPr lang="en-US" sz="678" dirty="0">
                <a:solidFill>
                  <a:srgbClr val="5B6472"/>
                </a:solidFill>
                <a:latin typeface="Calibri" pitchFamily="34" charset="0"/>
                <a:ea typeface="Calibri" pitchFamily="34" charset="-122"/>
                <a:cs typeface="Calibri" pitchFamily="34" charset="-120"/>
              </a:rPr>
              <a:t>HTTPS</a:t>
            </a:r>
            <a:endParaRPr lang="en-US" sz="678" dirty="0"/>
          </a:p>
        </p:txBody>
      </p:sp>
      <p:sp>
        <p:nvSpPr>
          <p:cNvPr id="652" name="Shape 132">
            <a:extLst>
              <a:ext uri="{FF2B5EF4-FFF2-40B4-BE49-F238E27FC236}">
                <a16:creationId xmlns:a16="http://schemas.microsoft.com/office/drawing/2014/main" id="{617C6970-F96D-570F-E619-B0E6CC2E9C36}"/>
              </a:ext>
            </a:extLst>
          </p:cNvPr>
          <p:cNvSpPr/>
          <p:nvPr/>
        </p:nvSpPr>
        <p:spPr>
          <a:xfrm>
            <a:off x="5456164" y="3826191"/>
            <a:ext cx="380020" cy="0"/>
          </a:xfrm>
          <a:prstGeom prst="line">
            <a:avLst/>
          </a:prstGeom>
          <a:noFill/>
          <a:ln w="30480">
            <a:solidFill>
              <a:srgbClr val="1B4F8C"/>
            </a:solidFill>
            <a:prstDash val="solid"/>
            <a:headEnd type="none"/>
            <a:tailEnd type="triangle"/>
          </a:ln>
        </p:spPr>
        <p:txBody>
          <a:bodyPr/>
          <a:lstStyle/>
          <a:p>
            <a:endParaRPr lang="en-IN"/>
          </a:p>
        </p:txBody>
      </p:sp>
      <p:sp>
        <p:nvSpPr>
          <p:cNvPr id="654" name="Text 133">
            <a:extLst>
              <a:ext uri="{FF2B5EF4-FFF2-40B4-BE49-F238E27FC236}">
                <a16:creationId xmlns:a16="http://schemas.microsoft.com/office/drawing/2014/main" id="{CB0CBB95-7FCC-9244-707A-8D9035975D98}"/>
              </a:ext>
            </a:extLst>
          </p:cNvPr>
          <p:cNvSpPr txBox="1"/>
          <p:nvPr/>
        </p:nvSpPr>
        <p:spPr>
          <a:xfrm>
            <a:off x="5456164" y="3628581"/>
            <a:ext cx="380020"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REST API</a:t>
            </a:r>
            <a:endParaRPr lang="en-US" sz="678" dirty="0"/>
          </a:p>
        </p:txBody>
      </p:sp>
      <p:sp>
        <p:nvSpPr>
          <p:cNvPr id="656" name="Shape 134">
            <a:extLst>
              <a:ext uri="{FF2B5EF4-FFF2-40B4-BE49-F238E27FC236}">
                <a16:creationId xmlns:a16="http://schemas.microsoft.com/office/drawing/2014/main" id="{6FB58D2E-ABA1-54DC-67A9-E2A1F143E104}"/>
              </a:ext>
            </a:extLst>
          </p:cNvPr>
          <p:cNvSpPr/>
          <p:nvPr/>
        </p:nvSpPr>
        <p:spPr>
          <a:xfrm>
            <a:off x="8572331" y="2268109"/>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658" name="Text 135">
            <a:extLst>
              <a:ext uri="{FF2B5EF4-FFF2-40B4-BE49-F238E27FC236}">
                <a16:creationId xmlns:a16="http://schemas.microsoft.com/office/drawing/2014/main" id="{CEBD2866-AD5D-832D-DE4C-C1A756BCD25A}"/>
              </a:ext>
            </a:extLst>
          </p:cNvPr>
          <p:cNvSpPr txBox="1"/>
          <p:nvPr/>
        </p:nvSpPr>
        <p:spPr>
          <a:xfrm>
            <a:off x="8572331" y="2085698"/>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Read / Write</a:t>
            </a:r>
            <a:endParaRPr lang="en-US" sz="678" dirty="0"/>
          </a:p>
        </p:txBody>
      </p:sp>
      <p:sp>
        <p:nvSpPr>
          <p:cNvPr id="660" name="Shape 136">
            <a:extLst>
              <a:ext uri="{FF2B5EF4-FFF2-40B4-BE49-F238E27FC236}">
                <a16:creationId xmlns:a16="http://schemas.microsoft.com/office/drawing/2014/main" id="{36B93D65-9CDB-3A70-8FA4-8197944E2258}"/>
              </a:ext>
            </a:extLst>
          </p:cNvPr>
          <p:cNvSpPr/>
          <p:nvPr/>
        </p:nvSpPr>
        <p:spPr>
          <a:xfrm>
            <a:off x="8572331" y="3225760"/>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662" name="Text 137">
            <a:extLst>
              <a:ext uri="{FF2B5EF4-FFF2-40B4-BE49-F238E27FC236}">
                <a16:creationId xmlns:a16="http://schemas.microsoft.com/office/drawing/2014/main" id="{77E4EB18-AE67-AD6D-3804-7FE1F9031B33}"/>
              </a:ext>
            </a:extLst>
          </p:cNvPr>
          <p:cNvSpPr txBox="1"/>
          <p:nvPr/>
        </p:nvSpPr>
        <p:spPr>
          <a:xfrm>
            <a:off x="8572331" y="3043350"/>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Upload / Read</a:t>
            </a:r>
            <a:endParaRPr lang="en-US" sz="678" dirty="0"/>
          </a:p>
        </p:txBody>
      </p:sp>
      <p:sp>
        <p:nvSpPr>
          <p:cNvPr id="664" name="Shape 138">
            <a:extLst>
              <a:ext uri="{FF2B5EF4-FFF2-40B4-BE49-F238E27FC236}">
                <a16:creationId xmlns:a16="http://schemas.microsoft.com/office/drawing/2014/main" id="{77624F12-2278-2FC1-506F-8B493670D86A}"/>
              </a:ext>
            </a:extLst>
          </p:cNvPr>
          <p:cNvSpPr/>
          <p:nvPr/>
        </p:nvSpPr>
        <p:spPr>
          <a:xfrm>
            <a:off x="8572331" y="3848993"/>
            <a:ext cx="456025" cy="0"/>
          </a:xfrm>
          <a:prstGeom prst="line">
            <a:avLst/>
          </a:prstGeom>
          <a:noFill/>
          <a:ln w="20320">
            <a:solidFill>
              <a:srgbClr val="1B4F8C"/>
            </a:solidFill>
            <a:prstDash val="solid"/>
            <a:headEnd type="triangle"/>
            <a:tailEnd type="triangle"/>
          </a:ln>
        </p:spPr>
        <p:txBody>
          <a:bodyPr/>
          <a:lstStyle/>
          <a:p>
            <a:endParaRPr lang="en-IN"/>
          </a:p>
        </p:txBody>
      </p:sp>
      <p:sp>
        <p:nvSpPr>
          <p:cNvPr id="666" name="Text 139">
            <a:extLst>
              <a:ext uri="{FF2B5EF4-FFF2-40B4-BE49-F238E27FC236}">
                <a16:creationId xmlns:a16="http://schemas.microsoft.com/office/drawing/2014/main" id="{B312D4E4-036D-8F43-9097-347C62AE9D01}"/>
              </a:ext>
            </a:extLst>
          </p:cNvPr>
          <p:cNvSpPr txBox="1"/>
          <p:nvPr/>
        </p:nvSpPr>
        <p:spPr>
          <a:xfrm>
            <a:off x="8572331" y="3666583"/>
            <a:ext cx="456025"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Cache / Session</a:t>
            </a:r>
            <a:endParaRPr lang="en-US" sz="678" dirty="0"/>
          </a:p>
        </p:txBody>
      </p:sp>
      <p:sp>
        <p:nvSpPr>
          <p:cNvPr id="668" name="Shape 140">
            <a:extLst>
              <a:ext uri="{FF2B5EF4-FFF2-40B4-BE49-F238E27FC236}">
                <a16:creationId xmlns:a16="http://schemas.microsoft.com/office/drawing/2014/main" id="{56C1C867-5DD9-707F-7D19-4151FFB616AA}"/>
              </a:ext>
            </a:extLst>
          </p:cNvPr>
          <p:cNvSpPr/>
          <p:nvPr/>
        </p:nvSpPr>
        <p:spPr>
          <a:xfrm>
            <a:off x="8572331" y="4662237"/>
            <a:ext cx="456025" cy="0"/>
          </a:xfrm>
          <a:prstGeom prst="line">
            <a:avLst/>
          </a:prstGeom>
          <a:noFill/>
          <a:ln w="19050">
            <a:solidFill>
              <a:srgbClr val="6A4C93"/>
            </a:solidFill>
            <a:prstDash val="dash"/>
            <a:headEnd type="triangle"/>
            <a:tailEnd type="triangle"/>
          </a:ln>
        </p:spPr>
        <p:txBody>
          <a:bodyPr/>
          <a:lstStyle/>
          <a:p>
            <a:endParaRPr lang="en-IN"/>
          </a:p>
        </p:txBody>
      </p:sp>
      <p:sp>
        <p:nvSpPr>
          <p:cNvPr id="670" name="Text 141">
            <a:extLst>
              <a:ext uri="{FF2B5EF4-FFF2-40B4-BE49-F238E27FC236}">
                <a16:creationId xmlns:a16="http://schemas.microsoft.com/office/drawing/2014/main" id="{036F6B19-6583-89AB-5CCF-6D65BF84CFEF}"/>
              </a:ext>
            </a:extLst>
          </p:cNvPr>
          <p:cNvSpPr txBox="1"/>
          <p:nvPr/>
        </p:nvSpPr>
        <p:spPr>
          <a:xfrm>
            <a:off x="8572331" y="4479827"/>
            <a:ext cx="456025" cy="167209"/>
          </a:xfrm>
          <a:prstGeom prst="rect">
            <a:avLst/>
          </a:prstGeom>
          <a:noFill/>
          <a:ln/>
        </p:spPr>
        <p:txBody>
          <a:bodyPr wrap="square" lIns="0" tIns="0" rIns="0" bIns="0" rtlCol="0" anchor="ctr"/>
          <a:lstStyle/>
          <a:p>
            <a:pPr algn="ctr">
              <a:lnSpc>
                <a:spcPct val="88000"/>
              </a:lnSpc>
            </a:pPr>
            <a:r>
              <a:rPr lang="en-US" sz="678" dirty="0">
                <a:solidFill>
                  <a:srgbClr val="6A4C93"/>
                </a:solidFill>
                <a:latin typeface="Calibri" pitchFamily="34" charset="0"/>
                <a:ea typeface="Calibri" pitchFamily="34" charset="-122"/>
                <a:cs typeface="Calibri" pitchFamily="34" charset="-120"/>
              </a:rPr>
              <a:t>Events / Async</a:t>
            </a:r>
            <a:endParaRPr lang="en-US" sz="678" dirty="0"/>
          </a:p>
        </p:txBody>
      </p:sp>
    </p:spTree>
    <p:extLst>
      <p:ext uri="{BB962C8B-B14F-4D97-AF65-F5344CB8AC3E}">
        <p14:creationId xmlns:p14="http://schemas.microsoft.com/office/powerpoint/2010/main" val="77269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DEA63-EECD-1E7B-5939-536EA52A8259}"/>
            </a:ext>
          </a:extLst>
        </p:cNvPr>
        <p:cNvGrpSpPr/>
        <p:nvPr/>
      </p:nvGrpSpPr>
      <p:grpSpPr>
        <a:xfrm>
          <a:off x="0" y="0"/>
          <a:ext cx="0" cy="0"/>
          <a:chOff x="0" y="0"/>
          <a:chExt cx="0" cy="0"/>
        </a:xfrm>
      </p:grpSpPr>
      <p:sp>
        <p:nvSpPr>
          <p:cNvPr id="4" name="Google Shape;161;p28">
            <a:extLst>
              <a:ext uri="{FF2B5EF4-FFF2-40B4-BE49-F238E27FC236}">
                <a16:creationId xmlns:a16="http://schemas.microsoft.com/office/drawing/2014/main" id="{BB616B17-1592-D45D-ED01-27704A0CDB72}"/>
              </a:ext>
            </a:extLst>
          </p:cNvPr>
          <p:cNvSpPr txBox="1">
            <a:spLocks noGrp="1"/>
          </p:cNvSpPr>
          <p:nvPr/>
        </p:nvSpPr>
        <p:spPr>
          <a:xfrm>
            <a:off x="508383" y="292428"/>
            <a:ext cx="11187938" cy="581084"/>
          </a:xfrm>
          <a:prstGeom prst="rect">
            <a:avLst/>
          </a:prstGeom>
          <a:noFill/>
          <a:ln>
            <a:noFill/>
          </a:ln>
        </p:spPr>
        <p:txBody>
          <a:bodyPr vert="horz" wrap="square" lIns="90866" tIns="45421" rIns="90866" bIns="45421" rtlCol="0" anchor="ctr" anchorCtr="0">
            <a:noAutofit/>
          </a:bodyPr>
          <a:lstStyle>
            <a:lvl1pPr lvl="0" algn="l" defTabSz="914400" rtl="0" eaLnBrk="1" latinLnBrk="0" hangingPunct="1">
              <a:lnSpc>
                <a:spcPct val="90000"/>
              </a:lnSpc>
              <a:spcBef>
                <a:spcPts val="0"/>
              </a:spcBef>
              <a:spcAft>
                <a:spcPts val="0"/>
              </a:spcAft>
              <a:buClr>
                <a:schemeClr val="dk1"/>
              </a:buClr>
              <a:buSzPts val="3600"/>
              <a:buFont typeface="Outfit"/>
              <a:buNone/>
              <a:defRPr sz="3585" kern="1200">
                <a:solidFill>
                  <a:schemeClr val="tx1"/>
                </a:solidFill>
                <a:latin typeface="+mj-lt"/>
                <a:ea typeface="+mj-ea"/>
                <a:cs typeface="+mj-cs"/>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pPr>
              <a:lnSpc>
                <a:spcPct val="100000"/>
              </a:lnSpc>
              <a:buClr>
                <a:srgbClr val="000000"/>
              </a:buClr>
              <a:buFont typeface="Arial" panose="020B0604020202090204"/>
            </a:pPr>
            <a:r>
              <a:rPr lang="en-US" sz="3180" b="1" dirty="0">
                <a:solidFill>
                  <a:srgbClr val="000000"/>
                </a:solidFill>
                <a:latin typeface="Outfit" pitchFamily="2" charset="0"/>
                <a:cs typeface="Arial" panose="020B0604020202090204"/>
              </a:rPr>
              <a:t>Deployment Architecture</a:t>
            </a:r>
            <a:endParaRPr sz="3180" b="1" dirty="0">
              <a:solidFill>
                <a:srgbClr val="000000"/>
              </a:solidFill>
              <a:latin typeface="Outfit" pitchFamily="2" charset="0"/>
              <a:cs typeface="Arial" panose="020B0604020202090204"/>
            </a:endParaRPr>
          </a:p>
        </p:txBody>
      </p:sp>
      <p:sp>
        <p:nvSpPr>
          <p:cNvPr id="6" name="Shape 3">
            <a:extLst>
              <a:ext uri="{FF2B5EF4-FFF2-40B4-BE49-F238E27FC236}">
                <a16:creationId xmlns:a16="http://schemas.microsoft.com/office/drawing/2014/main" id="{CBDD67F5-330D-E636-8C66-A9994BA97DE7}"/>
              </a:ext>
            </a:extLst>
          </p:cNvPr>
          <p:cNvSpPr/>
          <p:nvPr/>
        </p:nvSpPr>
        <p:spPr>
          <a:xfrm>
            <a:off x="9537582" y="339617"/>
            <a:ext cx="2173717" cy="501626"/>
          </a:xfrm>
          <a:prstGeom prst="roundRect">
            <a:avLst>
              <a:gd name="adj" fmla="val 9091"/>
            </a:avLst>
          </a:prstGeom>
          <a:solidFill>
            <a:srgbClr val="E4F2FB"/>
          </a:solidFill>
          <a:ln w="12700">
            <a:solidFill>
              <a:srgbClr val="9CCBE8"/>
            </a:solidFill>
            <a:prstDash val="solid"/>
          </a:ln>
        </p:spPr>
        <p:txBody>
          <a:bodyPr/>
          <a:lstStyle/>
          <a:p>
            <a:endParaRPr lang="en-IN"/>
          </a:p>
        </p:txBody>
      </p:sp>
      <p:sp>
        <p:nvSpPr>
          <p:cNvPr id="8" name="Text 4">
            <a:extLst>
              <a:ext uri="{FF2B5EF4-FFF2-40B4-BE49-F238E27FC236}">
                <a16:creationId xmlns:a16="http://schemas.microsoft.com/office/drawing/2014/main" id="{6EE02E76-E99F-0951-7342-78FE3DB284A9}"/>
              </a:ext>
            </a:extLst>
          </p:cNvPr>
          <p:cNvSpPr txBox="1"/>
          <p:nvPr/>
        </p:nvSpPr>
        <p:spPr>
          <a:xfrm>
            <a:off x="9537582" y="339617"/>
            <a:ext cx="2112913" cy="501626"/>
          </a:xfrm>
          <a:prstGeom prst="rect">
            <a:avLst/>
          </a:prstGeom>
          <a:noFill/>
          <a:ln/>
        </p:spPr>
        <p:txBody>
          <a:bodyPr wrap="square" lIns="0" tIns="0" rIns="0" bIns="0" rtlCol="0" anchor="ctr"/>
          <a:lstStyle/>
          <a:p>
            <a:pPr algn="ctr">
              <a:lnSpc>
                <a:spcPct val="94000"/>
              </a:lnSpc>
            </a:pPr>
            <a:r>
              <a:rPr lang="en-US" sz="878" b="1" dirty="0">
                <a:solidFill>
                  <a:srgbClr val="11397C"/>
                </a:solidFill>
                <a:latin typeface="Calibri" pitchFamily="34" charset="0"/>
                <a:ea typeface="Calibri" pitchFamily="34" charset="-122"/>
                <a:cs typeface="Calibri" pitchFamily="34" charset="-120"/>
              </a:rPr>
              <a:t>Java 25 + Spring Boot 4</a:t>
            </a:r>
            <a:endParaRPr lang="en-US" sz="878" dirty="0"/>
          </a:p>
          <a:p>
            <a:pPr algn="ctr">
              <a:lnSpc>
                <a:spcPct val="94000"/>
              </a:lnSpc>
            </a:pPr>
            <a:r>
              <a:rPr lang="en-US" sz="878" b="1" dirty="0">
                <a:solidFill>
                  <a:srgbClr val="11397C"/>
                </a:solidFill>
                <a:latin typeface="Calibri" pitchFamily="34" charset="0"/>
                <a:ea typeface="Calibri" pitchFamily="34" charset="-122"/>
                <a:cs typeface="Calibri" pitchFamily="34" charset="-120"/>
              </a:rPr>
              <a:t>Microservices on Managed Kubernetes</a:t>
            </a:r>
            <a:endParaRPr lang="en-US" sz="878" dirty="0"/>
          </a:p>
        </p:txBody>
      </p:sp>
      <p:sp>
        <p:nvSpPr>
          <p:cNvPr id="3" name="Shape 5">
            <a:extLst>
              <a:ext uri="{FF2B5EF4-FFF2-40B4-BE49-F238E27FC236}">
                <a16:creationId xmlns:a16="http://schemas.microsoft.com/office/drawing/2014/main" id="{05B50489-1386-B19F-4A3A-CC3EA99C03EC}"/>
              </a:ext>
            </a:extLst>
          </p:cNvPr>
          <p:cNvSpPr/>
          <p:nvPr/>
        </p:nvSpPr>
        <p:spPr>
          <a:xfrm>
            <a:off x="439895" y="1276869"/>
            <a:ext cx="912049" cy="2979359"/>
          </a:xfrm>
          <a:prstGeom prst="roundRect">
            <a:avLst>
              <a:gd name="adj" fmla="val 5000"/>
            </a:avLst>
          </a:prstGeom>
          <a:solidFill>
            <a:srgbClr val="F2F7FC"/>
          </a:solidFill>
          <a:ln w="12700">
            <a:solidFill>
              <a:srgbClr val="C2DCF0"/>
            </a:solidFill>
            <a:prstDash val="solid"/>
          </a:ln>
        </p:spPr>
        <p:txBody>
          <a:bodyPr/>
          <a:lstStyle/>
          <a:p>
            <a:endParaRPr lang="en-IN"/>
          </a:p>
        </p:txBody>
      </p:sp>
      <p:sp>
        <p:nvSpPr>
          <p:cNvPr id="7" name="Text 6">
            <a:extLst>
              <a:ext uri="{FF2B5EF4-FFF2-40B4-BE49-F238E27FC236}">
                <a16:creationId xmlns:a16="http://schemas.microsoft.com/office/drawing/2014/main" id="{E574A44C-72F1-8732-655B-65192D66FC54}"/>
              </a:ext>
            </a:extLst>
          </p:cNvPr>
          <p:cNvSpPr txBox="1"/>
          <p:nvPr/>
        </p:nvSpPr>
        <p:spPr>
          <a:xfrm>
            <a:off x="439895" y="1307271"/>
            <a:ext cx="912049" cy="182409"/>
          </a:xfrm>
          <a:prstGeom prst="rect">
            <a:avLst/>
          </a:prstGeom>
          <a:noFill/>
          <a:ln/>
        </p:spPr>
        <p:txBody>
          <a:bodyPr wrap="square" lIns="0" tIns="0" rIns="0" bIns="0" rtlCol="0" anchor="ctr"/>
          <a:lstStyle/>
          <a:p>
            <a:pPr algn="ctr">
              <a:lnSpc>
                <a:spcPct val="93000"/>
              </a:lnSpc>
            </a:pPr>
            <a:r>
              <a:rPr lang="en-US" sz="998" b="1" dirty="0">
                <a:solidFill>
                  <a:srgbClr val="1B4F8A"/>
                </a:solidFill>
                <a:latin typeface="Calibri" pitchFamily="34" charset="0"/>
                <a:ea typeface="Calibri" pitchFamily="34" charset="-122"/>
                <a:cs typeface="Calibri" pitchFamily="34" charset="-120"/>
              </a:rPr>
              <a:t>Users</a:t>
            </a:r>
            <a:endParaRPr lang="en-US" sz="998" dirty="0"/>
          </a:p>
        </p:txBody>
      </p:sp>
      <p:pic>
        <p:nvPicPr>
          <p:cNvPr id="10" name="Image 0" descr="preencoded.png">
            <a:extLst>
              <a:ext uri="{FF2B5EF4-FFF2-40B4-BE49-F238E27FC236}">
                <a16:creationId xmlns:a16="http://schemas.microsoft.com/office/drawing/2014/main" id="{D0083EF4-7765-0721-EF5E-8CFCDE616EC1}"/>
              </a:ext>
            </a:extLst>
          </p:cNvPr>
          <p:cNvPicPr>
            <a:picLocks noChangeAspect="1"/>
          </p:cNvPicPr>
          <p:nvPr/>
        </p:nvPicPr>
        <p:blipFill>
          <a:blip r:embed="rId2"/>
          <a:stretch>
            <a:fillRect/>
          </a:stretch>
        </p:blipFill>
        <p:spPr>
          <a:xfrm>
            <a:off x="743911" y="1611287"/>
            <a:ext cx="304016" cy="304016"/>
          </a:xfrm>
          <a:prstGeom prst="rect">
            <a:avLst/>
          </a:prstGeom>
        </p:spPr>
      </p:pic>
      <p:sp>
        <p:nvSpPr>
          <p:cNvPr id="12" name="Text 7">
            <a:extLst>
              <a:ext uri="{FF2B5EF4-FFF2-40B4-BE49-F238E27FC236}">
                <a16:creationId xmlns:a16="http://schemas.microsoft.com/office/drawing/2014/main" id="{9B193AD2-F85B-EDC8-1901-3AAC65515A7B}"/>
              </a:ext>
            </a:extLst>
          </p:cNvPr>
          <p:cNvSpPr txBox="1"/>
          <p:nvPr/>
        </p:nvSpPr>
        <p:spPr>
          <a:xfrm>
            <a:off x="470297" y="1945704"/>
            <a:ext cx="851246" cy="243213"/>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Lender Users</a:t>
            </a:r>
            <a:endParaRPr lang="en-US" sz="838" dirty="0"/>
          </a:p>
          <a:p>
            <a:pPr algn="ctr">
              <a:lnSpc>
                <a:spcPct val="93000"/>
              </a:lnSpc>
            </a:pPr>
            <a:r>
              <a:rPr lang="en-US" sz="838" b="1" dirty="0">
                <a:solidFill>
                  <a:srgbClr val="1B3A66"/>
                </a:solidFill>
                <a:latin typeface="Calibri" pitchFamily="34" charset="0"/>
                <a:ea typeface="Calibri" pitchFamily="34" charset="-122"/>
                <a:cs typeface="Calibri" pitchFamily="34" charset="-120"/>
              </a:rPr>
              <a:t>(External)</a:t>
            </a:r>
            <a:endParaRPr lang="en-US" sz="838" dirty="0"/>
          </a:p>
        </p:txBody>
      </p:sp>
      <p:pic>
        <p:nvPicPr>
          <p:cNvPr id="14" name="Image 1" descr="preencoded.png">
            <a:extLst>
              <a:ext uri="{FF2B5EF4-FFF2-40B4-BE49-F238E27FC236}">
                <a16:creationId xmlns:a16="http://schemas.microsoft.com/office/drawing/2014/main" id="{76FB3550-D5D1-E7F4-D88C-2CC056819B32}"/>
              </a:ext>
            </a:extLst>
          </p:cNvPr>
          <p:cNvPicPr>
            <a:picLocks noChangeAspect="1"/>
          </p:cNvPicPr>
          <p:nvPr/>
        </p:nvPicPr>
        <p:blipFill>
          <a:blip r:embed="rId2"/>
          <a:stretch>
            <a:fillRect/>
          </a:stretch>
        </p:blipFill>
        <p:spPr>
          <a:xfrm>
            <a:off x="743911" y="2310524"/>
            <a:ext cx="304016" cy="304016"/>
          </a:xfrm>
          <a:prstGeom prst="rect">
            <a:avLst/>
          </a:prstGeom>
        </p:spPr>
      </p:pic>
      <p:sp>
        <p:nvSpPr>
          <p:cNvPr id="16" name="Text 8">
            <a:extLst>
              <a:ext uri="{FF2B5EF4-FFF2-40B4-BE49-F238E27FC236}">
                <a16:creationId xmlns:a16="http://schemas.microsoft.com/office/drawing/2014/main" id="{D4E5893C-A97E-66FA-72A5-24413B50BD5D}"/>
              </a:ext>
            </a:extLst>
          </p:cNvPr>
          <p:cNvSpPr txBox="1"/>
          <p:nvPr/>
        </p:nvSpPr>
        <p:spPr>
          <a:xfrm>
            <a:off x="470297" y="2644942"/>
            <a:ext cx="851246" cy="243213"/>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IMGC Users</a:t>
            </a:r>
            <a:endParaRPr lang="en-US" sz="838" dirty="0"/>
          </a:p>
          <a:p>
            <a:pPr algn="ctr">
              <a:lnSpc>
                <a:spcPct val="93000"/>
              </a:lnSpc>
            </a:pPr>
            <a:r>
              <a:rPr lang="en-US" sz="838" b="1" dirty="0">
                <a:solidFill>
                  <a:srgbClr val="1B3A66"/>
                </a:solidFill>
                <a:latin typeface="Calibri" pitchFamily="34" charset="0"/>
                <a:ea typeface="Calibri" pitchFamily="34" charset="-122"/>
                <a:cs typeface="Calibri" pitchFamily="34" charset="-120"/>
              </a:rPr>
              <a:t>(Internal)</a:t>
            </a:r>
            <a:endParaRPr lang="en-US" sz="838" dirty="0"/>
          </a:p>
        </p:txBody>
      </p:sp>
      <p:sp>
        <p:nvSpPr>
          <p:cNvPr id="18" name="Shape 9">
            <a:extLst>
              <a:ext uri="{FF2B5EF4-FFF2-40B4-BE49-F238E27FC236}">
                <a16:creationId xmlns:a16="http://schemas.microsoft.com/office/drawing/2014/main" id="{89791419-45EF-FDCB-F925-70CC2EADFEE1}"/>
              </a:ext>
            </a:extLst>
          </p:cNvPr>
          <p:cNvSpPr/>
          <p:nvPr/>
        </p:nvSpPr>
        <p:spPr>
          <a:xfrm>
            <a:off x="895919" y="2979360"/>
            <a:ext cx="0" cy="197611"/>
          </a:xfrm>
          <a:prstGeom prst="line">
            <a:avLst/>
          </a:prstGeom>
          <a:noFill/>
          <a:ln w="16510">
            <a:solidFill>
              <a:srgbClr val="1B4F8C"/>
            </a:solidFill>
            <a:prstDash val="solid"/>
            <a:headEnd type="none"/>
            <a:tailEnd type="triangle"/>
          </a:ln>
        </p:spPr>
        <p:txBody>
          <a:bodyPr/>
          <a:lstStyle/>
          <a:p>
            <a:endParaRPr lang="en-IN"/>
          </a:p>
        </p:txBody>
      </p:sp>
      <p:pic>
        <p:nvPicPr>
          <p:cNvPr id="20" name="Image 2" descr="preencoded.png">
            <a:extLst>
              <a:ext uri="{FF2B5EF4-FFF2-40B4-BE49-F238E27FC236}">
                <a16:creationId xmlns:a16="http://schemas.microsoft.com/office/drawing/2014/main" id="{14F0A90C-2FB1-B289-C74C-EF6180A28601}"/>
              </a:ext>
            </a:extLst>
          </p:cNvPr>
          <p:cNvPicPr>
            <a:picLocks noChangeAspect="1"/>
          </p:cNvPicPr>
          <p:nvPr/>
        </p:nvPicPr>
        <p:blipFill>
          <a:blip r:embed="rId3"/>
          <a:stretch>
            <a:fillRect/>
          </a:stretch>
        </p:blipFill>
        <p:spPr>
          <a:xfrm>
            <a:off x="743911" y="3237774"/>
            <a:ext cx="304016" cy="304016"/>
          </a:xfrm>
          <a:prstGeom prst="rect">
            <a:avLst/>
          </a:prstGeom>
        </p:spPr>
      </p:pic>
      <p:sp>
        <p:nvSpPr>
          <p:cNvPr id="22" name="Text 10">
            <a:extLst>
              <a:ext uri="{FF2B5EF4-FFF2-40B4-BE49-F238E27FC236}">
                <a16:creationId xmlns:a16="http://schemas.microsoft.com/office/drawing/2014/main" id="{BE19C120-050C-2F16-D99D-D037814E5ED4}"/>
              </a:ext>
            </a:extLst>
          </p:cNvPr>
          <p:cNvSpPr txBox="1"/>
          <p:nvPr/>
        </p:nvSpPr>
        <p:spPr>
          <a:xfrm>
            <a:off x="470297" y="3572192"/>
            <a:ext cx="851246" cy="182409"/>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Internet / HTTPS</a:t>
            </a:r>
            <a:endParaRPr lang="en-US" sz="838" dirty="0"/>
          </a:p>
        </p:txBody>
      </p:sp>
      <p:sp>
        <p:nvSpPr>
          <p:cNvPr id="24" name="Shape 11">
            <a:extLst>
              <a:ext uri="{FF2B5EF4-FFF2-40B4-BE49-F238E27FC236}">
                <a16:creationId xmlns:a16="http://schemas.microsoft.com/office/drawing/2014/main" id="{3094DA78-7B50-FC7B-D277-7047680EB38B}"/>
              </a:ext>
            </a:extLst>
          </p:cNvPr>
          <p:cNvSpPr/>
          <p:nvPr/>
        </p:nvSpPr>
        <p:spPr>
          <a:xfrm>
            <a:off x="1655960" y="1276869"/>
            <a:ext cx="1368074" cy="2979359"/>
          </a:xfrm>
          <a:prstGeom prst="roundRect">
            <a:avLst>
              <a:gd name="adj" fmla="val 3333"/>
            </a:avLst>
          </a:prstGeom>
          <a:solidFill>
            <a:srgbClr val="FFFFFF"/>
          </a:solidFill>
          <a:ln w="12700">
            <a:solidFill>
              <a:srgbClr val="C2DCF0"/>
            </a:solidFill>
            <a:prstDash val="solid"/>
          </a:ln>
        </p:spPr>
        <p:txBody>
          <a:bodyPr/>
          <a:lstStyle/>
          <a:p>
            <a:endParaRPr lang="en-IN"/>
          </a:p>
        </p:txBody>
      </p:sp>
      <p:sp>
        <p:nvSpPr>
          <p:cNvPr id="26" name="Text 12">
            <a:extLst>
              <a:ext uri="{FF2B5EF4-FFF2-40B4-BE49-F238E27FC236}">
                <a16:creationId xmlns:a16="http://schemas.microsoft.com/office/drawing/2014/main" id="{2EDF1CA6-8ABC-A7A7-B032-29B6A4C17F50}"/>
              </a:ext>
            </a:extLst>
          </p:cNvPr>
          <p:cNvSpPr txBox="1"/>
          <p:nvPr/>
        </p:nvSpPr>
        <p:spPr>
          <a:xfrm>
            <a:off x="1655960" y="1307271"/>
            <a:ext cx="1368074" cy="182409"/>
          </a:xfrm>
          <a:prstGeom prst="rect">
            <a:avLst/>
          </a:prstGeom>
          <a:noFill/>
          <a:ln/>
        </p:spPr>
        <p:txBody>
          <a:bodyPr wrap="square" lIns="0" tIns="0" rIns="0" bIns="0" rtlCol="0" anchor="ctr"/>
          <a:lstStyle/>
          <a:p>
            <a:pPr algn="ctr">
              <a:lnSpc>
                <a:spcPct val="93000"/>
              </a:lnSpc>
            </a:pPr>
            <a:r>
              <a:rPr lang="en-US" sz="998" b="1" dirty="0">
                <a:solidFill>
                  <a:srgbClr val="1B4F8A"/>
                </a:solidFill>
                <a:latin typeface="Calibri" pitchFamily="34" charset="0"/>
                <a:ea typeface="Calibri" pitchFamily="34" charset="-122"/>
                <a:cs typeface="Calibri" pitchFamily="34" charset="-120"/>
              </a:rPr>
              <a:t>Edge / Public Zone</a:t>
            </a:r>
            <a:endParaRPr lang="en-US" sz="998" dirty="0"/>
          </a:p>
        </p:txBody>
      </p:sp>
      <p:sp>
        <p:nvSpPr>
          <p:cNvPr id="28" name="Shape 13">
            <a:extLst>
              <a:ext uri="{FF2B5EF4-FFF2-40B4-BE49-F238E27FC236}">
                <a16:creationId xmlns:a16="http://schemas.microsoft.com/office/drawing/2014/main" id="{EA5CFE2C-0399-6968-79C7-AE55B8B13E0B}"/>
              </a:ext>
            </a:extLst>
          </p:cNvPr>
          <p:cNvSpPr/>
          <p:nvPr/>
        </p:nvSpPr>
        <p:spPr>
          <a:xfrm>
            <a:off x="1716764" y="1550483"/>
            <a:ext cx="1246467" cy="790442"/>
          </a:xfrm>
          <a:prstGeom prst="roundRect">
            <a:avLst>
              <a:gd name="adj" fmla="val 5769"/>
            </a:avLst>
          </a:prstGeom>
          <a:solidFill>
            <a:srgbClr val="FFFFFF"/>
          </a:solidFill>
          <a:ln w="12700">
            <a:solidFill>
              <a:srgbClr val="C2DCF0"/>
            </a:solidFill>
            <a:prstDash val="solid"/>
          </a:ln>
        </p:spPr>
        <p:txBody>
          <a:bodyPr/>
          <a:lstStyle/>
          <a:p>
            <a:endParaRPr lang="en-IN"/>
          </a:p>
        </p:txBody>
      </p:sp>
      <p:pic>
        <p:nvPicPr>
          <p:cNvPr id="30" name="Image 3" descr="preencoded.png">
            <a:extLst>
              <a:ext uri="{FF2B5EF4-FFF2-40B4-BE49-F238E27FC236}">
                <a16:creationId xmlns:a16="http://schemas.microsoft.com/office/drawing/2014/main" id="{BA9789FD-8F3C-9C8C-78A8-12B4A0435600}"/>
              </a:ext>
            </a:extLst>
          </p:cNvPr>
          <p:cNvPicPr>
            <a:picLocks noChangeAspect="1"/>
          </p:cNvPicPr>
          <p:nvPr/>
        </p:nvPicPr>
        <p:blipFill>
          <a:blip r:embed="rId3"/>
          <a:stretch>
            <a:fillRect/>
          </a:stretch>
        </p:blipFill>
        <p:spPr>
          <a:xfrm>
            <a:off x="2233591" y="1611287"/>
            <a:ext cx="243213" cy="243213"/>
          </a:xfrm>
          <a:prstGeom prst="rect">
            <a:avLst/>
          </a:prstGeom>
        </p:spPr>
      </p:pic>
      <p:sp>
        <p:nvSpPr>
          <p:cNvPr id="32" name="Text 14">
            <a:extLst>
              <a:ext uri="{FF2B5EF4-FFF2-40B4-BE49-F238E27FC236}">
                <a16:creationId xmlns:a16="http://schemas.microsoft.com/office/drawing/2014/main" id="{E1E5C936-BBCF-2E97-E9FD-71C6D0F9B0CC}"/>
              </a:ext>
            </a:extLst>
          </p:cNvPr>
          <p:cNvSpPr txBox="1"/>
          <p:nvPr/>
        </p:nvSpPr>
        <p:spPr>
          <a:xfrm>
            <a:off x="1747165" y="1884901"/>
            <a:ext cx="1185663" cy="152008"/>
          </a:xfrm>
          <a:prstGeom prst="rect">
            <a:avLst/>
          </a:prstGeom>
          <a:noFill/>
          <a:ln/>
        </p:spPr>
        <p:txBody>
          <a:bodyPr wrap="square" lIns="0" tIns="0" rIns="0" bIns="0" rtlCol="0" anchor="ctr"/>
          <a:lstStyle/>
          <a:p>
            <a:pPr algn="ctr">
              <a:lnSpc>
                <a:spcPct val="93000"/>
              </a:lnSpc>
            </a:pPr>
            <a:r>
              <a:rPr lang="en-US" sz="878" b="1" dirty="0">
                <a:solidFill>
                  <a:srgbClr val="11397C"/>
                </a:solidFill>
                <a:latin typeface="Calibri" pitchFamily="34" charset="0"/>
                <a:ea typeface="Calibri" pitchFamily="34" charset="-122"/>
                <a:cs typeface="Calibri" pitchFamily="34" charset="-120"/>
              </a:rPr>
              <a:t>Custom Domain / DNS</a:t>
            </a:r>
            <a:endParaRPr lang="en-US" sz="878" dirty="0"/>
          </a:p>
        </p:txBody>
      </p:sp>
      <p:sp>
        <p:nvSpPr>
          <p:cNvPr id="34" name="Text 15">
            <a:extLst>
              <a:ext uri="{FF2B5EF4-FFF2-40B4-BE49-F238E27FC236}">
                <a16:creationId xmlns:a16="http://schemas.microsoft.com/office/drawing/2014/main" id="{119FE4A3-B8BC-F424-56BD-287766C61BEB}"/>
              </a:ext>
            </a:extLst>
          </p:cNvPr>
          <p:cNvSpPr txBox="1"/>
          <p:nvPr/>
        </p:nvSpPr>
        <p:spPr>
          <a:xfrm>
            <a:off x="1747165" y="2036910"/>
            <a:ext cx="1185663" cy="136808"/>
          </a:xfrm>
          <a:prstGeom prst="rect">
            <a:avLst/>
          </a:prstGeom>
          <a:noFill/>
          <a:ln/>
        </p:spPr>
        <p:txBody>
          <a:bodyPr wrap="square" lIns="0" tIns="0" rIns="0" bIns="0" rtlCol="0" anchor="ctr"/>
          <a:lstStyle/>
          <a:p>
            <a:pPr algn="ctr">
              <a:lnSpc>
                <a:spcPct val="93000"/>
              </a:lnSpc>
            </a:pPr>
            <a:r>
              <a:rPr lang="en-US" sz="778" dirty="0">
                <a:solidFill>
                  <a:srgbClr val="2A6099"/>
                </a:solidFill>
                <a:latin typeface="Calibri" pitchFamily="34" charset="0"/>
                <a:ea typeface="Calibri" pitchFamily="34" charset="-122"/>
                <a:cs typeface="Calibri" pitchFamily="34" charset="-120"/>
              </a:rPr>
              <a:t>SSL / TLS  ·  HTTPS</a:t>
            </a:r>
            <a:endParaRPr lang="en-US" sz="778" dirty="0"/>
          </a:p>
        </p:txBody>
      </p:sp>
      <p:sp>
        <p:nvSpPr>
          <p:cNvPr id="36" name="Shape 16">
            <a:extLst>
              <a:ext uri="{FF2B5EF4-FFF2-40B4-BE49-F238E27FC236}">
                <a16:creationId xmlns:a16="http://schemas.microsoft.com/office/drawing/2014/main" id="{73D61C78-4E47-3226-1503-8520693BA1B1}"/>
              </a:ext>
            </a:extLst>
          </p:cNvPr>
          <p:cNvSpPr/>
          <p:nvPr/>
        </p:nvSpPr>
        <p:spPr>
          <a:xfrm>
            <a:off x="1716764" y="2416929"/>
            <a:ext cx="1246467" cy="1763295"/>
          </a:xfrm>
          <a:prstGeom prst="roundRect">
            <a:avLst>
              <a:gd name="adj" fmla="val 3659"/>
            </a:avLst>
          </a:prstGeom>
          <a:solidFill>
            <a:srgbClr val="FFFFFF"/>
          </a:solidFill>
          <a:ln w="12700">
            <a:solidFill>
              <a:srgbClr val="C2DCF0"/>
            </a:solidFill>
            <a:prstDash val="solid"/>
          </a:ln>
        </p:spPr>
        <p:txBody>
          <a:bodyPr/>
          <a:lstStyle/>
          <a:p>
            <a:endParaRPr lang="en-IN"/>
          </a:p>
        </p:txBody>
      </p:sp>
      <p:pic>
        <p:nvPicPr>
          <p:cNvPr id="38" name="Image 4" descr="preencoded.png">
            <a:extLst>
              <a:ext uri="{FF2B5EF4-FFF2-40B4-BE49-F238E27FC236}">
                <a16:creationId xmlns:a16="http://schemas.microsoft.com/office/drawing/2014/main" id="{9FC47A49-512C-038F-1C97-63BD8E297923}"/>
              </a:ext>
            </a:extLst>
          </p:cNvPr>
          <p:cNvPicPr>
            <a:picLocks noChangeAspect="1"/>
          </p:cNvPicPr>
          <p:nvPr/>
        </p:nvPicPr>
        <p:blipFill>
          <a:blip r:embed="rId4"/>
          <a:stretch>
            <a:fillRect/>
          </a:stretch>
        </p:blipFill>
        <p:spPr>
          <a:xfrm>
            <a:off x="2203189" y="2492934"/>
            <a:ext cx="304016" cy="304016"/>
          </a:xfrm>
          <a:prstGeom prst="rect">
            <a:avLst/>
          </a:prstGeom>
        </p:spPr>
      </p:pic>
      <p:sp>
        <p:nvSpPr>
          <p:cNvPr id="40" name="Text 17">
            <a:extLst>
              <a:ext uri="{FF2B5EF4-FFF2-40B4-BE49-F238E27FC236}">
                <a16:creationId xmlns:a16="http://schemas.microsoft.com/office/drawing/2014/main" id="{1BA0EEDE-4036-5ACA-970F-307303169529}"/>
              </a:ext>
            </a:extLst>
          </p:cNvPr>
          <p:cNvSpPr txBox="1"/>
          <p:nvPr/>
        </p:nvSpPr>
        <p:spPr>
          <a:xfrm>
            <a:off x="1747165" y="2827352"/>
            <a:ext cx="1185663" cy="243213"/>
          </a:xfrm>
          <a:prstGeom prst="rect">
            <a:avLst/>
          </a:prstGeom>
          <a:noFill/>
          <a:ln/>
        </p:spPr>
        <p:txBody>
          <a:bodyPr wrap="square" lIns="0" tIns="0" rIns="0" bIns="0" rtlCol="0" anchor="ctr"/>
          <a:lstStyle/>
          <a:p>
            <a:pPr algn="ctr">
              <a:lnSpc>
                <a:spcPct val="93000"/>
              </a:lnSpc>
            </a:pPr>
            <a:r>
              <a:rPr lang="en-US" sz="878" b="1" dirty="0">
                <a:solidFill>
                  <a:srgbClr val="11397C"/>
                </a:solidFill>
                <a:latin typeface="Calibri" pitchFamily="34" charset="0"/>
                <a:ea typeface="Calibri" pitchFamily="34" charset="-122"/>
                <a:cs typeface="Calibri" pitchFamily="34" charset="-120"/>
              </a:rPr>
              <a:t>Global Edge /</a:t>
            </a:r>
            <a:endParaRPr lang="en-US" sz="878" dirty="0"/>
          </a:p>
          <a:p>
            <a:pPr algn="ctr">
              <a:lnSpc>
                <a:spcPct val="93000"/>
              </a:lnSpc>
            </a:pPr>
            <a:r>
              <a:rPr lang="en-US" sz="878" b="1" dirty="0">
                <a:solidFill>
                  <a:srgbClr val="11397C"/>
                </a:solidFill>
                <a:latin typeface="Calibri" pitchFamily="34" charset="0"/>
                <a:ea typeface="Calibri" pitchFamily="34" charset="-122"/>
                <a:cs typeface="Calibri" pitchFamily="34" charset="-120"/>
              </a:rPr>
              <a:t>Load Balancer</a:t>
            </a:r>
            <a:endParaRPr lang="en-US" sz="878" dirty="0"/>
          </a:p>
        </p:txBody>
      </p:sp>
      <p:sp>
        <p:nvSpPr>
          <p:cNvPr id="42" name="Text 18">
            <a:extLst>
              <a:ext uri="{FF2B5EF4-FFF2-40B4-BE49-F238E27FC236}">
                <a16:creationId xmlns:a16="http://schemas.microsoft.com/office/drawing/2014/main" id="{4786A459-89C7-C8C7-B144-35BA77661C02}"/>
              </a:ext>
            </a:extLst>
          </p:cNvPr>
          <p:cNvSpPr txBox="1"/>
          <p:nvPr/>
        </p:nvSpPr>
        <p:spPr>
          <a:xfrm>
            <a:off x="1762366" y="3116168"/>
            <a:ext cx="1155262" cy="988053"/>
          </a:xfrm>
          <a:prstGeom prst="rect">
            <a:avLst/>
          </a:prstGeom>
          <a:noFill/>
          <a:ln/>
        </p:spPr>
        <p:txBody>
          <a:bodyPr wrap="square" lIns="0" tIns="0" rIns="0" bIns="0" rtlCol="0" anchor="t"/>
          <a:lstStyle/>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WAF (Web Application Firewall)</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DDoS Protection</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Global Routing</a:t>
            </a:r>
            <a:endParaRPr lang="en-US" sz="778" dirty="0"/>
          </a:p>
          <a:p>
            <a:pPr marL="114014" indent="-114014">
              <a:lnSpc>
                <a:spcPct val="95000"/>
              </a:lnSpc>
              <a:spcAft>
                <a:spcPts val="200"/>
              </a:spcAft>
              <a:buSzPct val="100000"/>
              <a:buChar char="•"/>
            </a:pPr>
            <a:r>
              <a:rPr lang="en-US" sz="778" dirty="0">
                <a:solidFill>
                  <a:srgbClr val="2A6099"/>
                </a:solidFill>
                <a:latin typeface="Calibri" pitchFamily="34" charset="0"/>
                <a:ea typeface="Calibri" pitchFamily="34" charset="-122"/>
                <a:cs typeface="Calibri" pitchFamily="34" charset="-120"/>
              </a:rPr>
              <a:t>TLS Termination</a:t>
            </a:r>
            <a:endParaRPr lang="en-US" sz="778" dirty="0"/>
          </a:p>
        </p:txBody>
      </p:sp>
      <p:sp>
        <p:nvSpPr>
          <p:cNvPr id="44" name="Shape 19">
            <a:extLst>
              <a:ext uri="{FF2B5EF4-FFF2-40B4-BE49-F238E27FC236}">
                <a16:creationId xmlns:a16="http://schemas.microsoft.com/office/drawing/2014/main" id="{A9D38BFD-B6CF-F3E8-784B-CEED26CB5D64}"/>
              </a:ext>
            </a:extLst>
          </p:cNvPr>
          <p:cNvSpPr/>
          <p:nvPr/>
        </p:nvSpPr>
        <p:spPr>
          <a:xfrm>
            <a:off x="3594063" y="1064057"/>
            <a:ext cx="6384342" cy="4560245"/>
          </a:xfrm>
          <a:prstGeom prst="roundRect">
            <a:avLst>
              <a:gd name="adj" fmla="val 600"/>
            </a:avLst>
          </a:prstGeom>
          <a:ln w="27940">
            <a:solidFill>
              <a:srgbClr val="11397C"/>
            </a:solidFill>
            <a:prstDash val="dash"/>
          </a:ln>
        </p:spPr>
        <p:txBody>
          <a:bodyPr/>
          <a:lstStyle/>
          <a:p>
            <a:endParaRPr lang="en-IN"/>
          </a:p>
        </p:txBody>
      </p:sp>
      <p:sp>
        <p:nvSpPr>
          <p:cNvPr id="46" name="Shape 20">
            <a:extLst>
              <a:ext uri="{FF2B5EF4-FFF2-40B4-BE49-F238E27FC236}">
                <a16:creationId xmlns:a16="http://schemas.microsoft.com/office/drawing/2014/main" id="{07F9FF0C-2A10-463B-F016-5C485006968B}"/>
              </a:ext>
            </a:extLst>
          </p:cNvPr>
          <p:cNvSpPr/>
          <p:nvPr/>
        </p:nvSpPr>
        <p:spPr>
          <a:xfrm>
            <a:off x="3670069" y="988053"/>
            <a:ext cx="2280122" cy="152008"/>
          </a:xfrm>
          <a:prstGeom prst="roundRect">
            <a:avLst>
              <a:gd name="adj" fmla="val 60002"/>
            </a:avLst>
          </a:prstGeom>
          <a:solidFill>
            <a:srgbClr val="11397C"/>
          </a:solidFill>
          <a:ln w="12700">
            <a:solidFill>
              <a:srgbClr val="11397C"/>
            </a:solidFill>
            <a:prstDash val="solid"/>
          </a:ln>
        </p:spPr>
        <p:txBody>
          <a:bodyPr/>
          <a:lstStyle/>
          <a:p>
            <a:endParaRPr lang="en-IN"/>
          </a:p>
        </p:txBody>
      </p:sp>
      <p:sp>
        <p:nvSpPr>
          <p:cNvPr id="48" name="Text 21">
            <a:extLst>
              <a:ext uri="{FF2B5EF4-FFF2-40B4-BE49-F238E27FC236}">
                <a16:creationId xmlns:a16="http://schemas.microsoft.com/office/drawing/2014/main" id="{88A9CFC2-4B0D-370C-5EB3-5348F3497124}"/>
              </a:ext>
            </a:extLst>
          </p:cNvPr>
          <p:cNvSpPr txBox="1"/>
          <p:nvPr/>
        </p:nvSpPr>
        <p:spPr>
          <a:xfrm>
            <a:off x="3700469" y="988053"/>
            <a:ext cx="2219319" cy="152008"/>
          </a:xfrm>
          <a:prstGeom prst="rect">
            <a:avLst/>
          </a:prstGeom>
          <a:noFill/>
          <a:ln/>
        </p:spPr>
        <p:txBody>
          <a:bodyPr wrap="square" lIns="0" tIns="0" rIns="0" bIns="0" rtlCol="0" anchor="ctr"/>
          <a:lstStyle/>
          <a:p>
            <a:pPr algn="ctr">
              <a:lnSpc>
                <a:spcPct val="93000"/>
              </a:lnSpc>
            </a:pPr>
            <a:r>
              <a:rPr lang="en-US" sz="738" b="1" dirty="0">
                <a:solidFill>
                  <a:srgbClr val="FFFFFF"/>
                </a:solidFill>
                <a:latin typeface="Calibri" pitchFamily="34" charset="0"/>
                <a:ea typeface="Calibri" pitchFamily="34" charset="-122"/>
                <a:cs typeface="Calibri" pitchFamily="34" charset="-120"/>
              </a:rPr>
              <a:t>CLOUD NETWORK  ·  VPC / VNet</a:t>
            </a:r>
            <a:endParaRPr lang="en-US" sz="738" dirty="0"/>
          </a:p>
        </p:txBody>
      </p:sp>
      <p:sp>
        <p:nvSpPr>
          <p:cNvPr id="50" name="Shape 22">
            <a:extLst>
              <a:ext uri="{FF2B5EF4-FFF2-40B4-BE49-F238E27FC236}">
                <a16:creationId xmlns:a16="http://schemas.microsoft.com/office/drawing/2014/main" id="{BCFACC20-0D74-3DAB-C5F4-4AA9282BCD21}"/>
              </a:ext>
            </a:extLst>
          </p:cNvPr>
          <p:cNvSpPr/>
          <p:nvPr/>
        </p:nvSpPr>
        <p:spPr>
          <a:xfrm>
            <a:off x="3670068" y="1261668"/>
            <a:ext cx="6217133" cy="760041"/>
          </a:xfrm>
          <a:prstGeom prst="roundRect">
            <a:avLst>
              <a:gd name="adj" fmla="val 6000"/>
            </a:avLst>
          </a:prstGeom>
          <a:solidFill>
            <a:srgbClr val="F2F7FC"/>
          </a:solidFill>
          <a:ln w="12700">
            <a:solidFill>
              <a:srgbClr val="C6D5E4"/>
            </a:solidFill>
            <a:prstDash val="solid"/>
          </a:ln>
        </p:spPr>
        <p:txBody>
          <a:bodyPr/>
          <a:lstStyle/>
          <a:p>
            <a:endParaRPr lang="en-IN"/>
          </a:p>
        </p:txBody>
      </p:sp>
      <p:sp>
        <p:nvSpPr>
          <p:cNvPr id="52" name="Text 23">
            <a:extLst>
              <a:ext uri="{FF2B5EF4-FFF2-40B4-BE49-F238E27FC236}">
                <a16:creationId xmlns:a16="http://schemas.microsoft.com/office/drawing/2014/main" id="{72CA1780-FC46-29C7-8F62-27A87421D960}"/>
              </a:ext>
            </a:extLst>
          </p:cNvPr>
          <p:cNvSpPr txBox="1"/>
          <p:nvPr/>
        </p:nvSpPr>
        <p:spPr>
          <a:xfrm>
            <a:off x="3730872" y="1276869"/>
            <a:ext cx="2280122" cy="121607"/>
          </a:xfrm>
          <a:prstGeom prst="rect">
            <a:avLst/>
          </a:prstGeom>
          <a:noFill/>
          <a:ln/>
        </p:spPr>
        <p:txBody>
          <a:bodyPr wrap="square" lIns="0" tIns="0" rIns="0" bIns="0" rtlCol="0" anchor="ctr"/>
          <a:lstStyle/>
          <a:p>
            <a:pPr>
              <a:lnSpc>
                <a:spcPct val="93000"/>
              </a:lnSpc>
            </a:pPr>
            <a:r>
              <a:rPr lang="en-US" sz="698" b="1" dirty="0">
                <a:solidFill>
                  <a:srgbClr val="6B7C90"/>
                </a:solidFill>
                <a:latin typeface="Calibri" pitchFamily="34" charset="0"/>
                <a:ea typeface="Calibri" pitchFamily="34" charset="-122"/>
                <a:cs typeface="Calibri" pitchFamily="34" charset="-120"/>
              </a:rPr>
              <a:t>PUBLIC / EDGE SUBNET</a:t>
            </a:r>
            <a:endParaRPr lang="en-US" sz="698" dirty="0"/>
          </a:p>
        </p:txBody>
      </p:sp>
      <p:sp>
        <p:nvSpPr>
          <p:cNvPr id="54" name="Shape 24">
            <a:extLst>
              <a:ext uri="{FF2B5EF4-FFF2-40B4-BE49-F238E27FC236}">
                <a16:creationId xmlns:a16="http://schemas.microsoft.com/office/drawing/2014/main" id="{5BB927BF-37E4-41E7-C7BB-4F00EC41FFEB}"/>
              </a:ext>
            </a:extLst>
          </p:cNvPr>
          <p:cNvSpPr/>
          <p:nvPr/>
        </p:nvSpPr>
        <p:spPr>
          <a:xfrm>
            <a:off x="3715670" y="1428877"/>
            <a:ext cx="2812151" cy="532029"/>
          </a:xfrm>
          <a:prstGeom prst="roundRect">
            <a:avLst>
              <a:gd name="adj" fmla="val 8572"/>
            </a:avLst>
          </a:prstGeom>
          <a:solidFill>
            <a:srgbClr val="FFFFFF"/>
          </a:solidFill>
          <a:ln w="12700">
            <a:solidFill>
              <a:srgbClr val="C2DCF0"/>
            </a:solidFill>
            <a:prstDash val="solid"/>
          </a:ln>
        </p:spPr>
        <p:txBody>
          <a:bodyPr/>
          <a:lstStyle/>
          <a:p>
            <a:endParaRPr lang="en-IN"/>
          </a:p>
        </p:txBody>
      </p:sp>
      <p:pic>
        <p:nvPicPr>
          <p:cNvPr id="56" name="Image 5" descr="preencoded.png">
            <a:extLst>
              <a:ext uri="{FF2B5EF4-FFF2-40B4-BE49-F238E27FC236}">
                <a16:creationId xmlns:a16="http://schemas.microsoft.com/office/drawing/2014/main" id="{6C0A9924-F5B2-AACF-FB4D-6E87BBD86CEF}"/>
              </a:ext>
            </a:extLst>
          </p:cNvPr>
          <p:cNvPicPr>
            <a:picLocks noChangeAspect="1"/>
          </p:cNvPicPr>
          <p:nvPr/>
        </p:nvPicPr>
        <p:blipFill>
          <a:blip r:embed="rId5"/>
          <a:stretch>
            <a:fillRect/>
          </a:stretch>
        </p:blipFill>
        <p:spPr>
          <a:xfrm>
            <a:off x="3837276" y="1565684"/>
            <a:ext cx="228012" cy="228012"/>
          </a:xfrm>
          <a:prstGeom prst="rect">
            <a:avLst/>
          </a:prstGeom>
        </p:spPr>
      </p:pic>
      <p:sp>
        <p:nvSpPr>
          <p:cNvPr id="58" name="Text 25">
            <a:extLst>
              <a:ext uri="{FF2B5EF4-FFF2-40B4-BE49-F238E27FC236}">
                <a16:creationId xmlns:a16="http://schemas.microsoft.com/office/drawing/2014/main" id="{6475C451-8AA1-8D33-66EE-EB427DB5D023}"/>
              </a:ext>
            </a:extLst>
          </p:cNvPr>
          <p:cNvSpPr txBox="1"/>
          <p:nvPr/>
        </p:nvSpPr>
        <p:spPr>
          <a:xfrm>
            <a:off x="4126092" y="1428877"/>
            <a:ext cx="2325725" cy="532029"/>
          </a:xfrm>
          <a:prstGeom prst="rect">
            <a:avLst/>
          </a:prstGeom>
          <a:noFill/>
          <a:ln/>
        </p:spPr>
        <p:txBody>
          <a:bodyPr wrap="square" lIns="0" tIns="0" rIns="0" bIns="0" rtlCol="0" anchor="ctr"/>
          <a:lstStyle/>
          <a:p>
            <a:pPr>
              <a:lnSpc>
                <a:spcPct val="93000"/>
              </a:lnSpc>
            </a:pPr>
            <a:r>
              <a:rPr lang="en-US" sz="878" b="1" dirty="0">
                <a:solidFill>
                  <a:srgbClr val="11397C"/>
                </a:solidFill>
                <a:latin typeface="Calibri" pitchFamily="34" charset="0"/>
                <a:ea typeface="Calibri" pitchFamily="34" charset="-122"/>
                <a:cs typeface="Calibri" pitchFamily="34" charset="-120"/>
              </a:rPr>
              <a:t>Ingress Controller /</a:t>
            </a:r>
            <a:endParaRPr lang="en-US" sz="878" dirty="0"/>
          </a:p>
          <a:p>
            <a:pPr>
              <a:lnSpc>
                <a:spcPct val="93000"/>
              </a:lnSpc>
            </a:pPr>
            <a:r>
              <a:rPr lang="en-US" sz="878" b="1" dirty="0">
                <a:solidFill>
                  <a:srgbClr val="11397C"/>
                </a:solidFill>
                <a:latin typeface="Calibri" pitchFamily="34" charset="0"/>
                <a:ea typeface="Calibri" pitchFamily="34" charset="-122"/>
                <a:cs typeface="Calibri" pitchFamily="34" charset="-120"/>
              </a:rPr>
              <a:t>Load Balancer Endpoint</a:t>
            </a:r>
            <a:endParaRPr lang="en-US" sz="878" dirty="0"/>
          </a:p>
        </p:txBody>
      </p:sp>
      <p:sp>
        <p:nvSpPr>
          <p:cNvPr id="60" name="Shape 26">
            <a:extLst>
              <a:ext uri="{FF2B5EF4-FFF2-40B4-BE49-F238E27FC236}">
                <a16:creationId xmlns:a16="http://schemas.microsoft.com/office/drawing/2014/main" id="{7E784A0F-9381-9967-DEB6-D00515C1B5FF}"/>
              </a:ext>
            </a:extLst>
          </p:cNvPr>
          <p:cNvSpPr/>
          <p:nvPr/>
        </p:nvSpPr>
        <p:spPr>
          <a:xfrm>
            <a:off x="6755833" y="1428877"/>
            <a:ext cx="3085766" cy="532029"/>
          </a:xfrm>
          <a:prstGeom prst="roundRect">
            <a:avLst>
              <a:gd name="adj" fmla="val 8572"/>
            </a:avLst>
          </a:prstGeom>
          <a:solidFill>
            <a:srgbClr val="FFFFFF"/>
          </a:solidFill>
          <a:ln w="12700">
            <a:solidFill>
              <a:srgbClr val="C2DCF0"/>
            </a:solidFill>
            <a:prstDash val="solid"/>
          </a:ln>
        </p:spPr>
        <p:txBody>
          <a:bodyPr/>
          <a:lstStyle/>
          <a:p>
            <a:endParaRPr lang="en-IN"/>
          </a:p>
        </p:txBody>
      </p:sp>
      <p:sp>
        <p:nvSpPr>
          <p:cNvPr id="62" name="Shape 27">
            <a:extLst>
              <a:ext uri="{FF2B5EF4-FFF2-40B4-BE49-F238E27FC236}">
                <a16:creationId xmlns:a16="http://schemas.microsoft.com/office/drawing/2014/main" id="{5C3B4C24-ED7A-461E-CA45-51E22F02C171}"/>
              </a:ext>
            </a:extLst>
          </p:cNvPr>
          <p:cNvSpPr/>
          <p:nvPr/>
        </p:nvSpPr>
        <p:spPr>
          <a:xfrm>
            <a:off x="9400775" y="1474480"/>
            <a:ext cx="380020" cy="114006"/>
          </a:xfrm>
          <a:prstGeom prst="roundRect">
            <a:avLst>
              <a:gd name="adj" fmla="val 128003"/>
            </a:avLst>
          </a:prstGeom>
          <a:solidFill>
            <a:srgbClr val="FDF1E3"/>
          </a:solidFill>
          <a:ln w="12700">
            <a:solidFill>
              <a:srgbClr val="D9A441"/>
            </a:solidFill>
            <a:prstDash val="solid"/>
          </a:ln>
        </p:spPr>
        <p:txBody>
          <a:bodyPr/>
          <a:lstStyle/>
          <a:p>
            <a:endParaRPr lang="en-IN"/>
          </a:p>
        </p:txBody>
      </p:sp>
      <p:sp>
        <p:nvSpPr>
          <p:cNvPr id="449" name="Text 28">
            <a:extLst>
              <a:ext uri="{FF2B5EF4-FFF2-40B4-BE49-F238E27FC236}">
                <a16:creationId xmlns:a16="http://schemas.microsoft.com/office/drawing/2014/main" id="{19506534-80F6-7871-6346-9D8679FC667A}"/>
              </a:ext>
            </a:extLst>
          </p:cNvPr>
          <p:cNvSpPr txBox="1"/>
          <p:nvPr/>
        </p:nvSpPr>
        <p:spPr>
          <a:xfrm>
            <a:off x="9415977" y="1474480"/>
            <a:ext cx="349618" cy="114006"/>
          </a:xfrm>
          <a:prstGeom prst="rect">
            <a:avLst/>
          </a:prstGeom>
          <a:noFill/>
          <a:ln/>
        </p:spPr>
        <p:txBody>
          <a:bodyPr wrap="square" lIns="0" tIns="0" rIns="0" bIns="0" rtlCol="0" anchor="ctr"/>
          <a:lstStyle/>
          <a:p>
            <a:pPr algn="ctr">
              <a:lnSpc>
                <a:spcPct val="93000"/>
              </a:lnSpc>
            </a:pPr>
            <a:r>
              <a:rPr lang="en-US" sz="599" b="1" dirty="0">
                <a:solidFill>
                  <a:srgbClr val="8A6A16"/>
                </a:solidFill>
                <a:latin typeface="Calibri" pitchFamily="34" charset="0"/>
                <a:ea typeface="Calibri" pitchFamily="34" charset="-122"/>
                <a:cs typeface="Calibri" pitchFamily="34" charset="-120"/>
              </a:rPr>
              <a:t>Phase 2</a:t>
            </a:r>
            <a:endParaRPr lang="en-US" sz="599" dirty="0"/>
          </a:p>
        </p:txBody>
      </p:sp>
      <p:pic>
        <p:nvPicPr>
          <p:cNvPr id="453" name="Image 6" descr="preencoded.png">
            <a:extLst>
              <a:ext uri="{FF2B5EF4-FFF2-40B4-BE49-F238E27FC236}">
                <a16:creationId xmlns:a16="http://schemas.microsoft.com/office/drawing/2014/main" id="{8E7C0C2D-EDDD-8DC9-C24E-BE5D862058D8}"/>
              </a:ext>
            </a:extLst>
          </p:cNvPr>
          <p:cNvPicPr>
            <a:picLocks noChangeAspect="1"/>
          </p:cNvPicPr>
          <p:nvPr/>
        </p:nvPicPr>
        <p:blipFill>
          <a:blip r:embed="rId6"/>
          <a:stretch>
            <a:fillRect/>
          </a:stretch>
        </p:blipFill>
        <p:spPr>
          <a:xfrm>
            <a:off x="6877439" y="1565684"/>
            <a:ext cx="228012" cy="228012"/>
          </a:xfrm>
          <a:prstGeom prst="rect">
            <a:avLst/>
          </a:prstGeom>
        </p:spPr>
      </p:pic>
      <p:sp>
        <p:nvSpPr>
          <p:cNvPr id="457" name="Text 29">
            <a:extLst>
              <a:ext uri="{FF2B5EF4-FFF2-40B4-BE49-F238E27FC236}">
                <a16:creationId xmlns:a16="http://schemas.microsoft.com/office/drawing/2014/main" id="{A96F2C8A-B4A0-5A70-29F1-B97DA35AB1E2}"/>
              </a:ext>
            </a:extLst>
          </p:cNvPr>
          <p:cNvSpPr txBox="1"/>
          <p:nvPr/>
        </p:nvSpPr>
        <p:spPr>
          <a:xfrm>
            <a:off x="7166256" y="1459278"/>
            <a:ext cx="2280122" cy="152008"/>
          </a:xfrm>
          <a:prstGeom prst="rect">
            <a:avLst/>
          </a:prstGeom>
          <a:noFill/>
          <a:ln/>
        </p:spPr>
        <p:txBody>
          <a:bodyPr wrap="square" lIns="0" tIns="0" rIns="0" bIns="0" rtlCol="0" anchor="ctr"/>
          <a:lstStyle/>
          <a:p>
            <a:pPr>
              <a:lnSpc>
                <a:spcPct val="93000"/>
              </a:lnSpc>
            </a:pPr>
            <a:r>
              <a:rPr lang="en-US" sz="898" b="1" dirty="0">
                <a:solidFill>
                  <a:srgbClr val="11397C"/>
                </a:solidFill>
                <a:latin typeface="Calibri" pitchFamily="34" charset="0"/>
                <a:ea typeface="Calibri" pitchFamily="34" charset="-122"/>
                <a:cs typeface="Calibri" pitchFamily="34" charset="-120"/>
              </a:rPr>
              <a:t>API Gateway</a:t>
            </a:r>
            <a:endParaRPr lang="en-US" sz="898" dirty="0"/>
          </a:p>
        </p:txBody>
      </p:sp>
      <p:sp>
        <p:nvSpPr>
          <p:cNvPr id="461" name="Text 30">
            <a:extLst>
              <a:ext uri="{FF2B5EF4-FFF2-40B4-BE49-F238E27FC236}">
                <a16:creationId xmlns:a16="http://schemas.microsoft.com/office/drawing/2014/main" id="{167C6903-8E31-BB9C-E6DC-596DD9F954E6}"/>
              </a:ext>
            </a:extLst>
          </p:cNvPr>
          <p:cNvSpPr txBox="1"/>
          <p:nvPr/>
        </p:nvSpPr>
        <p:spPr>
          <a:xfrm>
            <a:off x="7166256" y="1611287"/>
            <a:ext cx="2584138" cy="243213"/>
          </a:xfrm>
          <a:prstGeom prst="rect">
            <a:avLst/>
          </a:prstGeom>
          <a:noFill/>
          <a:ln/>
        </p:spPr>
        <p:txBody>
          <a:bodyPr wrap="square" lIns="0" tIns="0" rIns="0" bIns="0" rtlCol="0" anchor="ctr"/>
          <a:lstStyle/>
          <a:p>
            <a:pPr>
              <a:lnSpc>
                <a:spcPct val="95000"/>
              </a:lnSpc>
            </a:pPr>
            <a:r>
              <a:rPr lang="en-US" sz="758" dirty="0">
                <a:solidFill>
                  <a:srgbClr val="2A6099"/>
                </a:solidFill>
                <a:latin typeface="Calibri" pitchFamily="34" charset="0"/>
                <a:ea typeface="Calibri" pitchFamily="34" charset="-122"/>
                <a:cs typeface="Calibri" pitchFamily="34" charset="-120"/>
              </a:rPr>
              <a:t>API security  ·  rate limiting  ·  routing  ·  versioning</a:t>
            </a:r>
            <a:endParaRPr lang="en-US" sz="758" dirty="0"/>
          </a:p>
        </p:txBody>
      </p:sp>
      <p:sp>
        <p:nvSpPr>
          <p:cNvPr id="465" name="Shape 31">
            <a:extLst>
              <a:ext uri="{FF2B5EF4-FFF2-40B4-BE49-F238E27FC236}">
                <a16:creationId xmlns:a16="http://schemas.microsoft.com/office/drawing/2014/main" id="{B1FFD7C3-0823-7843-15C6-8DF533C38797}"/>
              </a:ext>
            </a:extLst>
          </p:cNvPr>
          <p:cNvSpPr/>
          <p:nvPr/>
        </p:nvSpPr>
        <p:spPr>
          <a:xfrm>
            <a:off x="6527821" y="1694892"/>
            <a:ext cx="228012" cy="0"/>
          </a:xfrm>
          <a:prstGeom prst="line">
            <a:avLst/>
          </a:prstGeom>
          <a:noFill/>
          <a:ln w="17780">
            <a:solidFill>
              <a:srgbClr val="1B4F8C"/>
            </a:solidFill>
            <a:prstDash val="solid"/>
            <a:headEnd type="none"/>
            <a:tailEnd type="triangle"/>
          </a:ln>
        </p:spPr>
        <p:txBody>
          <a:bodyPr/>
          <a:lstStyle/>
          <a:p>
            <a:endParaRPr lang="en-IN"/>
          </a:p>
        </p:txBody>
      </p:sp>
      <p:sp>
        <p:nvSpPr>
          <p:cNvPr id="469" name="Shape 32">
            <a:extLst>
              <a:ext uri="{FF2B5EF4-FFF2-40B4-BE49-F238E27FC236}">
                <a16:creationId xmlns:a16="http://schemas.microsoft.com/office/drawing/2014/main" id="{7F319E8F-3593-CA13-54EE-F0A5664E8870}"/>
              </a:ext>
            </a:extLst>
          </p:cNvPr>
          <p:cNvSpPr/>
          <p:nvPr/>
        </p:nvSpPr>
        <p:spPr>
          <a:xfrm>
            <a:off x="3670068" y="2128115"/>
            <a:ext cx="6217133" cy="1793696"/>
          </a:xfrm>
          <a:prstGeom prst="roundRect">
            <a:avLst>
              <a:gd name="adj" fmla="val 2542"/>
            </a:avLst>
          </a:prstGeom>
          <a:solidFill>
            <a:srgbClr val="F7FAFD"/>
          </a:solidFill>
          <a:ln w="12700">
            <a:solidFill>
              <a:srgbClr val="C6D5E4"/>
            </a:solidFill>
            <a:prstDash val="solid"/>
          </a:ln>
        </p:spPr>
        <p:txBody>
          <a:bodyPr/>
          <a:lstStyle/>
          <a:p>
            <a:endParaRPr lang="en-IN"/>
          </a:p>
        </p:txBody>
      </p:sp>
      <p:sp>
        <p:nvSpPr>
          <p:cNvPr id="473" name="Text 33">
            <a:extLst>
              <a:ext uri="{FF2B5EF4-FFF2-40B4-BE49-F238E27FC236}">
                <a16:creationId xmlns:a16="http://schemas.microsoft.com/office/drawing/2014/main" id="{87A0E018-1F81-02A4-8D24-7BDA9D1BDA02}"/>
              </a:ext>
            </a:extLst>
          </p:cNvPr>
          <p:cNvSpPr txBox="1"/>
          <p:nvPr/>
        </p:nvSpPr>
        <p:spPr>
          <a:xfrm>
            <a:off x="3730872" y="2143315"/>
            <a:ext cx="2432130" cy="121607"/>
          </a:xfrm>
          <a:prstGeom prst="rect">
            <a:avLst/>
          </a:prstGeom>
          <a:noFill/>
          <a:ln/>
        </p:spPr>
        <p:txBody>
          <a:bodyPr wrap="square" lIns="0" tIns="0" rIns="0" bIns="0" rtlCol="0" anchor="ctr"/>
          <a:lstStyle/>
          <a:p>
            <a:pPr>
              <a:lnSpc>
                <a:spcPct val="93000"/>
              </a:lnSpc>
            </a:pPr>
            <a:r>
              <a:rPr lang="en-US" sz="698" b="1" dirty="0">
                <a:solidFill>
                  <a:srgbClr val="6B7C90"/>
                </a:solidFill>
                <a:latin typeface="Calibri" pitchFamily="34" charset="0"/>
                <a:ea typeface="Calibri" pitchFamily="34" charset="-122"/>
                <a:cs typeface="Calibri" pitchFamily="34" charset="-120"/>
              </a:rPr>
              <a:t>PRIVATE APPLICATION SUBNET</a:t>
            </a:r>
            <a:endParaRPr lang="en-US" sz="698" dirty="0"/>
          </a:p>
        </p:txBody>
      </p:sp>
      <p:sp>
        <p:nvSpPr>
          <p:cNvPr id="477" name="Shape 34">
            <a:extLst>
              <a:ext uri="{FF2B5EF4-FFF2-40B4-BE49-F238E27FC236}">
                <a16:creationId xmlns:a16="http://schemas.microsoft.com/office/drawing/2014/main" id="{249F3FE1-3F07-7560-EA39-23DF761A64BF}"/>
              </a:ext>
            </a:extLst>
          </p:cNvPr>
          <p:cNvSpPr/>
          <p:nvPr/>
        </p:nvSpPr>
        <p:spPr>
          <a:xfrm>
            <a:off x="3715670" y="2295323"/>
            <a:ext cx="6125928" cy="1565684"/>
          </a:xfrm>
          <a:prstGeom prst="roundRect">
            <a:avLst>
              <a:gd name="adj" fmla="val 2913"/>
            </a:avLst>
          </a:prstGeom>
          <a:solidFill>
            <a:srgbClr val="FFFFFF"/>
          </a:solidFill>
          <a:ln w="17780">
            <a:solidFill>
              <a:srgbClr val="9FC3E2"/>
            </a:solidFill>
            <a:prstDash val="solid"/>
          </a:ln>
        </p:spPr>
        <p:txBody>
          <a:bodyPr/>
          <a:lstStyle/>
          <a:p>
            <a:endParaRPr lang="en-IN"/>
          </a:p>
        </p:txBody>
      </p:sp>
      <p:pic>
        <p:nvPicPr>
          <p:cNvPr id="481" name="Image 7" descr="preencoded.png">
            <a:extLst>
              <a:ext uri="{FF2B5EF4-FFF2-40B4-BE49-F238E27FC236}">
                <a16:creationId xmlns:a16="http://schemas.microsoft.com/office/drawing/2014/main" id="{86D83119-8974-76C9-E327-2F9661B00718}"/>
              </a:ext>
            </a:extLst>
          </p:cNvPr>
          <p:cNvPicPr>
            <a:picLocks noChangeAspect="1"/>
          </p:cNvPicPr>
          <p:nvPr/>
        </p:nvPicPr>
        <p:blipFill>
          <a:blip r:embed="rId7"/>
          <a:stretch>
            <a:fillRect/>
          </a:stretch>
        </p:blipFill>
        <p:spPr>
          <a:xfrm>
            <a:off x="3822076" y="2371328"/>
            <a:ext cx="228012" cy="228012"/>
          </a:xfrm>
          <a:prstGeom prst="rect">
            <a:avLst/>
          </a:prstGeom>
        </p:spPr>
      </p:pic>
      <p:sp>
        <p:nvSpPr>
          <p:cNvPr id="485" name="Text 35">
            <a:extLst>
              <a:ext uri="{FF2B5EF4-FFF2-40B4-BE49-F238E27FC236}">
                <a16:creationId xmlns:a16="http://schemas.microsoft.com/office/drawing/2014/main" id="{B6AE86E4-C7AB-96FD-0308-7EA5A1A8CEAD}"/>
              </a:ext>
            </a:extLst>
          </p:cNvPr>
          <p:cNvSpPr txBox="1"/>
          <p:nvPr/>
        </p:nvSpPr>
        <p:spPr>
          <a:xfrm>
            <a:off x="4110892" y="2356127"/>
            <a:ext cx="2584138" cy="152008"/>
          </a:xfrm>
          <a:prstGeom prst="rect">
            <a:avLst/>
          </a:prstGeom>
          <a:noFill/>
          <a:ln/>
        </p:spPr>
        <p:txBody>
          <a:bodyPr wrap="square" lIns="0" tIns="0" rIns="0" bIns="0" rtlCol="0" anchor="ctr"/>
          <a:lstStyle/>
          <a:p>
            <a:pPr>
              <a:lnSpc>
                <a:spcPct val="93000"/>
              </a:lnSpc>
            </a:pPr>
            <a:r>
              <a:rPr lang="en-US" sz="998" b="1" dirty="0">
                <a:solidFill>
                  <a:srgbClr val="11397C"/>
                </a:solidFill>
                <a:latin typeface="Calibri" pitchFamily="34" charset="0"/>
                <a:ea typeface="Calibri" pitchFamily="34" charset="-122"/>
                <a:cs typeface="Calibri" pitchFamily="34" charset="-120"/>
              </a:rPr>
              <a:t>Managed Kubernetes Cluster</a:t>
            </a:r>
            <a:endParaRPr lang="en-US" sz="998" dirty="0"/>
          </a:p>
        </p:txBody>
      </p:sp>
      <p:sp>
        <p:nvSpPr>
          <p:cNvPr id="489" name="Text 36">
            <a:extLst>
              <a:ext uri="{FF2B5EF4-FFF2-40B4-BE49-F238E27FC236}">
                <a16:creationId xmlns:a16="http://schemas.microsoft.com/office/drawing/2014/main" id="{0E44AB82-8C8B-2D66-8145-6247A78ABB1B}"/>
              </a:ext>
            </a:extLst>
          </p:cNvPr>
          <p:cNvSpPr txBox="1"/>
          <p:nvPr/>
        </p:nvSpPr>
        <p:spPr>
          <a:xfrm>
            <a:off x="4110892" y="2508135"/>
            <a:ext cx="3040163" cy="121607"/>
          </a:xfrm>
          <a:prstGeom prst="rect">
            <a:avLst/>
          </a:prstGeom>
          <a:noFill/>
          <a:ln/>
        </p:spPr>
        <p:txBody>
          <a:bodyPr wrap="square" lIns="0" tIns="0" rIns="0" bIns="0" rtlCol="0" anchor="ctr"/>
          <a:lstStyle/>
          <a:p>
            <a:pPr>
              <a:lnSpc>
                <a:spcPct val="93000"/>
              </a:lnSpc>
            </a:pPr>
            <a:r>
              <a:rPr lang="en-US" sz="778" dirty="0">
                <a:solidFill>
                  <a:srgbClr val="5B6472"/>
                </a:solidFill>
                <a:latin typeface="Calibri" pitchFamily="34" charset="0"/>
                <a:ea typeface="Calibri" pitchFamily="34" charset="-122"/>
                <a:cs typeface="Calibri" pitchFamily="34" charset="-120"/>
              </a:rPr>
              <a:t>Java 25 + Spring Boot 4  ·  containerised workloads</a:t>
            </a:r>
            <a:endParaRPr lang="en-US" sz="778" dirty="0"/>
          </a:p>
        </p:txBody>
      </p:sp>
      <p:sp>
        <p:nvSpPr>
          <p:cNvPr id="493" name="Shape 37">
            <a:extLst>
              <a:ext uri="{FF2B5EF4-FFF2-40B4-BE49-F238E27FC236}">
                <a16:creationId xmlns:a16="http://schemas.microsoft.com/office/drawing/2014/main" id="{87D35140-CC11-6FFA-9674-EC2C6212EB7E}"/>
              </a:ext>
            </a:extLst>
          </p:cNvPr>
          <p:cNvSpPr/>
          <p:nvPr/>
        </p:nvSpPr>
        <p:spPr>
          <a:xfrm>
            <a:off x="3753671" y="2675344"/>
            <a:ext cx="1444078" cy="729639"/>
          </a:xfrm>
          <a:prstGeom prst="roundRect">
            <a:avLst>
              <a:gd name="adj" fmla="val 5000"/>
            </a:avLst>
          </a:prstGeom>
          <a:solidFill>
            <a:srgbClr val="EAF6EE"/>
          </a:solidFill>
          <a:ln w="12700">
            <a:solidFill>
              <a:srgbClr val="A9D6B7"/>
            </a:solidFill>
            <a:prstDash val="solid"/>
          </a:ln>
        </p:spPr>
        <p:txBody>
          <a:bodyPr/>
          <a:lstStyle/>
          <a:p>
            <a:endParaRPr lang="en-IN"/>
          </a:p>
        </p:txBody>
      </p:sp>
      <p:pic>
        <p:nvPicPr>
          <p:cNvPr id="497" name="Image 8" descr="preencoded.png">
            <a:extLst>
              <a:ext uri="{FF2B5EF4-FFF2-40B4-BE49-F238E27FC236}">
                <a16:creationId xmlns:a16="http://schemas.microsoft.com/office/drawing/2014/main" id="{6EFDB348-28DD-FA51-C80B-673019F76D5D}"/>
              </a:ext>
            </a:extLst>
          </p:cNvPr>
          <p:cNvPicPr>
            <a:picLocks noChangeAspect="1"/>
          </p:cNvPicPr>
          <p:nvPr/>
        </p:nvPicPr>
        <p:blipFill>
          <a:blip r:embed="rId8"/>
          <a:stretch>
            <a:fillRect/>
          </a:stretch>
        </p:blipFill>
        <p:spPr>
          <a:xfrm>
            <a:off x="4361704" y="2736146"/>
            <a:ext cx="228012" cy="228012"/>
          </a:xfrm>
          <a:prstGeom prst="rect">
            <a:avLst/>
          </a:prstGeom>
        </p:spPr>
      </p:pic>
      <p:sp>
        <p:nvSpPr>
          <p:cNvPr id="501" name="Text 38">
            <a:extLst>
              <a:ext uri="{FF2B5EF4-FFF2-40B4-BE49-F238E27FC236}">
                <a16:creationId xmlns:a16="http://schemas.microsoft.com/office/drawing/2014/main" id="{6F35B301-7D06-5440-E880-C99DA71CE950}"/>
              </a:ext>
            </a:extLst>
          </p:cNvPr>
          <p:cNvSpPr txBox="1"/>
          <p:nvPr/>
        </p:nvSpPr>
        <p:spPr>
          <a:xfrm>
            <a:off x="3791674" y="2994561"/>
            <a:ext cx="1368074" cy="152008"/>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Frontend Pods</a:t>
            </a:r>
            <a:endParaRPr lang="en-US" sz="838" dirty="0"/>
          </a:p>
        </p:txBody>
      </p:sp>
      <p:sp>
        <p:nvSpPr>
          <p:cNvPr id="505" name="Text 39">
            <a:extLst>
              <a:ext uri="{FF2B5EF4-FFF2-40B4-BE49-F238E27FC236}">
                <a16:creationId xmlns:a16="http://schemas.microsoft.com/office/drawing/2014/main" id="{195320FF-AC79-8107-81B5-8EA6B0F153F6}"/>
              </a:ext>
            </a:extLst>
          </p:cNvPr>
          <p:cNvSpPr txBox="1"/>
          <p:nvPr/>
        </p:nvSpPr>
        <p:spPr>
          <a:xfrm>
            <a:off x="3791674" y="3146569"/>
            <a:ext cx="1368074" cy="136808"/>
          </a:xfrm>
          <a:prstGeom prst="rect">
            <a:avLst/>
          </a:prstGeom>
          <a:noFill/>
          <a:ln/>
        </p:spPr>
        <p:txBody>
          <a:bodyPr wrap="square" lIns="0" tIns="0" rIns="0" bIns="0" rtlCol="0" anchor="ctr"/>
          <a:lstStyle/>
          <a:p>
            <a:pPr algn="ctr">
              <a:lnSpc>
                <a:spcPct val="93000"/>
              </a:lnSpc>
            </a:pPr>
            <a:r>
              <a:rPr lang="en-US" sz="738" dirty="0">
                <a:solidFill>
                  <a:srgbClr val="1E6B3B"/>
                </a:solidFill>
                <a:latin typeface="Calibri" pitchFamily="34" charset="0"/>
                <a:ea typeface="Calibri" pitchFamily="34" charset="-122"/>
                <a:cs typeface="Calibri" pitchFamily="34" charset="-120"/>
              </a:rPr>
              <a:t>Next.js 14+</a:t>
            </a:r>
            <a:endParaRPr lang="en-US" sz="738" dirty="0"/>
          </a:p>
        </p:txBody>
      </p:sp>
      <p:sp>
        <p:nvSpPr>
          <p:cNvPr id="509" name="Shape 40">
            <a:extLst>
              <a:ext uri="{FF2B5EF4-FFF2-40B4-BE49-F238E27FC236}">
                <a16:creationId xmlns:a16="http://schemas.microsoft.com/office/drawing/2014/main" id="{E1CEFEC0-18B0-C2C9-DE2F-FF36C33CD228}"/>
              </a:ext>
            </a:extLst>
          </p:cNvPr>
          <p:cNvSpPr/>
          <p:nvPr/>
        </p:nvSpPr>
        <p:spPr>
          <a:xfrm>
            <a:off x="5288954" y="2675344"/>
            <a:ext cx="1444078" cy="729639"/>
          </a:xfrm>
          <a:prstGeom prst="roundRect">
            <a:avLst>
              <a:gd name="adj" fmla="val 5000"/>
            </a:avLst>
          </a:prstGeom>
          <a:solidFill>
            <a:srgbClr val="EAF6EE"/>
          </a:solidFill>
          <a:ln w="12700">
            <a:solidFill>
              <a:srgbClr val="A9D6B7"/>
            </a:solidFill>
            <a:prstDash val="solid"/>
          </a:ln>
        </p:spPr>
        <p:txBody>
          <a:bodyPr/>
          <a:lstStyle/>
          <a:p>
            <a:endParaRPr lang="en-IN"/>
          </a:p>
        </p:txBody>
      </p:sp>
      <p:pic>
        <p:nvPicPr>
          <p:cNvPr id="513" name="Image 9" descr="preencoded.png">
            <a:extLst>
              <a:ext uri="{FF2B5EF4-FFF2-40B4-BE49-F238E27FC236}">
                <a16:creationId xmlns:a16="http://schemas.microsoft.com/office/drawing/2014/main" id="{A94EF4B8-3278-C56E-F590-341268D8E5E6}"/>
              </a:ext>
            </a:extLst>
          </p:cNvPr>
          <p:cNvPicPr>
            <a:picLocks noChangeAspect="1"/>
          </p:cNvPicPr>
          <p:nvPr/>
        </p:nvPicPr>
        <p:blipFill>
          <a:blip r:embed="rId9"/>
          <a:stretch>
            <a:fillRect/>
          </a:stretch>
        </p:blipFill>
        <p:spPr>
          <a:xfrm>
            <a:off x="5896987" y="2736146"/>
            <a:ext cx="228012" cy="228012"/>
          </a:xfrm>
          <a:prstGeom prst="rect">
            <a:avLst/>
          </a:prstGeom>
        </p:spPr>
      </p:pic>
      <p:sp>
        <p:nvSpPr>
          <p:cNvPr id="517" name="Text 41">
            <a:extLst>
              <a:ext uri="{FF2B5EF4-FFF2-40B4-BE49-F238E27FC236}">
                <a16:creationId xmlns:a16="http://schemas.microsoft.com/office/drawing/2014/main" id="{BCB4B661-6B97-CA29-CC11-E46D14EEEB65}"/>
              </a:ext>
            </a:extLst>
          </p:cNvPr>
          <p:cNvSpPr txBox="1"/>
          <p:nvPr/>
        </p:nvSpPr>
        <p:spPr>
          <a:xfrm>
            <a:off x="5326956" y="2994561"/>
            <a:ext cx="1368074" cy="152008"/>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Microservice Pods</a:t>
            </a:r>
            <a:endParaRPr lang="en-US" sz="838" dirty="0"/>
          </a:p>
        </p:txBody>
      </p:sp>
      <p:sp>
        <p:nvSpPr>
          <p:cNvPr id="521" name="Text 42">
            <a:extLst>
              <a:ext uri="{FF2B5EF4-FFF2-40B4-BE49-F238E27FC236}">
                <a16:creationId xmlns:a16="http://schemas.microsoft.com/office/drawing/2014/main" id="{25A3F41C-F6DE-E720-0E85-11B65F4F94BC}"/>
              </a:ext>
            </a:extLst>
          </p:cNvPr>
          <p:cNvSpPr txBox="1"/>
          <p:nvPr/>
        </p:nvSpPr>
        <p:spPr>
          <a:xfrm>
            <a:off x="5326956" y="3146569"/>
            <a:ext cx="1368074" cy="136808"/>
          </a:xfrm>
          <a:prstGeom prst="rect">
            <a:avLst/>
          </a:prstGeom>
          <a:noFill/>
          <a:ln/>
        </p:spPr>
        <p:txBody>
          <a:bodyPr wrap="square" lIns="0" tIns="0" rIns="0" bIns="0" rtlCol="0" anchor="ctr"/>
          <a:lstStyle/>
          <a:p>
            <a:pPr algn="ctr">
              <a:lnSpc>
                <a:spcPct val="93000"/>
              </a:lnSpc>
            </a:pPr>
            <a:r>
              <a:rPr lang="en-US" sz="738" dirty="0">
                <a:solidFill>
                  <a:srgbClr val="1E6B3B"/>
                </a:solidFill>
                <a:latin typeface="Calibri" pitchFamily="34" charset="0"/>
                <a:ea typeface="Calibri" pitchFamily="34" charset="-122"/>
                <a:cs typeface="Calibri" pitchFamily="34" charset="-120"/>
              </a:rPr>
              <a:t>Java 25 + Spring Boot 4</a:t>
            </a:r>
            <a:endParaRPr lang="en-US" sz="738" dirty="0"/>
          </a:p>
        </p:txBody>
      </p:sp>
      <p:sp>
        <p:nvSpPr>
          <p:cNvPr id="525" name="Shape 43">
            <a:extLst>
              <a:ext uri="{FF2B5EF4-FFF2-40B4-BE49-F238E27FC236}">
                <a16:creationId xmlns:a16="http://schemas.microsoft.com/office/drawing/2014/main" id="{7600C207-356D-90EC-741E-38ADAD1A783C}"/>
              </a:ext>
            </a:extLst>
          </p:cNvPr>
          <p:cNvSpPr/>
          <p:nvPr/>
        </p:nvSpPr>
        <p:spPr>
          <a:xfrm>
            <a:off x="6824237" y="2675344"/>
            <a:ext cx="1444078" cy="729639"/>
          </a:xfrm>
          <a:prstGeom prst="roundRect">
            <a:avLst>
              <a:gd name="adj" fmla="val 5000"/>
            </a:avLst>
          </a:prstGeom>
          <a:solidFill>
            <a:srgbClr val="EAF6EE"/>
          </a:solidFill>
          <a:ln w="12700">
            <a:solidFill>
              <a:srgbClr val="A9D6B7"/>
            </a:solidFill>
            <a:prstDash val="solid"/>
          </a:ln>
        </p:spPr>
        <p:txBody>
          <a:bodyPr/>
          <a:lstStyle/>
          <a:p>
            <a:endParaRPr lang="en-IN"/>
          </a:p>
        </p:txBody>
      </p:sp>
      <p:pic>
        <p:nvPicPr>
          <p:cNvPr id="529" name="Image 10" descr="preencoded.png">
            <a:extLst>
              <a:ext uri="{FF2B5EF4-FFF2-40B4-BE49-F238E27FC236}">
                <a16:creationId xmlns:a16="http://schemas.microsoft.com/office/drawing/2014/main" id="{662CA7AA-8B06-7F22-052F-683D7F26990D}"/>
              </a:ext>
            </a:extLst>
          </p:cNvPr>
          <p:cNvPicPr>
            <a:picLocks noChangeAspect="1"/>
          </p:cNvPicPr>
          <p:nvPr/>
        </p:nvPicPr>
        <p:blipFill>
          <a:blip r:embed="rId10"/>
          <a:stretch>
            <a:fillRect/>
          </a:stretch>
        </p:blipFill>
        <p:spPr>
          <a:xfrm>
            <a:off x="7432269" y="2736146"/>
            <a:ext cx="228012" cy="228012"/>
          </a:xfrm>
          <a:prstGeom prst="rect">
            <a:avLst/>
          </a:prstGeom>
        </p:spPr>
      </p:pic>
      <p:sp>
        <p:nvSpPr>
          <p:cNvPr id="533" name="Text 44">
            <a:extLst>
              <a:ext uri="{FF2B5EF4-FFF2-40B4-BE49-F238E27FC236}">
                <a16:creationId xmlns:a16="http://schemas.microsoft.com/office/drawing/2014/main" id="{A37EBCA7-FD87-FE87-9A2F-7F323D9D358B}"/>
              </a:ext>
            </a:extLst>
          </p:cNvPr>
          <p:cNvSpPr txBox="1"/>
          <p:nvPr/>
        </p:nvSpPr>
        <p:spPr>
          <a:xfrm>
            <a:off x="6862239" y="2994561"/>
            <a:ext cx="1368074" cy="152008"/>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Platform Service Pods</a:t>
            </a:r>
            <a:endParaRPr lang="en-US" sz="838" dirty="0"/>
          </a:p>
        </p:txBody>
      </p:sp>
      <p:sp>
        <p:nvSpPr>
          <p:cNvPr id="537" name="Text 45">
            <a:extLst>
              <a:ext uri="{FF2B5EF4-FFF2-40B4-BE49-F238E27FC236}">
                <a16:creationId xmlns:a16="http://schemas.microsoft.com/office/drawing/2014/main" id="{9B572088-D378-0ABB-5C6C-4FE4B9537361}"/>
              </a:ext>
            </a:extLst>
          </p:cNvPr>
          <p:cNvSpPr txBox="1"/>
          <p:nvPr/>
        </p:nvSpPr>
        <p:spPr>
          <a:xfrm>
            <a:off x="6862239" y="3146569"/>
            <a:ext cx="1368074" cy="136808"/>
          </a:xfrm>
          <a:prstGeom prst="rect">
            <a:avLst/>
          </a:prstGeom>
          <a:noFill/>
          <a:ln/>
        </p:spPr>
        <p:txBody>
          <a:bodyPr wrap="square" lIns="0" tIns="0" rIns="0" bIns="0" rtlCol="0" anchor="ctr"/>
          <a:lstStyle/>
          <a:p>
            <a:pPr algn="ctr">
              <a:lnSpc>
                <a:spcPct val="93000"/>
              </a:lnSpc>
            </a:pPr>
            <a:r>
              <a:rPr lang="en-US" sz="738" dirty="0">
                <a:solidFill>
                  <a:srgbClr val="1E6B3B"/>
                </a:solidFill>
                <a:latin typeface="Calibri" pitchFamily="34" charset="0"/>
                <a:ea typeface="Calibri" pitchFamily="34" charset="-122"/>
                <a:cs typeface="Calibri" pitchFamily="34" charset="-120"/>
              </a:rPr>
              <a:t>shared capabilities</a:t>
            </a:r>
            <a:endParaRPr lang="en-US" sz="738" dirty="0"/>
          </a:p>
        </p:txBody>
      </p:sp>
      <p:sp>
        <p:nvSpPr>
          <p:cNvPr id="541" name="Shape 46">
            <a:extLst>
              <a:ext uri="{FF2B5EF4-FFF2-40B4-BE49-F238E27FC236}">
                <a16:creationId xmlns:a16="http://schemas.microsoft.com/office/drawing/2014/main" id="{4B044E83-48D9-DD58-80AF-9B0B35EC9B92}"/>
              </a:ext>
            </a:extLst>
          </p:cNvPr>
          <p:cNvSpPr/>
          <p:nvPr/>
        </p:nvSpPr>
        <p:spPr>
          <a:xfrm>
            <a:off x="8359519" y="2675344"/>
            <a:ext cx="1444078" cy="729639"/>
          </a:xfrm>
          <a:prstGeom prst="roundRect">
            <a:avLst>
              <a:gd name="adj" fmla="val 5000"/>
            </a:avLst>
          </a:prstGeom>
          <a:solidFill>
            <a:srgbClr val="EAF6EE"/>
          </a:solidFill>
          <a:ln w="12700">
            <a:solidFill>
              <a:srgbClr val="A9D6B7"/>
            </a:solidFill>
            <a:prstDash val="solid"/>
          </a:ln>
        </p:spPr>
        <p:txBody>
          <a:bodyPr/>
          <a:lstStyle/>
          <a:p>
            <a:endParaRPr lang="en-IN"/>
          </a:p>
        </p:txBody>
      </p:sp>
      <p:pic>
        <p:nvPicPr>
          <p:cNvPr id="545" name="Image 11" descr="preencoded.png">
            <a:extLst>
              <a:ext uri="{FF2B5EF4-FFF2-40B4-BE49-F238E27FC236}">
                <a16:creationId xmlns:a16="http://schemas.microsoft.com/office/drawing/2014/main" id="{F40749F4-5765-D974-4049-5538D42FA46A}"/>
              </a:ext>
            </a:extLst>
          </p:cNvPr>
          <p:cNvPicPr>
            <a:picLocks noChangeAspect="1"/>
          </p:cNvPicPr>
          <p:nvPr/>
        </p:nvPicPr>
        <p:blipFill>
          <a:blip r:embed="rId11"/>
          <a:stretch>
            <a:fillRect/>
          </a:stretch>
        </p:blipFill>
        <p:spPr>
          <a:xfrm>
            <a:off x="8967552" y="2736146"/>
            <a:ext cx="228012" cy="228012"/>
          </a:xfrm>
          <a:prstGeom prst="rect">
            <a:avLst/>
          </a:prstGeom>
        </p:spPr>
      </p:pic>
      <p:sp>
        <p:nvSpPr>
          <p:cNvPr id="549" name="Text 47">
            <a:extLst>
              <a:ext uri="{FF2B5EF4-FFF2-40B4-BE49-F238E27FC236}">
                <a16:creationId xmlns:a16="http://schemas.microsoft.com/office/drawing/2014/main" id="{4B3E30C4-3EAE-A655-DDDB-C5D03DF9C84B}"/>
              </a:ext>
            </a:extLst>
          </p:cNvPr>
          <p:cNvSpPr txBox="1"/>
          <p:nvPr/>
        </p:nvSpPr>
        <p:spPr>
          <a:xfrm>
            <a:off x="8397521" y="2994561"/>
            <a:ext cx="1368074" cy="152008"/>
          </a:xfrm>
          <a:prstGeom prst="rect">
            <a:avLst/>
          </a:prstGeom>
          <a:noFill/>
          <a:ln/>
        </p:spPr>
        <p:txBody>
          <a:bodyPr wrap="square" lIns="0" tIns="0" rIns="0" bIns="0" rtlCol="0" anchor="ctr"/>
          <a:lstStyle/>
          <a:p>
            <a:pPr algn="ctr">
              <a:lnSpc>
                <a:spcPct val="93000"/>
              </a:lnSpc>
            </a:pPr>
            <a:r>
              <a:rPr lang="en-US" sz="838" b="1" dirty="0">
                <a:solidFill>
                  <a:srgbClr val="1B3A66"/>
                </a:solidFill>
                <a:latin typeface="Calibri" pitchFamily="34" charset="0"/>
                <a:ea typeface="Calibri" pitchFamily="34" charset="-122"/>
                <a:cs typeface="Calibri" pitchFamily="34" charset="-120"/>
              </a:rPr>
              <a:t>Workflow Orchestration</a:t>
            </a:r>
            <a:endParaRPr lang="en-US" sz="838" dirty="0"/>
          </a:p>
        </p:txBody>
      </p:sp>
      <p:sp>
        <p:nvSpPr>
          <p:cNvPr id="553" name="Text 48">
            <a:extLst>
              <a:ext uri="{FF2B5EF4-FFF2-40B4-BE49-F238E27FC236}">
                <a16:creationId xmlns:a16="http://schemas.microsoft.com/office/drawing/2014/main" id="{2DAEC296-C9FD-69A8-F7B1-1115821F8BE1}"/>
              </a:ext>
            </a:extLst>
          </p:cNvPr>
          <p:cNvSpPr txBox="1"/>
          <p:nvPr/>
        </p:nvSpPr>
        <p:spPr>
          <a:xfrm>
            <a:off x="8397521" y="3146569"/>
            <a:ext cx="1368074" cy="136808"/>
          </a:xfrm>
          <a:prstGeom prst="rect">
            <a:avLst/>
          </a:prstGeom>
          <a:noFill/>
          <a:ln/>
        </p:spPr>
        <p:txBody>
          <a:bodyPr wrap="square" lIns="0" tIns="0" rIns="0" bIns="0" rtlCol="0" anchor="ctr"/>
          <a:lstStyle/>
          <a:p>
            <a:pPr algn="ctr">
              <a:lnSpc>
                <a:spcPct val="93000"/>
              </a:lnSpc>
            </a:pPr>
            <a:r>
              <a:rPr lang="en-US" sz="738" dirty="0">
                <a:solidFill>
                  <a:srgbClr val="1E6B3B"/>
                </a:solidFill>
                <a:latin typeface="Calibri" pitchFamily="34" charset="0"/>
                <a:ea typeface="Calibri" pitchFamily="34" charset="-122"/>
                <a:cs typeface="Calibri" pitchFamily="34" charset="-120"/>
              </a:rPr>
              <a:t>in-cluster</a:t>
            </a:r>
            <a:endParaRPr lang="en-US" sz="738" dirty="0"/>
          </a:p>
        </p:txBody>
      </p:sp>
      <p:sp>
        <p:nvSpPr>
          <p:cNvPr id="557" name="Text 49">
            <a:extLst>
              <a:ext uri="{FF2B5EF4-FFF2-40B4-BE49-F238E27FC236}">
                <a16:creationId xmlns:a16="http://schemas.microsoft.com/office/drawing/2014/main" id="{C4877C81-CD5C-37FC-EC3B-689913F08500}"/>
              </a:ext>
            </a:extLst>
          </p:cNvPr>
          <p:cNvSpPr txBox="1"/>
          <p:nvPr/>
        </p:nvSpPr>
        <p:spPr>
          <a:xfrm>
            <a:off x="3746072" y="3480987"/>
            <a:ext cx="6065125" cy="152008"/>
          </a:xfrm>
          <a:prstGeom prst="rect">
            <a:avLst/>
          </a:prstGeom>
          <a:noFill/>
          <a:ln/>
        </p:spPr>
        <p:txBody>
          <a:bodyPr wrap="square" lIns="0" tIns="0" rIns="0" bIns="0" rtlCol="0" anchor="ctr"/>
          <a:lstStyle/>
          <a:p>
            <a:pPr algn="ctr">
              <a:lnSpc>
                <a:spcPct val="93000"/>
              </a:lnSpc>
            </a:pPr>
            <a:r>
              <a:rPr lang="en-US" sz="778" i="1" dirty="0">
                <a:solidFill>
                  <a:srgbClr val="5B6472"/>
                </a:solidFill>
                <a:latin typeface="Calibri" pitchFamily="34" charset="0"/>
                <a:ea typeface="Calibri" pitchFamily="34" charset="-122"/>
                <a:cs typeface="Calibri" pitchFamily="34" charset="-120"/>
              </a:rPr>
              <a:t>Multiple service instances / pods  ·  horizontal autoscaling  ·  rolling deployment</a:t>
            </a:r>
            <a:endParaRPr lang="en-US" sz="778" dirty="0"/>
          </a:p>
        </p:txBody>
      </p:sp>
      <p:sp>
        <p:nvSpPr>
          <p:cNvPr id="561" name="Shape 50">
            <a:extLst>
              <a:ext uri="{FF2B5EF4-FFF2-40B4-BE49-F238E27FC236}">
                <a16:creationId xmlns:a16="http://schemas.microsoft.com/office/drawing/2014/main" id="{F65BE971-E684-F3CD-C4D9-595EE3F1FF37}"/>
              </a:ext>
            </a:extLst>
          </p:cNvPr>
          <p:cNvSpPr/>
          <p:nvPr/>
        </p:nvSpPr>
        <p:spPr>
          <a:xfrm>
            <a:off x="3670068" y="4043418"/>
            <a:ext cx="6217133" cy="1489680"/>
          </a:xfrm>
          <a:prstGeom prst="roundRect">
            <a:avLst>
              <a:gd name="adj" fmla="val 3061"/>
            </a:avLst>
          </a:prstGeom>
          <a:solidFill>
            <a:srgbClr val="F4F2FC"/>
          </a:solidFill>
          <a:ln w="12700">
            <a:solidFill>
              <a:srgbClr val="CFC7EC"/>
            </a:solidFill>
            <a:prstDash val="solid"/>
          </a:ln>
        </p:spPr>
        <p:txBody>
          <a:bodyPr/>
          <a:lstStyle/>
          <a:p>
            <a:endParaRPr lang="en-IN"/>
          </a:p>
        </p:txBody>
      </p:sp>
      <p:sp>
        <p:nvSpPr>
          <p:cNvPr id="565" name="Text 51">
            <a:extLst>
              <a:ext uri="{FF2B5EF4-FFF2-40B4-BE49-F238E27FC236}">
                <a16:creationId xmlns:a16="http://schemas.microsoft.com/office/drawing/2014/main" id="{C287398C-8974-E968-55F6-F66C14D33C21}"/>
              </a:ext>
            </a:extLst>
          </p:cNvPr>
          <p:cNvSpPr txBox="1"/>
          <p:nvPr/>
        </p:nvSpPr>
        <p:spPr>
          <a:xfrm>
            <a:off x="3730872" y="4058618"/>
            <a:ext cx="2584138" cy="121607"/>
          </a:xfrm>
          <a:prstGeom prst="rect">
            <a:avLst/>
          </a:prstGeom>
          <a:noFill/>
          <a:ln/>
        </p:spPr>
        <p:txBody>
          <a:bodyPr wrap="square" lIns="0" tIns="0" rIns="0" bIns="0" rtlCol="0" anchor="ctr"/>
          <a:lstStyle/>
          <a:p>
            <a:pPr>
              <a:lnSpc>
                <a:spcPct val="93000"/>
              </a:lnSpc>
            </a:pPr>
            <a:r>
              <a:rPr lang="en-US" sz="698" b="1" dirty="0">
                <a:solidFill>
                  <a:srgbClr val="6B6090"/>
                </a:solidFill>
                <a:latin typeface="Calibri" pitchFamily="34" charset="0"/>
                <a:ea typeface="Calibri" pitchFamily="34" charset="-122"/>
                <a:cs typeface="Calibri" pitchFamily="34" charset="-120"/>
              </a:rPr>
              <a:t>PRIVATE DATA SUBNET   ·   no public ingress</a:t>
            </a:r>
            <a:endParaRPr lang="en-US" sz="698" dirty="0"/>
          </a:p>
        </p:txBody>
      </p:sp>
      <p:sp>
        <p:nvSpPr>
          <p:cNvPr id="569" name="Shape 52">
            <a:extLst>
              <a:ext uri="{FF2B5EF4-FFF2-40B4-BE49-F238E27FC236}">
                <a16:creationId xmlns:a16="http://schemas.microsoft.com/office/drawing/2014/main" id="{9B865106-89D9-F5DB-FE4D-0B8760DE3DB7}"/>
              </a:ext>
            </a:extLst>
          </p:cNvPr>
          <p:cNvSpPr/>
          <p:nvPr/>
        </p:nvSpPr>
        <p:spPr>
          <a:xfrm>
            <a:off x="3715670" y="4210625"/>
            <a:ext cx="2280122" cy="1261667"/>
          </a:xfrm>
          <a:prstGeom prst="roundRect">
            <a:avLst>
              <a:gd name="adj" fmla="val 3615"/>
            </a:avLst>
          </a:prstGeom>
          <a:solidFill>
            <a:srgbClr val="FFFFFF"/>
          </a:solidFill>
          <a:ln w="12700">
            <a:solidFill>
              <a:srgbClr val="D8D2F0"/>
            </a:solidFill>
            <a:prstDash val="solid"/>
          </a:ln>
        </p:spPr>
        <p:txBody>
          <a:bodyPr/>
          <a:lstStyle/>
          <a:p>
            <a:endParaRPr lang="en-IN"/>
          </a:p>
        </p:txBody>
      </p:sp>
      <p:pic>
        <p:nvPicPr>
          <p:cNvPr id="573" name="Image 12" descr="preencoded.png">
            <a:extLst>
              <a:ext uri="{FF2B5EF4-FFF2-40B4-BE49-F238E27FC236}">
                <a16:creationId xmlns:a16="http://schemas.microsoft.com/office/drawing/2014/main" id="{9A57F7C7-BE78-CF11-D375-6802EC40DF75}"/>
              </a:ext>
            </a:extLst>
          </p:cNvPr>
          <p:cNvPicPr>
            <a:picLocks noChangeAspect="1"/>
          </p:cNvPicPr>
          <p:nvPr/>
        </p:nvPicPr>
        <p:blipFill>
          <a:blip r:embed="rId12"/>
          <a:stretch>
            <a:fillRect/>
          </a:stretch>
        </p:blipFill>
        <p:spPr>
          <a:xfrm>
            <a:off x="3822076" y="4271430"/>
            <a:ext cx="212812" cy="212812"/>
          </a:xfrm>
          <a:prstGeom prst="rect">
            <a:avLst/>
          </a:prstGeom>
        </p:spPr>
      </p:pic>
      <p:sp>
        <p:nvSpPr>
          <p:cNvPr id="577" name="Text 53">
            <a:extLst>
              <a:ext uri="{FF2B5EF4-FFF2-40B4-BE49-F238E27FC236}">
                <a16:creationId xmlns:a16="http://schemas.microsoft.com/office/drawing/2014/main" id="{4C3C8CFD-43DB-1231-FEB8-875FFDE0A22B}"/>
              </a:ext>
            </a:extLst>
          </p:cNvPr>
          <p:cNvSpPr txBox="1"/>
          <p:nvPr/>
        </p:nvSpPr>
        <p:spPr>
          <a:xfrm>
            <a:off x="4095691" y="4256228"/>
            <a:ext cx="1824097" cy="152008"/>
          </a:xfrm>
          <a:prstGeom prst="rect">
            <a:avLst/>
          </a:prstGeom>
          <a:noFill/>
          <a:ln/>
        </p:spPr>
        <p:txBody>
          <a:bodyPr wrap="square" lIns="0" tIns="0" rIns="0" bIns="0" rtlCol="0" anchor="ctr"/>
          <a:lstStyle/>
          <a:p>
            <a:pPr>
              <a:lnSpc>
                <a:spcPct val="93000"/>
              </a:lnSpc>
            </a:pPr>
            <a:r>
              <a:rPr lang="en-US" sz="898" b="1" dirty="0">
                <a:solidFill>
                  <a:srgbClr val="11397C"/>
                </a:solidFill>
                <a:latin typeface="Calibri" pitchFamily="34" charset="0"/>
                <a:ea typeface="Calibri" pitchFamily="34" charset="-122"/>
                <a:cs typeface="Calibri" pitchFamily="34" charset="-120"/>
              </a:rPr>
              <a:t>Managed PostgreSQL</a:t>
            </a:r>
            <a:endParaRPr lang="en-US" sz="898" dirty="0"/>
          </a:p>
        </p:txBody>
      </p:sp>
      <p:sp>
        <p:nvSpPr>
          <p:cNvPr id="581" name="Shape 54">
            <a:extLst>
              <a:ext uri="{FF2B5EF4-FFF2-40B4-BE49-F238E27FC236}">
                <a16:creationId xmlns:a16="http://schemas.microsoft.com/office/drawing/2014/main" id="{AC845A0D-B94C-DB50-9110-E046771C09AE}"/>
              </a:ext>
            </a:extLst>
          </p:cNvPr>
          <p:cNvSpPr/>
          <p:nvPr/>
        </p:nvSpPr>
        <p:spPr>
          <a:xfrm>
            <a:off x="3822076" y="4484241"/>
            <a:ext cx="2067311" cy="197611"/>
          </a:xfrm>
          <a:prstGeom prst="roundRect">
            <a:avLst>
              <a:gd name="adj" fmla="val 46155"/>
            </a:avLst>
          </a:prstGeom>
          <a:solidFill>
            <a:srgbClr val="F4F2FC"/>
          </a:solidFill>
          <a:ln w="12700">
            <a:solidFill>
              <a:srgbClr val="BFB6E4"/>
            </a:solidFill>
            <a:prstDash val="solid"/>
          </a:ln>
        </p:spPr>
        <p:txBody>
          <a:bodyPr/>
          <a:lstStyle/>
          <a:p>
            <a:endParaRPr lang="en-IN"/>
          </a:p>
        </p:txBody>
      </p:sp>
      <p:sp>
        <p:nvSpPr>
          <p:cNvPr id="585" name="Text 55">
            <a:extLst>
              <a:ext uri="{FF2B5EF4-FFF2-40B4-BE49-F238E27FC236}">
                <a16:creationId xmlns:a16="http://schemas.microsoft.com/office/drawing/2014/main" id="{615F7859-3B62-95A0-8088-371C5915E548}"/>
              </a:ext>
            </a:extLst>
          </p:cNvPr>
          <p:cNvSpPr txBox="1"/>
          <p:nvPr/>
        </p:nvSpPr>
        <p:spPr>
          <a:xfrm>
            <a:off x="3852477" y="4484241"/>
            <a:ext cx="2006508" cy="197611"/>
          </a:xfrm>
          <a:prstGeom prst="rect">
            <a:avLst/>
          </a:prstGeom>
          <a:noFill/>
          <a:ln/>
        </p:spPr>
        <p:txBody>
          <a:bodyPr wrap="square" lIns="0" tIns="0" rIns="0" bIns="0" rtlCol="0" anchor="ctr"/>
          <a:lstStyle/>
          <a:p>
            <a:pPr algn="ctr">
              <a:lnSpc>
                <a:spcPct val="93000"/>
              </a:lnSpc>
            </a:pPr>
            <a:r>
              <a:rPr lang="en-US" sz="798" b="1" dirty="0">
                <a:solidFill>
                  <a:srgbClr val="46326B"/>
                </a:solidFill>
                <a:latin typeface="Calibri" pitchFamily="34" charset="0"/>
                <a:ea typeface="Calibri" pitchFamily="34" charset="-122"/>
                <a:cs typeface="Calibri" pitchFamily="34" charset="-120"/>
              </a:rPr>
              <a:t>Primary  (Read / Write)</a:t>
            </a:r>
            <a:endParaRPr lang="en-US" sz="798" dirty="0"/>
          </a:p>
        </p:txBody>
      </p:sp>
      <p:sp>
        <p:nvSpPr>
          <p:cNvPr id="589" name="Shape 56">
            <a:extLst>
              <a:ext uri="{FF2B5EF4-FFF2-40B4-BE49-F238E27FC236}">
                <a16:creationId xmlns:a16="http://schemas.microsoft.com/office/drawing/2014/main" id="{2ACA9681-B054-1381-69C2-6CDB95B5B091}"/>
              </a:ext>
            </a:extLst>
          </p:cNvPr>
          <p:cNvSpPr/>
          <p:nvPr/>
        </p:nvSpPr>
        <p:spPr>
          <a:xfrm>
            <a:off x="4855731" y="4697052"/>
            <a:ext cx="0" cy="136808"/>
          </a:xfrm>
          <a:prstGeom prst="line">
            <a:avLst/>
          </a:prstGeom>
          <a:noFill/>
          <a:ln w="15240">
            <a:solidFill>
              <a:srgbClr val="6B7280"/>
            </a:solidFill>
            <a:prstDash val="dash"/>
            <a:headEnd type="none"/>
            <a:tailEnd type="triangle"/>
          </a:ln>
        </p:spPr>
        <p:txBody>
          <a:bodyPr/>
          <a:lstStyle/>
          <a:p>
            <a:endParaRPr lang="en-IN"/>
          </a:p>
        </p:txBody>
      </p:sp>
      <p:sp>
        <p:nvSpPr>
          <p:cNvPr id="593" name="Text 57">
            <a:extLst>
              <a:ext uri="{FF2B5EF4-FFF2-40B4-BE49-F238E27FC236}">
                <a16:creationId xmlns:a16="http://schemas.microsoft.com/office/drawing/2014/main" id="{A01D7EBC-AA4F-E8A9-50AF-96D2C7D361C5}"/>
              </a:ext>
            </a:extLst>
          </p:cNvPr>
          <p:cNvSpPr txBox="1"/>
          <p:nvPr/>
        </p:nvSpPr>
        <p:spPr>
          <a:xfrm>
            <a:off x="4916535" y="4681851"/>
            <a:ext cx="608033" cy="152008"/>
          </a:xfrm>
          <a:prstGeom prst="rect">
            <a:avLst/>
          </a:prstGeom>
          <a:noFill/>
          <a:ln/>
        </p:spPr>
        <p:txBody>
          <a:bodyPr wrap="square" lIns="0" tIns="0" rIns="0" bIns="0" rtlCol="0" anchor="ctr"/>
          <a:lstStyle/>
          <a:p>
            <a:pPr>
              <a:lnSpc>
                <a:spcPct val="93000"/>
              </a:lnSpc>
            </a:pPr>
            <a:r>
              <a:rPr lang="en-US" sz="658" i="1" dirty="0">
                <a:solidFill>
                  <a:srgbClr val="6B7280"/>
                </a:solidFill>
                <a:latin typeface="Calibri" pitchFamily="34" charset="0"/>
                <a:ea typeface="Calibri" pitchFamily="34" charset="-122"/>
                <a:cs typeface="Calibri" pitchFamily="34" charset="-120"/>
              </a:rPr>
              <a:t>Replication</a:t>
            </a:r>
            <a:endParaRPr lang="en-US" sz="658" dirty="0"/>
          </a:p>
        </p:txBody>
      </p:sp>
      <p:sp>
        <p:nvSpPr>
          <p:cNvPr id="597" name="Shape 58">
            <a:extLst>
              <a:ext uri="{FF2B5EF4-FFF2-40B4-BE49-F238E27FC236}">
                <a16:creationId xmlns:a16="http://schemas.microsoft.com/office/drawing/2014/main" id="{26CC504E-730D-17C3-6EB1-C5B5333C99CC}"/>
              </a:ext>
            </a:extLst>
          </p:cNvPr>
          <p:cNvSpPr/>
          <p:nvPr/>
        </p:nvSpPr>
        <p:spPr>
          <a:xfrm>
            <a:off x="3822076" y="4849060"/>
            <a:ext cx="2067311" cy="197611"/>
          </a:xfrm>
          <a:prstGeom prst="roundRect">
            <a:avLst>
              <a:gd name="adj" fmla="val 46155"/>
            </a:avLst>
          </a:prstGeom>
          <a:solidFill>
            <a:srgbClr val="FBFAFE"/>
          </a:solidFill>
          <a:ln w="12700">
            <a:solidFill>
              <a:srgbClr val="CFC7EC"/>
            </a:solidFill>
            <a:prstDash val="solid"/>
          </a:ln>
        </p:spPr>
        <p:txBody>
          <a:bodyPr/>
          <a:lstStyle/>
          <a:p>
            <a:endParaRPr lang="en-IN"/>
          </a:p>
        </p:txBody>
      </p:sp>
      <p:sp>
        <p:nvSpPr>
          <p:cNvPr id="601" name="Text 59">
            <a:extLst>
              <a:ext uri="{FF2B5EF4-FFF2-40B4-BE49-F238E27FC236}">
                <a16:creationId xmlns:a16="http://schemas.microsoft.com/office/drawing/2014/main" id="{98C2F764-C3DB-FBA2-A1BA-BA1E748F256A}"/>
              </a:ext>
            </a:extLst>
          </p:cNvPr>
          <p:cNvSpPr txBox="1"/>
          <p:nvPr/>
        </p:nvSpPr>
        <p:spPr>
          <a:xfrm>
            <a:off x="3852477" y="4849060"/>
            <a:ext cx="2006508" cy="197611"/>
          </a:xfrm>
          <a:prstGeom prst="rect">
            <a:avLst/>
          </a:prstGeom>
          <a:noFill/>
          <a:ln/>
        </p:spPr>
        <p:txBody>
          <a:bodyPr wrap="square" lIns="0" tIns="0" rIns="0" bIns="0" rtlCol="0" anchor="ctr"/>
          <a:lstStyle/>
          <a:p>
            <a:pPr algn="ctr">
              <a:lnSpc>
                <a:spcPct val="93000"/>
              </a:lnSpc>
            </a:pPr>
            <a:r>
              <a:rPr lang="en-US" sz="798" b="1" dirty="0">
                <a:solidFill>
                  <a:srgbClr val="6A5E8E"/>
                </a:solidFill>
                <a:latin typeface="Calibri" pitchFamily="34" charset="0"/>
                <a:ea typeface="Calibri" pitchFamily="34" charset="-122"/>
                <a:cs typeface="Calibri" pitchFamily="34" charset="-120"/>
              </a:rPr>
              <a:t>Read Replica  (Read)</a:t>
            </a:r>
            <a:endParaRPr lang="en-US" sz="798" dirty="0"/>
          </a:p>
        </p:txBody>
      </p:sp>
      <p:sp>
        <p:nvSpPr>
          <p:cNvPr id="605" name="Shape 60">
            <a:extLst>
              <a:ext uri="{FF2B5EF4-FFF2-40B4-BE49-F238E27FC236}">
                <a16:creationId xmlns:a16="http://schemas.microsoft.com/office/drawing/2014/main" id="{94C9B4FF-78D0-E511-63A9-D2ADA446F75B}"/>
              </a:ext>
            </a:extLst>
          </p:cNvPr>
          <p:cNvSpPr/>
          <p:nvPr/>
        </p:nvSpPr>
        <p:spPr>
          <a:xfrm>
            <a:off x="5509366" y="5077073"/>
            <a:ext cx="380020" cy="114006"/>
          </a:xfrm>
          <a:prstGeom prst="roundRect">
            <a:avLst>
              <a:gd name="adj" fmla="val 128003"/>
            </a:avLst>
          </a:prstGeom>
          <a:solidFill>
            <a:srgbClr val="FDF1E3"/>
          </a:solidFill>
          <a:ln w="12700">
            <a:solidFill>
              <a:srgbClr val="D9A441"/>
            </a:solidFill>
            <a:prstDash val="solid"/>
          </a:ln>
        </p:spPr>
        <p:txBody>
          <a:bodyPr/>
          <a:lstStyle/>
          <a:p>
            <a:endParaRPr lang="en-IN"/>
          </a:p>
        </p:txBody>
      </p:sp>
      <p:sp>
        <p:nvSpPr>
          <p:cNvPr id="609" name="Text 61">
            <a:extLst>
              <a:ext uri="{FF2B5EF4-FFF2-40B4-BE49-F238E27FC236}">
                <a16:creationId xmlns:a16="http://schemas.microsoft.com/office/drawing/2014/main" id="{BB967EBB-688C-E59F-A78C-8D7E4F892525}"/>
              </a:ext>
            </a:extLst>
          </p:cNvPr>
          <p:cNvSpPr txBox="1"/>
          <p:nvPr/>
        </p:nvSpPr>
        <p:spPr>
          <a:xfrm>
            <a:off x="5524568" y="5077073"/>
            <a:ext cx="349618" cy="114006"/>
          </a:xfrm>
          <a:prstGeom prst="rect">
            <a:avLst/>
          </a:prstGeom>
          <a:noFill/>
          <a:ln/>
        </p:spPr>
        <p:txBody>
          <a:bodyPr wrap="square" lIns="0" tIns="0" rIns="0" bIns="0" rtlCol="0" anchor="ctr"/>
          <a:lstStyle/>
          <a:p>
            <a:pPr algn="ctr">
              <a:lnSpc>
                <a:spcPct val="93000"/>
              </a:lnSpc>
            </a:pPr>
            <a:r>
              <a:rPr lang="en-US" sz="599" b="1" dirty="0">
                <a:solidFill>
                  <a:srgbClr val="8A6A16"/>
                </a:solidFill>
                <a:latin typeface="Calibri" pitchFamily="34" charset="0"/>
                <a:ea typeface="Calibri" pitchFamily="34" charset="-122"/>
                <a:cs typeface="Calibri" pitchFamily="34" charset="-120"/>
              </a:rPr>
              <a:t>Phase 2</a:t>
            </a:r>
            <a:endParaRPr lang="en-US" sz="599" dirty="0"/>
          </a:p>
        </p:txBody>
      </p:sp>
      <p:sp>
        <p:nvSpPr>
          <p:cNvPr id="613" name="Shape 62">
            <a:extLst>
              <a:ext uri="{FF2B5EF4-FFF2-40B4-BE49-F238E27FC236}">
                <a16:creationId xmlns:a16="http://schemas.microsoft.com/office/drawing/2014/main" id="{E3B32589-B464-A148-6C99-172BAFB08E48}"/>
              </a:ext>
            </a:extLst>
          </p:cNvPr>
          <p:cNvSpPr/>
          <p:nvPr/>
        </p:nvSpPr>
        <p:spPr>
          <a:xfrm>
            <a:off x="6102199" y="4210625"/>
            <a:ext cx="1748093" cy="1261667"/>
          </a:xfrm>
          <a:prstGeom prst="roundRect">
            <a:avLst>
              <a:gd name="adj" fmla="val 3615"/>
            </a:avLst>
          </a:prstGeom>
          <a:solidFill>
            <a:srgbClr val="FFFFFF"/>
          </a:solidFill>
          <a:ln w="12700">
            <a:solidFill>
              <a:srgbClr val="D8D2F0"/>
            </a:solidFill>
            <a:prstDash val="solid"/>
          </a:ln>
        </p:spPr>
        <p:txBody>
          <a:bodyPr/>
          <a:lstStyle/>
          <a:p>
            <a:endParaRPr lang="en-IN"/>
          </a:p>
        </p:txBody>
      </p:sp>
      <p:sp>
        <p:nvSpPr>
          <p:cNvPr id="617" name="Shape 63">
            <a:extLst>
              <a:ext uri="{FF2B5EF4-FFF2-40B4-BE49-F238E27FC236}">
                <a16:creationId xmlns:a16="http://schemas.microsoft.com/office/drawing/2014/main" id="{2B9C576D-B16E-94CE-6863-EF4E941324DD}"/>
              </a:ext>
            </a:extLst>
          </p:cNvPr>
          <p:cNvSpPr/>
          <p:nvPr/>
        </p:nvSpPr>
        <p:spPr>
          <a:xfrm>
            <a:off x="7409468" y="4256228"/>
            <a:ext cx="380020" cy="114006"/>
          </a:xfrm>
          <a:prstGeom prst="roundRect">
            <a:avLst>
              <a:gd name="adj" fmla="val 128003"/>
            </a:avLst>
          </a:prstGeom>
          <a:solidFill>
            <a:srgbClr val="FDF1E3"/>
          </a:solidFill>
          <a:ln w="12700">
            <a:solidFill>
              <a:srgbClr val="D9A441"/>
            </a:solidFill>
            <a:prstDash val="solid"/>
          </a:ln>
        </p:spPr>
        <p:txBody>
          <a:bodyPr/>
          <a:lstStyle/>
          <a:p>
            <a:endParaRPr lang="en-IN"/>
          </a:p>
        </p:txBody>
      </p:sp>
      <p:sp>
        <p:nvSpPr>
          <p:cNvPr id="621" name="Text 64">
            <a:extLst>
              <a:ext uri="{FF2B5EF4-FFF2-40B4-BE49-F238E27FC236}">
                <a16:creationId xmlns:a16="http://schemas.microsoft.com/office/drawing/2014/main" id="{C508CFE5-103D-F8E7-4D69-559E7491ADDB}"/>
              </a:ext>
            </a:extLst>
          </p:cNvPr>
          <p:cNvSpPr txBox="1"/>
          <p:nvPr/>
        </p:nvSpPr>
        <p:spPr>
          <a:xfrm>
            <a:off x="7424669" y="4256228"/>
            <a:ext cx="349618" cy="114006"/>
          </a:xfrm>
          <a:prstGeom prst="rect">
            <a:avLst/>
          </a:prstGeom>
          <a:noFill/>
          <a:ln/>
        </p:spPr>
        <p:txBody>
          <a:bodyPr wrap="square" lIns="0" tIns="0" rIns="0" bIns="0" rtlCol="0" anchor="ctr"/>
          <a:lstStyle/>
          <a:p>
            <a:pPr algn="ctr">
              <a:lnSpc>
                <a:spcPct val="93000"/>
              </a:lnSpc>
            </a:pPr>
            <a:r>
              <a:rPr lang="en-US" sz="599" b="1" dirty="0">
                <a:solidFill>
                  <a:srgbClr val="8A6A16"/>
                </a:solidFill>
                <a:latin typeface="Calibri" pitchFamily="34" charset="0"/>
                <a:ea typeface="Calibri" pitchFamily="34" charset="-122"/>
                <a:cs typeface="Calibri" pitchFamily="34" charset="-120"/>
              </a:rPr>
              <a:t>Phase 2</a:t>
            </a:r>
            <a:endParaRPr lang="en-US" sz="599" dirty="0"/>
          </a:p>
        </p:txBody>
      </p:sp>
      <p:pic>
        <p:nvPicPr>
          <p:cNvPr id="625" name="Image 13" descr="preencoded.png">
            <a:extLst>
              <a:ext uri="{FF2B5EF4-FFF2-40B4-BE49-F238E27FC236}">
                <a16:creationId xmlns:a16="http://schemas.microsoft.com/office/drawing/2014/main" id="{62861252-E90D-7EA7-7A6E-87963DFE0161}"/>
              </a:ext>
            </a:extLst>
          </p:cNvPr>
          <p:cNvPicPr>
            <a:picLocks noChangeAspect="1"/>
          </p:cNvPicPr>
          <p:nvPr/>
        </p:nvPicPr>
        <p:blipFill>
          <a:blip r:embed="rId13"/>
          <a:stretch>
            <a:fillRect/>
          </a:stretch>
        </p:blipFill>
        <p:spPr>
          <a:xfrm>
            <a:off x="6208604" y="4499441"/>
            <a:ext cx="228012" cy="228012"/>
          </a:xfrm>
          <a:prstGeom prst="rect">
            <a:avLst/>
          </a:prstGeom>
        </p:spPr>
      </p:pic>
      <p:sp>
        <p:nvSpPr>
          <p:cNvPr id="629" name="Text 65">
            <a:extLst>
              <a:ext uri="{FF2B5EF4-FFF2-40B4-BE49-F238E27FC236}">
                <a16:creationId xmlns:a16="http://schemas.microsoft.com/office/drawing/2014/main" id="{7DDCA7DA-F09D-705E-CB06-5B9574D72610}"/>
              </a:ext>
            </a:extLst>
          </p:cNvPr>
          <p:cNvSpPr txBox="1"/>
          <p:nvPr/>
        </p:nvSpPr>
        <p:spPr>
          <a:xfrm>
            <a:off x="6497420" y="4438638"/>
            <a:ext cx="1261667" cy="152008"/>
          </a:xfrm>
          <a:prstGeom prst="rect">
            <a:avLst/>
          </a:prstGeom>
          <a:noFill/>
          <a:ln/>
        </p:spPr>
        <p:txBody>
          <a:bodyPr wrap="square" lIns="0" tIns="0" rIns="0" bIns="0" rtlCol="0" anchor="ctr"/>
          <a:lstStyle/>
          <a:p>
            <a:pPr>
              <a:lnSpc>
                <a:spcPct val="93000"/>
              </a:lnSpc>
            </a:pPr>
            <a:r>
              <a:rPr lang="en-US" sz="898" b="1" dirty="0">
                <a:solidFill>
                  <a:srgbClr val="11397C"/>
                </a:solidFill>
                <a:latin typeface="Calibri" pitchFamily="34" charset="0"/>
                <a:ea typeface="Calibri" pitchFamily="34" charset="-122"/>
                <a:cs typeface="Calibri" pitchFamily="34" charset="-120"/>
              </a:rPr>
              <a:t>Managed Redis</a:t>
            </a:r>
            <a:endParaRPr lang="en-US" sz="898" dirty="0"/>
          </a:p>
        </p:txBody>
      </p:sp>
      <p:sp>
        <p:nvSpPr>
          <p:cNvPr id="631" name="Text 66">
            <a:extLst>
              <a:ext uri="{FF2B5EF4-FFF2-40B4-BE49-F238E27FC236}">
                <a16:creationId xmlns:a16="http://schemas.microsoft.com/office/drawing/2014/main" id="{E678A6FF-B21A-A259-DF3D-B15A85C8934A}"/>
              </a:ext>
            </a:extLst>
          </p:cNvPr>
          <p:cNvSpPr txBox="1"/>
          <p:nvPr/>
        </p:nvSpPr>
        <p:spPr>
          <a:xfrm>
            <a:off x="6497420" y="4605848"/>
            <a:ext cx="1261667" cy="273615"/>
          </a:xfrm>
          <a:prstGeom prst="rect">
            <a:avLst/>
          </a:prstGeom>
          <a:noFill/>
          <a:ln/>
        </p:spPr>
        <p:txBody>
          <a:bodyPr wrap="square" lIns="0" tIns="0" rIns="0" bIns="0" rtlCol="0" anchor="ctr"/>
          <a:lstStyle/>
          <a:p>
            <a:pPr>
              <a:lnSpc>
                <a:spcPct val="95000"/>
              </a:lnSpc>
            </a:pPr>
            <a:r>
              <a:rPr lang="en-US" sz="778" dirty="0">
                <a:solidFill>
                  <a:srgbClr val="2A6099"/>
                </a:solidFill>
                <a:latin typeface="Calibri" pitchFamily="34" charset="0"/>
                <a:ea typeface="Calibri" pitchFamily="34" charset="-122"/>
                <a:cs typeface="Calibri" pitchFamily="34" charset="-120"/>
              </a:rPr>
              <a:t>Distributed cache</a:t>
            </a:r>
            <a:endParaRPr lang="en-US" sz="778" dirty="0"/>
          </a:p>
          <a:p>
            <a:pPr>
              <a:lnSpc>
                <a:spcPct val="95000"/>
              </a:lnSpc>
            </a:pPr>
            <a:r>
              <a:rPr lang="en-US" sz="778" dirty="0">
                <a:solidFill>
                  <a:srgbClr val="2A6099"/>
                </a:solidFill>
                <a:latin typeface="Calibri" pitchFamily="34" charset="0"/>
                <a:ea typeface="Calibri" pitchFamily="34" charset="-122"/>
                <a:cs typeface="Calibri" pitchFamily="34" charset="-120"/>
              </a:rPr>
              <a:t>Session / performance</a:t>
            </a:r>
            <a:endParaRPr lang="en-US" sz="778" dirty="0"/>
          </a:p>
        </p:txBody>
      </p:sp>
      <p:sp>
        <p:nvSpPr>
          <p:cNvPr id="633" name="Shape 67">
            <a:extLst>
              <a:ext uri="{FF2B5EF4-FFF2-40B4-BE49-F238E27FC236}">
                <a16:creationId xmlns:a16="http://schemas.microsoft.com/office/drawing/2014/main" id="{9C1A9EA1-99AB-4E1B-722D-859775354BC3}"/>
              </a:ext>
            </a:extLst>
          </p:cNvPr>
          <p:cNvSpPr/>
          <p:nvPr/>
        </p:nvSpPr>
        <p:spPr>
          <a:xfrm>
            <a:off x="7956698" y="4210625"/>
            <a:ext cx="1884901" cy="1261667"/>
          </a:xfrm>
          <a:prstGeom prst="roundRect">
            <a:avLst>
              <a:gd name="adj" fmla="val 3615"/>
            </a:avLst>
          </a:prstGeom>
          <a:solidFill>
            <a:srgbClr val="FFFFFF"/>
          </a:solidFill>
          <a:ln w="12700">
            <a:solidFill>
              <a:srgbClr val="D8D2F0"/>
            </a:solidFill>
            <a:prstDash val="solid"/>
          </a:ln>
        </p:spPr>
        <p:txBody>
          <a:bodyPr/>
          <a:lstStyle/>
          <a:p>
            <a:endParaRPr lang="en-IN"/>
          </a:p>
        </p:txBody>
      </p:sp>
      <p:sp>
        <p:nvSpPr>
          <p:cNvPr id="635" name="Shape 68">
            <a:extLst>
              <a:ext uri="{FF2B5EF4-FFF2-40B4-BE49-F238E27FC236}">
                <a16:creationId xmlns:a16="http://schemas.microsoft.com/office/drawing/2014/main" id="{70C9FBA6-D470-6596-4918-56B8D8690A5D}"/>
              </a:ext>
            </a:extLst>
          </p:cNvPr>
          <p:cNvSpPr/>
          <p:nvPr/>
        </p:nvSpPr>
        <p:spPr>
          <a:xfrm>
            <a:off x="9400775" y="4256228"/>
            <a:ext cx="380020" cy="114006"/>
          </a:xfrm>
          <a:prstGeom prst="roundRect">
            <a:avLst>
              <a:gd name="adj" fmla="val 128003"/>
            </a:avLst>
          </a:prstGeom>
          <a:solidFill>
            <a:srgbClr val="FDF1E3"/>
          </a:solidFill>
          <a:ln w="12700">
            <a:solidFill>
              <a:srgbClr val="D9A441"/>
            </a:solidFill>
            <a:prstDash val="solid"/>
          </a:ln>
        </p:spPr>
        <p:txBody>
          <a:bodyPr/>
          <a:lstStyle/>
          <a:p>
            <a:endParaRPr lang="en-IN"/>
          </a:p>
        </p:txBody>
      </p:sp>
      <p:sp>
        <p:nvSpPr>
          <p:cNvPr id="637" name="Text 69">
            <a:extLst>
              <a:ext uri="{FF2B5EF4-FFF2-40B4-BE49-F238E27FC236}">
                <a16:creationId xmlns:a16="http://schemas.microsoft.com/office/drawing/2014/main" id="{68F39D30-C0AF-E627-86C7-F9A970C23985}"/>
              </a:ext>
            </a:extLst>
          </p:cNvPr>
          <p:cNvSpPr txBox="1"/>
          <p:nvPr/>
        </p:nvSpPr>
        <p:spPr>
          <a:xfrm>
            <a:off x="9415977" y="4256228"/>
            <a:ext cx="349618" cy="114006"/>
          </a:xfrm>
          <a:prstGeom prst="rect">
            <a:avLst/>
          </a:prstGeom>
          <a:noFill/>
          <a:ln/>
        </p:spPr>
        <p:txBody>
          <a:bodyPr wrap="square" lIns="0" tIns="0" rIns="0" bIns="0" rtlCol="0" anchor="ctr"/>
          <a:lstStyle/>
          <a:p>
            <a:pPr algn="ctr">
              <a:lnSpc>
                <a:spcPct val="93000"/>
              </a:lnSpc>
            </a:pPr>
            <a:r>
              <a:rPr lang="en-US" sz="599" b="1" dirty="0">
                <a:solidFill>
                  <a:srgbClr val="8A6A16"/>
                </a:solidFill>
                <a:latin typeface="Calibri" pitchFamily="34" charset="0"/>
                <a:ea typeface="Calibri" pitchFamily="34" charset="-122"/>
                <a:cs typeface="Calibri" pitchFamily="34" charset="-120"/>
              </a:rPr>
              <a:t>Phase 2</a:t>
            </a:r>
            <a:endParaRPr lang="en-US" sz="599" dirty="0"/>
          </a:p>
        </p:txBody>
      </p:sp>
      <p:pic>
        <p:nvPicPr>
          <p:cNvPr id="639" name="Image 14" descr="preencoded.png">
            <a:extLst>
              <a:ext uri="{FF2B5EF4-FFF2-40B4-BE49-F238E27FC236}">
                <a16:creationId xmlns:a16="http://schemas.microsoft.com/office/drawing/2014/main" id="{F9A4EAE3-182B-453B-6874-3B39B1D24684}"/>
              </a:ext>
            </a:extLst>
          </p:cNvPr>
          <p:cNvPicPr>
            <a:picLocks noChangeAspect="1"/>
          </p:cNvPicPr>
          <p:nvPr/>
        </p:nvPicPr>
        <p:blipFill>
          <a:blip r:embed="rId14"/>
          <a:stretch>
            <a:fillRect/>
          </a:stretch>
        </p:blipFill>
        <p:spPr>
          <a:xfrm>
            <a:off x="8063103" y="4514642"/>
            <a:ext cx="228012" cy="228012"/>
          </a:xfrm>
          <a:prstGeom prst="rect">
            <a:avLst/>
          </a:prstGeom>
        </p:spPr>
      </p:pic>
      <p:sp>
        <p:nvSpPr>
          <p:cNvPr id="257" name="Text 70">
            <a:extLst>
              <a:ext uri="{FF2B5EF4-FFF2-40B4-BE49-F238E27FC236}">
                <a16:creationId xmlns:a16="http://schemas.microsoft.com/office/drawing/2014/main" id="{BD95C825-C9EF-5805-CD7E-C76B0334AC6D}"/>
              </a:ext>
            </a:extLst>
          </p:cNvPr>
          <p:cNvSpPr txBox="1"/>
          <p:nvPr/>
        </p:nvSpPr>
        <p:spPr>
          <a:xfrm>
            <a:off x="8351919" y="4423437"/>
            <a:ext cx="1413676" cy="243213"/>
          </a:xfrm>
          <a:prstGeom prst="rect">
            <a:avLst/>
          </a:prstGeom>
          <a:noFill/>
          <a:ln/>
        </p:spPr>
        <p:txBody>
          <a:bodyPr wrap="square" lIns="0" tIns="0" rIns="0" bIns="0" rtlCol="0" anchor="ctr"/>
          <a:lstStyle/>
          <a:p>
            <a:pPr>
              <a:lnSpc>
                <a:spcPct val="90000"/>
              </a:lnSpc>
            </a:pPr>
            <a:r>
              <a:rPr lang="en-US" sz="898" b="1" dirty="0">
                <a:solidFill>
                  <a:srgbClr val="11397C"/>
                </a:solidFill>
                <a:latin typeface="Calibri" pitchFamily="34" charset="0"/>
                <a:ea typeface="Calibri" pitchFamily="34" charset="-122"/>
                <a:cs typeface="Calibri" pitchFamily="34" charset="-120"/>
              </a:rPr>
              <a:t>Event Streaming Platform</a:t>
            </a:r>
            <a:endParaRPr lang="en-US" sz="898" dirty="0"/>
          </a:p>
        </p:txBody>
      </p:sp>
      <p:sp>
        <p:nvSpPr>
          <p:cNvPr id="259" name="Text 71">
            <a:extLst>
              <a:ext uri="{FF2B5EF4-FFF2-40B4-BE49-F238E27FC236}">
                <a16:creationId xmlns:a16="http://schemas.microsoft.com/office/drawing/2014/main" id="{0811BC6E-55A4-3EEE-54C4-CE54E3867853}"/>
              </a:ext>
            </a:extLst>
          </p:cNvPr>
          <p:cNvSpPr txBox="1"/>
          <p:nvPr/>
        </p:nvSpPr>
        <p:spPr>
          <a:xfrm>
            <a:off x="8351919" y="4681852"/>
            <a:ext cx="1413676" cy="273615"/>
          </a:xfrm>
          <a:prstGeom prst="rect">
            <a:avLst/>
          </a:prstGeom>
          <a:noFill/>
          <a:ln/>
        </p:spPr>
        <p:txBody>
          <a:bodyPr wrap="square" lIns="0" tIns="0" rIns="0" bIns="0" rtlCol="0" anchor="ctr"/>
          <a:lstStyle/>
          <a:p>
            <a:pPr>
              <a:lnSpc>
                <a:spcPct val="95000"/>
              </a:lnSpc>
            </a:pPr>
            <a:r>
              <a:rPr lang="en-US" sz="778" dirty="0">
                <a:solidFill>
                  <a:srgbClr val="2A6099"/>
                </a:solidFill>
                <a:latin typeface="Calibri" pitchFamily="34" charset="0"/>
                <a:ea typeface="Calibri" pitchFamily="34" charset="-122"/>
                <a:cs typeface="Calibri" pitchFamily="34" charset="-120"/>
              </a:rPr>
              <a:t>Kafka-compatible</a:t>
            </a:r>
            <a:endParaRPr lang="en-US" sz="778" dirty="0"/>
          </a:p>
          <a:p>
            <a:pPr>
              <a:lnSpc>
                <a:spcPct val="95000"/>
              </a:lnSpc>
            </a:pPr>
            <a:r>
              <a:rPr lang="en-US" sz="778" dirty="0">
                <a:solidFill>
                  <a:srgbClr val="2A6099"/>
                </a:solidFill>
                <a:latin typeface="Calibri" pitchFamily="34" charset="0"/>
                <a:ea typeface="Calibri" pitchFamily="34" charset="-122"/>
                <a:cs typeface="Calibri" pitchFamily="34" charset="-120"/>
              </a:rPr>
              <a:t>asynchronous processing</a:t>
            </a:r>
            <a:endParaRPr lang="en-US" sz="778" dirty="0"/>
          </a:p>
        </p:txBody>
      </p:sp>
      <p:sp>
        <p:nvSpPr>
          <p:cNvPr id="261" name="Shape 72">
            <a:extLst>
              <a:ext uri="{FF2B5EF4-FFF2-40B4-BE49-F238E27FC236}">
                <a16:creationId xmlns:a16="http://schemas.microsoft.com/office/drawing/2014/main" id="{1BC21651-DEA6-7013-B9CB-D22788E1B7FA}"/>
              </a:ext>
            </a:extLst>
          </p:cNvPr>
          <p:cNvSpPr/>
          <p:nvPr/>
        </p:nvSpPr>
        <p:spPr>
          <a:xfrm>
            <a:off x="10358426" y="1276869"/>
            <a:ext cx="1406076" cy="851246"/>
          </a:xfrm>
          <a:prstGeom prst="roundRect">
            <a:avLst>
              <a:gd name="adj" fmla="val 5357"/>
            </a:avLst>
          </a:prstGeom>
          <a:solidFill>
            <a:srgbClr val="F2FAF8"/>
          </a:solidFill>
          <a:ln w="12700">
            <a:solidFill>
              <a:srgbClr val="9BCEC4"/>
            </a:solidFill>
            <a:prstDash val="solid"/>
          </a:ln>
        </p:spPr>
        <p:txBody>
          <a:bodyPr/>
          <a:lstStyle/>
          <a:p>
            <a:endParaRPr lang="en-IN"/>
          </a:p>
        </p:txBody>
      </p:sp>
      <p:pic>
        <p:nvPicPr>
          <p:cNvPr id="263" name="Image 15" descr="preencoded.png">
            <a:extLst>
              <a:ext uri="{FF2B5EF4-FFF2-40B4-BE49-F238E27FC236}">
                <a16:creationId xmlns:a16="http://schemas.microsoft.com/office/drawing/2014/main" id="{D465EE2E-4D78-B4A5-DFF8-757DEA632823}"/>
              </a:ext>
            </a:extLst>
          </p:cNvPr>
          <p:cNvPicPr>
            <a:picLocks noChangeAspect="1"/>
          </p:cNvPicPr>
          <p:nvPr/>
        </p:nvPicPr>
        <p:blipFill>
          <a:blip r:embed="rId15"/>
          <a:stretch>
            <a:fillRect/>
          </a:stretch>
        </p:blipFill>
        <p:spPr>
          <a:xfrm>
            <a:off x="10966459" y="1352873"/>
            <a:ext cx="212812" cy="212812"/>
          </a:xfrm>
          <a:prstGeom prst="rect">
            <a:avLst/>
          </a:prstGeom>
        </p:spPr>
      </p:pic>
      <p:sp>
        <p:nvSpPr>
          <p:cNvPr id="265" name="Text 73">
            <a:extLst>
              <a:ext uri="{FF2B5EF4-FFF2-40B4-BE49-F238E27FC236}">
                <a16:creationId xmlns:a16="http://schemas.microsoft.com/office/drawing/2014/main" id="{4228E4E7-B44C-5845-18D9-3DADB505A19B}"/>
              </a:ext>
            </a:extLst>
          </p:cNvPr>
          <p:cNvSpPr txBox="1"/>
          <p:nvPr/>
        </p:nvSpPr>
        <p:spPr>
          <a:xfrm>
            <a:off x="10388827" y="1611287"/>
            <a:ext cx="1345272" cy="152008"/>
          </a:xfrm>
          <a:prstGeom prst="rect">
            <a:avLst/>
          </a:prstGeom>
          <a:noFill/>
          <a:ln/>
        </p:spPr>
        <p:txBody>
          <a:bodyPr wrap="square" lIns="0" tIns="0" rIns="0" bIns="0" rtlCol="0" anchor="ctr"/>
          <a:lstStyle/>
          <a:p>
            <a:pPr algn="ctr">
              <a:lnSpc>
                <a:spcPct val="93000"/>
              </a:lnSpc>
            </a:pPr>
            <a:r>
              <a:rPr lang="en-US" sz="898" b="1" dirty="0">
                <a:solidFill>
                  <a:srgbClr val="0E5F52"/>
                </a:solidFill>
                <a:latin typeface="Calibri" pitchFamily="34" charset="0"/>
                <a:ea typeface="Calibri" pitchFamily="34" charset="-122"/>
                <a:cs typeface="Calibri" pitchFamily="34" charset="-120"/>
              </a:rPr>
              <a:t>Identity Provider</a:t>
            </a:r>
            <a:endParaRPr lang="en-US" sz="898" dirty="0"/>
          </a:p>
        </p:txBody>
      </p:sp>
      <p:sp>
        <p:nvSpPr>
          <p:cNvPr id="267" name="Text 74">
            <a:extLst>
              <a:ext uri="{FF2B5EF4-FFF2-40B4-BE49-F238E27FC236}">
                <a16:creationId xmlns:a16="http://schemas.microsoft.com/office/drawing/2014/main" id="{80D89EBD-D79A-BF7C-5805-A0BEEA34C69B}"/>
              </a:ext>
            </a:extLst>
          </p:cNvPr>
          <p:cNvSpPr txBox="1"/>
          <p:nvPr/>
        </p:nvSpPr>
        <p:spPr>
          <a:xfrm>
            <a:off x="10388827" y="1763295"/>
            <a:ext cx="1345272" cy="319217"/>
          </a:xfrm>
          <a:prstGeom prst="rect">
            <a:avLst/>
          </a:prstGeom>
          <a:noFill/>
          <a:ln/>
        </p:spPr>
        <p:txBody>
          <a:bodyPr wrap="square" lIns="0" tIns="0" rIns="0" bIns="0" rtlCol="0" anchor="ctr"/>
          <a:lstStyle/>
          <a:p>
            <a:pPr algn="ctr">
              <a:lnSpc>
                <a:spcPct val="95000"/>
              </a:lnSpc>
            </a:pPr>
            <a:r>
              <a:rPr lang="en-US" sz="738" dirty="0">
                <a:solidFill>
                  <a:srgbClr val="2C6F63"/>
                </a:solidFill>
                <a:latin typeface="Calibri" pitchFamily="34" charset="0"/>
                <a:ea typeface="Calibri" pitchFamily="34" charset="-122"/>
                <a:cs typeface="Calibri" pitchFamily="34" charset="-120"/>
              </a:rPr>
              <a:t>Managed service</a:t>
            </a:r>
            <a:endParaRPr lang="en-US" sz="738" dirty="0"/>
          </a:p>
          <a:p>
            <a:pPr algn="ctr">
              <a:lnSpc>
                <a:spcPct val="95000"/>
              </a:lnSpc>
            </a:pPr>
            <a:r>
              <a:rPr lang="en-US" sz="738" dirty="0">
                <a:solidFill>
                  <a:srgbClr val="2C6F63"/>
                </a:solidFill>
                <a:latin typeface="Calibri" pitchFamily="34" charset="0"/>
                <a:ea typeface="Calibri" pitchFamily="34" charset="-122"/>
                <a:cs typeface="Calibri" pitchFamily="34" charset="-120"/>
              </a:rPr>
              <a:t>OAuth2 / OIDC / JWT  ·  MFA / SSO</a:t>
            </a:r>
            <a:endParaRPr lang="en-US" sz="738" dirty="0"/>
          </a:p>
        </p:txBody>
      </p:sp>
      <p:sp>
        <p:nvSpPr>
          <p:cNvPr id="269" name="Shape 75">
            <a:extLst>
              <a:ext uri="{FF2B5EF4-FFF2-40B4-BE49-F238E27FC236}">
                <a16:creationId xmlns:a16="http://schemas.microsoft.com/office/drawing/2014/main" id="{1722CB3C-039C-09F6-E314-CF760643B646}"/>
              </a:ext>
            </a:extLst>
          </p:cNvPr>
          <p:cNvSpPr/>
          <p:nvPr/>
        </p:nvSpPr>
        <p:spPr>
          <a:xfrm>
            <a:off x="10358426" y="2295323"/>
            <a:ext cx="1406076" cy="1565684"/>
          </a:xfrm>
          <a:prstGeom prst="roundRect">
            <a:avLst>
              <a:gd name="adj" fmla="val 3243"/>
            </a:avLst>
          </a:prstGeom>
          <a:solidFill>
            <a:srgbClr val="FFFFFF"/>
          </a:solidFill>
          <a:ln w="12700">
            <a:solidFill>
              <a:srgbClr val="C2DCF0"/>
            </a:solidFill>
            <a:prstDash val="solid"/>
          </a:ln>
        </p:spPr>
        <p:txBody>
          <a:bodyPr/>
          <a:lstStyle/>
          <a:p>
            <a:endParaRPr lang="en-IN"/>
          </a:p>
        </p:txBody>
      </p:sp>
      <p:sp>
        <p:nvSpPr>
          <p:cNvPr id="271" name="Text 76">
            <a:extLst>
              <a:ext uri="{FF2B5EF4-FFF2-40B4-BE49-F238E27FC236}">
                <a16:creationId xmlns:a16="http://schemas.microsoft.com/office/drawing/2014/main" id="{F0ADE693-7E89-2EFA-97FE-45900C34E540}"/>
              </a:ext>
            </a:extLst>
          </p:cNvPr>
          <p:cNvSpPr txBox="1"/>
          <p:nvPr/>
        </p:nvSpPr>
        <p:spPr>
          <a:xfrm>
            <a:off x="10388827" y="2340926"/>
            <a:ext cx="1345272" cy="258414"/>
          </a:xfrm>
          <a:prstGeom prst="rect">
            <a:avLst/>
          </a:prstGeom>
          <a:noFill/>
          <a:ln/>
        </p:spPr>
        <p:txBody>
          <a:bodyPr wrap="square" lIns="0" tIns="0" rIns="0" bIns="0" rtlCol="0" anchor="ctr"/>
          <a:lstStyle/>
          <a:p>
            <a:pPr algn="ctr">
              <a:lnSpc>
                <a:spcPct val="93000"/>
              </a:lnSpc>
            </a:pPr>
            <a:r>
              <a:rPr lang="en-US" sz="938" b="1" dirty="0">
                <a:solidFill>
                  <a:srgbClr val="1B4F8A"/>
                </a:solidFill>
                <a:latin typeface="Calibri" pitchFamily="34" charset="0"/>
                <a:ea typeface="Calibri" pitchFamily="34" charset="-122"/>
                <a:cs typeface="Calibri" pitchFamily="34" charset="-120"/>
              </a:rPr>
              <a:t>External Enterprise</a:t>
            </a:r>
            <a:endParaRPr lang="en-US" sz="938" dirty="0"/>
          </a:p>
          <a:p>
            <a:pPr algn="ctr">
              <a:lnSpc>
                <a:spcPct val="93000"/>
              </a:lnSpc>
            </a:pPr>
            <a:r>
              <a:rPr lang="en-US" sz="938" b="1" dirty="0">
                <a:solidFill>
                  <a:srgbClr val="1B4F8A"/>
                </a:solidFill>
                <a:latin typeface="Calibri" pitchFamily="34" charset="0"/>
                <a:ea typeface="Calibri" pitchFamily="34" charset="-122"/>
                <a:cs typeface="Calibri" pitchFamily="34" charset="-120"/>
              </a:rPr>
              <a:t>Systems</a:t>
            </a:r>
            <a:endParaRPr lang="en-US" sz="938" dirty="0"/>
          </a:p>
        </p:txBody>
      </p:sp>
      <p:sp>
        <p:nvSpPr>
          <p:cNvPr id="273" name="Shape 77">
            <a:extLst>
              <a:ext uri="{FF2B5EF4-FFF2-40B4-BE49-F238E27FC236}">
                <a16:creationId xmlns:a16="http://schemas.microsoft.com/office/drawing/2014/main" id="{261361C8-9137-7DDE-786F-A6A6F5DFEE16}"/>
              </a:ext>
            </a:extLst>
          </p:cNvPr>
          <p:cNvSpPr/>
          <p:nvPr/>
        </p:nvSpPr>
        <p:spPr>
          <a:xfrm>
            <a:off x="10419229" y="2675344"/>
            <a:ext cx="1284469" cy="1109659"/>
          </a:xfrm>
          <a:prstGeom prst="roundRect">
            <a:avLst>
              <a:gd name="adj" fmla="val 4110"/>
            </a:avLst>
          </a:prstGeom>
          <a:solidFill>
            <a:srgbClr val="FFFFFF"/>
          </a:solidFill>
          <a:ln w="12700">
            <a:solidFill>
              <a:srgbClr val="C2DCF0"/>
            </a:solidFill>
            <a:prstDash val="solid"/>
          </a:ln>
        </p:spPr>
        <p:txBody>
          <a:bodyPr/>
          <a:lstStyle/>
          <a:p>
            <a:endParaRPr lang="en-IN"/>
          </a:p>
        </p:txBody>
      </p:sp>
      <p:pic>
        <p:nvPicPr>
          <p:cNvPr id="275" name="Image 16" descr="preencoded.png">
            <a:extLst>
              <a:ext uri="{FF2B5EF4-FFF2-40B4-BE49-F238E27FC236}">
                <a16:creationId xmlns:a16="http://schemas.microsoft.com/office/drawing/2014/main" id="{BC104595-649E-7A32-BE1A-53446D9871A0}"/>
              </a:ext>
            </a:extLst>
          </p:cNvPr>
          <p:cNvPicPr>
            <a:picLocks noChangeAspect="1"/>
          </p:cNvPicPr>
          <p:nvPr/>
        </p:nvPicPr>
        <p:blipFill>
          <a:blip r:embed="rId16"/>
          <a:stretch>
            <a:fillRect/>
          </a:stretch>
        </p:blipFill>
        <p:spPr>
          <a:xfrm>
            <a:off x="10951258" y="2796950"/>
            <a:ext cx="228012" cy="228012"/>
          </a:xfrm>
          <a:prstGeom prst="rect">
            <a:avLst/>
          </a:prstGeom>
        </p:spPr>
      </p:pic>
      <p:sp>
        <p:nvSpPr>
          <p:cNvPr id="277" name="Text 78">
            <a:extLst>
              <a:ext uri="{FF2B5EF4-FFF2-40B4-BE49-F238E27FC236}">
                <a16:creationId xmlns:a16="http://schemas.microsoft.com/office/drawing/2014/main" id="{2A468AB6-D691-87C5-CE0D-B6A2F6968E6C}"/>
              </a:ext>
            </a:extLst>
          </p:cNvPr>
          <p:cNvSpPr txBox="1"/>
          <p:nvPr/>
        </p:nvSpPr>
        <p:spPr>
          <a:xfrm>
            <a:off x="10449632" y="3085766"/>
            <a:ext cx="1223665" cy="273615"/>
          </a:xfrm>
          <a:prstGeom prst="rect">
            <a:avLst/>
          </a:prstGeom>
          <a:noFill/>
          <a:ln/>
        </p:spPr>
        <p:txBody>
          <a:bodyPr wrap="square" lIns="0" tIns="0" rIns="0" bIns="0" rtlCol="0" anchor="ctr"/>
          <a:lstStyle/>
          <a:p>
            <a:pPr algn="ctr">
              <a:lnSpc>
                <a:spcPct val="93000"/>
              </a:lnSpc>
            </a:pPr>
            <a:r>
              <a:rPr lang="en-US" sz="878" b="1" dirty="0">
                <a:solidFill>
                  <a:srgbClr val="11397C"/>
                </a:solidFill>
                <a:latin typeface="Calibri" pitchFamily="34" charset="0"/>
                <a:ea typeface="Calibri" pitchFamily="34" charset="-122"/>
                <a:cs typeface="Calibri" pitchFamily="34" charset="-120"/>
              </a:rPr>
              <a:t>Policy Administration</a:t>
            </a:r>
            <a:endParaRPr lang="en-US" sz="878" dirty="0"/>
          </a:p>
          <a:p>
            <a:pPr algn="ctr">
              <a:lnSpc>
                <a:spcPct val="93000"/>
              </a:lnSpc>
            </a:pPr>
            <a:r>
              <a:rPr lang="en-US" sz="878" b="1" dirty="0">
                <a:solidFill>
                  <a:srgbClr val="11397C"/>
                </a:solidFill>
                <a:latin typeface="Calibri" pitchFamily="34" charset="0"/>
                <a:ea typeface="Calibri" pitchFamily="34" charset="-122"/>
                <a:cs typeface="Calibri" pitchFamily="34" charset="-120"/>
              </a:rPr>
              <a:t>System (PAS)</a:t>
            </a:r>
            <a:endParaRPr lang="en-US" sz="878" dirty="0"/>
          </a:p>
        </p:txBody>
      </p:sp>
      <p:sp>
        <p:nvSpPr>
          <p:cNvPr id="279" name="Text 79">
            <a:extLst>
              <a:ext uri="{FF2B5EF4-FFF2-40B4-BE49-F238E27FC236}">
                <a16:creationId xmlns:a16="http://schemas.microsoft.com/office/drawing/2014/main" id="{DCC1F2F1-24AD-9279-1274-528EA9314091}"/>
              </a:ext>
            </a:extLst>
          </p:cNvPr>
          <p:cNvSpPr txBox="1"/>
          <p:nvPr/>
        </p:nvSpPr>
        <p:spPr>
          <a:xfrm>
            <a:off x="10449632" y="3389782"/>
            <a:ext cx="1223665" cy="228012"/>
          </a:xfrm>
          <a:prstGeom prst="rect">
            <a:avLst/>
          </a:prstGeom>
          <a:noFill/>
          <a:ln/>
        </p:spPr>
        <p:txBody>
          <a:bodyPr wrap="square" lIns="0" tIns="0" rIns="0" bIns="0" rtlCol="0" anchor="ctr"/>
          <a:lstStyle/>
          <a:p>
            <a:pPr algn="ctr">
              <a:lnSpc>
                <a:spcPct val="95000"/>
              </a:lnSpc>
            </a:pPr>
            <a:r>
              <a:rPr lang="en-US" sz="738" i="1" dirty="0">
                <a:solidFill>
                  <a:srgbClr val="5B6472"/>
                </a:solidFill>
                <a:latin typeface="Calibri" pitchFamily="34" charset="0"/>
                <a:ea typeface="Calibri" pitchFamily="34" charset="-122"/>
                <a:cs typeface="Calibri" pitchFamily="34" charset="-120"/>
              </a:rPr>
              <a:t>External to the cloud network</a:t>
            </a:r>
            <a:endParaRPr lang="en-US" sz="738" dirty="0"/>
          </a:p>
        </p:txBody>
      </p:sp>
      <p:sp>
        <p:nvSpPr>
          <p:cNvPr id="281" name="Shape 80">
            <a:extLst>
              <a:ext uri="{FF2B5EF4-FFF2-40B4-BE49-F238E27FC236}">
                <a16:creationId xmlns:a16="http://schemas.microsoft.com/office/drawing/2014/main" id="{86C4E064-1C49-1531-F0FE-B1064D0C725C}"/>
              </a:ext>
            </a:extLst>
          </p:cNvPr>
          <p:cNvSpPr/>
          <p:nvPr/>
        </p:nvSpPr>
        <p:spPr>
          <a:xfrm>
            <a:off x="1351944" y="2766549"/>
            <a:ext cx="304016" cy="0"/>
          </a:xfrm>
          <a:prstGeom prst="line">
            <a:avLst/>
          </a:prstGeom>
          <a:noFill/>
          <a:ln w="30480">
            <a:solidFill>
              <a:srgbClr val="1B4F8C"/>
            </a:solidFill>
            <a:prstDash val="solid"/>
            <a:headEnd type="none"/>
            <a:tailEnd type="triangle"/>
          </a:ln>
        </p:spPr>
        <p:txBody>
          <a:bodyPr/>
          <a:lstStyle/>
          <a:p>
            <a:endParaRPr lang="en-IN"/>
          </a:p>
        </p:txBody>
      </p:sp>
      <p:sp>
        <p:nvSpPr>
          <p:cNvPr id="283" name="Text 81">
            <a:extLst>
              <a:ext uri="{FF2B5EF4-FFF2-40B4-BE49-F238E27FC236}">
                <a16:creationId xmlns:a16="http://schemas.microsoft.com/office/drawing/2014/main" id="{946D881F-015E-7CA8-E1C1-536236EEBC47}"/>
              </a:ext>
            </a:extLst>
          </p:cNvPr>
          <p:cNvSpPr txBox="1"/>
          <p:nvPr/>
        </p:nvSpPr>
        <p:spPr>
          <a:xfrm>
            <a:off x="1351944" y="2584139"/>
            <a:ext cx="304016" cy="167209"/>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HTTPS</a:t>
            </a:r>
            <a:endParaRPr lang="en-US" sz="678" dirty="0"/>
          </a:p>
        </p:txBody>
      </p:sp>
      <p:sp>
        <p:nvSpPr>
          <p:cNvPr id="285" name="Shape 82">
            <a:extLst>
              <a:ext uri="{FF2B5EF4-FFF2-40B4-BE49-F238E27FC236}">
                <a16:creationId xmlns:a16="http://schemas.microsoft.com/office/drawing/2014/main" id="{D8B4E7F8-F36F-9754-75F6-2687A7E646A5}"/>
              </a:ext>
            </a:extLst>
          </p:cNvPr>
          <p:cNvSpPr/>
          <p:nvPr/>
        </p:nvSpPr>
        <p:spPr>
          <a:xfrm>
            <a:off x="3024034" y="2766549"/>
            <a:ext cx="281215" cy="0"/>
          </a:xfrm>
          <a:prstGeom prst="line">
            <a:avLst/>
          </a:prstGeom>
          <a:noFill/>
          <a:ln w="30480">
            <a:solidFill>
              <a:srgbClr val="1B4F8C"/>
            </a:solidFill>
            <a:prstDash val="solid"/>
            <a:headEnd type="none"/>
            <a:tailEnd type="none"/>
          </a:ln>
        </p:spPr>
        <p:txBody>
          <a:bodyPr/>
          <a:lstStyle/>
          <a:p>
            <a:endParaRPr lang="en-IN"/>
          </a:p>
        </p:txBody>
      </p:sp>
      <p:sp>
        <p:nvSpPr>
          <p:cNvPr id="287" name="Shape 83">
            <a:extLst>
              <a:ext uri="{FF2B5EF4-FFF2-40B4-BE49-F238E27FC236}">
                <a16:creationId xmlns:a16="http://schemas.microsoft.com/office/drawing/2014/main" id="{C09525BF-FB1D-FD31-A3A6-21AE0C811BD0}"/>
              </a:ext>
            </a:extLst>
          </p:cNvPr>
          <p:cNvSpPr/>
          <p:nvPr/>
        </p:nvSpPr>
        <p:spPr>
          <a:xfrm>
            <a:off x="3305248" y="1702491"/>
            <a:ext cx="0" cy="1064057"/>
          </a:xfrm>
          <a:prstGeom prst="line">
            <a:avLst/>
          </a:prstGeom>
          <a:noFill/>
          <a:ln w="30480">
            <a:solidFill>
              <a:srgbClr val="1B4F8C"/>
            </a:solidFill>
            <a:prstDash val="solid"/>
            <a:headEnd type="none"/>
            <a:tailEnd type="none"/>
          </a:ln>
        </p:spPr>
        <p:txBody>
          <a:bodyPr/>
          <a:lstStyle/>
          <a:p>
            <a:endParaRPr lang="en-IN"/>
          </a:p>
        </p:txBody>
      </p:sp>
      <p:sp>
        <p:nvSpPr>
          <p:cNvPr id="289" name="Shape 84">
            <a:extLst>
              <a:ext uri="{FF2B5EF4-FFF2-40B4-BE49-F238E27FC236}">
                <a16:creationId xmlns:a16="http://schemas.microsoft.com/office/drawing/2014/main" id="{0479FC1C-AF3C-8C66-7A9A-C4A71CB4E64D}"/>
              </a:ext>
            </a:extLst>
          </p:cNvPr>
          <p:cNvSpPr/>
          <p:nvPr/>
        </p:nvSpPr>
        <p:spPr>
          <a:xfrm>
            <a:off x="3305249" y="1702491"/>
            <a:ext cx="410422" cy="0"/>
          </a:xfrm>
          <a:prstGeom prst="line">
            <a:avLst/>
          </a:prstGeom>
          <a:noFill/>
          <a:ln w="30480">
            <a:solidFill>
              <a:srgbClr val="1B4F8C"/>
            </a:solidFill>
            <a:prstDash val="solid"/>
            <a:headEnd type="none"/>
            <a:tailEnd type="triangle"/>
          </a:ln>
        </p:spPr>
        <p:txBody>
          <a:bodyPr/>
          <a:lstStyle/>
          <a:p>
            <a:endParaRPr lang="en-IN"/>
          </a:p>
        </p:txBody>
      </p:sp>
      <p:sp>
        <p:nvSpPr>
          <p:cNvPr id="291" name="Text 85">
            <a:extLst>
              <a:ext uri="{FF2B5EF4-FFF2-40B4-BE49-F238E27FC236}">
                <a16:creationId xmlns:a16="http://schemas.microsoft.com/office/drawing/2014/main" id="{FBD4AFC4-33FF-9499-3BB0-CECE2C70E993}"/>
              </a:ext>
            </a:extLst>
          </p:cNvPr>
          <p:cNvSpPr txBox="1"/>
          <p:nvPr/>
        </p:nvSpPr>
        <p:spPr>
          <a:xfrm>
            <a:off x="3046834" y="2568938"/>
            <a:ext cx="273615" cy="152008"/>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HTTPS</a:t>
            </a:r>
            <a:endParaRPr lang="en-US" sz="678" dirty="0"/>
          </a:p>
        </p:txBody>
      </p:sp>
      <p:sp>
        <p:nvSpPr>
          <p:cNvPr id="293" name="Shape 86">
            <a:extLst>
              <a:ext uri="{FF2B5EF4-FFF2-40B4-BE49-F238E27FC236}">
                <a16:creationId xmlns:a16="http://schemas.microsoft.com/office/drawing/2014/main" id="{5DF33AAE-075A-2296-8E70-732394AF45C3}"/>
              </a:ext>
            </a:extLst>
          </p:cNvPr>
          <p:cNvSpPr/>
          <p:nvPr/>
        </p:nvSpPr>
        <p:spPr>
          <a:xfrm>
            <a:off x="8306316" y="1960906"/>
            <a:ext cx="0" cy="319217"/>
          </a:xfrm>
          <a:prstGeom prst="line">
            <a:avLst/>
          </a:prstGeom>
          <a:noFill/>
          <a:ln w="22860">
            <a:solidFill>
              <a:srgbClr val="1B4F8C"/>
            </a:solidFill>
            <a:prstDash val="solid"/>
            <a:headEnd type="none"/>
            <a:tailEnd type="triangle"/>
          </a:ln>
        </p:spPr>
        <p:txBody>
          <a:bodyPr/>
          <a:lstStyle/>
          <a:p>
            <a:endParaRPr lang="en-IN"/>
          </a:p>
        </p:txBody>
      </p:sp>
      <p:sp>
        <p:nvSpPr>
          <p:cNvPr id="295" name="Text 87">
            <a:extLst>
              <a:ext uri="{FF2B5EF4-FFF2-40B4-BE49-F238E27FC236}">
                <a16:creationId xmlns:a16="http://schemas.microsoft.com/office/drawing/2014/main" id="{96C1CB5C-EC01-473E-E41C-57A2BE91C749}"/>
              </a:ext>
            </a:extLst>
          </p:cNvPr>
          <p:cNvSpPr txBox="1"/>
          <p:nvPr/>
        </p:nvSpPr>
        <p:spPr>
          <a:xfrm>
            <a:off x="8351919" y="1991307"/>
            <a:ext cx="836045" cy="152008"/>
          </a:xfrm>
          <a:prstGeom prst="rect">
            <a:avLst/>
          </a:prstGeom>
          <a:noFill/>
          <a:ln/>
        </p:spPr>
        <p:txBody>
          <a:bodyPr wrap="square" lIns="0" tIns="0" rIns="0" bIns="0" rtlCol="0" anchor="ctr"/>
          <a:lstStyle/>
          <a:p>
            <a:pPr algn="ctr">
              <a:lnSpc>
                <a:spcPct val="88000"/>
              </a:lnSpc>
            </a:pPr>
            <a:r>
              <a:rPr lang="en-US" sz="678" dirty="0">
                <a:solidFill>
                  <a:srgbClr val="5B6472"/>
                </a:solidFill>
                <a:latin typeface="Calibri" pitchFamily="34" charset="0"/>
                <a:ea typeface="Calibri" pitchFamily="34" charset="-122"/>
                <a:cs typeface="Calibri" pitchFamily="34" charset="-120"/>
              </a:rPr>
              <a:t>REST / HTTPS</a:t>
            </a:r>
            <a:endParaRPr lang="en-US" sz="678" dirty="0"/>
          </a:p>
        </p:txBody>
      </p:sp>
      <p:sp>
        <p:nvSpPr>
          <p:cNvPr id="297" name="Shape 88">
            <a:extLst>
              <a:ext uri="{FF2B5EF4-FFF2-40B4-BE49-F238E27FC236}">
                <a16:creationId xmlns:a16="http://schemas.microsoft.com/office/drawing/2014/main" id="{CC7F1366-A985-E762-8421-EF46A30DE060}"/>
              </a:ext>
            </a:extLst>
          </p:cNvPr>
          <p:cNvSpPr/>
          <p:nvPr/>
        </p:nvSpPr>
        <p:spPr>
          <a:xfrm>
            <a:off x="4855731" y="3861007"/>
            <a:ext cx="0" cy="334418"/>
          </a:xfrm>
          <a:prstGeom prst="line">
            <a:avLst/>
          </a:prstGeom>
          <a:noFill/>
          <a:ln w="20320">
            <a:solidFill>
              <a:srgbClr val="1B4F8C"/>
            </a:solidFill>
            <a:prstDash val="solid"/>
            <a:headEnd type="triangle"/>
            <a:tailEnd type="triangle"/>
          </a:ln>
        </p:spPr>
        <p:txBody>
          <a:bodyPr/>
          <a:lstStyle/>
          <a:p>
            <a:endParaRPr lang="en-IN"/>
          </a:p>
        </p:txBody>
      </p:sp>
      <p:sp>
        <p:nvSpPr>
          <p:cNvPr id="299" name="Text 89">
            <a:extLst>
              <a:ext uri="{FF2B5EF4-FFF2-40B4-BE49-F238E27FC236}">
                <a16:creationId xmlns:a16="http://schemas.microsoft.com/office/drawing/2014/main" id="{C0DCF645-AD2B-3886-C26E-CCABFF25BC10}"/>
              </a:ext>
            </a:extLst>
          </p:cNvPr>
          <p:cNvSpPr txBox="1"/>
          <p:nvPr/>
        </p:nvSpPr>
        <p:spPr>
          <a:xfrm>
            <a:off x="3822076" y="3937011"/>
            <a:ext cx="972853" cy="152008"/>
          </a:xfrm>
          <a:prstGeom prst="rect">
            <a:avLst/>
          </a:prstGeom>
          <a:noFill/>
          <a:ln/>
        </p:spPr>
        <p:txBody>
          <a:bodyPr wrap="square" lIns="0" tIns="0" rIns="0" bIns="0" rtlCol="0" anchor="ctr"/>
          <a:lstStyle/>
          <a:p>
            <a:pPr algn="r">
              <a:lnSpc>
                <a:spcPct val="93000"/>
              </a:lnSpc>
            </a:pPr>
            <a:r>
              <a:rPr lang="en-US" sz="678" dirty="0">
                <a:solidFill>
                  <a:srgbClr val="5B6472"/>
                </a:solidFill>
                <a:latin typeface="Calibri" pitchFamily="34" charset="0"/>
                <a:ea typeface="Calibri" pitchFamily="34" charset="-122"/>
                <a:cs typeface="Calibri" pitchFamily="34" charset="-120"/>
              </a:rPr>
              <a:t>Read / Write</a:t>
            </a:r>
            <a:endParaRPr lang="en-US" sz="678" dirty="0"/>
          </a:p>
        </p:txBody>
      </p:sp>
      <p:sp>
        <p:nvSpPr>
          <p:cNvPr id="301" name="Shape 90">
            <a:extLst>
              <a:ext uri="{FF2B5EF4-FFF2-40B4-BE49-F238E27FC236}">
                <a16:creationId xmlns:a16="http://schemas.microsoft.com/office/drawing/2014/main" id="{D5330092-22AC-800C-FE6F-2C489EA4A505}"/>
              </a:ext>
            </a:extLst>
          </p:cNvPr>
          <p:cNvSpPr/>
          <p:nvPr/>
        </p:nvSpPr>
        <p:spPr>
          <a:xfrm>
            <a:off x="6976245" y="3861007"/>
            <a:ext cx="0" cy="334418"/>
          </a:xfrm>
          <a:prstGeom prst="line">
            <a:avLst/>
          </a:prstGeom>
          <a:noFill/>
          <a:ln w="20320">
            <a:solidFill>
              <a:srgbClr val="1B4F8C"/>
            </a:solidFill>
            <a:prstDash val="solid"/>
            <a:headEnd type="triangle"/>
            <a:tailEnd type="triangle"/>
          </a:ln>
        </p:spPr>
        <p:txBody>
          <a:bodyPr/>
          <a:lstStyle/>
          <a:p>
            <a:endParaRPr lang="en-IN"/>
          </a:p>
        </p:txBody>
      </p:sp>
      <p:sp>
        <p:nvSpPr>
          <p:cNvPr id="303" name="Text 91">
            <a:extLst>
              <a:ext uri="{FF2B5EF4-FFF2-40B4-BE49-F238E27FC236}">
                <a16:creationId xmlns:a16="http://schemas.microsoft.com/office/drawing/2014/main" id="{18DD7B8B-E5F3-9505-2E92-CFB9BDBE949A}"/>
              </a:ext>
            </a:extLst>
          </p:cNvPr>
          <p:cNvSpPr txBox="1"/>
          <p:nvPr/>
        </p:nvSpPr>
        <p:spPr>
          <a:xfrm>
            <a:off x="5950189" y="3937011"/>
            <a:ext cx="972853" cy="152008"/>
          </a:xfrm>
          <a:prstGeom prst="rect">
            <a:avLst/>
          </a:prstGeom>
          <a:noFill/>
          <a:ln/>
        </p:spPr>
        <p:txBody>
          <a:bodyPr wrap="square" lIns="0" tIns="0" rIns="0" bIns="0" rtlCol="0" anchor="ctr"/>
          <a:lstStyle/>
          <a:p>
            <a:pPr algn="r">
              <a:lnSpc>
                <a:spcPct val="93000"/>
              </a:lnSpc>
            </a:pPr>
            <a:r>
              <a:rPr lang="en-US" sz="678" dirty="0">
                <a:solidFill>
                  <a:srgbClr val="5B6472"/>
                </a:solidFill>
                <a:latin typeface="Calibri" pitchFamily="34" charset="0"/>
                <a:ea typeface="Calibri" pitchFamily="34" charset="-122"/>
                <a:cs typeface="Calibri" pitchFamily="34" charset="-120"/>
              </a:rPr>
              <a:t>Cache / Session</a:t>
            </a:r>
            <a:endParaRPr lang="en-US" sz="678" dirty="0"/>
          </a:p>
        </p:txBody>
      </p:sp>
      <p:sp>
        <p:nvSpPr>
          <p:cNvPr id="305" name="Shape 92">
            <a:extLst>
              <a:ext uri="{FF2B5EF4-FFF2-40B4-BE49-F238E27FC236}">
                <a16:creationId xmlns:a16="http://schemas.microsoft.com/office/drawing/2014/main" id="{88BE4F5E-C8C6-D1D8-9BE7-0AA3241A0240}"/>
              </a:ext>
            </a:extLst>
          </p:cNvPr>
          <p:cNvSpPr/>
          <p:nvPr/>
        </p:nvSpPr>
        <p:spPr>
          <a:xfrm>
            <a:off x="8899147" y="3861007"/>
            <a:ext cx="0" cy="334418"/>
          </a:xfrm>
          <a:prstGeom prst="line">
            <a:avLst/>
          </a:prstGeom>
          <a:noFill/>
          <a:ln w="20320">
            <a:solidFill>
              <a:srgbClr val="6A4C93"/>
            </a:solidFill>
            <a:prstDash val="dash"/>
            <a:headEnd type="triangle"/>
            <a:tailEnd type="triangle"/>
          </a:ln>
        </p:spPr>
        <p:txBody>
          <a:bodyPr/>
          <a:lstStyle/>
          <a:p>
            <a:endParaRPr lang="en-IN"/>
          </a:p>
        </p:txBody>
      </p:sp>
      <p:sp>
        <p:nvSpPr>
          <p:cNvPr id="307" name="Text 93">
            <a:extLst>
              <a:ext uri="{FF2B5EF4-FFF2-40B4-BE49-F238E27FC236}">
                <a16:creationId xmlns:a16="http://schemas.microsoft.com/office/drawing/2014/main" id="{7A2A7285-97A2-5C51-0B62-A42AAC1DC253}"/>
              </a:ext>
            </a:extLst>
          </p:cNvPr>
          <p:cNvSpPr txBox="1"/>
          <p:nvPr/>
        </p:nvSpPr>
        <p:spPr>
          <a:xfrm>
            <a:off x="7865492" y="3937011"/>
            <a:ext cx="972853" cy="152008"/>
          </a:xfrm>
          <a:prstGeom prst="rect">
            <a:avLst/>
          </a:prstGeom>
          <a:noFill/>
          <a:ln/>
        </p:spPr>
        <p:txBody>
          <a:bodyPr wrap="square" lIns="0" tIns="0" rIns="0" bIns="0" rtlCol="0" anchor="ctr"/>
          <a:lstStyle/>
          <a:p>
            <a:pPr algn="r">
              <a:lnSpc>
                <a:spcPct val="93000"/>
              </a:lnSpc>
            </a:pPr>
            <a:r>
              <a:rPr lang="en-US" sz="678" dirty="0">
                <a:solidFill>
                  <a:srgbClr val="6A4C93"/>
                </a:solidFill>
                <a:latin typeface="Calibri" pitchFamily="34" charset="0"/>
                <a:ea typeface="Calibri" pitchFamily="34" charset="-122"/>
                <a:cs typeface="Calibri" pitchFamily="34" charset="-120"/>
              </a:rPr>
              <a:t>Events / Async</a:t>
            </a:r>
            <a:endParaRPr lang="en-US" sz="678" dirty="0"/>
          </a:p>
        </p:txBody>
      </p:sp>
      <p:sp>
        <p:nvSpPr>
          <p:cNvPr id="309" name="Shape 94">
            <a:extLst>
              <a:ext uri="{FF2B5EF4-FFF2-40B4-BE49-F238E27FC236}">
                <a16:creationId xmlns:a16="http://schemas.microsoft.com/office/drawing/2014/main" id="{8886D12A-E746-ACFF-3ADB-42C6E32B5236}"/>
              </a:ext>
            </a:extLst>
          </p:cNvPr>
          <p:cNvSpPr/>
          <p:nvPr/>
        </p:nvSpPr>
        <p:spPr>
          <a:xfrm>
            <a:off x="9841599" y="1702491"/>
            <a:ext cx="516828" cy="0"/>
          </a:xfrm>
          <a:prstGeom prst="line">
            <a:avLst/>
          </a:prstGeom>
          <a:noFill/>
          <a:ln w="19050">
            <a:solidFill>
              <a:srgbClr val="0E7C6B"/>
            </a:solidFill>
            <a:prstDash val="solid"/>
            <a:headEnd type="triangle"/>
            <a:tailEnd type="triangle"/>
          </a:ln>
        </p:spPr>
        <p:txBody>
          <a:bodyPr/>
          <a:lstStyle/>
          <a:p>
            <a:endParaRPr lang="en-IN"/>
          </a:p>
        </p:txBody>
      </p:sp>
      <p:sp>
        <p:nvSpPr>
          <p:cNvPr id="311" name="Shape 95">
            <a:extLst>
              <a:ext uri="{FF2B5EF4-FFF2-40B4-BE49-F238E27FC236}">
                <a16:creationId xmlns:a16="http://schemas.microsoft.com/office/drawing/2014/main" id="{E184429C-D288-8BB6-2479-AFE18A764A66}"/>
              </a:ext>
            </a:extLst>
          </p:cNvPr>
          <p:cNvSpPr/>
          <p:nvPr/>
        </p:nvSpPr>
        <p:spPr>
          <a:xfrm>
            <a:off x="9856799" y="1489680"/>
            <a:ext cx="486426" cy="167209"/>
          </a:xfrm>
          <a:prstGeom prst="roundRect">
            <a:avLst>
              <a:gd name="adj" fmla="val 32728"/>
            </a:avLst>
          </a:prstGeom>
          <a:solidFill>
            <a:srgbClr val="FFFFFF"/>
          </a:solidFill>
          <a:ln w="12700">
            <a:solidFill>
              <a:srgbClr val="FFFFFF"/>
            </a:solidFill>
            <a:prstDash val="solid"/>
          </a:ln>
        </p:spPr>
        <p:txBody>
          <a:bodyPr/>
          <a:lstStyle/>
          <a:p>
            <a:endParaRPr lang="en-IN"/>
          </a:p>
        </p:txBody>
      </p:sp>
      <p:sp>
        <p:nvSpPr>
          <p:cNvPr id="313" name="Text 96">
            <a:extLst>
              <a:ext uri="{FF2B5EF4-FFF2-40B4-BE49-F238E27FC236}">
                <a16:creationId xmlns:a16="http://schemas.microsoft.com/office/drawing/2014/main" id="{55F99584-3F7F-503E-7EF7-29A8B8DF62D5}"/>
              </a:ext>
            </a:extLst>
          </p:cNvPr>
          <p:cNvSpPr txBox="1"/>
          <p:nvPr/>
        </p:nvSpPr>
        <p:spPr>
          <a:xfrm>
            <a:off x="9856799" y="1489680"/>
            <a:ext cx="486426" cy="167209"/>
          </a:xfrm>
          <a:prstGeom prst="rect">
            <a:avLst/>
          </a:prstGeom>
          <a:noFill/>
          <a:ln/>
        </p:spPr>
        <p:txBody>
          <a:bodyPr wrap="square" lIns="0" tIns="0" rIns="0" bIns="0" rtlCol="0" anchor="ctr"/>
          <a:lstStyle/>
          <a:p>
            <a:pPr algn="ctr">
              <a:lnSpc>
                <a:spcPct val="93000"/>
              </a:lnSpc>
            </a:pPr>
            <a:r>
              <a:rPr lang="en-US" sz="638" dirty="0">
                <a:solidFill>
                  <a:srgbClr val="0E7C6B"/>
                </a:solidFill>
                <a:latin typeface="Calibri" pitchFamily="34" charset="0"/>
                <a:ea typeface="Calibri" pitchFamily="34" charset="-122"/>
                <a:cs typeface="Calibri" pitchFamily="34" charset="-120"/>
              </a:rPr>
              <a:t>OAuth2 / OIDC</a:t>
            </a:r>
            <a:endParaRPr lang="en-US" sz="638" dirty="0"/>
          </a:p>
        </p:txBody>
      </p:sp>
      <p:sp>
        <p:nvSpPr>
          <p:cNvPr id="315" name="Shape 97">
            <a:extLst>
              <a:ext uri="{FF2B5EF4-FFF2-40B4-BE49-F238E27FC236}">
                <a16:creationId xmlns:a16="http://schemas.microsoft.com/office/drawing/2014/main" id="{66654CFD-5AF1-A186-421E-F19AEF461BF5}"/>
              </a:ext>
            </a:extLst>
          </p:cNvPr>
          <p:cNvSpPr/>
          <p:nvPr/>
        </p:nvSpPr>
        <p:spPr>
          <a:xfrm>
            <a:off x="9841599" y="3070565"/>
            <a:ext cx="516828" cy="0"/>
          </a:xfrm>
          <a:prstGeom prst="line">
            <a:avLst/>
          </a:prstGeom>
          <a:noFill/>
          <a:ln w="20320">
            <a:solidFill>
              <a:srgbClr val="1B4F8C"/>
            </a:solidFill>
            <a:prstDash val="solid"/>
            <a:headEnd type="triangle"/>
            <a:tailEnd type="triangle"/>
          </a:ln>
        </p:spPr>
        <p:txBody>
          <a:bodyPr/>
          <a:lstStyle/>
          <a:p>
            <a:endParaRPr lang="en-IN"/>
          </a:p>
        </p:txBody>
      </p:sp>
      <p:sp>
        <p:nvSpPr>
          <p:cNvPr id="317" name="Shape 98">
            <a:extLst>
              <a:ext uri="{FF2B5EF4-FFF2-40B4-BE49-F238E27FC236}">
                <a16:creationId xmlns:a16="http://schemas.microsoft.com/office/drawing/2014/main" id="{F0CD5D17-19C4-DE89-6BD5-675B589D2C31}"/>
              </a:ext>
            </a:extLst>
          </p:cNvPr>
          <p:cNvSpPr/>
          <p:nvPr/>
        </p:nvSpPr>
        <p:spPr>
          <a:xfrm>
            <a:off x="9856799" y="2857753"/>
            <a:ext cx="486426" cy="167209"/>
          </a:xfrm>
          <a:prstGeom prst="roundRect">
            <a:avLst>
              <a:gd name="adj" fmla="val 32728"/>
            </a:avLst>
          </a:prstGeom>
          <a:solidFill>
            <a:srgbClr val="FFFFFF"/>
          </a:solidFill>
          <a:ln w="12700">
            <a:solidFill>
              <a:srgbClr val="FFFFFF"/>
            </a:solidFill>
            <a:prstDash val="solid"/>
          </a:ln>
        </p:spPr>
        <p:txBody>
          <a:bodyPr/>
          <a:lstStyle/>
          <a:p>
            <a:endParaRPr lang="en-IN"/>
          </a:p>
        </p:txBody>
      </p:sp>
      <p:sp>
        <p:nvSpPr>
          <p:cNvPr id="321" name="Text 99">
            <a:extLst>
              <a:ext uri="{FF2B5EF4-FFF2-40B4-BE49-F238E27FC236}">
                <a16:creationId xmlns:a16="http://schemas.microsoft.com/office/drawing/2014/main" id="{05D00BEC-7BD3-4E67-1A3F-379E16950A8A}"/>
              </a:ext>
            </a:extLst>
          </p:cNvPr>
          <p:cNvSpPr txBox="1"/>
          <p:nvPr/>
        </p:nvSpPr>
        <p:spPr>
          <a:xfrm>
            <a:off x="9856799" y="2857753"/>
            <a:ext cx="486426" cy="167209"/>
          </a:xfrm>
          <a:prstGeom prst="rect">
            <a:avLst/>
          </a:prstGeom>
          <a:noFill/>
          <a:ln/>
        </p:spPr>
        <p:txBody>
          <a:bodyPr wrap="square" lIns="0" tIns="0" rIns="0" bIns="0" rtlCol="0" anchor="ctr"/>
          <a:lstStyle/>
          <a:p>
            <a:pPr algn="ctr">
              <a:lnSpc>
                <a:spcPct val="93000"/>
              </a:lnSpc>
            </a:pPr>
            <a:r>
              <a:rPr lang="en-US" sz="638" dirty="0">
                <a:solidFill>
                  <a:srgbClr val="5B6472"/>
                </a:solidFill>
                <a:latin typeface="Calibri" pitchFamily="34" charset="0"/>
                <a:ea typeface="Calibri" pitchFamily="34" charset="-122"/>
                <a:cs typeface="Calibri" pitchFamily="34" charset="-120"/>
              </a:rPr>
              <a:t>REST / HTTPS</a:t>
            </a:r>
            <a:endParaRPr lang="en-US" sz="638" dirty="0"/>
          </a:p>
        </p:txBody>
      </p:sp>
      <p:sp>
        <p:nvSpPr>
          <p:cNvPr id="325" name="Shape 100">
            <a:extLst>
              <a:ext uri="{FF2B5EF4-FFF2-40B4-BE49-F238E27FC236}">
                <a16:creationId xmlns:a16="http://schemas.microsoft.com/office/drawing/2014/main" id="{57FA37AA-3C3A-1145-1E3B-9CE1048B3C14}"/>
              </a:ext>
            </a:extLst>
          </p:cNvPr>
          <p:cNvSpPr/>
          <p:nvPr/>
        </p:nvSpPr>
        <p:spPr>
          <a:xfrm>
            <a:off x="439895" y="5685105"/>
            <a:ext cx="11324607" cy="486426"/>
          </a:xfrm>
          <a:prstGeom prst="roundRect">
            <a:avLst>
              <a:gd name="adj" fmla="val 9375"/>
            </a:avLst>
          </a:prstGeom>
          <a:solidFill>
            <a:srgbClr val="F8FBFE"/>
          </a:solidFill>
          <a:ln w="12700">
            <a:solidFill>
              <a:srgbClr val="A9C6DF"/>
            </a:solidFill>
            <a:prstDash val="dash"/>
          </a:ln>
        </p:spPr>
        <p:txBody>
          <a:bodyPr/>
          <a:lstStyle/>
          <a:p>
            <a:endParaRPr lang="en-IN"/>
          </a:p>
        </p:txBody>
      </p:sp>
      <p:sp>
        <p:nvSpPr>
          <p:cNvPr id="329" name="Text 101">
            <a:extLst>
              <a:ext uri="{FF2B5EF4-FFF2-40B4-BE49-F238E27FC236}">
                <a16:creationId xmlns:a16="http://schemas.microsoft.com/office/drawing/2014/main" id="{EAB2F1EE-0E82-D853-FC42-FD72D9F333F9}"/>
              </a:ext>
            </a:extLst>
          </p:cNvPr>
          <p:cNvSpPr txBox="1"/>
          <p:nvPr/>
        </p:nvSpPr>
        <p:spPr>
          <a:xfrm>
            <a:off x="523499" y="5715507"/>
            <a:ext cx="1140061" cy="425622"/>
          </a:xfrm>
          <a:prstGeom prst="rect">
            <a:avLst/>
          </a:prstGeom>
          <a:noFill/>
          <a:ln/>
        </p:spPr>
        <p:txBody>
          <a:bodyPr wrap="square" lIns="0" tIns="0" rIns="0" bIns="0" rtlCol="0" anchor="ctr"/>
          <a:lstStyle/>
          <a:p>
            <a:pPr>
              <a:lnSpc>
                <a:spcPct val="90000"/>
              </a:lnSpc>
            </a:pPr>
            <a:r>
              <a:rPr lang="en-US" sz="938" b="1" dirty="0">
                <a:solidFill>
                  <a:srgbClr val="1B4F8A"/>
                </a:solidFill>
                <a:latin typeface="Calibri" pitchFamily="34" charset="0"/>
                <a:ea typeface="Calibri" pitchFamily="34" charset="-122"/>
                <a:cs typeface="Calibri" pitchFamily="34" charset="-120"/>
              </a:rPr>
              <a:t>Shared Platform</a:t>
            </a:r>
            <a:endParaRPr lang="en-US" sz="938" dirty="0"/>
          </a:p>
          <a:p>
            <a:pPr>
              <a:lnSpc>
                <a:spcPct val="90000"/>
              </a:lnSpc>
            </a:pPr>
            <a:r>
              <a:rPr lang="en-US" sz="938" b="1" dirty="0">
                <a:solidFill>
                  <a:srgbClr val="1B4F8A"/>
                </a:solidFill>
                <a:latin typeface="Calibri" pitchFamily="34" charset="0"/>
                <a:ea typeface="Calibri" pitchFamily="34" charset="-122"/>
                <a:cs typeface="Calibri" pitchFamily="34" charset="-120"/>
              </a:rPr>
              <a:t>&amp; DevSecOps</a:t>
            </a:r>
            <a:endParaRPr lang="en-US" sz="938" dirty="0"/>
          </a:p>
        </p:txBody>
      </p:sp>
      <p:sp>
        <p:nvSpPr>
          <p:cNvPr id="333" name="Shape 102">
            <a:extLst>
              <a:ext uri="{FF2B5EF4-FFF2-40B4-BE49-F238E27FC236}">
                <a16:creationId xmlns:a16="http://schemas.microsoft.com/office/drawing/2014/main" id="{F810E4A8-6243-A132-BB1A-D79534ACFB96}"/>
              </a:ext>
            </a:extLst>
          </p:cNvPr>
          <p:cNvSpPr/>
          <p:nvPr/>
        </p:nvSpPr>
        <p:spPr>
          <a:xfrm>
            <a:off x="1754766" y="5730707"/>
            <a:ext cx="1960905" cy="395221"/>
          </a:xfrm>
          <a:prstGeom prst="roundRect">
            <a:avLst>
              <a:gd name="adj" fmla="val 9231"/>
            </a:avLst>
          </a:prstGeom>
          <a:solidFill>
            <a:srgbClr val="FFFFFF"/>
          </a:solidFill>
          <a:ln w="12700">
            <a:solidFill>
              <a:srgbClr val="C2DCF0"/>
            </a:solidFill>
            <a:prstDash val="solid"/>
          </a:ln>
        </p:spPr>
        <p:txBody>
          <a:bodyPr/>
          <a:lstStyle/>
          <a:p>
            <a:endParaRPr lang="en-IN"/>
          </a:p>
        </p:txBody>
      </p:sp>
      <p:pic>
        <p:nvPicPr>
          <p:cNvPr id="337" name="Image 17" descr="preencoded.png">
            <a:extLst>
              <a:ext uri="{FF2B5EF4-FFF2-40B4-BE49-F238E27FC236}">
                <a16:creationId xmlns:a16="http://schemas.microsoft.com/office/drawing/2014/main" id="{B68018CD-DCE0-82EB-BCE8-7636DC922458}"/>
              </a:ext>
            </a:extLst>
          </p:cNvPr>
          <p:cNvPicPr>
            <a:picLocks noChangeAspect="1"/>
          </p:cNvPicPr>
          <p:nvPr/>
        </p:nvPicPr>
        <p:blipFill>
          <a:blip r:embed="rId17"/>
          <a:stretch>
            <a:fillRect/>
          </a:stretch>
        </p:blipFill>
        <p:spPr>
          <a:xfrm>
            <a:off x="1830770" y="5821912"/>
            <a:ext cx="197611" cy="197611"/>
          </a:xfrm>
          <a:prstGeom prst="rect">
            <a:avLst/>
          </a:prstGeom>
        </p:spPr>
      </p:pic>
      <p:sp>
        <p:nvSpPr>
          <p:cNvPr id="341" name="Text 103">
            <a:extLst>
              <a:ext uri="{FF2B5EF4-FFF2-40B4-BE49-F238E27FC236}">
                <a16:creationId xmlns:a16="http://schemas.microsoft.com/office/drawing/2014/main" id="{0D22E89C-A701-A703-E576-7A374C5F71F2}"/>
              </a:ext>
            </a:extLst>
          </p:cNvPr>
          <p:cNvSpPr txBox="1"/>
          <p:nvPr/>
        </p:nvSpPr>
        <p:spPr>
          <a:xfrm>
            <a:off x="2073982" y="5761110"/>
            <a:ext cx="1596086" cy="182409"/>
          </a:xfrm>
          <a:prstGeom prst="rect">
            <a:avLst/>
          </a:prstGeom>
          <a:noFill/>
          <a:ln/>
        </p:spPr>
        <p:txBody>
          <a:bodyPr wrap="square" lIns="0" tIns="0" rIns="0" bIns="0" rtlCol="0" anchor="b"/>
          <a:lstStyle/>
          <a:p>
            <a:pPr>
              <a:lnSpc>
                <a:spcPct val="90000"/>
              </a:lnSpc>
            </a:pPr>
            <a:r>
              <a:rPr lang="en-US" sz="798" b="1" dirty="0">
                <a:solidFill>
                  <a:srgbClr val="11397C"/>
                </a:solidFill>
                <a:latin typeface="Calibri" pitchFamily="34" charset="0"/>
                <a:ea typeface="Calibri" pitchFamily="34" charset="-122"/>
                <a:cs typeface="Calibri" pitchFamily="34" charset="-120"/>
              </a:rPr>
              <a:t>Secrets &amp; Key Management</a:t>
            </a:r>
            <a:endParaRPr lang="en-US" sz="798" dirty="0"/>
          </a:p>
        </p:txBody>
      </p:sp>
      <p:sp>
        <p:nvSpPr>
          <p:cNvPr id="345" name="Text 104">
            <a:extLst>
              <a:ext uri="{FF2B5EF4-FFF2-40B4-BE49-F238E27FC236}">
                <a16:creationId xmlns:a16="http://schemas.microsoft.com/office/drawing/2014/main" id="{C8D6A226-6957-3B37-4792-32079E3BD5F0}"/>
              </a:ext>
            </a:extLst>
          </p:cNvPr>
          <p:cNvSpPr txBox="1"/>
          <p:nvPr/>
        </p:nvSpPr>
        <p:spPr>
          <a:xfrm>
            <a:off x="2073982" y="5943519"/>
            <a:ext cx="1596086" cy="152008"/>
          </a:xfrm>
          <a:prstGeom prst="rect">
            <a:avLst/>
          </a:prstGeom>
          <a:noFill/>
          <a:ln/>
        </p:spPr>
        <p:txBody>
          <a:bodyPr wrap="square" lIns="0" tIns="0" rIns="0" bIns="0" rtlCol="0" anchor="t"/>
          <a:lstStyle/>
          <a:p>
            <a:pPr>
              <a:lnSpc>
                <a:spcPct val="90000"/>
              </a:lnSpc>
            </a:pPr>
            <a:r>
              <a:rPr lang="en-US" sz="698" dirty="0">
                <a:solidFill>
                  <a:srgbClr val="5B6472"/>
                </a:solidFill>
                <a:latin typeface="Calibri" pitchFamily="34" charset="0"/>
                <a:ea typeface="Calibri" pitchFamily="34" charset="-122"/>
                <a:cs typeface="Calibri" pitchFamily="34" charset="-120"/>
              </a:rPr>
              <a:t>(Secrets / Certificates / Keys)</a:t>
            </a:r>
            <a:endParaRPr lang="en-US" sz="698" dirty="0"/>
          </a:p>
        </p:txBody>
      </p:sp>
      <p:sp>
        <p:nvSpPr>
          <p:cNvPr id="349" name="Shape 105">
            <a:extLst>
              <a:ext uri="{FF2B5EF4-FFF2-40B4-BE49-F238E27FC236}">
                <a16:creationId xmlns:a16="http://schemas.microsoft.com/office/drawing/2014/main" id="{B61F092E-E5A8-83AA-277B-8FC906600520}"/>
              </a:ext>
            </a:extLst>
          </p:cNvPr>
          <p:cNvSpPr/>
          <p:nvPr/>
        </p:nvSpPr>
        <p:spPr>
          <a:xfrm>
            <a:off x="3776474" y="5730707"/>
            <a:ext cx="1960905" cy="395221"/>
          </a:xfrm>
          <a:prstGeom prst="roundRect">
            <a:avLst>
              <a:gd name="adj" fmla="val 9231"/>
            </a:avLst>
          </a:prstGeom>
          <a:solidFill>
            <a:srgbClr val="FFFFFF"/>
          </a:solidFill>
          <a:ln w="12700">
            <a:solidFill>
              <a:srgbClr val="C2DCF0"/>
            </a:solidFill>
            <a:prstDash val="solid"/>
          </a:ln>
        </p:spPr>
        <p:txBody>
          <a:bodyPr/>
          <a:lstStyle/>
          <a:p>
            <a:endParaRPr lang="en-IN"/>
          </a:p>
        </p:txBody>
      </p:sp>
      <p:pic>
        <p:nvPicPr>
          <p:cNvPr id="353" name="Image 18" descr="preencoded.png">
            <a:extLst>
              <a:ext uri="{FF2B5EF4-FFF2-40B4-BE49-F238E27FC236}">
                <a16:creationId xmlns:a16="http://schemas.microsoft.com/office/drawing/2014/main" id="{58C76ABD-E3BA-5A66-4CBF-BAB001C3B496}"/>
              </a:ext>
            </a:extLst>
          </p:cNvPr>
          <p:cNvPicPr>
            <a:picLocks noChangeAspect="1"/>
          </p:cNvPicPr>
          <p:nvPr/>
        </p:nvPicPr>
        <p:blipFill>
          <a:blip r:embed="rId18"/>
          <a:stretch>
            <a:fillRect/>
          </a:stretch>
        </p:blipFill>
        <p:spPr>
          <a:xfrm>
            <a:off x="3852478" y="5821912"/>
            <a:ext cx="197611" cy="197611"/>
          </a:xfrm>
          <a:prstGeom prst="rect">
            <a:avLst/>
          </a:prstGeom>
        </p:spPr>
      </p:pic>
      <p:sp>
        <p:nvSpPr>
          <p:cNvPr id="357" name="Text 106">
            <a:extLst>
              <a:ext uri="{FF2B5EF4-FFF2-40B4-BE49-F238E27FC236}">
                <a16:creationId xmlns:a16="http://schemas.microsoft.com/office/drawing/2014/main" id="{7C4C6B51-3048-26D1-3861-F53B4EB36CCF}"/>
              </a:ext>
            </a:extLst>
          </p:cNvPr>
          <p:cNvSpPr txBox="1"/>
          <p:nvPr/>
        </p:nvSpPr>
        <p:spPr>
          <a:xfrm>
            <a:off x="4095690" y="5761110"/>
            <a:ext cx="1596086" cy="182409"/>
          </a:xfrm>
          <a:prstGeom prst="rect">
            <a:avLst/>
          </a:prstGeom>
          <a:noFill/>
          <a:ln/>
        </p:spPr>
        <p:txBody>
          <a:bodyPr wrap="square" lIns="0" tIns="0" rIns="0" bIns="0" rtlCol="0" anchor="b"/>
          <a:lstStyle/>
          <a:p>
            <a:pPr>
              <a:lnSpc>
                <a:spcPct val="90000"/>
              </a:lnSpc>
            </a:pPr>
            <a:r>
              <a:rPr lang="en-US" sz="798" b="1" dirty="0">
                <a:solidFill>
                  <a:srgbClr val="11397C"/>
                </a:solidFill>
                <a:latin typeface="Calibri" pitchFamily="34" charset="0"/>
                <a:ea typeface="Calibri" pitchFamily="34" charset="-122"/>
                <a:cs typeface="Calibri" pitchFamily="34" charset="-120"/>
              </a:rPr>
              <a:t>Observability Platform</a:t>
            </a:r>
            <a:endParaRPr lang="en-US" sz="798" dirty="0"/>
          </a:p>
        </p:txBody>
      </p:sp>
      <p:sp>
        <p:nvSpPr>
          <p:cNvPr id="361" name="Text 107">
            <a:extLst>
              <a:ext uri="{FF2B5EF4-FFF2-40B4-BE49-F238E27FC236}">
                <a16:creationId xmlns:a16="http://schemas.microsoft.com/office/drawing/2014/main" id="{6D3AB1F0-A739-8AF0-7FAB-2F3BA4BD9A16}"/>
              </a:ext>
            </a:extLst>
          </p:cNvPr>
          <p:cNvSpPr txBox="1"/>
          <p:nvPr/>
        </p:nvSpPr>
        <p:spPr>
          <a:xfrm>
            <a:off x="4095690" y="5943519"/>
            <a:ext cx="1596086" cy="152008"/>
          </a:xfrm>
          <a:prstGeom prst="rect">
            <a:avLst/>
          </a:prstGeom>
          <a:noFill/>
          <a:ln/>
        </p:spPr>
        <p:txBody>
          <a:bodyPr wrap="square" lIns="0" tIns="0" rIns="0" bIns="0" rtlCol="0" anchor="t"/>
          <a:lstStyle/>
          <a:p>
            <a:pPr>
              <a:lnSpc>
                <a:spcPct val="90000"/>
              </a:lnSpc>
            </a:pPr>
            <a:r>
              <a:rPr lang="en-US" sz="698" dirty="0">
                <a:solidFill>
                  <a:srgbClr val="5B6472"/>
                </a:solidFill>
                <a:latin typeface="Calibri" pitchFamily="34" charset="0"/>
                <a:ea typeface="Calibri" pitchFamily="34" charset="-122"/>
                <a:cs typeface="Calibri" pitchFamily="34" charset="-120"/>
              </a:rPr>
              <a:t>(Logs / Metrics / Traces / Alerts)</a:t>
            </a:r>
            <a:endParaRPr lang="en-US" sz="698" dirty="0"/>
          </a:p>
        </p:txBody>
      </p:sp>
      <p:sp>
        <p:nvSpPr>
          <p:cNvPr id="365" name="Shape 108">
            <a:extLst>
              <a:ext uri="{FF2B5EF4-FFF2-40B4-BE49-F238E27FC236}">
                <a16:creationId xmlns:a16="http://schemas.microsoft.com/office/drawing/2014/main" id="{E91B59E0-A4E5-565B-8552-6999746D3FF3}"/>
              </a:ext>
            </a:extLst>
          </p:cNvPr>
          <p:cNvSpPr/>
          <p:nvPr/>
        </p:nvSpPr>
        <p:spPr>
          <a:xfrm>
            <a:off x="5798182" y="5730707"/>
            <a:ext cx="1960905" cy="395221"/>
          </a:xfrm>
          <a:prstGeom prst="roundRect">
            <a:avLst>
              <a:gd name="adj" fmla="val 9231"/>
            </a:avLst>
          </a:prstGeom>
          <a:solidFill>
            <a:srgbClr val="FFFFFF"/>
          </a:solidFill>
          <a:ln w="12700">
            <a:solidFill>
              <a:srgbClr val="C2DCF0"/>
            </a:solidFill>
            <a:prstDash val="solid"/>
          </a:ln>
        </p:spPr>
        <p:txBody>
          <a:bodyPr/>
          <a:lstStyle/>
          <a:p>
            <a:endParaRPr lang="en-IN"/>
          </a:p>
        </p:txBody>
      </p:sp>
      <p:pic>
        <p:nvPicPr>
          <p:cNvPr id="369" name="Image 19" descr="preencoded.png">
            <a:extLst>
              <a:ext uri="{FF2B5EF4-FFF2-40B4-BE49-F238E27FC236}">
                <a16:creationId xmlns:a16="http://schemas.microsoft.com/office/drawing/2014/main" id="{137E650C-155F-F690-8C49-1FB9B2FD4328}"/>
              </a:ext>
            </a:extLst>
          </p:cNvPr>
          <p:cNvPicPr>
            <a:picLocks noChangeAspect="1"/>
          </p:cNvPicPr>
          <p:nvPr/>
        </p:nvPicPr>
        <p:blipFill>
          <a:blip r:embed="rId19"/>
          <a:stretch>
            <a:fillRect/>
          </a:stretch>
        </p:blipFill>
        <p:spPr>
          <a:xfrm>
            <a:off x="5874186" y="5821912"/>
            <a:ext cx="197611" cy="197611"/>
          </a:xfrm>
          <a:prstGeom prst="rect">
            <a:avLst/>
          </a:prstGeom>
        </p:spPr>
      </p:pic>
      <p:sp>
        <p:nvSpPr>
          <p:cNvPr id="373" name="Text 109">
            <a:extLst>
              <a:ext uri="{FF2B5EF4-FFF2-40B4-BE49-F238E27FC236}">
                <a16:creationId xmlns:a16="http://schemas.microsoft.com/office/drawing/2014/main" id="{F6437C76-391B-BDC2-F795-3780456E7BD9}"/>
              </a:ext>
            </a:extLst>
          </p:cNvPr>
          <p:cNvSpPr txBox="1"/>
          <p:nvPr/>
        </p:nvSpPr>
        <p:spPr>
          <a:xfrm>
            <a:off x="6117398" y="5761110"/>
            <a:ext cx="1596086" cy="182409"/>
          </a:xfrm>
          <a:prstGeom prst="rect">
            <a:avLst/>
          </a:prstGeom>
          <a:noFill/>
          <a:ln/>
        </p:spPr>
        <p:txBody>
          <a:bodyPr wrap="square" lIns="0" tIns="0" rIns="0" bIns="0" rtlCol="0" anchor="b"/>
          <a:lstStyle/>
          <a:p>
            <a:pPr>
              <a:lnSpc>
                <a:spcPct val="90000"/>
              </a:lnSpc>
            </a:pPr>
            <a:r>
              <a:rPr lang="en-US" sz="798" b="1" dirty="0">
                <a:solidFill>
                  <a:srgbClr val="11397C"/>
                </a:solidFill>
                <a:latin typeface="Calibri" pitchFamily="34" charset="0"/>
                <a:ea typeface="Calibri" pitchFamily="34" charset="-122"/>
                <a:cs typeface="Calibri" pitchFamily="34" charset="-120"/>
              </a:rPr>
              <a:t>Container Registry</a:t>
            </a:r>
            <a:endParaRPr lang="en-US" sz="798" dirty="0"/>
          </a:p>
        </p:txBody>
      </p:sp>
      <p:sp>
        <p:nvSpPr>
          <p:cNvPr id="377" name="Text 110">
            <a:extLst>
              <a:ext uri="{FF2B5EF4-FFF2-40B4-BE49-F238E27FC236}">
                <a16:creationId xmlns:a16="http://schemas.microsoft.com/office/drawing/2014/main" id="{43506521-59EE-E784-3842-B33DEA76B5B7}"/>
              </a:ext>
            </a:extLst>
          </p:cNvPr>
          <p:cNvSpPr txBox="1"/>
          <p:nvPr/>
        </p:nvSpPr>
        <p:spPr>
          <a:xfrm>
            <a:off x="6117398" y="5943519"/>
            <a:ext cx="1596086" cy="152008"/>
          </a:xfrm>
          <a:prstGeom prst="rect">
            <a:avLst/>
          </a:prstGeom>
          <a:noFill/>
          <a:ln/>
        </p:spPr>
        <p:txBody>
          <a:bodyPr wrap="square" lIns="0" tIns="0" rIns="0" bIns="0" rtlCol="0" anchor="t"/>
          <a:lstStyle/>
          <a:p>
            <a:pPr>
              <a:lnSpc>
                <a:spcPct val="90000"/>
              </a:lnSpc>
            </a:pPr>
            <a:r>
              <a:rPr lang="en-US" sz="698" dirty="0">
                <a:solidFill>
                  <a:srgbClr val="5B6472"/>
                </a:solidFill>
                <a:latin typeface="Calibri" pitchFamily="34" charset="0"/>
                <a:ea typeface="Calibri" pitchFamily="34" charset="-122"/>
                <a:cs typeface="Calibri" pitchFamily="34" charset="-120"/>
              </a:rPr>
              <a:t>(Container Images)</a:t>
            </a:r>
            <a:endParaRPr lang="en-US" sz="698" dirty="0"/>
          </a:p>
        </p:txBody>
      </p:sp>
      <p:sp>
        <p:nvSpPr>
          <p:cNvPr id="381" name="Shape 111">
            <a:extLst>
              <a:ext uri="{FF2B5EF4-FFF2-40B4-BE49-F238E27FC236}">
                <a16:creationId xmlns:a16="http://schemas.microsoft.com/office/drawing/2014/main" id="{96D6441F-5659-F748-83A1-B87420C7F836}"/>
              </a:ext>
            </a:extLst>
          </p:cNvPr>
          <p:cNvSpPr/>
          <p:nvPr/>
        </p:nvSpPr>
        <p:spPr>
          <a:xfrm>
            <a:off x="7819891" y="5730707"/>
            <a:ext cx="1960905" cy="395221"/>
          </a:xfrm>
          <a:prstGeom prst="roundRect">
            <a:avLst>
              <a:gd name="adj" fmla="val 9231"/>
            </a:avLst>
          </a:prstGeom>
          <a:solidFill>
            <a:srgbClr val="FFFFFF"/>
          </a:solidFill>
          <a:ln w="12700">
            <a:solidFill>
              <a:srgbClr val="C2DCF0"/>
            </a:solidFill>
            <a:prstDash val="solid"/>
          </a:ln>
        </p:spPr>
        <p:txBody>
          <a:bodyPr/>
          <a:lstStyle/>
          <a:p>
            <a:endParaRPr lang="en-IN"/>
          </a:p>
        </p:txBody>
      </p:sp>
      <p:pic>
        <p:nvPicPr>
          <p:cNvPr id="385" name="Image 20" descr="preencoded.png">
            <a:extLst>
              <a:ext uri="{FF2B5EF4-FFF2-40B4-BE49-F238E27FC236}">
                <a16:creationId xmlns:a16="http://schemas.microsoft.com/office/drawing/2014/main" id="{5328C217-A8CF-AFCB-362D-26A6CBBED153}"/>
              </a:ext>
            </a:extLst>
          </p:cNvPr>
          <p:cNvPicPr>
            <a:picLocks noChangeAspect="1"/>
          </p:cNvPicPr>
          <p:nvPr/>
        </p:nvPicPr>
        <p:blipFill>
          <a:blip r:embed="rId20"/>
          <a:stretch>
            <a:fillRect/>
          </a:stretch>
        </p:blipFill>
        <p:spPr>
          <a:xfrm>
            <a:off x="7895895" y="5821912"/>
            <a:ext cx="197611" cy="197611"/>
          </a:xfrm>
          <a:prstGeom prst="rect">
            <a:avLst/>
          </a:prstGeom>
        </p:spPr>
      </p:pic>
      <p:sp>
        <p:nvSpPr>
          <p:cNvPr id="389" name="Text 112">
            <a:extLst>
              <a:ext uri="{FF2B5EF4-FFF2-40B4-BE49-F238E27FC236}">
                <a16:creationId xmlns:a16="http://schemas.microsoft.com/office/drawing/2014/main" id="{B1B562F1-69E5-D1AB-3E62-985C9728DC5E}"/>
              </a:ext>
            </a:extLst>
          </p:cNvPr>
          <p:cNvSpPr txBox="1"/>
          <p:nvPr/>
        </p:nvSpPr>
        <p:spPr>
          <a:xfrm>
            <a:off x="8139107" y="5761110"/>
            <a:ext cx="1596086" cy="182409"/>
          </a:xfrm>
          <a:prstGeom prst="rect">
            <a:avLst/>
          </a:prstGeom>
          <a:noFill/>
          <a:ln/>
        </p:spPr>
        <p:txBody>
          <a:bodyPr wrap="square" lIns="0" tIns="0" rIns="0" bIns="0" rtlCol="0" anchor="b"/>
          <a:lstStyle/>
          <a:p>
            <a:pPr>
              <a:lnSpc>
                <a:spcPct val="90000"/>
              </a:lnSpc>
            </a:pPr>
            <a:r>
              <a:rPr lang="en-US" sz="798" b="1" dirty="0">
                <a:solidFill>
                  <a:srgbClr val="11397C"/>
                </a:solidFill>
                <a:latin typeface="Calibri" pitchFamily="34" charset="0"/>
                <a:ea typeface="Calibri" pitchFamily="34" charset="-122"/>
                <a:cs typeface="Calibri" pitchFamily="34" charset="-120"/>
              </a:rPr>
              <a:t>CI/CD Pipeline</a:t>
            </a:r>
            <a:endParaRPr lang="en-US" sz="798" dirty="0"/>
          </a:p>
        </p:txBody>
      </p:sp>
      <p:sp>
        <p:nvSpPr>
          <p:cNvPr id="393" name="Text 113">
            <a:extLst>
              <a:ext uri="{FF2B5EF4-FFF2-40B4-BE49-F238E27FC236}">
                <a16:creationId xmlns:a16="http://schemas.microsoft.com/office/drawing/2014/main" id="{24D8FE86-A098-259F-97F6-A57255285D19}"/>
              </a:ext>
            </a:extLst>
          </p:cNvPr>
          <p:cNvSpPr txBox="1"/>
          <p:nvPr/>
        </p:nvSpPr>
        <p:spPr>
          <a:xfrm>
            <a:off x="8139107" y="5943519"/>
            <a:ext cx="1596086" cy="152008"/>
          </a:xfrm>
          <a:prstGeom prst="rect">
            <a:avLst/>
          </a:prstGeom>
          <a:noFill/>
          <a:ln/>
        </p:spPr>
        <p:txBody>
          <a:bodyPr wrap="square" lIns="0" tIns="0" rIns="0" bIns="0" rtlCol="0" anchor="t"/>
          <a:lstStyle/>
          <a:p>
            <a:pPr>
              <a:lnSpc>
                <a:spcPct val="90000"/>
              </a:lnSpc>
            </a:pPr>
            <a:r>
              <a:rPr lang="en-US" sz="698" dirty="0">
                <a:solidFill>
                  <a:srgbClr val="5B6472"/>
                </a:solidFill>
                <a:latin typeface="Calibri" pitchFamily="34" charset="0"/>
                <a:ea typeface="Calibri" pitchFamily="34" charset="-122"/>
                <a:cs typeface="Calibri" pitchFamily="34" charset="-120"/>
              </a:rPr>
              <a:t>Source → Build / Test / Scan → Registry</a:t>
            </a:r>
            <a:endParaRPr lang="en-US" sz="698" dirty="0"/>
          </a:p>
        </p:txBody>
      </p:sp>
      <p:sp>
        <p:nvSpPr>
          <p:cNvPr id="397" name="Shape 114">
            <a:extLst>
              <a:ext uri="{FF2B5EF4-FFF2-40B4-BE49-F238E27FC236}">
                <a16:creationId xmlns:a16="http://schemas.microsoft.com/office/drawing/2014/main" id="{BC75F69A-F1E3-874B-5DC3-21B5E2A6C018}"/>
              </a:ext>
            </a:extLst>
          </p:cNvPr>
          <p:cNvSpPr/>
          <p:nvPr/>
        </p:nvSpPr>
        <p:spPr>
          <a:xfrm>
            <a:off x="9841599" y="5730707"/>
            <a:ext cx="1960905" cy="395221"/>
          </a:xfrm>
          <a:prstGeom prst="roundRect">
            <a:avLst>
              <a:gd name="adj" fmla="val 9231"/>
            </a:avLst>
          </a:prstGeom>
          <a:solidFill>
            <a:srgbClr val="FFFFFF"/>
          </a:solidFill>
          <a:ln w="12700">
            <a:solidFill>
              <a:srgbClr val="C2DCF0"/>
            </a:solidFill>
            <a:prstDash val="solid"/>
          </a:ln>
        </p:spPr>
        <p:txBody>
          <a:bodyPr/>
          <a:lstStyle/>
          <a:p>
            <a:endParaRPr lang="en-IN"/>
          </a:p>
        </p:txBody>
      </p:sp>
      <p:pic>
        <p:nvPicPr>
          <p:cNvPr id="401" name="Image 21" descr="preencoded.png">
            <a:extLst>
              <a:ext uri="{FF2B5EF4-FFF2-40B4-BE49-F238E27FC236}">
                <a16:creationId xmlns:a16="http://schemas.microsoft.com/office/drawing/2014/main" id="{89340E3B-F58E-F66E-1C60-6B6513A4E0DA}"/>
              </a:ext>
            </a:extLst>
          </p:cNvPr>
          <p:cNvPicPr>
            <a:picLocks noChangeAspect="1"/>
          </p:cNvPicPr>
          <p:nvPr/>
        </p:nvPicPr>
        <p:blipFill>
          <a:blip r:embed="rId21"/>
          <a:stretch>
            <a:fillRect/>
          </a:stretch>
        </p:blipFill>
        <p:spPr>
          <a:xfrm>
            <a:off x="9917603" y="5821912"/>
            <a:ext cx="197611" cy="197611"/>
          </a:xfrm>
          <a:prstGeom prst="rect">
            <a:avLst/>
          </a:prstGeom>
        </p:spPr>
      </p:pic>
      <p:sp>
        <p:nvSpPr>
          <p:cNvPr id="405" name="Text 115">
            <a:extLst>
              <a:ext uri="{FF2B5EF4-FFF2-40B4-BE49-F238E27FC236}">
                <a16:creationId xmlns:a16="http://schemas.microsoft.com/office/drawing/2014/main" id="{3990C47D-0D24-DB37-E26B-47CAB2CBE980}"/>
              </a:ext>
            </a:extLst>
          </p:cNvPr>
          <p:cNvSpPr txBox="1"/>
          <p:nvPr/>
        </p:nvSpPr>
        <p:spPr>
          <a:xfrm>
            <a:off x="10160815" y="5761110"/>
            <a:ext cx="1596086" cy="182409"/>
          </a:xfrm>
          <a:prstGeom prst="rect">
            <a:avLst/>
          </a:prstGeom>
          <a:noFill/>
          <a:ln/>
        </p:spPr>
        <p:txBody>
          <a:bodyPr wrap="square" lIns="0" tIns="0" rIns="0" bIns="0" rtlCol="0" anchor="b"/>
          <a:lstStyle/>
          <a:p>
            <a:pPr>
              <a:lnSpc>
                <a:spcPct val="90000"/>
              </a:lnSpc>
            </a:pPr>
            <a:r>
              <a:rPr lang="en-US" sz="798" b="1" dirty="0">
                <a:solidFill>
                  <a:srgbClr val="11397C"/>
                </a:solidFill>
                <a:latin typeface="Calibri" pitchFamily="34" charset="0"/>
                <a:ea typeface="Calibri" pitchFamily="34" charset="-122"/>
                <a:cs typeface="Calibri" pitchFamily="34" charset="-120"/>
              </a:rPr>
              <a:t>Cloud Network Security</a:t>
            </a:r>
            <a:endParaRPr lang="en-US" sz="798" dirty="0"/>
          </a:p>
        </p:txBody>
      </p:sp>
      <p:sp>
        <p:nvSpPr>
          <p:cNvPr id="409" name="Text 116">
            <a:extLst>
              <a:ext uri="{FF2B5EF4-FFF2-40B4-BE49-F238E27FC236}">
                <a16:creationId xmlns:a16="http://schemas.microsoft.com/office/drawing/2014/main" id="{12BB0324-DE31-158B-C896-7BBD8520ABFA}"/>
              </a:ext>
            </a:extLst>
          </p:cNvPr>
          <p:cNvSpPr txBox="1"/>
          <p:nvPr/>
        </p:nvSpPr>
        <p:spPr>
          <a:xfrm>
            <a:off x="10160815" y="5943519"/>
            <a:ext cx="1596086" cy="152008"/>
          </a:xfrm>
          <a:prstGeom prst="rect">
            <a:avLst/>
          </a:prstGeom>
          <a:noFill/>
          <a:ln/>
        </p:spPr>
        <p:txBody>
          <a:bodyPr wrap="square" lIns="0" tIns="0" rIns="0" bIns="0" rtlCol="0" anchor="t"/>
          <a:lstStyle/>
          <a:p>
            <a:pPr>
              <a:lnSpc>
                <a:spcPct val="90000"/>
              </a:lnSpc>
            </a:pPr>
            <a:r>
              <a:rPr lang="en-US" sz="698" dirty="0">
                <a:solidFill>
                  <a:srgbClr val="5B6472"/>
                </a:solidFill>
                <a:latin typeface="Calibri" pitchFamily="34" charset="0"/>
                <a:ea typeface="Calibri" pitchFamily="34" charset="-122"/>
                <a:cs typeface="Calibri" pitchFamily="34" charset="-120"/>
              </a:rPr>
              <a:t>(Subnets / Firewall / Private Endpoints)</a:t>
            </a:r>
            <a:endParaRPr lang="en-US" sz="698" dirty="0"/>
          </a:p>
        </p:txBody>
      </p:sp>
      <p:sp>
        <p:nvSpPr>
          <p:cNvPr id="413" name="Shape 117">
            <a:extLst>
              <a:ext uri="{FF2B5EF4-FFF2-40B4-BE49-F238E27FC236}">
                <a16:creationId xmlns:a16="http://schemas.microsoft.com/office/drawing/2014/main" id="{8B473EA9-E0AA-7674-513B-09935940E425}"/>
              </a:ext>
            </a:extLst>
          </p:cNvPr>
          <p:cNvSpPr/>
          <p:nvPr/>
        </p:nvSpPr>
        <p:spPr>
          <a:xfrm>
            <a:off x="439895" y="6247535"/>
            <a:ext cx="6688358" cy="425622"/>
          </a:xfrm>
          <a:prstGeom prst="roundRect">
            <a:avLst>
              <a:gd name="adj" fmla="val 10715"/>
            </a:avLst>
          </a:prstGeom>
          <a:solidFill>
            <a:srgbClr val="FFFFFF"/>
          </a:solidFill>
          <a:ln w="12700">
            <a:solidFill>
              <a:srgbClr val="C2DCF0"/>
            </a:solidFill>
            <a:prstDash val="solid"/>
          </a:ln>
        </p:spPr>
        <p:txBody>
          <a:bodyPr/>
          <a:lstStyle/>
          <a:p>
            <a:endParaRPr lang="en-IN"/>
          </a:p>
        </p:txBody>
      </p:sp>
      <p:sp>
        <p:nvSpPr>
          <p:cNvPr id="417" name="Text 118">
            <a:extLst>
              <a:ext uri="{FF2B5EF4-FFF2-40B4-BE49-F238E27FC236}">
                <a16:creationId xmlns:a16="http://schemas.microsoft.com/office/drawing/2014/main" id="{59304D26-0901-4F2F-2744-6A8278393C55}"/>
              </a:ext>
            </a:extLst>
          </p:cNvPr>
          <p:cNvSpPr txBox="1"/>
          <p:nvPr/>
        </p:nvSpPr>
        <p:spPr>
          <a:xfrm>
            <a:off x="523499" y="6247535"/>
            <a:ext cx="456025" cy="425622"/>
          </a:xfrm>
          <a:prstGeom prst="rect">
            <a:avLst/>
          </a:prstGeom>
          <a:noFill/>
          <a:ln/>
        </p:spPr>
        <p:txBody>
          <a:bodyPr wrap="square" lIns="0" tIns="0" rIns="0" bIns="0" rtlCol="0" anchor="ctr"/>
          <a:lstStyle/>
          <a:p>
            <a:pPr>
              <a:lnSpc>
                <a:spcPct val="93000"/>
              </a:lnSpc>
            </a:pPr>
            <a:r>
              <a:rPr lang="en-US" sz="878" b="1" dirty="0">
                <a:solidFill>
                  <a:srgbClr val="1B4F8A"/>
                </a:solidFill>
                <a:latin typeface="Calibri" pitchFamily="34" charset="0"/>
                <a:ea typeface="Calibri" pitchFamily="34" charset="-122"/>
                <a:cs typeface="Calibri" pitchFamily="34" charset="-120"/>
              </a:rPr>
              <a:t>Legend</a:t>
            </a:r>
            <a:endParaRPr lang="en-US" sz="878" dirty="0"/>
          </a:p>
        </p:txBody>
      </p:sp>
      <p:sp>
        <p:nvSpPr>
          <p:cNvPr id="421" name="Shape 119">
            <a:extLst>
              <a:ext uri="{FF2B5EF4-FFF2-40B4-BE49-F238E27FC236}">
                <a16:creationId xmlns:a16="http://schemas.microsoft.com/office/drawing/2014/main" id="{D3AE88A5-4DE1-54F7-AB83-B6C80536A274}"/>
              </a:ext>
            </a:extLst>
          </p:cNvPr>
          <p:cNvSpPr/>
          <p:nvPr/>
        </p:nvSpPr>
        <p:spPr>
          <a:xfrm>
            <a:off x="1055528" y="6460346"/>
            <a:ext cx="243213" cy="0"/>
          </a:xfrm>
          <a:prstGeom prst="line">
            <a:avLst/>
          </a:prstGeom>
          <a:noFill/>
          <a:ln w="30480">
            <a:solidFill>
              <a:srgbClr val="1B4F8C"/>
            </a:solidFill>
            <a:prstDash val="solid"/>
            <a:tailEnd type="triangle"/>
          </a:ln>
        </p:spPr>
        <p:txBody>
          <a:bodyPr/>
          <a:lstStyle/>
          <a:p>
            <a:endParaRPr lang="en-IN"/>
          </a:p>
        </p:txBody>
      </p:sp>
      <p:sp>
        <p:nvSpPr>
          <p:cNvPr id="425" name="Text 120">
            <a:extLst>
              <a:ext uri="{FF2B5EF4-FFF2-40B4-BE49-F238E27FC236}">
                <a16:creationId xmlns:a16="http://schemas.microsoft.com/office/drawing/2014/main" id="{661DD19A-C1DC-A245-580E-DE47BBC53C8B}"/>
              </a:ext>
            </a:extLst>
          </p:cNvPr>
          <p:cNvSpPr txBox="1"/>
          <p:nvPr/>
        </p:nvSpPr>
        <p:spPr>
          <a:xfrm>
            <a:off x="1351944" y="6247535"/>
            <a:ext cx="942450" cy="425622"/>
          </a:xfrm>
          <a:prstGeom prst="rect">
            <a:avLst/>
          </a:prstGeom>
          <a:noFill/>
          <a:ln/>
        </p:spPr>
        <p:txBody>
          <a:bodyPr wrap="square" lIns="0" tIns="0" rIns="0" bIns="0" rtlCol="0" anchor="ctr"/>
          <a:lstStyle/>
          <a:p>
            <a:pPr>
              <a:lnSpc>
                <a:spcPct val="93000"/>
              </a:lnSpc>
            </a:pPr>
            <a:r>
              <a:rPr lang="en-US" sz="778" dirty="0">
                <a:solidFill>
                  <a:srgbClr val="5B6472"/>
                </a:solidFill>
                <a:latin typeface="Calibri" pitchFamily="34" charset="0"/>
                <a:ea typeface="Calibri" pitchFamily="34" charset="-122"/>
                <a:cs typeface="Calibri" pitchFamily="34" charset="-120"/>
              </a:rPr>
              <a:t>Primary request flow</a:t>
            </a:r>
            <a:endParaRPr lang="en-US" sz="778" dirty="0"/>
          </a:p>
        </p:txBody>
      </p:sp>
      <p:sp>
        <p:nvSpPr>
          <p:cNvPr id="429" name="Shape 121">
            <a:extLst>
              <a:ext uri="{FF2B5EF4-FFF2-40B4-BE49-F238E27FC236}">
                <a16:creationId xmlns:a16="http://schemas.microsoft.com/office/drawing/2014/main" id="{25C00F22-418F-0A22-359E-FD60749CE524}"/>
              </a:ext>
            </a:extLst>
          </p:cNvPr>
          <p:cNvSpPr/>
          <p:nvPr/>
        </p:nvSpPr>
        <p:spPr>
          <a:xfrm>
            <a:off x="2454003" y="6460346"/>
            <a:ext cx="243213" cy="0"/>
          </a:xfrm>
          <a:prstGeom prst="line">
            <a:avLst/>
          </a:prstGeom>
          <a:noFill/>
          <a:ln w="20320">
            <a:solidFill>
              <a:srgbClr val="1B4F8C"/>
            </a:solidFill>
            <a:prstDash val="solid"/>
            <a:tailEnd type="triangle"/>
          </a:ln>
        </p:spPr>
        <p:txBody>
          <a:bodyPr/>
          <a:lstStyle/>
          <a:p>
            <a:endParaRPr lang="en-IN"/>
          </a:p>
        </p:txBody>
      </p:sp>
      <p:sp>
        <p:nvSpPr>
          <p:cNvPr id="433" name="Text 122">
            <a:extLst>
              <a:ext uri="{FF2B5EF4-FFF2-40B4-BE49-F238E27FC236}">
                <a16:creationId xmlns:a16="http://schemas.microsoft.com/office/drawing/2014/main" id="{C8CDED7B-D30B-2F98-1E56-75AF66C4F7ED}"/>
              </a:ext>
            </a:extLst>
          </p:cNvPr>
          <p:cNvSpPr txBox="1"/>
          <p:nvPr/>
        </p:nvSpPr>
        <p:spPr>
          <a:xfrm>
            <a:off x="2750419" y="6247535"/>
            <a:ext cx="1064057" cy="425622"/>
          </a:xfrm>
          <a:prstGeom prst="rect">
            <a:avLst/>
          </a:prstGeom>
          <a:noFill/>
          <a:ln/>
        </p:spPr>
        <p:txBody>
          <a:bodyPr wrap="square" lIns="0" tIns="0" rIns="0" bIns="0" rtlCol="0" anchor="ctr"/>
          <a:lstStyle/>
          <a:p>
            <a:pPr>
              <a:lnSpc>
                <a:spcPct val="93000"/>
              </a:lnSpc>
            </a:pPr>
            <a:r>
              <a:rPr lang="en-US" sz="778" dirty="0">
                <a:solidFill>
                  <a:srgbClr val="5B6472"/>
                </a:solidFill>
                <a:latin typeface="Calibri" pitchFamily="34" charset="0"/>
                <a:ea typeface="Calibri" pitchFamily="34" charset="-122"/>
                <a:cs typeface="Calibri" pitchFamily="34" charset="-120"/>
              </a:rPr>
              <a:t>Synchronous API / HTTPS</a:t>
            </a:r>
            <a:endParaRPr lang="en-US" sz="778" dirty="0"/>
          </a:p>
        </p:txBody>
      </p:sp>
      <p:sp>
        <p:nvSpPr>
          <p:cNvPr id="437" name="Shape 123">
            <a:extLst>
              <a:ext uri="{FF2B5EF4-FFF2-40B4-BE49-F238E27FC236}">
                <a16:creationId xmlns:a16="http://schemas.microsoft.com/office/drawing/2014/main" id="{28C5F9EE-D386-DBAF-395F-466E3881A149}"/>
              </a:ext>
            </a:extLst>
          </p:cNvPr>
          <p:cNvSpPr/>
          <p:nvPr/>
        </p:nvSpPr>
        <p:spPr>
          <a:xfrm>
            <a:off x="4050088" y="6460346"/>
            <a:ext cx="243213" cy="0"/>
          </a:xfrm>
          <a:prstGeom prst="line">
            <a:avLst/>
          </a:prstGeom>
          <a:noFill/>
          <a:ln w="19050">
            <a:solidFill>
              <a:srgbClr val="0E7C6B"/>
            </a:solidFill>
            <a:prstDash val="solid"/>
            <a:tailEnd type="triangle"/>
          </a:ln>
        </p:spPr>
        <p:txBody>
          <a:bodyPr/>
          <a:lstStyle/>
          <a:p>
            <a:endParaRPr lang="en-IN"/>
          </a:p>
        </p:txBody>
      </p:sp>
      <p:sp>
        <p:nvSpPr>
          <p:cNvPr id="441" name="Text 124">
            <a:extLst>
              <a:ext uri="{FF2B5EF4-FFF2-40B4-BE49-F238E27FC236}">
                <a16:creationId xmlns:a16="http://schemas.microsoft.com/office/drawing/2014/main" id="{A0491F89-DD19-4EC0-389D-421F6606606E}"/>
              </a:ext>
            </a:extLst>
          </p:cNvPr>
          <p:cNvSpPr txBox="1"/>
          <p:nvPr/>
        </p:nvSpPr>
        <p:spPr>
          <a:xfrm>
            <a:off x="4346505" y="6247535"/>
            <a:ext cx="653635" cy="425622"/>
          </a:xfrm>
          <a:prstGeom prst="rect">
            <a:avLst/>
          </a:prstGeom>
          <a:noFill/>
          <a:ln/>
        </p:spPr>
        <p:txBody>
          <a:bodyPr wrap="square" lIns="0" tIns="0" rIns="0" bIns="0" rtlCol="0" anchor="ctr"/>
          <a:lstStyle/>
          <a:p>
            <a:pPr>
              <a:lnSpc>
                <a:spcPct val="93000"/>
              </a:lnSpc>
            </a:pPr>
            <a:r>
              <a:rPr lang="en-US" sz="778" dirty="0">
                <a:solidFill>
                  <a:srgbClr val="5B6472"/>
                </a:solidFill>
                <a:latin typeface="Calibri" pitchFamily="34" charset="0"/>
                <a:ea typeface="Calibri" pitchFamily="34" charset="-122"/>
                <a:cs typeface="Calibri" pitchFamily="34" charset="-120"/>
              </a:rPr>
              <a:t>Authentication</a:t>
            </a:r>
            <a:endParaRPr lang="en-US" sz="778" dirty="0"/>
          </a:p>
        </p:txBody>
      </p:sp>
      <p:sp>
        <p:nvSpPr>
          <p:cNvPr id="445" name="Shape 125">
            <a:extLst>
              <a:ext uri="{FF2B5EF4-FFF2-40B4-BE49-F238E27FC236}">
                <a16:creationId xmlns:a16="http://schemas.microsoft.com/office/drawing/2014/main" id="{25B71A39-ED24-0433-63DF-D367BA439B67}"/>
              </a:ext>
            </a:extLst>
          </p:cNvPr>
          <p:cNvSpPr/>
          <p:nvPr/>
        </p:nvSpPr>
        <p:spPr>
          <a:xfrm>
            <a:off x="5114145" y="6460346"/>
            <a:ext cx="243213" cy="0"/>
          </a:xfrm>
          <a:prstGeom prst="line">
            <a:avLst/>
          </a:prstGeom>
          <a:noFill/>
          <a:ln w="19050">
            <a:solidFill>
              <a:srgbClr val="6A4C93"/>
            </a:solidFill>
            <a:prstDash val="dash"/>
            <a:tailEnd type="triangle"/>
          </a:ln>
        </p:spPr>
        <p:txBody>
          <a:bodyPr/>
          <a:lstStyle/>
          <a:p>
            <a:endParaRPr lang="en-IN"/>
          </a:p>
        </p:txBody>
      </p:sp>
      <p:sp>
        <p:nvSpPr>
          <p:cNvPr id="640" name="Text 126">
            <a:extLst>
              <a:ext uri="{FF2B5EF4-FFF2-40B4-BE49-F238E27FC236}">
                <a16:creationId xmlns:a16="http://schemas.microsoft.com/office/drawing/2014/main" id="{BE8B1040-876F-1572-BC2A-66A297F4CDEC}"/>
              </a:ext>
            </a:extLst>
          </p:cNvPr>
          <p:cNvSpPr txBox="1"/>
          <p:nvPr/>
        </p:nvSpPr>
        <p:spPr>
          <a:xfrm>
            <a:off x="5410561" y="6247535"/>
            <a:ext cx="592832" cy="425622"/>
          </a:xfrm>
          <a:prstGeom prst="rect">
            <a:avLst/>
          </a:prstGeom>
          <a:noFill/>
          <a:ln/>
        </p:spPr>
        <p:txBody>
          <a:bodyPr wrap="square" lIns="0" tIns="0" rIns="0" bIns="0" rtlCol="0" anchor="ctr"/>
          <a:lstStyle/>
          <a:p>
            <a:pPr>
              <a:lnSpc>
                <a:spcPct val="93000"/>
              </a:lnSpc>
            </a:pPr>
            <a:r>
              <a:rPr lang="en-US" sz="778" dirty="0">
                <a:solidFill>
                  <a:srgbClr val="5B6472"/>
                </a:solidFill>
                <a:latin typeface="Calibri" pitchFamily="34" charset="0"/>
                <a:ea typeface="Calibri" pitchFamily="34" charset="-122"/>
                <a:cs typeface="Calibri" pitchFamily="34" charset="-120"/>
              </a:rPr>
              <a:t>Async event</a:t>
            </a:r>
            <a:endParaRPr lang="en-US" sz="778" dirty="0"/>
          </a:p>
        </p:txBody>
      </p:sp>
      <p:sp>
        <p:nvSpPr>
          <p:cNvPr id="642" name="Shape 127">
            <a:extLst>
              <a:ext uri="{FF2B5EF4-FFF2-40B4-BE49-F238E27FC236}">
                <a16:creationId xmlns:a16="http://schemas.microsoft.com/office/drawing/2014/main" id="{1B5C19C6-B56A-524F-5328-DEB7EE7A7AD9}"/>
              </a:ext>
            </a:extLst>
          </p:cNvPr>
          <p:cNvSpPr/>
          <p:nvPr/>
        </p:nvSpPr>
        <p:spPr>
          <a:xfrm>
            <a:off x="6026194" y="6460346"/>
            <a:ext cx="243213" cy="0"/>
          </a:xfrm>
          <a:prstGeom prst="line">
            <a:avLst/>
          </a:prstGeom>
          <a:noFill/>
          <a:ln w="15240">
            <a:solidFill>
              <a:srgbClr val="6B7280"/>
            </a:solidFill>
            <a:prstDash val="dash"/>
            <a:tailEnd type="triangle"/>
          </a:ln>
        </p:spPr>
        <p:txBody>
          <a:bodyPr/>
          <a:lstStyle/>
          <a:p>
            <a:endParaRPr lang="en-IN"/>
          </a:p>
        </p:txBody>
      </p:sp>
      <p:sp>
        <p:nvSpPr>
          <p:cNvPr id="644" name="Text 128">
            <a:extLst>
              <a:ext uri="{FF2B5EF4-FFF2-40B4-BE49-F238E27FC236}">
                <a16:creationId xmlns:a16="http://schemas.microsoft.com/office/drawing/2014/main" id="{BFE49538-F99E-29B9-F37E-FB705180DDD0}"/>
              </a:ext>
            </a:extLst>
          </p:cNvPr>
          <p:cNvSpPr txBox="1"/>
          <p:nvPr/>
        </p:nvSpPr>
        <p:spPr>
          <a:xfrm>
            <a:off x="6322610" y="6247535"/>
            <a:ext cx="608033" cy="425622"/>
          </a:xfrm>
          <a:prstGeom prst="rect">
            <a:avLst/>
          </a:prstGeom>
          <a:noFill/>
          <a:ln/>
        </p:spPr>
        <p:txBody>
          <a:bodyPr wrap="square" lIns="0" tIns="0" rIns="0" bIns="0" rtlCol="0" anchor="ctr"/>
          <a:lstStyle/>
          <a:p>
            <a:pPr>
              <a:lnSpc>
                <a:spcPct val="93000"/>
              </a:lnSpc>
            </a:pPr>
            <a:r>
              <a:rPr lang="en-US" sz="778" dirty="0">
                <a:solidFill>
                  <a:srgbClr val="5B6472"/>
                </a:solidFill>
                <a:latin typeface="Calibri" pitchFamily="34" charset="0"/>
                <a:ea typeface="Calibri" pitchFamily="34" charset="-122"/>
                <a:cs typeface="Calibri" pitchFamily="34" charset="-120"/>
              </a:rPr>
              <a:t>Replication</a:t>
            </a:r>
            <a:endParaRPr lang="en-US" sz="778" dirty="0"/>
          </a:p>
        </p:txBody>
      </p:sp>
      <p:sp>
        <p:nvSpPr>
          <p:cNvPr id="646" name="Shape 129">
            <a:extLst>
              <a:ext uri="{FF2B5EF4-FFF2-40B4-BE49-F238E27FC236}">
                <a16:creationId xmlns:a16="http://schemas.microsoft.com/office/drawing/2014/main" id="{DB6AF3A3-A2AB-46C4-1D76-C917FA63A3FB}"/>
              </a:ext>
            </a:extLst>
          </p:cNvPr>
          <p:cNvSpPr/>
          <p:nvPr/>
        </p:nvSpPr>
        <p:spPr>
          <a:xfrm>
            <a:off x="7242259" y="6247535"/>
            <a:ext cx="4522243" cy="425622"/>
          </a:xfrm>
          <a:prstGeom prst="roundRect">
            <a:avLst>
              <a:gd name="adj" fmla="val 10715"/>
            </a:avLst>
          </a:prstGeom>
          <a:solidFill>
            <a:srgbClr val="F4F7FA"/>
          </a:solidFill>
          <a:ln w="12700">
            <a:solidFill>
              <a:srgbClr val="B9CBDD"/>
            </a:solidFill>
            <a:prstDash val="solid"/>
          </a:ln>
        </p:spPr>
        <p:txBody>
          <a:bodyPr/>
          <a:lstStyle/>
          <a:p>
            <a:endParaRPr lang="en-IN"/>
          </a:p>
        </p:txBody>
      </p:sp>
      <p:sp>
        <p:nvSpPr>
          <p:cNvPr id="648" name="Text 130">
            <a:extLst>
              <a:ext uri="{FF2B5EF4-FFF2-40B4-BE49-F238E27FC236}">
                <a16:creationId xmlns:a16="http://schemas.microsoft.com/office/drawing/2014/main" id="{D6B647C9-AE76-D5E5-AA2D-95368017438D}"/>
              </a:ext>
            </a:extLst>
          </p:cNvPr>
          <p:cNvSpPr txBox="1"/>
          <p:nvPr/>
        </p:nvSpPr>
        <p:spPr>
          <a:xfrm>
            <a:off x="7333464" y="6277937"/>
            <a:ext cx="4370234" cy="152008"/>
          </a:xfrm>
          <a:prstGeom prst="rect">
            <a:avLst/>
          </a:prstGeom>
          <a:noFill/>
          <a:ln/>
        </p:spPr>
        <p:txBody>
          <a:bodyPr wrap="square" lIns="0" tIns="0" rIns="0" bIns="0" rtlCol="0" anchor="ctr"/>
          <a:lstStyle/>
          <a:p>
            <a:pPr>
              <a:lnSpc>
                <a:spcPct val="93000"/>
              </a:lnSpc>
            </a:pPr>
            <a:r>
              <a:rPr lang="en-US" sz="858" b="1" dirty="0">
                <a:solidFill>
                  <a:srgbClr val="1B4F8A"/>
                </a:solidFill>
                <a:latin typeface="Calibri" pitchFamily="34" charset="0"/>
                <a:ea typeface="Calibri" pitchFamily="34" charset="-122"/>
                <a:cs typeface="Calibri" pitchFamily="34" charset="-120"/>
              </a:rPr>
              <a:t>Deployment Options:  Microsoft Azure  |  AWS</a:t>
            </a:r>
            <a:endParaRPr lang="en-US" sz="858" dirty="0"/>
          </a:p>
        </p:txBody>
      </p:sp>
      <p:sp>
        <p:nvSpPr>
          <p:cNvPr id="650" name="Text 131">
            <a:extLst>
              <a:ext uri="{FF2B5EF4-FFF2-40B4-BE49-F238E27FC236}">
                <a16:creationId xmlns:a16="http://schemas.microsoft.com/office/drawing/2014/main" id="{905922E2-EF94-2681-6BC0-2374E36743C9}"/>
              </a:ext>
            </a:extLst>
          </p:cNvPr>
          <p:cNvSpPr txBox="1"/>
          <p:nvPr/>
        </p:nvSpPr>
        <p:spPr>
          <a:xfrm>
            <a:off x="7333464" y="6429945"/>
            <a:ext cx="4370234" cy="212812"/>
          </a:xfrm>
          <a:prstGeom prst="rect">
            <a:avLst/>
          </a:prstGeom>
          <a:noFill/>
          <a:ln/>
        </p:spPr>
        <p:txBody>
          <a:bodyPr wrap="square" lIns="0" tIns="0" rIns="0" bIns="0" rtlCol="0" anchor="ctr"/>
          <a:lstStyle/>
          <a:p>
            <a:pPr>
              <a:lnSpc>
                <a:spcPct val="95000"/>
              </a:lnSpc>
            </a:pPr>
            <a:r>
              <a:rPr lang="en-US" sz="718" i="1" dirty="0">
                <a:solidFill>
                  <a:srgbClr val="5B6472"/>
                </a:solidFill>
                <a:latin typeface="Calibri" pitchFamily="34" charset="0"/>
                <a:ea typeface="Calibri" pitchFamily="34" charset="-122"/>
                <a:cs typeface="Calibri" pitchFamily="34" charset="-120"/>
              </a:rPr>
              <a:t>Core application architecture remains cloud agnostic. Equivalent managed services can be used on the selected cloud platform.</a:t>
            </a:r>
            <a:endParaRPr lang="en-US" sz="718" dirty="0"/>
          </a:p>
        </p:txBody>
      </p:sp>
    </p:spTree>
    <p:extLst>
      <p:ext uri="{BB962C8B-B14F-4D97-AF65-F5344CB8AC3E}">
        <p14:creationId xmlns:p14="http://schemas.microsoft.com/office/powerpoint/2010/main" val="3194180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B1ECD-CB26-0909-D55B-68510A222458}"/>
              </a:ext>
            </a:extLst>
          </p:cNvPr>
          <p:cNvSpPr>
            <a:spLocks noGrp="1"/>
          </p:cNvSpPr>
          <p:nvPr>
            <p:ph type="title"/>
          </p:nvPr>
        </p:nvSpPr>
        <p:spPr/>
        <p:txBody>
          <a:bodyPr/>
          <a:lstStyle/>
          <a:p>
            <a:r>
              <a:rPr lang="en-US" dirty="0"/>
              <a:t>Technology Stack - Summary</a:t>
            </a:r>
            <a:endParaRPr lang="en-IN" dirty="0"/>
          </a:p>
        </p:txBody>
      </p:sp>
      <p:sp>
        <p:nvSpPr>
          <p:cNvPr id="131" name="Shape 15">
            <a:extLst>
              <a:ext uri="{FF2B5EF4-FFF2-40B4-BE49-F238E27FC236}">
                <a16:creationId xmlns:a16="http://schemas.microsoft.com/office/drawing/2014/main" id="{390872FC-217D-EC00-C8DB-753116653A97}"/>
              </a:ext>
            </a:extLst>
          </p:cNvPr>
          <p:cNvSpPr/>
          <p:nvPr/>
        </p:nvSpPr>
        <p:spPr>
          <a:xfrm>
            <a:off x="419090" y="1010897"/>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133" name="Shape 16">
            <a:extLst>
              <a:ext uri="{FF2B5EF4-FFF2-40B4-BE49-F238E27FC236}">
                <a16:creationId xmlns:a16="http://schemas.microsoft.com/office/drawing/2014/main" id="{53B1A9D5-1EB2-7555-CDDB-06B3A5D06291}"/>
              </a:ext>
            </a:extLst>
          </p:cNvPr>
          <p:cNvSpPr/>
          <p:nvPr/>
        </p:nvSpPr>
        <p:spPr>
          <a:xfrm>
            <a:off x="419090" y="1010897"/>
            <a:ext cx="53339" cy="1562061"/>
          </a:xfrm>
          <a:prstGeom prst="roundRect">
            <a:avLst>
              <a:gd name="adj" fmla="val 34286"/>
            </a:avLst>
          </a:prstGeom>
          <a:solidFill>
            <a:srgbClr val="1B4F8A"/>
          </a:solidFill>
          <a:ln w="6350">
            <a:solidFill>
              <a:srgbClr val="1B4F8A"/>
            </a:solidFill>
            <a:prstDash val="solid"/>
          </a:ln>
        </p:spPr>
        <p:txBody>
          <a:bodyPr/>
          <a:lstStyle/>
          <a:p>
            <a:endParaRPr lang="en-IN" sz="2400"/>
          </a:p>
        </p:txBody>
      </p:sp>
      <p:pic>
        <p:nvPicPr>
          <p:cNvPr id="135" name="Image 0" descr="preencoded.png">
            <a:extLst>
              <a:ext uri="{FF2B5EF4-FFF2-40B4-BE49-F238E27FC236}">
                <a16:creationId xmlns:a16="http://schemas.microsoft.com/office/drawing/2014/main" id="{CB9325FF-066B-C354-CF1F-D321D46EE80C}"/>
              </a:ext>
            </a:extLst>
          </p:cNvPr>
          <p:cNvPicPr>
            <a:picLocks noChangeAspect="1"/>
          </p:cNvPicPr>
          <p:nvPr/>
        </p:nvPicPr>
        <p:blipFill>
          <a:blip r:embed="rId2"/>
          <a:stretch>
            <a:fillRect/>
          </a:stretch>
        </p:blipFill>
        <p:spPr>
          <a:xfrm>
            <a:off x="586725" y="1132814"/>
            <a:ext cx="213355" cy="213355"/>
          </a:xfrm>
          <a:prstGeom prst="rect">
            <a:avLst/>
          </a:prstGeom>
        </p:spPr>
      </p:pic>
      <p:sp>
        <p:nvSpPr>
          <p:cNvPr id="137" name="Text 17">
            <a:extLst>
              <a:ext uri="{FF2B5EF4-FFF2-40B4-BE49-F238E27FC236}">
                <a16:creationId xmlns:a16="http://schemas.microsoft.com/office/drawing/2014/main" id="{767D3470-0143-A31E-A209-29C04CC3FF5A}"/>
              </a:ext>
            </a:extLst>
          </p:cNvPr>
          <p:cNvSpPr txBox="1"/>
          <p:nvPr/>
        </p:nvSpPr>
        <p:spPr>
          <a:xfrm>
            <a:off x="876278" y="1117574"/>
            <a:ext cx="2232604" cy="243834"/>
          </a:xfrm>
          <a:prstGeom prst="rect">
            <a:avLst/>
          </a:prstGeom>
          <a:noFill/>
          <a:ln/>
        </p:spPr>
        <p:txBody>
          <a:bodyPr wrap="square" lIns="0" tIns="0" rIns="0" bIns="0" rtlCol="0" anchor="ctr"/>
          <a:lstStyle/>
          <a:p>
            <a:pPr marL="0" indent="0" algn="l">
              <a:lnSpc>
                <a:spcPct val="93000"/>
              </a:lnSpc>
              <a:buNone/>
            </a:pPr>
            <a:r>
              <a:rPr lang="en-US" sz="1600" b="1" dirty="0">
                <a:solidFill>
                  <a:srgbClr val="1B4F8A"/>
                </a:solidFill>
                <a:latin typeface="Calibri" pitchFamily="34" charset="0"/>
                <a:ea typeface="Calibri" pitchFamily="34" charset="-122"/>
                <a:cs typeface="Calibri" pitchFamily="34" charset="-120"/>
              </a:rPr>
              <a:t>Experience</a:t>
            </a:r>
            <a:endParaRPr lang="en-US" sz="1600" dirty="0"/>
          </a:p>
        </p:txBody>
      </p:sp>
      <p:pic>
        <p:nvPicPr>
          <p:cNvPr id="139" name="Image 1" descr="preencoded.png">
            <a:extLst>
              <a:ext uri="{FF2B5EF4-FFF2-40B4-BE49-F238E27FC236}">
                <a16:creationId xmlns:a16="http://schemas.microsoft.com/office/drawing/2014/main" id="{3F69E5CB-E53B-2922-94B7-0FDD862497C0}"/>
              </a:ext>
            </a:extLst>
          </p:cNvPr>
          <p:cNvPicPr>
            <a:picLocks noChangeAspect="1"/>
          </p:cNvPicPr>
          <p:nvPr/>
        </p:nvPicPr>
        <p:blipFill>
          <a:blip r:embed="rId3"/>
          <a:stretch>
            <a:fillRect/>
          </a:stretch>
        </p:blipFill>
        <p:spPr>
          <a:xfrm>
            <a:off x="3520352" y="1132814"/>
            <a:ext cx="182875" cy="182875"/>
          </a:xfrm>
          <a:prstGeom prst="rect">
            <a:avLst/>
          </a:prstGeom>
        </p:spPr>
      </p:pic>
      <p:pic>
        <p:nvPicPr>
          <p:cNvPr id="141" name="Image 2" descr="preencoded.png">
            <a:extLst>
              <a:ext uri="{FF2B5EF4-FFF2-40B4-BE49-F238E27FC236}">
                <a16:creationId xmlns:a16="http://schemas.microsoft.com/office/drawing/2014/main" id="{3F903100-6E49-F92D-25D8-67EED4669821}"/>
              </a:ext>
            </a:extLst>
          </p:cNvPr>
          <p:cNvPicPr>
            <a:picLocks noChangeAspect="1"/>
          </p:cNvPicPr>
          <p:nvPr/>
        </p:nvPicPr>
        <p:blipFill>
          <a:blip r:embed="rId4"/>
          <a:stretch>
            <a:fillRect/>
          </a:stretch>
        </p:blipFill>
        <p:spPr>
          <a:xfrm>
            <a:off x="3764186" y="1132814"/>
            <a:ext cx="182875" cy="182875"/>
          </a:xfrm>
          <a:prstGeom prst="rect">
            <a:avLst/>
          </a:prstGeom>
        </p:spPr>
      </p:pic>
      <p:sp>
        <p:nvSpPr>
          <p:cNvPr id="143" name="Text 18">
            <a:extLst>
              <a:ext uri="{FF2B5EF4-FFF2-40B4-BE49-F238E27FC236}">
                <a16:creationId xmlns:a16="http://schemas.microsoft.com/office/drawing/2014/main" id="{6FA68A73-64F1-3663-5258-FF94FC9709F5}"/>
              </a:ext>
            </a:extLst>
          </p:cNvPr>
          <p:cNvSpPr txBox="1"/>
          <p:nvPr/>
        </p:nvSpPr>
        <p:spPr>
          <a:xfrm>
            <a:off x="876278" y="1662390"/>
            <a:ext cx="3070783" cy="594345"/>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Next.js 14+</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React</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Responsive Web UI</a:t>
            </a:r>
            <a:r>
              <a:rPr lang="en-US" sz="900" b="1" dirty="0">
                <a:solidFill>
                  <a:srgbClr val="1B4F8A"/>
                </a:solidFill>
                <a:latin typeface="Calibri" pitchFamily="34" charset="0"/>
                <a:ea typeface="Calibri" pitchFamily="34" charset="-122"/>
                <a:cs typeface="Calibri" pitchFamily="34" charset="-120"/>
              </a:rPr>
              <a:t>   P1</a:t>
            </a:r>
            <a:endParaRPr lang="en-US" sz="1200" dirty="0"/>
          </a:p>
        </p:txBody>
      </p:sp>
      <p:sp>
        <p:nvSpPr>
          <p:cNvPr id="145" name="Shape 19">
            <a:extLst>
              <a:ext uri="{FF2B5EF4-FFF2-40B4-BE49-F238E27FC236}">
                <a16:creationId xmlns:a16="http://schemas.microsoft.com/office/drawing/2014/main" id="{F7A6AEE2-E928-FA32-B7A5-0AB7704F51EE}"/>
              </a:ext>
            </a:extLst>
          </p:cNvPr>
          <p:cNvSpPr/>
          <p:nvPr/>
        </p:nvSpPr>
        <p:spPr>
          <a:xfrm>
            <a:off x="4251854" y="1010897"/>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147" name="Shape 20">
            <a:extLst>
              <a:ext uri="{FF2B5EF4-FFF2-40B4-BE49-F238E27FC236}">
                <a16:creationId xmlns:a16="http://schemas.microsoft.com/office/drawing/2014/main" id="{7618F988-55E8-7411-0618-912A10F2D051}"/>
              </a:ext>
            </a:extLst>
          </p:cNvPr>
          <p:cNvSpPr/>
          <p:nvPr/>
        </p:nvSpPr>
        <p:spPr>
          <a:xfrm>
            <a:off x="4251854" y="1010897"/>
            <a:ext cx="53339" cy="1562061"/>
          </a:xfrm>
          <a:prstGeom prst="roundRect">
            <a:avLst>
              <a:gd name="adj" fmla="val 34286"/>
            </a:avLst>
          </a:prstGeom>
          <a:solidFill>
            <a:srgbClr val="1B4F8A"/>
          </a:solidFill>
          <a:ln w="6350">
            <a:solidFill>
              <a:srgbClr val="1B4F8A"/>
            </a:solidFill>
            <a:prstDash val="solid"/>
          </a:ln>
        </p:spPr>
        <p:txBody>
          <a:bodyPr/>
          <a:lstStyle/>
          <a:p>
            <a:endParaRPr lang="en-IN" sz="2400"/>
          </a:p>
        </p:txBody>
      </p:sp>
      <p:pic>
        <p:nvPicPr>
          <p:cNvPr id="149" name="Image 3" descr="preencoded.png">
            <a:extLst>
              <a:ext uri="{FF2B5EF4-FFF2-40B4-BE49-F238E27FC236}">
                <a16:creationId xmlns:a16="http://schemas.microsoft.com/office/drawing/2014/main" id="{BFF4C426-90AD-6A5E-67F3-4A28C9F403DD}"/>
              </a:ext>
            </a:extLst>
          </p:cNvPr>
          <p:cNvPicPr>
            <a:picLocks noChangeAspect="1"/>
          </p:cNvPicPr>
          <p:nvPr/>
        </p:nvPicPr>
        <p:blipFill>
          <a:blip r:embed="rId5"/>
          <a:stretch>
            <a:fillRect/>
          </a:stretch>
        </p:blipFill>
        <p:spPr>
          <a:xfrm>
            <a:off x="4419490" y="1132814"/>
            <a:ext cx="213355" cy="213355"/>
          </a:xfrm>
          <a:prstGeom prst="rect">
            <a:avLst/>
          </a:prstGeom>
        </p:spPr>
      </p:pic>
      <p:sp>
        <p:nvSpPr>
          <p:cNvPr id="151" name="Text 21">
            <a:extLst>
              <a:ext uri="{FF2B5EF4-FFF2-40B4-BE49-F238E27FC236}">
                <a16:creationId xmlns:a16="http://schemas.microsoft.com/office/drawing/2014/main" id="{804640A3-AE84-15D4-7E7F-6F169964A1E6}"/>
              </a:ext>
            </a:extLst>
          </p:cNvPr>
          <p:cNvSpPr txBox="1"/>
          <p:nvPr/>
        </p:nvSpPr>
        <p:spPr>
          <a:xfrm>
            <a:off x="4709042" y="1117574"/>
            <a:ext cx="2232604" cy="243834"/>
          </a:xfrm>
          <a:prstGeom prst="rect">
            <a:avLst/>
          </a:prstGeom>
          <a:noFill/>
          <a:ln/>
        </p:spPr>
        <p:txBody>
          <a:bodyPr wrap="square" lIns="0" tIns="0" rIns="0" bIns="0" rtlCol="0" anchor="ctr"/>
          <a:lstStyle/>
          <a:p>
            <a:pPr marL="0" indent="0" algn="l">
              <a:lnSpc>
                <a:spcPct val="93000"/>
              </a:lnSpc>
              <a:buNone/>
            </a:pPr>
            <a:r>
              <a:rPr lang="en-US" sz="1600" b="1" dirty="0">
                <a:solidFill>
                  <a:srgbClr val="1B4F8A"/>
                </a:solidFill>
                <a:latin typeface="Calibri" pitchFamily="34" charset="0"/>
                <a:ea typeface="Calibri" pitchFamily="34" charset="-122"/>
                <a:cs typeface="Calibri" pitchFamily="34" charset="-120"/>
              </a:rPr>
              <a:t>Backend</a:t>
            </a:r>
            <a:endParaRPr lang="en-US" sz="1600" dirty="0"/>
          </a:p>
        </p:txBody>
      </p:sp>
      <p:pic>
        <p:nvPicPr>
          <p:cNvPr id="153" name="Image 4" descr="preencoded.png">
            <a:extLst>
              <a:ext uri="{FF2B5EF4-FFF2-40B4-BE49-F238E27FC236}">
                <a16:creationId xmlns:a16="http://schemas.microsoft.com/office/drawing/2014/main" id="{C6263266-280C-5906-B53A-9DA11AD99C91}"/>
              </a:ext>
            </a:extLst>
          </p:cNvPr>
          <p:cNvPicPr>
            <a:picLocks noChangeAspect="1"/>
          </p:cNvPicPr>
          <p:nvPr/>
        </p:nvPicPr>
        <p:blipFill>
          <a:blip r:embed="rId6"/>
          <a:stretch>
            <a:fillRect/>
          </a:stretch>
        </p:blipFill>
        <p:spPr>
          <a:xfrm>
            <a:off x="7353116" y="1132814"/>
            <a:ext cx="182875" cy="182875"/>
          </a:xfrm>
          <a:prstGeom prst="rect">
            <a:avLst/>
          </a:prstGeom>
        </p:spPr>
      </p:pic>
      <p:pic>
        <p:nvPicPr>
          <p:cNvPr id="155" name="Image 5" descr="preencoded.png">
            <a:extLst>
              <a:ext uri="{FF2B5EF4-FFF2-40B4-BE49-F238E27FC236}">
                <a16:creationId xmlns:a16="http://schemas.microsoft.com/office/drawing/2014/main" id="{6B3C3DFB-5D8B-AFA3-BDB1-13B7508F4296}"/>
              </a:ext>
            </a:extLst>
          </p:cNvPr>
          <p:cNvPicPr>
            <a:picLocks noChangeAspect="1"/>
          </p:cNvPicPr>
          <p:nvPr/>
        </p:nvPicPr>
        <p:blipFill>
          <a:blip r:embed="rId7"/>
          <a:stretch>
            <a:fillRect/>
          </a:stretch>
        </p:blipFill>
        <p:spPr>
          <a:xfrm>
            <a:off x="7596950" y="1132814"/>
            <a:ext cx="182875" cy="182875"/>
          </a:xfrm>
          <a:prstGeom prst="rect">
            <a:avLst/>
          </a:prstGeom>
        </p:spPr>
      </p:pic>
      <p:sp>
        <p:nvSpPr>
          <p:cNvPr id="157" name="Text 22">
            <a:extLst>
              <a:ext uri="{FF2B5EF4-FFF2-40B4-BE49-F238E27FC236}">
                <a16:creationId xmlns:a16="http://schemas.microsoft.com/office/drawing/2014/main" id="{E1182E9E-8608-E365-D89C-8BB6BC22F785}"/>
              </a:ext>
            </a:extLst>
          </p:cNvPr>
          <p:cNvSpPr txBox="1"/>
          <p:nvPr/>
        </p:nvSpPr>
        <p:spPr>
          <a:xfrm>
            <a:off x="4709042" y="1563333"/>
            <a:ext cx="3070783" cy="792460"/>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Java 25</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Spring Boot 4</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Microservices</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REST APIs</a:t>
            </a:r>
            <a:r>
              <a:rPr lang="en-US" sz="900" b="1" dirty="0">
                <a:solidFill>
                  <a:srgbClr val="1B4F8A"/>
                </a:solidFill>
                <a:latin typeface="Calibri" pitchFamily="34" charset="0"/>
                <a:ea typeface="Calibri" pitchFamily="34" charset="-122"/>
                <a:cs typeface="Calibri" pitchFamily="34" charset="-120"/>
              </a:rPr>
              <a:t>   P1</a:t>
            </a:r>
            <a:endParaRPr lang="en-US" sz="1200" dirty="0"/>
          </a:p>
        </p:txBody>
      </p:sp>
      <p:sp>
        <p:nvSpPr>
          <p:cNvPr id="159" name="Shape 23">
            <a:extLst>
              <a:ext uri="{FF2B5EF4-FFF2-40B4-BE49-F238E27FC236}">
                <a16:creationId xmlns:a16="http://schemas.microsoft.com/office/drawing/2014/main" id="{1DD986E2-E244-700F-48D7-200892DBC14C}"/>
              </a:ext>
            </a:extLst>
          </p:cNvPr>
          <p:cNvSpPr/>
          <p:nvPr/>
        </p:nvSpPr>
        <p:spPr>
          <a:xfrm>
            <a:off x="8084618" y="1010897"/>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161" name="Shape 24">
            <a:extLst>
              <a:ext uri="{FF2B5EF4-FFF2-40B4-BE49-F238E27FC236}">
                <a16:creationId xmlns:a16="http://schemas.microsoft.com/office/drawing/2014/main" id="{588E1FB6-2E7F-BA1B-EA56-CF1AC17FB1EB}"/>
              </a:ext>
            </a:extLst>
          </p:cNvPr>
          <p:cNvSpPr/>
          <p:nvPr/>
        </p:nvSpPr>
        <p:spPr>
          <a:xfrm>
            <a:off x="8084618" y="1010897"/>
            <a:ext cx="53339" cy="1562061"/>
          </a:xfrm>
          <a:prstGeom prst="roundRect">
            <a:avLst>
              <a:gd name="adj" fmla="val 34286"/>
            </a:avLst>
          </a:prstGeom>
          <a:solidFill>
            <a:srgbClr val="0E7C6B"/>
          </a:solidFill>
          <a:ln w="6350">
            <a:solidFill>
              <a:srgbClr val="0E7C6B"/>
            </a:solidFill>
            <a:prstDash val="solid"/>
          </a:ln>
        </p:spPr>
        <p:txBody>
          <a:bodyPr/>
          <a:lstStyle/>
          <a:p>
            <a:endParaRPr lang="en-IN" sz="2400"/>
          </a:p>
        </p:txBody>
      </p:sp>
      <p:pic>
        <p:nvPicPr>
          <p:cNvPr id="163" name="Image 6" descr="preencoded.png">
            <a:extLst>
              <a:ext uri="{FF2B5EF4-FFF2-40B4-BE49-F238E27FC236}">
                <a16:creationId xmlns:a16="http://schemas.microsoft.com/office/drawing/2014/main" id="{FCEF5D97-46B1-45BD-818E-BED7170338F1}"/>
              </a:ext>
            </a:extLst>
          </p:cNvPr>
          <p:cNvPicPr>
            <a:picLocks noChangeAspect="1"/>
          </p:cNvPicPr>
          <p:nvPr/>
        </p:nvPicPr>
        <p:blipFill>
          <a:blip r:embed="rId8"/>
          <a:stretch>
            <a:fillRect/>
          </a:stretch>
        </p:blipFill>
        <p:spPr>
          <a:xfrm>
            <a:off x="8252254" y="1132814"/>
            <a:ext cx="213355" cy="213355"/>
          </a:xfrm>
          <a:prstGeom prst="rect">
            <a:avLst/>
          </a:prstGeom>
        </p:spPr>
      </p:pic>
      <p:sp>
        <p:nvSpPr>
          <p:cNvPr id="165" name="Text 25">
            <a:extLst>
              <a:ext uri="{FF2B5EF4-FFF2-40B4-BE49-F238E27FC236}">
                <a16:creationId xmlns:a16="http://schemas.microsoft.com/office/drawing/2014/main" id="{76B8ED9E-B3CA-0B01-D7ED-2F21F31EC918}"/>
              </a:ext>
            </a:extLst>
          </p:cNvPr>
          <p:cNvSpPr txBox="1"/>
          <p:nvPr/>
        </p:nvSpPr>
        <p:spPr>
          <a:xfrm>
            <a:off x="8541806" y="1117574"/>
            <a:ext cx="2232604" cy="243834"/>
          </a:xfrm>
          <a:prstGeom prst="rect">
            <a:avLst/>
          </a:prstGeom>
          <a:noFill/>
          <a:ln/>
        </p:spPr>
        <p:txBody>
          <a:bodyPr wrap="square" lIns="0" tIns="0" rIns="0" bIns="0" rtlCol="0" anchor="ctr"/>
          <a:lstStyle/>
          <a:p>
            <a:pPr marL="0" indent="0" algn="l">
              <a:lnSpc>
                <a:spcPct val="93000"/>
              </a:lnSpc>
              <a:buNone/>
            </a:pPr>
            <a:r>
              <a:rPr lang="en-US" sz="1600" b="1" dirty="0">
                <a:solidFill>
                  <a:srgbClr val="0E7C6B"/>
                </a:solidFill>
                <a:latin typeface="Calibri" pitchFamily="34" charset="0"/>
                <a:ea typeface="Calibri" pitchFamily="34" charset="-122"/>
                <a:cs typeface="Calibri" pitchFamily="34" charset="-120"/>
              </a:rPr>
              <a:t>API &amp; Security</a:t>
            </a:r>
            <a:endParaRPr lang="en-US" sz="1600" dirty="0"/>
          </a:p>
        </p:txBody>
      </p:sp>
      <p:sp>
        <p:nvSpPr>
          <p:cNvPr id="167" name="Text 26">
            <a:extLst>
              <a:ext uri="{FF2B5EF4-FFF2-40B4-BE49-F238E27FC236}">
                <a16:creationId xmlns:a16="http://schemas.microsoft.com/office/drawing/2014/main" id="{3050502B-F893-6501-D048-F368EDE2D270}"/>
              </a:ext>
            </a:extLst>
          </p:cNvPr>
          <p:cNvSpPr txBox="1"/>
          <p:nvPr/>
        </p:nvSpPr>
        <p:spPr>
          <a:xfrm>
            <a:off x="8541806" y="1563333"/>
            <a:ext cx="3131742" cy="792460"/>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API Gateway</a:t>
            </a:r>
            <a:r>
              <a:rPr lang="en-US" sz="900" b="1" dirty="0">
                <a:solidFill>
                  <a:srgbClr val="B06A0C"/>
                </a:solidFill>
                <a:latin typeface="Calibri" pitchFamily="34" charset="0"/>
                <a:ea typeface="Calibri" pitchFamily="34" charset="-122"/>
                <a:cs typeface="Calibri" pitchFamily="34" charset="-120"/>
              </a:rPr>
              <a:t>   P2</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OAuth 2.0  ·  OpenID Connect (OIDC)  ·  JWT</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MFA / SSO</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RBAC</a:t>
            </a:r>
            <a:r>
              <a:rPr lang="en-US" sz="900" b="1" dirty="0">
                <a:solidFill>
                  <a:srgbClr val="1B4F8A"/>
                </a:solidFill>
                <a:latin typeface="Calibri" pitchFamily="34" charset="0"/>
                <a:ea typeface="Calibri" pitchFamily="34" charset="-122"/>
                <a:cs typeface="Calibri" pitchFamily="34" charset="-120"/>
              </a:rPr>
              <a:t>   P1</a:t>
            </a:r>
            <a:endParaRPr lang="en-US" sz="1200" dirty="0"/>
          </a:p>
        </p:txBody>
      </p:sp>
      <p:sp>
        <p:nvSpPr>
          <p:cNvPr id="169" name="Shape 27">
            <a:extLst>
              <a:ext uri="{FF2B5EF4-FFF2-40B4-BE49-F238E27FC236}">
                <a16:creationId xmlns:a16="http://schemas.microsoft.com/office/drawing/2014/main" id="{FF1A7373-12D9-1979-4362-05A8D4475CB2}"/>
              </a:ext>
            </a:extLst>
          </p:cNvPr>
          <p:cNvSpPr/>
          <p:nvPr/>
        </p:nvSpPr>
        <p:spPr>
          <a:xfrm>
            <a:off x="419090" y="2694875"/>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171" name="Shape 28">
            <a:extLst>
              <a:ext uri="{FF2B5EF4-FFF2-40B4-BE49-F238E27FC236}">
                <a16:creationId xmlns:a16="http://schemas.microsoft.com/office/drawing/2014/main" id="{99437A7E-47C0-0623-875D-04D7D25C8A8E}"/>
              </a:ext>
            </a:extLst>
          </p:cNvPr>
          <p:cNvSpPr/>
          <p:nvPr/>
        </p:nvSpPr>
        <p:spPr>
          <a:xfrm>
            <a:off x="419090" y="2694875"/>
            <a:ext cx="53339" cy="1562061"/>
          </a:xfrm>
          <a:prstGeom prst="roundRect">
            <a:avLst>
              <a:gd name="adj" fmla="val 34286"/>
            </a:avLst>
          </a:prstGeom>
          <a:solidFill>
            <a:srgbClr val="1E6B3B"/>
          </a:solidFill>
          <a:ln w="6350">
            <a:solidFill>
              <a:srgbClr val="1E6B3B"/>
            </a:solidFill>
            <a:prstDash val="solid"/>
          </a:ln>
        </p:spPr>
        <p:txBody>
          <a:bodyPr/>
          <a:lstStyle/>
          <a:p>
            <a:endParaRPr lang="en-IN" sz="2400"/>
          </a:p>
        </p:txBody>
      </p:sp>
      <p:pic>
        <p:nvPicPr>
          <p:cNvPr id="173" name="Image 7" descr="preencoded.png">
            <a:extLst>
              <a:ext uri="{FF2B5EF4-FFF2-40B4-BE49-F238E27FC236}">
                <a16:creationId xmlns:a16="http://schemas.microsoft.com/office/drawing/2014/main" id="{DD7472F8-1A67-CC2F-C23B-A618426F0655}"/>
              </a:ext>
            </a:extLst>
          </p:cNvPr>
          <p:cNvPicPr>
            <a:picLocks noChangeAspect="1"/>
          </p:cNvPicPr>
          <p:nvPr/>
        </p:nvPicPr>
        <p:blipFill>
          <a:blip r:embed="rId9"/>
          <a:stretch>
            <a:fillRect/>
          </a:stretch>
        </p:blipFill>
        <p:spPr>
          <a:xfrm>
            <a:off x="586725" y="2816792"/>
            <a:ext cx="213355" cy="213355"/>
          </a:xfrm>
          <a:prstGeom prst="rect">
            <a:avLst/>
          </a:prstGeom>
        </p:spPr>
      </p:pic>
      <p:sp>
        <p:nvSpPr>
          <p:cNvPr id="175" name="Text 29">
            <a:extLst>
              <a:ext uri="{FF2B5EF4-FFF2-40B4-BE49-F238E27FC236}">
                <a16:creationId xmlns:a16="http://schemas.microsoft.com/office/drawing/2014/main" id="{4D3D09CF-794D-B484-41FC-6248C62BCA4B}"/>
              </a:ext>
            </a:extLst>
          </p:cNvPr>
          <p:cNvSpPr txBox="1"/>
          <p:nvPr/>
        </p:nvSpPr>
        <p:spPr>
          <a:xfrm>
            <a:off x="876278" y="2801552"/>
            <a:ext cx="2232604" cy="243834"/>
          </a:xfrm>
          <a:prstGeom prst="rect">
            <a:avLst/>
          </a:prstGeom>
          <a:noFill/>
          <a:ln/>
        </p:spPr>
        <p:txBody>
          <a:bodyPr wrap="square" lIns="0" tIns="0" rIns="0" bIns="0" rtlCol="0" anchor="ctr"/>
          <a:lstStyle/>
          <a:p>
            <a:pPr marL="0" indent="0" algn="l">
              <a:lnSpc>
                <a:spcPct val="93000"/>
              </a:lnSpc>
              <a:buNone/>
            </a:pPr>
            <a:r>
              <a:rPr lang="en-US" sz="1600" b="1" dirty="0">
                <a:solidFill>
                  <a:srgbClr val="1E6B3B"/>
                </a:solidFill>
                <a:latin typeface="Calibri" pitchFamily="34" charset="0"/>
                <a:ea typeface="Calibri" pitchFamily="34" charset="-122"/>
                <a:cs typeface="Calibri" pitchFamily="34" charset="-120"/>
              </a:rPr>
              <a:t>Data</a:t>
            </a:r>
            <a:endParaRPr lang="en-US" sz="1600" dirty="0"/>
          </a:p>
        </p:txBody>
      </p:sp>
      <p:pic>
        <p:nvPicPr>
          <p:cNvPr id="177" name="Image 8" descr="preencoded.png">
            <a:extLst>
              <a:ext uri="{FF2B5EF4-FFF2-40B4-BE49-F238E27FC236}">
                <a16:creationId xmlns:a16="http://schemas.microsoft.com/office/drawing/2014/main" id="{59F1E0EF-6DE7-4351-E043-5BC7B7E6C790}"/>
              </a:ext>
            </a:extLst>
          </p:cNvPr>
          <p:cNvPicPr>
            <a:picLocks noChangeAspect="1"/>
          </p:cNvPicPr>
          <p:nvPr/>
        </p:nvPicPr>
        <p:blipFill>
          <a:blip r:embed="rId10"/>
          <a:stretch>
            <a:fillRect/>
          </a:stretch>
        </p:blipFill>
        <p:spPr>
          <a:xfrm>
            <a:off x="3520352" y="2816792"/>
            <a:ext cx="182875" cy="182875"/>
          </a:xfrm>
          <a:prstGeom prst="rect">
            <a:avLst/>
          </a:prstGeom>
        </p:spPr>
      </p:pic>
      <p:pic>
        <p:nvPicPr>
          <p:cNvPr id="179" name="Image 9" descr="preencoded.png">
            <a:extLst>
              <a:ext uri="{FF2B5EF4-FFF2-40B4-BE49-F238E27FC236}">
                <a16:creationId xmlns:a16="http://schemas.microsoft.com/office/drawing/2014/main" id="{C83732E8-8167-1EDD-7661-400AD6A71771}"/>
              </a:ext>
            </a:extLst>
          </p:cNvPr>
          <p:cNvPicPr>
            <a:picLocks noChangeAspect="1"/>
          </p:cNvPicPr>
          <p:nvPr/>
        </p:nvPicPr>
        <p:blipFill>
          <a:blip r:embed="rId11"/>
          <a:stretch>
            <a:fillRect/>
          </a:stretch>
        </p:blipFill>
        <p:spPr>
          <a:xfrm>
            <a:off x="3764186" y="2816792"/>
            <a:ext cx="182875" cy="182875"/>
          </a:xfrm>
          <a:prstGeom prst="rect">
            <a:avLst/>
          </a:prstGeom>
        </p:spPr>
      </p:pic>
      <p:sp>
        <p:nvSpPr>
          <p:cNvPr id="181" name="Text 30">
            <a:extLst>
              <a:ext uri="{FF2B5EF4-FFF2-40B4-BE49-F238E27FC236}">
                <a16:creationId xmlns:a16="http://schemas.microsoft.com/office/drawing/2014/main" id="{0BEA7CBC-6D52-7571-5632-8C80E763CE4E}"/>
              </a:ext>
            </a:extLst>
          </p:cNvPr>
          <p:cNvSpPr txBox="1"/>
          <p:nvPr/>
        </p:nvSpPr>
        <p:spPr>
          <a:xfrm>
            <a:off x="876278" y="3346368"/>
            <a:ext cx="3070783" cy="594345"/>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PostgreSQL</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Read Replica</a:t>
            </a:r>
            <a:r>
              <a:rPr lang="en-US" sz="900" b="1" dirty="0">
                <a:solidFill>
                  <a:srgbClr val="B06A0C"/>
                </a:solidFill>
                <a:latin typeface="Calibri" pitchFamily="34" charset="0"/>
                <a:ea typeface="Calibri" pitchFamily="34" charset="-122"/>
                <a:cs typeface="Calibri" pitchFamily="34" charset="-120"/>
              </a:rPr>
              <a:t>   P2</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Redis</a:t>
            </a:r>
            <a:r>
              <a:rPr lang="en-US" sz="900" b="1" dirty="0">
                <a:solidFill>
                  <a:srgbClr val="B06A0C"/>
                </a:solidFill>
                <a:latin typeface="Calibri" pitchFamily="34" charset="0"/>
                <a:ea typeface="Calibri" pitchFamily="34" charset="-122"/>
                <a:cs typeface="Calibri" pitchFamily="34" charset="-120"/>
              </a:rPr>
              <a:t>   P2</a:t>
            </a:r>
            <a:endParaRPr lang="en-US" sz="1200" dirty="0"/>
          </a:p>
        </p:txBody>
      </p:sp>
      <p:sp>
        <p:nvSpPr>
          <p:cNvPr id="183" name="Shape 31">
            <a:extLst>
              <a:ext uri="{FF2B5EF4-FFF2-40B4-BE49-F238E27FC236}">
                <a16:creationId xmlns:a16="http://schemas.microsoft.com/office/drawing/2014/main" id="{057606B0-4F0B-44FD-8ED3-381322AD4046}"/>
              </a:ext>
            </a:extLst>
          </p:cNvPr>
          <p:cNvSpPr/>
          <p:nvPr/>
        </p:nvSpPr>
        <p:spPr>
          <a:xfrm>
            <a:off x="4251854" y="2694875"/>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185" name="Shape 32">
            <a:extLst>
              <a:ext uri="{FF2B5EF4-FFF2-40B4-BE49-F238E27FC236}">
                <a16:creationId xmlns:a16="http://schemas.microsoft.com/office/drawing/2014/main" id="{A4D99338-06D4-C61A-2E9D-E926EC616E48}"/>
              </a:ext>
            </a:extLst>
          </p:cNvPr>
          <p:cNvSpPr/>
          <p:nvPr/>
        </p:nvSpPr>
        <p:spPr>
          <a:xfrm>
            <a:off x="4251854" y="2694875"/>
            <a:ext cx="53339" cy="1562061"/>
          </a:xfrm>
          <a:prstGeom prst="roundRect">
            <a:avLst>
              <a:gd name="adj" fmla="val 34286"/>
            </a:avLst>
          </a:prstGeom>
          <a:solidFill>
            <a:srgbClr val="4B3E8E"/>
          </a:solidFill>
          <a:ln w="6350">
            <a:solidFill>
              <a:srgbClr val="4B3E8E"/>
            </a:solidFill>
            <a:prstDash val="solid"/>
          </a:ln>
        </p:spPr>
        <p:txBody>
          <a:bodyPr/>
          <a:lstStyle/>
          <a:p>
            <a:endParaRPr lang="en-IN" sz="2400"/>
          </a:p>
        </p:txBody>
      </p:sp>
      <p:pic>
        <p:nvPicPr>
          <p:cNvPr id="187" name="Image 10" descr="preencoded.png">
            <a:extLst>
              <a:ext uri="{FF2B5EF4-FFF2-40B4-BE49-F238E27FC236}">
                <a16:creationId xmlns:a16="http://schemas.microsoft.com/office/drawing/2014/main" id="{A22A4CF3-83D1-80EA-94C7-B3F78A06A96E}"/>
              </a:ext>
            </a:extLst>
          </p:cNvPr>
          <p:cNvPicPr>
            <a:picLocks noChangeAspect="1"/>
          </p:cNvPicPr>
          <p:nvPr/>
        </p:nvPicPr>
        <p:blipFill>
          <a:blip r:embed="rId12"/>
          <a:stretch>
            <a:fillRect/>
          </a:stretch>
        </p:blipFill>
        <p:spPr>
          <a:xfrm>
            <a:off x="4419490" y="2816792"/>
            <a:ext cx="213355" cy="213355"/>
          </a:xfrm>
          <a:prstGeom prst="rect">
            <a:avLst/>
          </a:prstGeom>
        </p:spPr>
      </p:pic>
      <p:sp>
        <p:nvSpPr>
          <p:cNvPr id="189" name="Text 33">
            <a:extLst>
              <a:ext uri="{FF2B5EF4-FFF2-40B4-BE49-F238E27FC236}">
                <a16:creationId xmlns:a16="http://schemas.microsoft.com/office/drawing/2014/main" id="{F5516441-F984-0F55-B548-D0E99B77870D}"/>
              </a:ext>
            </a:extLst>
          </p:cNvPr>
          <p:cNvSpPr txBox="1"/>
          <p:nvPr/>
        </p:nvSpPr>
        <p:spPr>
          <a:xfrm>
            <a:off x="4709042" y="2801552"/>
            <a:ext cx="2232604" cy="243834"/>
          </a:xfrm>
          <a:prstGeom prst="rect">
            <a:avLst/>
          </a:prstGeom>
          <a:noFill/>
          <a:ln/>
        </p:spPr>
        <p:txBody>
          <a:bodyPr wrap="square" lIns="0" tIns="0" rIns="0" bIns="0" rtlCol="0" anchor="ctr"/>
          <a:lstStyle/>
          <a:p>
            <a:pPr marL="0" indent="0" algn="l">
              <a:lnSpc>
                <a:spcPct val="93000"/>
              </a:lnSpc>
              <a:buNone/>
            </a:pPr>
            <a:r>
              <a:rPr lang="en-US" sz="1600" b="1" dirty="0">
                <a:solidFill>
                  <a:srgbClr val="4B3E8E"/>
                </a:solidFill>
                <a:latin typeface="Calibri" pitchFamily="34" charset="0"/>
                <a:ea typeface="Calibri" pitchFamily="34" charset="-122"/>
                <a:cs typeface="Calibri" pitchFamily="34" charset="-120"/>
              </a:rPr>
              <a:t>Messaging &amp; Integration</a:t>
            </a:r>
            <a:endParaRPr lang="en-US" sz="1600" dirty="0"/>
          </a:p>
        </p:txBody>
      </p:sp>
      <p:pic>
        <p:nvPicPr>
          <p:cNvPr id="191" name="Image 11" descr="preencoded.png">
            <a:extLst>
              <a:ext uri="{FF2B5EF4-FFF2-40B4-BE49-F238E27FC236}">
                <a16:creationId xmlns:a16="http://schemas.microsoft.com/office/drawing/2014/main" id="{9CB60674-03B9-6C67-25DE-57C17EB2EFDC}"/>
              </a:ext>
            </a:extLst>
          </p:cNvPr>
          <p:cNvPicPr>
            <a:picLocks noChangeAspect="1"/>
          </p:cNvPicPr>
          <p:nvPr/>
        </p:nvPicPr>
        <p:blipFill>
          <a:blip r:embed="rId13"/>
          <a:stretch>
            <a:fillRect/>
          </a:stretch>
        </p:blipFill>
        <p:spPr>
          <a:xfrm>
            <a:off x="7596950" y="2816792"/>
            <a:ext cx="182875" cy="182875"/>
          </a:xfrm>
          <a:prstGeom prst="rect">
            <a:avLst/>
          </a:prstGeom>
        </p:spPr>
      </p:pic>
      <p:sp>
        <p:nvSpPr>
          <p:cNvPr id="193" name="Text 34">
            <a:extLst>
              <a:ext uri="{FF2B5EF4-FFF2-40B4-BE49-F238E27FC236}">
                <a16:creationId xmlns:a16="http://schemas.microsoft.com/office/drawing/2014/main" id="{836302E8-9A69-4BDF-1D0A-EC033B14A135}"/>
              </a:ext>
            </a:extLst>
          </p:cNvPr>
          <p:cNvSpPr txBox="1"/>
          <p:nvPr/>
        </p:nvSpPr>
        <p:spPr>
          <a:xfrm>
            <a:off x="4709042" y="3247311"/>
            <a:ext cx="3190467" cy="792460"/>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REST / HTTPS</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Synchronous communication</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Kafka-compatible Event Streaming</a:t>
            </a:r>
            <a:r>
              <a:rPr lang="en-US" sz="900" b="1" dirty="0">
                <a:solidFill>
                  <a:srgbClr val="B06A0C"/>
                </a:solidFill>
                <a:latin typeface="Calibri" pitchFamily="34" charset="0"/>
                <a:ea typeface="Calibri" pitchFamily="34" charset="-122"/>
                <a:cs typeface="Calibri" pitchFamily="34" charset="-120"/>
              </a:rPr>
              <a:t>   P2</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Asynchronous, event-driven communication</a:t>
            </a:r>
            <a:r>
              <a:rPr lang="en-US" sz="900" b="1" dirty="0">
                <a:solidFill>
                  <a:srgbClr val="B06A0C"/>
                </a:solidFill>
                <a:latin typeface="Calibri" pitchFamily="34" charset="0"/>
                <a:ea typeface="Calibri" pitchFamily="34" charset="-122"/>
                <a:cs typeface="Calibri" pitchFamily="34" charset="-120"/>
              </a:rPr>
              <a:t>   P2</a:t>
            </a:r>
            <a:endParaRPr lang="en-US" sz="1200" dirty="0"/>
          </a:p>
        </p:txBody>
      </p:sp>
      <p:sp>
        <p:nvSpPr>
          <p:cNvPr id="195" name="Shape 35">
            <a:extLst>
              <a:ext uri="{FF2B5EF4-FFF2-40B4-BE49-F238E27FC236}">
                <a16:creationId xmlns:a16="http://schemas.microsoft.com/office/drawing/2014/main" id="{74A25521-BA7E-A633-E78C-C01F1E0A4D41}"/>
              </a:ext>
            </a:extLst>
          </p:cNvPr>
          <p:cNvSpPr/>
          <p:nvPr/>
        </p:nvSpPr>
        <p:spPr>
          <a:xfrm>
            <a:off x="8084618" y="2694875"/>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197" name="Shape 36">
            <a:extLst>
              <a:ext uri="{FF2B5EF4-FFF2-40B4-BE49-F238E27FC236}">
                <a16:creationId xmlns:a16="http://schemas.microsoft.com/office/drawing/2014/main" id="{1A94D982-25C9-048D-E06C-71EBC9AC3634}"/>
              </a:ext>
            </a:extLst>
          </p:cNvPr>
          <p:cNvSpPr/>
          <p:nvPr/>
        </p:nvSpPr>
        <p:spPr>
          <a:xfrm>
            <a:off x="8084618" y="2694875"/>
            <a:ext cx="53339" cy="1562061"/>
          </a:xfrm>
          <a:prstGeom prst="roundRect">
            <a:avLst>
              <a:gd name="adj" fmla="val 34286"/>
            </a:avLst>
          </a:prstGeom>
          <a:solidFill>
            <a:srgbClr val="1B4F8A"/>
          </a:solidFill>
          <a:ln w="6350">
            <a:solidFill>
              <a:srgbClr val="1B4F8A"/>
            </a:solidFill>
            <a:prstDash val="solid"/>
          </a:ln>
        </p:spPr>
        <p:txBody>
          <a:bodyPr/>
          <a:lstStyle/>
          <a:p>
            <a:endParaRPr lang="en-IN" sz="2400"/>
          </a:p>
        </p:txBody>
      </p:sp>
      <p:pic>
        <p:nvPicPr>
          <p:cNvPr id="199" name="Image 12" descr="preencoded.png">
            <a:extLst>
              <a:ext uri="{FF2B5EF4-FFF2-40B4-BE49-F238E27FC236}">
                <a16:creationId xmlns:a16="http://schemas.microsoft.com/office/drawing/2014/main" id="{2B7485E8-ADF6-7C64-FFB3-A06D34E37934}"/>
              </a:ext>
            </a:extLst>
          </p:cNvPr>
          <p:cNvPicPr>
            <a:picLocks noChangeAspect="1"/>
          </p:cNvPicPr>
          <p:nvPr/>
        </p:nvPicPr>
        <p:blipFill>
          <a:blip r:embed="rId14"/>
          <a:stretch>
            <a:fillRect/>
          </a:stretch>
        </p:blipFill>
        <p:spPr>
          <a:xfrm>
            <a:off x="8252254" y="2816792"/>
            <a:ext cx="213355" cy="213355"/>
          </a:xfrm>
          <a:prstGeom prst="rect">
            <a:avLst/>
          </a:prstGeom>
        </p:spPr>
      </p:pic>
      <p:sp>
        <p:nvSpPr>
          <p:cNvPr id="201" name="Text 37">
            <a:extLst>
              <a:ext uri="{FF2B5EF4-FFF2-40B4-BE49-F238E27FC236}">
                <a16:creationId xmlns:a16="http://schemas.microsoft.com/office/drawing/2014/main" id="{891DD344-F691-70AE-E464-F73E63865057}"/>
              </a:ext>
            </a:extLst>
          </p:cNvPr>
          <p:cNvSpPr txBox="1"/>
          <p:nvPr/>
        </p:nvSpPr>
        <p:spPr>
          <a:xfrm>
            <a:off x="8541806" y="2801552"/>
            <a:ext cx="2232604" cy="243834"/>
          </a:xfrm>
          <a:prstGeom prst="rect">
            <a:avLst/>
          </a:prstGeom>
          <a:noFill/>
          <a:ln/>
        </p:spPr>
        <p:txBody>
          <a:bodyPr wrap="square" lIns="0" tIns="0" rIns="0" bIns="0" rtlCol="0" anchor="ctr"/>
          <a:lstStyle/>
          <a:p>
            <a:pPr marL="0" indent="0" algn="l">
              <a:lnSpc>
                <a:spcPct val="93000"/>
              </a:lnSpc>
              <a:buNone/>
            </a:pPr>
            <a:r>
              <a:rPr lang="en-US" sz="1600" b="1" dirty="0">
                <a:solidFill>
                  <a:srgbClr val="1B4F8A"/>
                </a:solidFill>
                <a:latin typeface="Calibri" pitchFamily="34" charset="0"/>
                <a:ea typeface="Calibri" pitchFamily="34" charset="-122"/>
                <a:cs typeface="Calibri" pitchFamily="34" charset="-120"/>
              </a:rPr>
              <a:t>Container &amp; Platform</a:t>
            </a:r>
            <a:endParaRPr lang="en-US" sz="1600" dirty="0"/>
          </a:p>
        </p:txBody>
      </p:sp>
      <p:pic>
        <p:nvPicPr>
          <p:cNvPr id="203" name="Image 13" descr="preencoded.png">
            <a:extLst>
              <a:ext uri="{FF2B5EF4-FFF2-40B4-BE49-F238E27FC236}">
                <a16:creationId xmlns:a16="http://schemas.microsoft.com/office/drawing/2014/main" id="{CEB8C3F4-0F4E-DDFE-27C1-977F40BAED3E}"/>
              </a:ext>
            </a:extLst>
          </p:cNvPr>
          <p:cNvPicPr>
            <a:picLocks noChangeAspect="1"/>
          </p:cNvPicPr>
          <p:nvPr/>
        </p:nvPicPr>
        <p:blipFill>
          <a:blip r:embed="rId15"/>
          <a:stretch>
            <a:fillRect/>
          </a:stretch>
        </p:blipFill>
        <p:spPr>
          <a:xfrm>
            <a:off x="11185880" y="2816792"/>
            <a:ext cx="182875" cy="182875"/>
          </a:xfrm>
          <a:prstGeom prst="rect">
            <a:avLst/>
          </a:prstGeom>
        </p:spPr>
      </p:pic>
      <p:pic>
        <p:nvPicPr>
          <p:cNvPr id="205" name="Image 14" descr="preencoded.png">
            <a:extLst>
              <a:ext uri="{FF2B5EF4-FFF2-40B4-BE49-F238E27FC236}">
                <a16:creationId xmlns:a16="http://schemas.microsoft.com/office/drawing/2014/main" id="{F107C522-8729-9F07-6B03-E56666DADBC8}"/>
              </a:ext>
            </a:extLst>
          </p:cNvPr>
          <p:cNvPicPr>
            <a:picLocks noChangeAspect="1"/>
          </p:cNvPicPr>
          <p:nvPr/>
        </p:nvPicPr>
        <p:blipFill>
          <a:blip r:embed="rId16"/>
          <a:stretch>
            <a:fillRect/>
          </a:stretch>
        </p:blipFill>
        <p:spPr>
          <a:xfrm>
            <a:off x="11429714" y="2816792"/>
            <a:ext cx="182875" cy="182875"/>
          </a:xfrm>
          <a:prstGeom prst="rect">
            <a:avLst/>
          </a:prstGeom>
        </p:spPr>
      </p:pic>
      <p:sp>
        <p:nvSpPr>
          <p:cNvPr id="207" name="Text 38">
            <a:extLst>
              <a:ext uri="{FF2B5EF4-FFF2-40B4-BE49-F238E27FC236}">
                <a16:creationId xmlns:a16="http://schemas.microsoft.com/office/drawing/2014/main" id="{697A7974-4D36-EA4C-5833-AD480F853E59}"/>
              </a:ext>
            </a:extLst>
          </p:cNvPr>
          <p:cNvSpPr txBox="1"/>
          <p:nvPr/>
        </p:nvSpPr>
        <p:spPr>
          <a:xfrm>
            <a:off x="8541806" y="3346368"/>
            <a:ext cx="3070783" cy="594345"/>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Docker</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Managed Kubernetes</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Container Registry</a:t>
            </a:r>
            <a:r>
              <a:rPr lang="en-US" sz="900" b="1" dirty="0">
                <a:solidFill>
                  <a:srgbClr val="1B4F8A"/>
                </a:solidFill>
                <a:latin typeface="Calibri" pitchFamily="34" charset="0"/>
                <a:ea typeface="Calibri" pitchFamily="34" charset="-122"/>
                <a:cs typeface="Calibri" pitchFamily="34" charset="-120"/>
              </a:rPr>
              <a:t>   P1</a:t>
            </a:r>
            <a:endParaRPr lang="en-US" sz="1200" dirty="0"/>
          </a:p>
        </p:txBody>
      </p:sp>
      <p:sp>
        <p:nvSpPr>
          <p:cNvPr id="209" name="Shape 39">
            <a:extLst>
              <a:ext uri="{FF2B5EF4-FFF2-40B4-BE49-F238E27FC236}">
                <a16:creationId xmlns:a16="http://schemas.microsoft.com/office/drawing/2014/main" id="{AE75F1A2-2532-30C0-D514-9F0BE1606140}"/>
              </a:ext>
            </a:extLst>
          </p:cNvPr>
          <p:cNvSpPr/>
          <p:nvPr/>
        </p:nvSpPr>
        <p:spPr>
          <a:xfrm>
            <a:off x="419090" y="4378853"/>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211" name="Shape 40">
            <a:extLst>
              <a:ext uri="{FF2B5EF4-FFF2-40B4-BE49-F238E27FC236}">
                <a16:creationId xmlns:a16="http://schemas.microsoft.com/office/drawing/2014/main" id="{FE58F0DD-C71E-A15F-BEBD-FA281B5FD070}"/>
              </a:ext>
            </a:extLst>
          </p:cNvPr>
          <p:cNvSpPr/>
          <p:nvPr/>
        </p:nvSpPr>
        <p:spPr>
          <a:xfrm>
            <a:off x="419090" y="4378853"/>
            <a:ext cx="53339" cy="1562061"/>
          </a:xfrm>
          <a:prstGeom prst="roundRect">
            <a:avLst>
              <a:gd name="adj" fmla="val 34286"/>
            </a:avLst>
          </a:prstGeom>
          <a:solidFill>
            <a:srgbClr val="1B4F8A"/>
          </a:solidFill>
          <a:ln w="6350">
            <a:solidFill>
              <a:srgbClr val="1B4F8A"/>
            </a:solidFill>
            <a:prstDash val="solid"/>
          </a:ln>
        </p:spPr>
        <p:txBody>
          <a:bodyPr/>
          <a:lstStyle/>
          <a:p>
            <a:endParaRPr lang="en-IN" sz="2400"/>
          </a:p>
        </p:txBody>
      </p:sp>
      <p:pic>
        <p:nvPicPr>
          <p:cNvPr id="213" name="Image 15" descr="preencoded.png">
            <a:extLst>
              <a:ext uri="{FF2B5EF4-FFF2-40B4-BE49-F238E27FC236}">
                <a16:creationId xmlns:a16="http://schemas.microsoft.com/office/drawing/2014/main" id="{B93CADEA-9309-D067-4F5E-5815196D5142}"/>
              </a:ext>
            </a:extLst>
          </p:cNvPr>
          <p:cNvPicPr>
            <a:picLocks noChangeAspect="1"/>
          </p:cNvPicPr>
          <p:nvPr/>
        </p:nvPicPr>
        <p:blipFill>
          <a:blip r:embed="rId17"/>
          <a:stretch>
            <a:fillRect/>
          </a:stretch>
        </p:blipFill>
        <p:spPr>
          <a:xfrm>
            <a:off x="586725" y="4500770"/>
            <a:ext cx="213355" cy="213355"/>
          </a:xfrm>
          <a:prstGeom prst="rect">
            <a:avLst/>
          </a:prstGeom>
        </p:spPr>
      </p:pic>
      <p:sp>
        <p:nvSpPr>
          <p:cNvPr id="215" name="Text 41">
            <a:extLst>
              <a:ext uri="{FF2B5EF4-FFF2-40B4-BE49-F238E27FC236}">
                <a16:creationId xmlns:a16="http://schemas.microsoft.com/office/drawing/2014/main" id="{F92373B4-3F23-8CFB-F0EC-A4F5E8187154}"/>
              </a:ext>
            </a:extLst>
          </p:cNvPr>
          <p:cNvSpPr txBox="1"/>
          <p:nvPr/>
        </p:nvSpPr>
        <p:spPr>
          <a:xfrm>
            <a:off x="876278" y="4485530"/>
            <a:ext cx="2232604" cy="243834"/>
          </a:xfrm>
          <a:prstGeom prst="rect">
            <a:avLst/>
          </a:prstGeom>
          <a:noFill/>
          <a:ln/>
        </p:spPr>
        <p:txBody>
          <a:bodyPr wrap="square" lIns="0" tIns="0" rIns="0" bIns="0" rtlCol="0" anchor="ctr"/>
          <a:lstStyle/>
          <a:p>
            <a:pPr marL="0" indent="0" algn="l">
              <a:lnSpc>
                <a:spcPct val="93000"/>
              </a:lnSpc>
              <a:buNone/>
            </a:pPr>
            <a:r>
              <a:rPr lang="en-US" sz="1600" b="1" dirty="0">
                <a:solidFill>
                  <a:srgbClr val="1B4F8A"/>
                </a:solidFill>
                <a:latin typeface="Calibri" pitchFamily="34" charset="0"/>
                <a:ea typeface="Calibri" pitchFamily="34" charset="-122"/>
                <a:cs typeface="Calibri" pitchFamily="34" charset="-120"/>
              </a:rPr>
              <a:t>Observability</a:t>
            </a:r>
            <a:endParaRPr lang="en-US" sz="1600" dirty="0"/>
          </a:p>
        </p:txBody>
      </p:sp>
      <p:pic>
        <p:nvPicPr>
          <p:cNvPr id="217" name="Image 16" descr="preencoded.png">
            <a:extLst>
              <a:ext uri="{FF2B5EF4-FFF2-40B4-BE49-F238E27FC236}">
                <a16:creationId xmlns:a16="http://schemas.microsoft.com/office/drawing/2014/main" id="{3E8872C0-FA83-8914-F8C1-4624D7D61B70}"/>
              </a:ext>
            </a:extLst>
          </p:cNvPr>
          <p:cNvPicPr>
            <a:picLocks noChangeAspect="1"/>
          </p:cNvPicPr>
          <p:nvPr/>
        </p:nvPicPr>
        <p:blipFill>
          <a:blip r:embed="rId18"/>
          <a:stretch>
            <a:fillRect/>
          </a:stretch>
        </p:blipFill>
        <p:spPr>
          <a:xfrm>
            <a:off x="3520352" y="4500770"/>
            <a:ext cx="182875" cy="182875"/>
          </a:xfrm>
          <a:prstGeom prst="rect">
            <a:avLst/>
          </a:prstGeom>
        </p:spPr>
      </p:pic>
      <p:pic>
        <p:nvPicPr>
          <p:cNvPr id="219" name="Image 17" descr="preencoded.png">
            <a:extLst>
              <a:ext uri="{FF2B5EF4-FFF2-40B4-BE49-F238E27FC236}">
                <a16:creationId xmlns:a16="http://schemas.microsoft.com/office/drawing/2014/main" id="{5B07D4DB-15F0-993B-B3A9-C9A843DB1294}"/>
              </a:ext>
            </a:extLst>
          </p:cNvPr>
          <p:cNvPicPr>
            <a:picLocks noChangeAspect="1"/>
          </p:cNvPicPr>
          <p:nvPr/>
        </p:nvPicPr>
        <p:blipFill>
          <a:blip r:embed="rId19"/>
          <a:stretch>
            <a:fillRect/>
          </a:stretch>
        </p:blipFill>
        <p:spPr>
          <a:xfrm>
            <a:off x="3764186" y="4500770"/>
            <a:ext cx="182875" cy="182875"/>
          </a:xfrm>
          <a:prstGeom prst="rect">
            <a:avLst/>
          </a:prstGeom>
        </p:spPr>
      </p:pic>
      <p:sp>
        <p:nvSpPr>
          <p:cNvPr id="221" name="Text 42">
            <a:extLst>
              <a:ext uri="{FF2B5EF4-FFF2-40B4-BE49-F238E27FC236}">
                <a16:creationId xmlns:a16="http://schemas.microsoft.com/office/drawing/2014/main" id="{9BC598A8-3CE0-4F31-66EC-2379EF0A55C9}"/>
              </a:ext>
            </a:extLst>
          </p:cNvPr>
          <p:cNvSpPr txBox="1"/>
          <p:nvPr/>
        </p:nvSpPr>
        <p:spPr>
          <a:xfrm>
            <a:off x="876278" y="4931289"/>
            <a:ext cx="3070783" cy="792460"/>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Grafana</a:t>
            </a:r>
            <a:r>
              <a:rPr lang="en-US" sz="900" b="1" dirty="0">
                <a:solidFill>
                  <a:srgbClr val="4B3E8E"/>
                </a:solidFill>
                <a:latin typeface="Calibri" pitchFamily="34" charset="0"/>
                <a:ea typeface="Calibri" pitchFamily="34" charset="-122"/>
                <a:cs typeface="Calibri" pitchFamily="34" charset="-120"/>
              </a:rPr>
              <a:t>   P3</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Prometheus</a:t>
            </a:r>
            <a:r>
              <a:rPr lang="en-US" sz="900" b="1" dirty="0">
                <a:solidFill>
                  <a:srgbClr val="4B3E8E"/>
                </a:solidFill>
                <a:latin typeface="Calibri" pitchFamily="34" charset="0"/>
                <a:ea typeface="Calibri" pitchFamily="34" charset="-122"/>
                <a:cs typeface="Calibri" pitchFamily="34" charset="-120"/>
              </a:rPr>
              <a:t>   P3</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Loki / Promtail</a:t>
            </a:r>
            <a:r>
              <a:rPr lang="en-US" sz="900" b="1" dirty="0">
                <a:solidFill>
                  <a:srgbClr val="4B3E8E"/>
                </a:solidFill>
                <a:latin typeface="Calibri" pitchFamily="34" charset="0"/>
                <a:ea typeface="Calibri" pitchFamily="34" charset="-122"/>
                <a:cs typeface="Calibri" pitchFamily="34" charset="-120"/>
              </a:rPr>
              <a:t>   P3</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Logs / Metrics / Traces / Alerts</a:t>
            </a:r>
            <a:r>
              <a:rPr lang="en-US" sz="900" b="1" dirty="0">
                <a:solidFill>
                  <a:srgbClr val="4B3E8E"/>
                </a:solidFill>
                <a:latin typeface="Calibri" pitchFamily="34" charset="0"/>
                <a:ea typeface="Calibri" pitchFamily="34" charset="-122"/>
                <a:cs typeface="Calibri" pitchFamily="34" charset="-120"/>
              </a:rPr>
              <a:t>   P3</a:t>
            </a:r>
            <a:endParaRPr lang="en-US" sz="1200" dirty="0"/>
          </a:p>
        </p:txBody>
      </p:sp>
      <p:sp>
        <p:nvSpPr>
          <p:cNvPr id="223" name="Shape 43">
            <a:extLst>
              <a:ext uri="{FF2B5EF4-FFF2-40B4-BE49-F238E27FC236}">
                <a16:creationId xmlns:a16="http://schemas.microsoft.com/office/drawing/2014/main" id="{969E2AFC-338B-51AA-3250-533E58631CF2}"/>
              </a:ext>
            </a:extLst>
          </p:cNvPr>
          <p:cNvSpPr/>
          <p:nvPr/>
        </p:nvSpPr>
        <p:spPr>
          <a:xfrm>
            <a:off x="4251854" y="4378853"/>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225" name="Shape 44">
            <a:extLst>
              <a:ext uri="{FF2B5EF4-FFF2-40B4-BE49-F238E27FC236}">
                <a16:creationId xmlns:a16="http://schemas.microsoft.com/office/drawing/2014/main" id="{887AE14A-21D6-9BD5-82B9-64B19E0296AB}"/>
              </a:ext>
            </a:extLst>
          </p:cNvPr>
          <p:cNvSpPr/>
          <p:nvPr/>
        </p:nvSpPr>
        <p:spPr>
          <a:xfrm>
            <a:off x="4251854" y="4378853"/>
            <a:ext cx="53339" cy="1562061"/>
          </a:xfrm>
          <a:prstGeom prst="roundRect">
            <a:avLst>
              <a:gd name="adj" fmla="val 34286"/>
            </a:avLst>
          </a:prstGeom>
          <a:solidFill>
            <a:srgbClr val="1B4F8A"/>
          </a:solidFill>
          <a:ln w="6350">
            <a:solidFill>
              <a:srgbClr val="1B4F8A"/>
            </a:solidFill>
            <a:prstDash val="solid"/>
          </a:ln>
        </p:spPr>
        <p:txBody>
          <a:bodyPr/>
          <a:lstStyle/>
          <a:p>
            <a:endParaRPr lang="en-IN" sz="2400"/>
          </a:p>
        </p:txBody>
      </p:sp>
      <p:pic>
        <p:nvPicPr>
          <p:cNvPr id="227" name="Image 18" descr="preencoded.png">
            <a:extLst>
              <a:ext uri="{FF2B5EF4-FFF2-40B4-BE49-F238E27FC236}">
                <a16:creationId xmlns:a16="http://schemas.microsoft.com/office/drawing/2014/main" id="{BF7F489D-2D0B-C6BF-7BDA-3E530AF5EDDE}"/>
              </a:ext>
            </a:extLst>
          </p:cNvPr>
          <p:cNvPicPr>
            <a:picLocks noChangeAspect="1"/>
          </p:cNvPicPr>
          <p:nvPr/>
        </p:nvPicPr>
        <p:blipFill>
          <a:blip r:embed="rId20"/>
          <a:stretch>
            <a:fillRect/>
          </a:stretch>
        </p:blipFill>
        <p:spPr>
          <a:xfrm>
            <a:off x="4419490" y="4500770"/>
            <a:ext cx="213355" cy="213355"/>
          </a:xfrm>
          <a:prstGeom prst="rect">
            <a:avLst/>
          </a:prstGeom>
        </p:spPr>
      </p:pic>
      <p:sp>
        <p:nvSpPr>
          <p:cNvPr id="229" name="Text 45">
            <a:extLst>
              <a:ext uri="{FF2B5EF4-FFF2-40B4-BE49-F238E27FC236}">
                <a16:creationId xmlns:a16="http://schemas.microsoft.com/office/drawing/2014/main" id="{474B9E76-6EE0-11DC-4218-D1A6986BB3E5}"/>
              </a:ext>
            </a:extLst>
          </p:cNvPr>
          <p:cNvSpPr txBox="1"/>
          <p:nvPr/>
        </p:nvSpPr>
        <p:spPr>
          <a:xfrm>
            <a:off x="4709042" y="4485530"/>
            <a:ext cx="2232604" cy="243834"/>
          </a:xfrm>
          <a:prstGeom prst="rect">
            <a:avLst/>
          </a:prstGeom>
          <a:noFill/>
          <a:ln/>
        </p:spPr>
        <p:txBody>
          <a:bodyPr wrap="square" lIns="0" tIns="0" rIns="0" bIns="0" rtlCol="0" anchor="ctr"/>
          <a:lstStyle/>
          <a:p>
            <a:pPr marL="0" indent="0" algn="l">
              <a:lnSpc>
                <a:spcPct val="93000"/>
              </a:lnSpc>
              <a:buNone/>
            </a:pPr>
            <a:r>
              <a:rPr lang="en-US" sz="1600" b="1" dirty="0">
                <a:solidFill>
                  <a:srgbClr val="1B4F8A"/>
                </a:solidFill>
                <a:latin typeface="Calibri" pitchFamily="34" charset="0"/>
                <a:ea typeface="Calibri" pitchFamily="34" charset="-122"/>
                <a:cs typeface="Calibri" pitchFamily="34" charset="-120"/>
              </a:rPr>
              <a:t>DevSecOps</a:t>
            </a:r>
            <a:endParaRPr lang="en-US" sz="1600" dirty="0"/>
          </a:p>
        </p:txBody>
      </p:sp>
      <p:pic>
        <p:nvPicPr>
          <p:cNvPr id="231" name="Image 19" descr="preencoded.png">
            <a:extLst>
              <a:ext uri="{FF2B5EF4-FFF2-40B4-BE49-F238E27FC236}">
                <a16:creationId xmlns:a16="http://schemas.microsoft.com/office/drawing/2014/main" id="{3DF0FD12-34CA-4256-EC40-BA9969D5F340}"/>
              </a:ext>
            </a:extLst>
          </p:cNvPr>
          <p:cNvPicPr>
            <a:picLocks noChangeAspect="1"/>
          </p:cNvPicPr>
          <p:nvPr/>
        </p:nvPicPr>
        <p:blipFill>
          <a:blip r:embed="rId21"/>
          <a:stretch>
            <a:fillRect/>
          </a:stretch>
        </p:blipFill>
        <p:spPr>
          <a:xfrm>
            <a:off x="7596950" y="4500770"/>
            <a:ext cx="182875" cy="182875"/>
          </a:xfrm>
          <a:prstGeom prst="rect">
            <a:avLst/>
          </a:prstGeom>
        </p:spPr>
      </p:pic>
      <p:sp>
        <p:nvSpPr>
          <p:cNvPr id="233" name="Text 46">
            <a:extLst>
              <a:ext uri="{FF2B5EF4-FFF2-40B4-BE49-F238E27FC236}">
                <a16:creationId xmlns:a16="http://schemas.microsoft.com/office/drawing/2014/main" id="{C4C5F04E-A86F-02F9-BCCE-FABBE9DD1490}"/>
              </a:ext>
            </a:extLst>
          </p:cNvPr>
          <p:cNvSpPr txBox="1"/>
          <p:nvPr/>
        </p:nvSpPr>
        <p:spPr>
          <a:xfrm>
            <a:off x="4709042" y="4931289"/>
            <a:ext cx="3070783" cy="792460"/>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GitLab CI/CD</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Automated build &amp; test</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Security scanning</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Container deployment</a:t>
            </a:r>
            <a:r>
              <a:rPr lang="en-US" sz="900" b="1" dirty="0">
                <a:solidFill>
                  <a:srgbClr val="1B4F8A"/>
                </a:solidFill>
                <a:latin typeface="Calibri" pitchFamily="34" charset="0"/>
                <a:ea typeface="Calibri" pitchFamily="34" charset="-122"/>
                <a:cs typeface="Calibri" pitchFamily="34" charset="-120"/>
              </a:rPr>
              <a:t>   P1</a:t>
            </a:r>
            <a:endParaRPr lang="en-US" sz="1200" dirty="0"/>
          </a:p>
        </p:txBody>
      </p:sp>
      <p:sp>
        <p:nvSpPr>
          <p:cNvPr id="235" name="Shape 47">
            <a:extLst>
              <a:ext uri="{FF2B5EF4-FFF2-40B4-BE49-F238E27FC236}">
                <a16:creationId xmlns:a16="http://schemas.microsoft.com/office/drawing/2014/main" id="{DF45833F-8599-B628-F419-1AE1A6370729}"/>
              </a:ext>
            </a:extLst>
          </p:cNvPr>
          <p:cNvSpPr/>
          <p:nvPr/>
        </p:nvSpPr>
        <p:spPr>
          <a:xfrm>
            <a:off x="8084618" y="4378853"/>
            <a:ext cx="3680368" cy="1562061"/>
          </a:xfrm>
          <a:prstGeom prst="roundRect">
            <a:avLst>
              <a:gd name="adj" fmla="val 2927"/>
            </a:avLst>
          </a:prstGeom>
          <a:solidFill>
            <a:srgbClr val="FFFFFF"/>
          </a:solidFill>
          <a:ln w="12700">
            <a:solidFill>
              <a:srgbClr val="C2DCF0"/>
            </a:solidFill>
            <a:prstDash val="solid"/>
          </a:ln>
        </p:spPr>
        <p:txBody>
          <a:bodyPr/>
          <a:lstStyle/>
          <a:p>
            <a:endParaRPr lang="en-IN" sz="2400"/>
          </a:p>
        </p:txBody>
      </p:sp>
      <p:sp>
        <p:nvSpPr>
          <p:cNvPr id="237" name="Shape 48">
            <a:extLst>
              <a:ext uri="{FF2B5EF4-FFF2-40B4-BE49-F238E27FC236}">
                <a16:creationId xmlns:a16="http://schemas.microsoft.com/office/drawing/2014/main" id="{FDEE25DE-60BE-9E1A-B5AC-C473FE66A2E8}"/>
              </a:ext>
            </a:extLst>
          </p:cNvPr>
          <p:cNvSpPr/>
          <p:nvPr/>
        </p:nvSpPr>
        <p:spPr>
          <a:xfrm>
            <a:off x="8084618" y="4378853"/>
            <a:ext cx="53339" cy="1562061"/>
          </a:xfrm>
          <a:prstGeom prst="roundRect">
            <a:avLst>
              <a:gd name="adj" fmla="val 34286"/>
            </a:avLst>
          </a:prstGeom>
          <a:solidFill>
            <a:srgbClr val="8A6A16"/>
          </a:solidFill>
          <a:ln w="6350">
            <a:solidFill>
              <a:srgbClr val="8A6A16"/>
            </a:solidFill>
            <a:prstDash val="solid"/>
          </a:ln>
        </p:spPr>
        <p:txBody>
          <a:bodyPr/>
          <a:lstStyle/>
          <a:p>
            <a:endParaRPr lang="en-IN" sz="2400"/>
          </a:p>
        </p:txBody>
      </p:sp>
      <p:pic>
        <p:nvPicPr>
          <p:cNvPr id="239" name="Image 20" descr="preencoded.png">
            <a:extLst>
              <a:ext uri="{FF2B5EF4-FFF2-40B4-BE49-F238E27FC236}">
                <a16:creationId xmlns:a16="http://schemas.microsoft.com/office/drawing/2014/main" id="{A6C1D3A8-451A-B87A-83BF-62069FA70AC1}"/>
              </a:ext>
            </a:extLst>
          </p:cNvPr>
          <p:cNvPicPr>
            <a:picLocks noChangeAspect="1"/>
          </p:cNvPicPr>
          <p:nvPr/>
        </p:nvPicPr>
        <p:blipFill>
          <a:blip r:embed="rId22"/>
          <a:stretch>
            <a:fillRect/>
          </a:stretch>
        </p:blipFill>
        <p:spPr>
          <a:xfrm>
            <a:off x="8252254" y="4500770"/>
            <a:ext cx="213355" cy="213355"/>
          </a:xfrm>
          <a:prstGeom prst="rect">
            <a:avLst/>
          </a:prstGeom>
        </p:spPr>
      </p:pic>
      <p:sp>
        <p:nvSpPr>
          <p:cNvPr id="241" name="Text 49">
            <a:extLst>
              <a:ext uri="{FF2B5EF4-FFF2-40B4-BE49-F238E27FC236}">
                <a16:creationId xmlns:a16="http://schemas.microsoft.com/office/drawing/2014/main" id="{E617677C-5D93-2149-0403-F5110D610B06}"/>
              </a:ext>
            </a:extLst>
          </p:cNvPr>
          <p:cNvSpPr txBox="1"/>
          <p:nvPr/>
        </p:nvSpPr>
        <p:spPr>
          <a:xfrm>
            <a:off x="8541805" y="4447432"/>
            <a:ext cx="2354521" cy="281932"/>
          </a:xfrm>
          <a:prstGeom prst="rect">
            <a:avLst/>
          </a:prstGeom>
          <a:noFill/>
          <a:ln/>
        </p:spPr>
        <p:txBody>
          <a:bodyPr wrap="square" lIns="0" tIns="0" rIns="0" bIns="0" rtlCol="0" anchor="ctr"/>
          <a:lstStyle/>
          <a:p>
            <a:pPr marL="0" indent="0" algn="l">
              <a:lnSpc>
                <a:spcPct val="93000"/>
              </a:lnSpc>
              <a:buNone/>
            </a:pPr>
            <a:r>
              <a:rPr lang="en-US" sz="1600" b="1" dirty="0">
                <a:solidFill>
                  <a:srgbClr val="8A6A16"/>
                </a:solidFill>
                <a:latin typeface="Calibri" pitchFamily="34" charset="0"/>
                <a:ea typeface="Calibri" pitchFamily="34" charset="-122"/>
                <a:cs typeface="Calibri" pitchFamily="34" charset="-120"/>
              </a:rPr>
              <a:t>Secrets &amp; Key Management</a:t>
            </a:r>
            <a:endParaRPr lang="en-US" sz="1600" dirty="0"/>
          </a:p>
        </p:txBody>
      </p:sp>
      <p:pic>
        <p:nvPicPr>
          <p:cNvPr id="243" name="Image 21" descr="preencoded.png">
            <a:extLst>
              <a:ext uri="{FF2B5EF4-FFF2-40B4-BE49-F238E27FC236}">
                <a16:creationId xmlns:a16="http://schemas.microsoft.com/office/drawing/2014/main" id="{3DA3A38A-A809-8388-44E4-3332297E0EF3}"/>
              </a:ext>
            </a:extLst>
          </p:cNvPr>
          <p:cNvPicPr>
            <a:picLocks noChangeAspect="1"/>
          </p:cNvPicPr>
          <p:nvPr/>
        </p:nvPicPr>
        <p:blipFill>
          <a:blip r:embed="rId23"/>
          <a:stretch>
            <a:fillRect/>
          </a:stretch>
        </p:blipFill>
        <p:spPr>
          <a:xfrm>
            <a:off x="11429714" y="4500770"/>
            <a:ext cx="182875" cy="182875"/>
          </a:xfrm>
          <a:prstGeom prst="rect">
            <a:avLst/>
          </a:prstGeom>
        </p:spPr>
      </p:pic>
      <p:sp>
        <p:nvSpPr>
          <p:cNvPr id="245" name="Text 50">
            <a:extLst>
              <a:ext uri="{FF2B5EF4-FFF2-40B4-BE49-F238E27FC236}">
                <a16:creationId xmlns:a16="http://schemas.microsoft.com/office/drawing/2014/main" id="{BB9FE07F-106B-BA0D-08E9-CA318786E5A3}"/>
              </a:ext>
            </a:extLst>
          </p:cNvPr>
          <p:cNvSpPr txBox="1"/>
          <p:nvPr/>
        </p:nvSpPr>
        <p:spPr>
          <a:xfrm>
            <a:off x="8541806" y="4931289"/>
            <a:ext cx="3070783" cy="792460"/>
          </a:xfrm>
          <a:prstGeom prst="rect">
            <a:avLst/>
          </a:prstGeom>
          <a:noFill/>
          <a:ln/>
        </p:spPr>
        <p:txBody>
          <a:bodyPr wrap="square" lIns="0" tIns="0" rIns="0" bIns="0" rtlCol="0" anchor="t"/>
          <a:lstStyle/>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Vault</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Secrets</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Certificates</a:t>
            </a:r>
            <a:r>
              <a:rPr lang="en-US" sz="900" b="1" dirty="0">
                <a:solidFill>
                  <a:srgbClr val="1B4F8A"/>
                </a:solidFill>
                <a:latin typeface="Calibri" pitchFamily="34" charset="0"/>
                <a:ea typeface="Calibri" pitchFamily="34" charset="-122"/>
                <a:cs typeface="Calibri" pitchFamily="34" charset="-120"/>
              </a:rPr>
              <a:t>   P1</a:t>
            </a:r>
            <a:endParaRPr lang="en-US" sz="1200" dirty="0"/>
          </a:p>
          <a:p>
            <a:pPr marL="0" indent="0">
              <a:lnSpc>
                <a:spcPct val="95000"/>
              </a:lnSpc>
              <a:spcAft>
                <a:spcPts val="200"/>
              </a:spcAft>
              <a:buNone/>
            </a:pPr>
            <a:r>
              <a:rPr lang="en-US" sz="1200" dirty="0">
                <a:solidFill>
                  <a:srgbClr val="2A6099"/>
                </a:solidFill>
                <a:latin typeface="Calibri" pitchFamily="34" charset="0"/>
                <a:ea typeface="Calibri" pitchFamily="34" charset="-122"/>
                <a:cs typeface="Calibri" pitchFamily="34" charset="-120"/>
              </a:rPr>
              <a:t>•   Encryption Keys</a:t>
            </a:r>
            <a:r>
              <a:rPr lang="en-US" sz="900" b="1" dirty="0">
                <a:solidFill>
                  <a:srgbClr val="1B4F8A"/>
                </a:solidFill>
                <a:latin typeface="Calibri" pitchFamily="34" charset="0"/>
                <a:ea typeface="Calibri" pitchFamily="34" charset="-122"/>
                <a:cs typeface="Calibri" pitchFamily="34" charset="-120"/>
              </a:rPr>
              <a:t>   P1</a:t>
            </a:r>
            <a:endParaRPr lang="en-US" sz="1200" dirty="0"/>
          </a:p>
        </p:txBody>
      </p:sp>
      <p:sp>
        <p:nvSpPr>
          <p:cNvPr id="247" name="Shape 51">
            <a:extLst>
              <a:ext uri="{FF2B5EF4-FFF2-40B4-BE49-F238E27FC236}">
                <a16:creationId xmlns:a16="http://schemas.microsoft.com/office/drawing/2014/main" id="{80D0503C-786B-E6F8-6D72-A9C0523EE2C6}"/>
              </a:ext>
            </a:extLst>
          </p:cNvPr>
          <p:cNvSpPr/>
          <p:nvPr/>
        </p:nvSpPr>
        <p:spPr>
          <a:xfrm>
            <a:off x="419090" y="6131409"/>
            <a:ext cx="11353516" cy="396230"/>
          </a:xfrm>
          <a:prstGeom prst="roundRect">
            <a:avLst>
              <a:gd name="adj" fmla="val 11539"/>
            </a:avLst>
          </a:prstGeom>
          <a:solidFill>
            <a:srgbClr val="F4F7FA"/>
          </a:solidFill>
          <a:ln w="12700">
            <a:solidFill>
              <a:srgbClr val="B9CBDD"/>
            </a:solidFill>
            <a:prstDash val="solid"/>
          </a:ln>
        </p:spPr>
        <p:txBody>
          <a:bodyPr/>
          <a:lstStyle/>
          <a:p>
            <a:endParaRPr lang="en-IN" sz="3200"/>
          </a:p>
        </p:txBody>
      </p:sp>
      <p:sp>
        <p:nvSpPr>
          <p:cNvPr id="249" name="Text 52">
            <a:extLst>
              <a:ext uri="{FF2B5EF4-FFF2-40B4-BE49-F238E27FC236}">
                <a16:creationId xmlns:a16="http://schemas.microsoft.com/office/drawing/2014/main" id="{36F498BE-0F32-9565-CDF1-1478B3E747DB}"/>
              </a:ext>
            </a:extLst>
          </p:cNvPr>
          <p:cNvSpPr txBox="1"/>
          <p:nvPr/>
        </p:nvSpPr>
        <p:spPr>
          <a:xfrm>
            <a:off x="510527" y="6166968"/>
            <a:ext cx="3276518" cy="137157"/>
          </a:xfrm>
          <a:prstGeom prst="rect">
            <a:avLst/>
          </a:prstGeom>
          <a:noFill/>
          <a:ln/>
        </p:spPr>
        <p:txBody>
          <a:bodyPr wrap="square" lIns="0" tIns="0" rIns="0" bIns="0" rtlCol="0" anchor="ctr"/>
          <a:lstStyle/>
          <a:p>
            <a:pPr marL="0" indent="0" algn="l">
              <a:lnSpc>
                <a:spcPct val="93000"/>
              </a:lnSpc>
              <a:buNone/>
            </a:pPr>
            <a:r>
              <a:rPr lang="en-US" sz="1100" b="1" dirty="0">
                <a:solidFill>
                  <a:srgbClr val="1B4F8A"/>
                </a:solidFill>
                <a:latin typeface="Calibri" pitchFamily="34" charset="0"/>
                <a:ea typeface="Calibri" pitchFamily="34" charset="-122"/>
                <a:cs typeface="Calibri" pitchFamily="34" charset="-120"/>
              </a:rPr>
              <a:t>Cloud Deployment:  Microsoft Azure  |  AWS</a:t>
            </a:r>
            <a:endParaRPr lang="en-US" sz="1100" dirty="0"/>
          </a:p>
        </p:txBody>
      </p:sp>
      <p:sp>
        <p:nvSpPr>
          <p:cNvPr id="251" name="Text 53">
            <a:extLst>
              <a:ext uri="{FF2B5EF4-FFF2-40B4-BE49-F238E27FC236}">
                <a16:creationId xmlns:a16="http://schemas.microsoft.com/office/drawing/2014/main" id="{FC7608B1-5A3B-F1F2-6DA4-732F50A7605E}"/>
              </a:ext>
            </a:extLst>
          </p:cNvPr>
          <p:cNvSpPr txBox="1"/>
          <p:nvPr/>
        </p:nvSpPr>
        <p:spPr>
          <a:xfrm>
            <a:off x="510527" y="6304125"/>
            <a:ext cx="6857829" cy="228594"/>
          </a:xfrm>
          <a:prstGeom prst="rect">
            <a:avLst/>
          </a:prstGeom>
          <a:noFill/>
          <a:ln/>
        </p:spPr>
        <p:txBody>
          <a:bodyPr wrap="square" lIns="0" tIns="0" rIns="0" bIns="0" rtlCol="0" anchor="ctr"/>
          <a:lstStyle/>
          <a:p>
            <a:pPr marL="0" indent="0" algn="l">
              <a:lnSpc>
                <a:spcPct val="95000"/>
              </a:lnSpc>
              <a:buNone/>
            </a:pPr>
            <a:r>
              <a:rPr lang="en-US" sz="1050" i="1" dirty="0">
                <a:solidFill>
                  <a:srgbClr val="5B6472"/>
                </a:solidFill>
                <a:latin typeface="Calibri" pitchFamily="34" charset="0"/>
                <a:ea typeface="Calibri" pitchFamily="34" charset="-122"/>
                <a:cs typeface="Calibri" pitchFamily="34" charset="-120"/>
              </a:rPr>
              <a:t>Core application architecture remains cloud agnostic; equivalent managed cloud services can be used on the selected platform.</a:t>
            </a:r>
            <a:endParaRPr lang="en-US" sz="1050" dirty="0"/>
          </a:p>
        </p:txBody>
      </p:sp>
      <p:sp>
        <p:nvSpPr>
          <p:cNvPr id="281" name="Shape 13">
            <a:extLst>
              <a:ext uri="{FF2B5EF4-FFF2-40B4-BE49-F238E27FC236}">
                <a16:creationId xmlns:a16="http://schemas.microsoft.com/office/drawing/2014/main" id="{3204AB1B-DFF5-68CC-BF83-68A162683A44}"/>
              </a:ext>
            </a:extLst>
          </p:cNvPr>
          <p:cNvSpPr/>
          <p:nvPr/>
        </p:nvSpPr>
        <p:spPr>
          <a:xfrm>
            <a:off x="9486663" y="355595"/>
            <a:ext cx="2209745" cy="487668"/>
          </a:xfrm>
          <a:prstGeom prst="roundRect">
            <a:avLst>
              <a:gd name="adj" fmla="val 9375"/>
            </a:avLst>
          </a:prstGeom>
          <a:solidFill>
            <a:srgbClr val="E4F2FB"/>
          </a:solidFill>
          <a:ln w="12700">
            <a:solidFill>
              <a:srgbClr val="9CCBE8"/>
            </a:solidFill>
            <a:prstDash val="solid"/>
          </a:ln>
        </p:spPr>
        <p:txBody>
          <a:bodyPr/>
          <a:lstStyle/>
          <a:p>
            <a:endParaRPr lang="en-IN"/>
          </a:p>
        </p:txBody>
      </p:sp>
      <p:sp>
        <p:nvSpPr>
          <p:cNvPr id="283" name="Text 14">
            <a:extLst>
              <a:ext uri="{FF2B5EF4-FFF2-40B4-BE49-F238E27FC236}">
                <a16:creationId xmlns:a16="http://schemas.microsoft.com/office/drawing/2014/main" id="{264F93B4-4FE7-75D1-04A3-1528B9935E7B}"/>
              </a:ext>
            </a:extLst>
          </p:cNvPr>
          <p:cNvSpPr txBox="1"/>
          <p:nvPr/>
        </p:nvSpPr>
        <p:spPr>
          <a:xfrm>
            <a:off x="9517142" y="355595"/>
            <a:ext cx="2148786" cy="487668"/>
          </a:xfrm>
          <a:prstGeom prst="rect">
            <a:avLst/>
          </a:prstGeom>
          <a:noFill/>
          <a:ln/>
        </p:spPr>
        <p:txBody>
          <a:bodyPr wrap="square" lIns="0" tIns="0" rIns="0" bIns="0" rtlCol="0" anchor="ctr"/>
          <a:lstStyle/>
          <a:p>
            <a:pPr marL="0" indent="0" algn="ctr">
              <a:lnSpc>
                <a:spcPct val="93000"/>
              </a:lnSpc>
              <a:buNone/>
            </a:pPr>
            <a:r>
              <a:rPr lang="en-US" sz="900" b="1" dirty="0">
                <a:solidFill>
                  <a:srgbClr val="11397C"/>
                </a:solidFill>
                <a:latin typeface="Calibri" pitchFamily="34" charset="0"/>
                <a:ea typeface="Calibri" pitchFamily="34" charset="-122"/>
                <a:cs typeface="Calibri" pitchFamily="34" charset="-120"/>
              </a:rPr>
              <a:t>One technology stack</a:t>
            </a:r>
            <a:endParaRPr lang="en-US" sz="900" dirty="0"/>
          </a:p>
          <a:p>
            <a:pPr marL="0" indent="0" algn="ctr">
              <a:lnSpc>
                <a:spcPct val="93000"/>
              </a:lnSpc>
              <a:buNone/>
            </a:pPr>
            <a:r>
              <a:rPr lang="en-US" sz="900" b="1" dirty="0">
                <a:solidFill>
                  <a:srgbClr val="11397C"/>
                </a:solidFill>
                <a:latin typeface="Calibri" pitchFamily="34" charset="0"/>
                <a:ea typeface="Calibri" pitchFamily="34" charset="-122"/>
                <a:cs typeface="Calibri" pitchFamily="34" charset="-120"/>
              </a:rPr>
              <a:t>adopted progressively across Phases 1 – 3</a:t>
            </a:r>
            <a:endParaRPr lang="en-US" sz="900" dirty="0"/>
          </a:p>
        </p:txBody>
      </p:sp>
    </p:spTree>
    <p:extLst>
      <p:ext uri="{BB962C8B-B14F-4D97-AF65-F5344CB8AC3E}">
        <p14:creationId xmlns:p14="http://schemas.microsoft.com/office/powerpoint/2010/main" val="223455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b="1" dirty="0">
                <a:solidFill>
                  <a:srgbClr val="000000"/>
                </a:solidFill>
                <a:latin typeface="Outfit" pitchFamily="2" charset="0"/>
                <a:cs typeface="Arial" panose="020B0604020202090204"/>
              </a:rPr>
              <a:t>Technology Rationale - Frontend </a:t>
            </a:r>
            <a:endParaRPr lang="en-IN" sz="3200" b="1" dirty="0">
              <a:solidFill>
                <a:srgbClr val="000000"/>
              </a:solidFill>
              <a:latin typeface="Outfit" pitchFamily="2" charset="0"/>
              <a:cs typeface="Arial" panose="020B0604020202090204"/>
            </a:endParaRPr>
          </a:p>
        </p:txBody>
      </p:sp>
      <p:graphicFrame>
        <p:nvGraphicFramePr>
          <p:cNvPr id="9" name="Table 8"/>
          <p:cNvGraphicFramePr>
            <a:graphicFrameLocks noGrp="1"/>
          </p:cNvGraphicFramePr>
          <p:nvPr/>
        </p:nvGraphicFramePr>
        <p:xfrm>
          <a:off x="563526" y="1215081"/>
          <a:ext cx="11158575" cy="4576218"/>
        </p:xfrm>
        <a:graphic>
          <a:graphicData uri="http://schemas.openxmlformats.org/drawingml/2006/table">
            <a:tbl>
              <a:tblPr>
                <a:tableStyleId>{69CF1AB2-1976-4502-BF36-3FF5EA218861}</a:tableStyleId>
              </a:tblPr>
              <a:tblGrid>
                <a:gridCol w="2513516">
                  <a:extLst>
                    <a:ext uri="{9D8B030D-6E8A-4147-A177-3AD203B41FA5}">
                      <a16:colId xmlns:a16="http://schemas.microsoft.com/office/drawing/2014/main" val="20000"/>
                    </a:ext>
                  </a:extLst>
                </a:gridCol>
                <a:gridCol w="3192073">
                  <a:extLst>
                    <a:ext uri="{9D8B030D-6E8A-4147-A177-3AD203B41FA5}">
                      <a16:colId xmlns:a16="http://schemas.microsoft.com/office/drawing/2014/main" val="20001"/>
                    </a:ext>
                  </a:extLst>
                </a:gridCol>
                <a:gridCol w="2472471">
                  <a:extLst>
                    <a:ext uri="{9D8B030D-6E8A-4147-A177-3AD203B41FA5}">
                      <a16:colId xmlns:a16="http://schemas.microsoft.com/office/drawing/2014/main" val="20002"/>
                    </a:ext>
                  </a:extLst>
                </a:gridCol>
                <a:gridCol w="2980515">
                  <a:extLst>
                    <a:ext uri="{9D8B030D-6E8A-4147-A177-3AD203B41FA5}">
                      <a16:colId xmlns:a16="http://schemas.microsoft.com/office/drawing/2014/main" val="20003"/>
                    </a:ext>
                  </a:extLst>
                </a:gridCol>
              </a:tblGrid>
              <a:tr h="447890">
                <a:tc>
                  <a:txBody>
                    <a:bodyPr/>
                    <a:lstStyle/>
                    <a:p>
                      <a:pPr algn="ctr" fontAlgn="ctr">
                        <a:buNone/>
                      </a:pPr>
                      <a:r>
                        <a:rPr lang="en-IN" sz="1400" b="1" u="none" strike="noStrike" dirty="0">
                          <a:solidFill>
                            <a:schemeClr val="bg1"/>
                          </a:solidFill>
                          <a:effectLst/>
                        </a:rPr>
                        <a:t>Evaluation Parameter</a:t>
                      </a:r>
                      <a:endParaRPr lang="en-IN" sz="1400" b="1" i="0" u="none" strike="noStrike" dirty="0">
                        <a:solidFill>
                          <a:schemeClr val="bg1"/>
                        </a:solidFill>
                        <a:effectLst/>
                        <a:latin typeface="Lora" pitchFamily="2" charset="0"/>
                      </a:endParaRPr>
                    </a:p>
                  </a:txBody>
                  <a:tcPr anchor="ctr">
                    <a:solidFill>
                      <a:srgbClr val="002060"/>
                    </a:solidFill>
                  </a:tcPr>
                </a:tc>
                <a:tc>
                  <a:txBody>
                    <a:bodyPr/>
                    <a:lstStyle/>
                    <a:p>
                      <a:pPr algn="ctr" fontAlgn="ctr">
                        <a:buNone/>
                      </a:pPr>
                      <a:r>
                        <a:rPr lang="en-IN" sz="1400" b="1" u="none" strike="noStrike" dirty="0">
                          <a:solidFill>
                            <a:schemeClr val="bg1"/>
                          </a:solidFill>
                          <a:effectLst/>
                        </a:rPr>
                        <a:t>Next.js</a:t>
                      </a:r>
                      <a:endParaRPr lang="en-IN" sz="1400" b="1" i="0" u="none" strike="noStrike" dirty="0">
                        <a:solidFill>
                          <a:schemeClr val="bg1"/>
                        </a:solidFill>
                        <a:effectLst/>
                        <a:latin typeface="Lora" pitchFamily="2" charset="0"/>
                      </a:endParaRPr>
                    </a:p>
                  </a:txBody>
                  <a:tcPr anchor="ctr">
                    <a:solidFill>
                      <a:srgbClr val="002060"/>
                    </a:solidFill>
                  </a:tcPr>
                </a:tc>
                <a:tc>
                  <a:txBody>
                    <a:bodyPr/>
                    <a:lstStyle/>
                    <a:p>
                      <a:pPr algn="ctr" fontAlgn="ctr">
                        <a:buNone/>
                      </a:pPr>
                      <a:r>
                        <a:rPr lang="en-IN" sz="1400" b="1" u="none" strike="noStrike" dirty="0" err="1">
                          <a:solidFill>
                            <a:schemeClr val="bg1"/>
                          </a:solidFill>
                          <a:effectLst/>
                        </a:rPr>
                        <a:t>React.Js</a:t>
                      </a:r>
                      <a:endParaRPr lang="en-IN" sz="1400" b="1" i="0" u="none" strike="noStrike" dirty="0">
                        <a:solidFill>
                          <a:schemeClr val="bg1"/>
                        </a:solidFill>
                        <a:effectLst/>
                        <a:latin typeface="Lora" pitchFamily="2" charset="0"/>
                      </a:endParaRPr>
                    </a:p>
                  </a:txBody>
                  <a:tcPr anchor="ctr">
                    <a:solidFill>
                      <a:srgbClr val="002060"/>
                    </a:solidFill>
                  </a:tcPr>
                </a:tc>
                <a:tc>
                  <a:txBody>
                    <a:bodyPr/>
                    <a:lstStyle/>
                    <a:p>
                      <a:pPr algn="ctr" fontAlgn="ctr">
                        <a:buNone/>
                      </a:pPr>
                      <a:r>
                        <a:rPr lang="en-IN" sz="1400" b="1" u="none" strike="noStrike" dirty="0">
                          <a:solidFill>
                            <a:schemeClr val="bg1"/>
                          </a:solidFill>
                          <a:effectLst/>
                        </a:rPr>
                        <a:t>Angular</a:t>
                      </a:r>
                      <a:endParaRPr lang="en-IN" sz="1400" b="1" i="0" u="none" strike="noStrike" dirty="0">
                        <a:solidFill>
                          <a:schemeClr val="bg1"/>
                        </a:solidFill>
                        <a:effectLst/>
                        <a:latin typeface="Lora" pitchFamily="2" charset="0"/>
                      </a:endParaRPr>
                    </a:p>
                  </a:txBody>
                  <a:tcPr anchor="ctr">
                    <a:solidFill>
                      <a:srgbClr val="002060"/>
                    </a:solidFill>
                  </a:tcPr>
                </a:tc>
                <a:extLst>
                  <a:ext uri="{0D108BD9-81ED-4DB2-BD59-A6C34878D82A}">
                    <a16:rowId xmlns:a16="http://schemas.microsoft.com/office/drawing/2014/main" val="10000"/>
                  </a:ext>
                </a:extLst>
              </a:tr>
              <a:tr h="880884">
                <a:tc>
                  <a:txBody>
                    <a:bodyPr/>
                    <a:lstStyle/>
                    <a:p>
                      <a:pPr algn="l" fontAlgn="ctr">
                        <a:buNone/>
                      </a:pPr>
                      <a:r>
                        <a:rPr lang="en-IN" sz="1400" b="1" u="none" strike="noStrike" dirty="0">
                          <a:solidFill>
                            <a:schemeClr val="bg1"/>
                          </a:solidFill>
                          <a:effectLst/>
                        </a:rPr>
                        <a:t>Performance</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algn="l" fontAlgn="ctr">
                        <a:buNone/>
                      </a:pPr>
                      <a:r>
                        <a:rPr lang="en-US" sz="1400" b="0" u="none" strike="noStrike" dirty="0">
                          <a:solidFill>
                            <a:srgbClr val="000000"/>
                          </a:solidFill>
                          <a:effectLst/>
                        </a:rPr>
                        <a:t>Server‑Side Rendering (SSR) ensures fast initial load for dashboards and reports</a:t>
                      </a:r>
                      <a:endParaRPr lang="en-US" sz="1400" b="0" i="0" u="none" strike="noStrike" dirty="0">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dirty="0">
                          <a:solidFill>
                            <a:srgbClr val="000000"/>
                          </a:solidFill>
                          <a:effectLst/>
                        </a:rPr>
                        <a:t>Client‑side rendering → slower first load</a:t>
                      </a:r>
                      <a:endParaRPr lang="en-US" sz="1400" b="0" i="0" u="none" strike="noStrike" dirty="0">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dirty="0">
                          <a:solidFill>
                            <a:srgbClr val="000000"/>
                          </a:solidFill>
                          <a:effectLst/>
                        </a:rPr>
                        <a:t>Heavier runtime → slower load for complex screens</a:t>
                      </a:r>
                      <a:endParaRPr lang="en-US" sz="1400" b="0" i="0" u="none" strike="noStrike" dirty="0">
                        <a:solidFill>
                          <a:srgbClr val="000000"/>
                        </a:solidFill>
                        <a:effectLst/>
                        <a:latin typeface="Lora" pitchFamily="2" charset="0"/>
                      </a:endParaRPr>
                    </a:p>
                  </a:txBody>
                  <a:tcPr anchor="ctr">
                    <a:solidFill>
                      <a:schemeClr val="bg1">
                        <a:lumMod val="95000"/>
                      </a:schemeClr>
                    </a:solidFill>
                  </a:tcPr>
                </a:tc>
                <a:extLst>
                  <a:ext uri="{0D108BD9-81ED-4DB2-BD59-A6C34878D82A}">
                    <a16:rowId xmlns:a16="http://schemas.microsoft.com/office/drawing/2014/main" val="10001"/>
                  </a:ext>
                </a:extLst>
              </a:tr>
              <a:tr h="880884">
                <a:tc>
                  <a:txBody>
                    <a:bodyPr/>
                    <a:lstStyle/>
                    <a:p>
                      <a:pPr algn="l" fontAlgn="ctr">
                        <a:buNone/>
                      </a:pPr>
                      <a:r>
                        <a:rPr lang="en-IN" sz="1400" b="1" u="none" strike="noStrike" dirty="0">
                          <a:solidFill>
                            <a:schemeClr val="bg1"/>
                          </a:solidFill>
                          <a:effectLst/>
                        </a:rPr>
                        <a:t>Data Security</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algn="l" fontAlgn="ctr">
                        <a:buNone/>
                      </a:pPr>
                      <a:r>
                        <a:rPr lang="en-US" sz="1400" b="0" u="none" strike="noStrike" dirty="0">
                          <a:solidFill>
                            <a:srgbClr val="000000"/>
                          </a:solidFill>
                          <a:effectLst/>
                        </a:rPr>
                        <a:t>Server‑rendered pages reduce exposure of sensitive claim data in browser</a:t>
                      </a:r>
                      <a:endParaRPr lang="en-US" sz="1400" b="0" i="0" u="none" strike="noStrike" dirty="0">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dirty="0">
                          <a:solidFill>
                            <a:srgbClr val="000000"/>
                          </a:solidFill>
                          <a:effectLst/>
                        </a:rPr>
                        <a:t>More data exposed at client level</a:t>
                      </a:r>
                      <a:endParaRPr lang="en-US" sz="1400" b="0" i="0" u="none" strike="noStrike" dirty="0">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a:solidFill>
                            <a:srgbClr val="000000"/>
                          </a:solidFill>
                          <a:effectLst/>
                        </a:rPr>
                        <a:t>Comparable security but higher attack surface due to complexity</a:t>
                      </a:r>
                      <a:endParaRPr lang="en-US" sz="1400" b="0" i="0" u="none" strike="noStrike">
                        <a:solidFill>
                          <a:srgbClr val="000000"/>
                        </a:solidFill>
                        <a:effectLst/>
                        <a:latin typeface="Lora" pitchFamily="2" charset="0"/>
                      </a:endParaRPr>
                    </a:p>
                  </a:txBody>
                  <a:tcPr anchor="ctr">
                    <a:solidFill>
                      <a:schemeClr val="bg1">
                        <a:lumMod val="95000"/>
                      </a:schemeClr>
                    </a:solidFill>
                  </a:tcPr>
                </a:tc>
                <a:extLst>
                  <a:ext uri="{0D108BD9-81ED-4DB2-BD59-A6C34878D82A}">
                    <a16:rowId xmlns:a16="http://schemas.microsoft.com/office/drawing/2014/main" val="10002"/>
                  </a:ext>
                </a:extLst>
              </a:tr>
              <a:tr h="591640">
                <a:tc>
                  <a:txBody>
                    <a:bodyPr/>
                    <a:lstStyle/>
                    <a:p>
                      <a:pPr algn="l" fontAlgn="ctr">
                        <a:buNone/>
                      </a:pPr>
                      <a:r>
                        <a:rPr lang="en-IN" sz="1400" b="1" u="none" strike="noStrike" dirty="0">
                          <a:solidFill>
                            <a:schemeClr val="bg1"/>
                          </a:solidFill>
                          <a:effectLst/>
                        </a:rPr>
                        <a:t>Scalability</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algn="l" fontAlgn="ctr">
                        <a:buNone/>
                      </a:pPr>
                      <a:r>
                        <a:rPr lang="en-IN" sz="1400" b="0" u="none" strike="noStrike" dirty="0">
                          <a:solidFill>
                            <a:srgbClr val="000000"/>
                          </a:solidFill>
                          <a:effectLst/>
                        </a:rPr>
                        <a:t>Designed for large, data‑intensive, role‑based enterprise portals</a:t>
                      </a:r>
                      <a:endParaRPr lang="en-IN" sz="1400" b="0" i="0" u="none" strike="noStrike" dirty="0">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a:solidFill>
                            <a:srgbClr val="000000"/>
                          </a:solidFill>
                          <a:effectLst/>
                        </a:rPr>
                        <a:t>Scales, but performance tuning needed at scale</a:t>
                      </a:r>
                      <a:endParaRPr lang="en-US" sz="1400" b="0" i="0" u="none" strike="noStrike">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dirty="0">
                          <a:solidFill>
                            <a:srgbClr val="000000"/>
                          </a:solidFill>
                          <a:effectLst/>
                        </a:rPr>
                        <a:t>Scales well but requires heavier governance</a:t>
                      </a:r>
                      <a:endParaRPr lang="en-US" sz="1400" b="0" i="0" u="none" strike="noStrike" dirty="0">
                        <a:solidFill>
                          <a:srgbClr val="000000"/>
                        </a:solidFill>
                        <a:effectLst/>
                        <a:latin typeface="Lora" pitchFamily="2" charset="0"/>
                      </a:endParaRPr>
                    </a:p>
                  </a:txBody>
                  <a:tcPr anchor="ctr">
                    <a:solidFill>
                      <a:schemeClr val="bg1">
                        <a:lumMod val="95000"/>
                      </a:schemeClr>
                    </a:solidFill>
                  </a:tcPr>
                </a:tc>
                <a:extLst>
                  <a:ext uri="{0D108BD9-81ED-4DB2-BD59-A6C34878D82A}">
                    <a16:rowId xmlns:a16="http://schemas.microsoft.com/office/drawing/2014/main" val="10003"/>
                  </a:ext>
                </a:extLst>
              </a:tr>
              <a:tr h="591640">
                <a:tc>
                  <a:txBody>
                    <a:bodyPr/>
                    <a:lstStyle/>
                    <a:p>
                      <a:pPr algn="l" fontAlgn="ctr">
                        <a:buNone/>
                      </a:pPr>
                      <a:r>
                        <a:rPr lang="en-IN" sz="1400" b="1" u="none" strike="noStrike" dirty="0">
                          <a:solidFill>
                            <a:schemeClr val="bg1"/>
                          </a:solidFill>
                          <a:effectLst/>
                        </a:rPr>
                        <a:t>Development Speed</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algn="l" fontAlgn="ctr">
                        <a:buNone/>
                      </a:pPr>
                      <a:r>
                        <a:rPr lang="en-US" sz="1400" b="0" u="none" strike="noStrike">
                          <a:solidFill>
                            <a:srgbClr val="000000"/>
                          </a:solidFill>
                          <a:effectLst/>
                        </a:rPr>
                        <a:t>Opinionated framework → faster delivery, fewer design decisions</a:t>
                      </a:r>
                      <a:endParaRPr lang="en-US" sz="1400" b="0" i="0" u="none" strike="noStrike">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a:solidFill>
                            <a:srgbClr val="000000"/>
                          </a:solidFill>
                          <a:effectLst/>
                        </a:rPr>
                        <a:t>More freedom but higher engineering effort</a:t>
                      </a:r>
                      <a:endParaRPr lang="en-US" sz="1400" b="0" i="0" u="none" strike="noStrike">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IN" sz="1400" b="0" u="none" strike="noStrike">
                          <a:solidFill>
                            <a:srgbClr val="000000"/>
                          </a:solidFill>
                          <a:effectLst/>
                        </a:rPr>
                        <a:t>Steep learning curve &amp; boilerplate</a:t>
                      </a:r>
                      <a:endParaRPr lang="en-IN" sz="1400" b="0" i="0" u="none" strike="noStrike">
                        <a:solidFill>
                          <a:srgbClr val="000000"/>
                        </a:solidFill>
                        <a:effectLst/>
                        <a:latin typeface="Lora" pitchFamily="2" charset="0"/>
                      </a:endParaRPr>
                    </a:p>
                  </a:txBody>
                  <a:tcPr anchor="ctr">
                    <a:solidFill>
                      <a:schemeClr val="bg1">
                        <a:lumMod val="95000"/>
                      </a:schemeClr>
                    </a:solidFill>
                  </a:tcPr>
                </a:tc>
                <a:extLst>
                  <a:ext uri="{0D108BD9-81ED-4DB2-BD59-A6C34878D82A}">
                    <a16:rowId xmlns:a16="http://schemas.microsoft.com/office/drawing/2014/main" val="10004"/>
                  </a:ext>
                </a:extLst>
              </a:tr>
              <a:tr h="591640">
                <a:tc>
                  <a:txBody>
                    <a:bodyPr/>
                    <a:lstStyle/>
                    <a:p>
                      <a:pPr algn="l" fontAlgn="ctr">
                        <a:buNone/>
                      </a:pPr>
                      <a:r>
                        <a:rPr lang="en-IN" sz="1400" b="1" u="none" strike="noStrike" dirty="0">
                          <a:solidFill>
                            <a:schemeClr val="bg1"/>
                          </a:solidFill>
                          <a:effectLst/>
                        </a:rPr>
                        <a:t>Maintenance Effort</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algn="l" fontAlgn="ctr">
                        <a:buNone/>
                      </a:pPr>
                      <a:r>
                        <a:rPr lang="en-US" sz="1400" b="0" u="none" strike="noStrike">
                          <a:solidFill>
                            <a:srgbClr val="000000"/>
                          </a:solidFill>
                          <a:effectLst/>
                        </a:rPr>
                        <a:t>Lower due to convention‑based architecture</a:t>
                      </a:r>
                      <a:endParaRPr lang="en-US" sz="1400" b="0" i="0" u="none" strike="noStrike">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a:solidFill>
                            <a:srgbClr val="000000"/>
                          </a:solidFill>
                          <a:effectLst/>
                        </a:rPr>
                        <a:t>Higher due to custom patterns</a:t>
                      </a:r>
                      <a:endParaRPr lang="en-US" sz="1400" b="0" i="0" u="none" strike="noStrike">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a:solidFill>
                            <a:srgbClr val="000000"/>
                          </a:solidFill>
                          <a:effectLst/>
                        </a:rPr>
                        <a:t>Higher due to framework complexity</a:t>
                      </a:r>
                      <a:endParaRPr lang="en-US" sz="1400" b="0" i="0" u="none" strike="noStrike">
                        <a:solidFill>
                          <a:srgbClr val="000000"/>
                        </a:solidFill>
                        <a:effectLst/>
                        <a:latin typeface="Lora" pitchFamily="2" charset="0"/>
                      </a:endParaRPr>
                    </a:p>
                  </a:txBody>
                  <a:tcPr anchor="ctr">
                    <a:solidFill>
                      <a:schemeClr val="bg1">
                        <a:lumMod val="95000"/>
                      </a:schemeClr>
                    </a:solidFill>
                  </a:tcPr>
                </a:tc>
                <a:extLst>
                  <a:ext uri="{0D108BD9-81ED-4DB2-BD59-A6C34878D82A}">
                    <a16:rowId xmlns:a16="http://schemas.microsoft.com/office/drawing/2014/main" val="10005"/>
                  </a:ext>
                </a:extLst>
              </a:tr>
              <a:tr h="591640">
                <a:tc>
                  <a:txBody>
                    <a:bodyPr/>
                    <a:lstStyle/>
                    <a:p>
                      <a:pPr algn="l" fontAlgn="ctr">
                        <a:buNone/>
                      </a:pPr>
                      <a:r>
                        <a:rPr lang="en-IN" sz="1400" b="1" u="none" strike="noStrike" dirty="0">
                          <a:solidFill>
                            <a:schemeClr val="bg1"/>
                          </a:solidFill>
                          <a:effectLst/>
                        </a:rPr>
                        <a:t>Change Management</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algn="l" fontAlgn="ctr">
                        <a:buNone/>
                      </a:pPr>
                      <a:r>
                        <a:rPr lang="en-US" sz="1400" b="0" u="none" strike="noStrike">
                          <a:solidFill>
                            <a:srgbClr val="000000"/>
                          </a:solidFill>
                          <a:effectLst/>
                        </a:rPr>
                        <a:t>Easier incremental changes with minimal regression</a:t>
                      </a:r>
                      <a:endParaRPr lang="en-US" sz="1400" b="0" i="0" u="none" strike="noStrike">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a:solidFill>
                            <a:srgbClr val="000000"/>
                          </a:solidFill>
                          <a:effectLst/>
                        </a:rPr>
                        <a:t>Changes can impact overall SPA</a:t>
                      </a:r>
                      <a:endParaRPr lang="en-US" sz="1400" b="0" i="0" u="none" strike="noStrike">
                        <a:solidFill>
                          <a:srgbClr val="000000"/>
                        </a:solidFill>
                        <a:effectLst/>
                        <a:latin typeface="Lora" pitchFamily="2" charset="0"/>
                      </a:endParaRPr>
                    </a:p>
                  </a:txBody>
                  <a:tcPr anchor="ctr">
                    <a:solidFill>
                      <a:schemeClr val="bg1">
                        <a:lumMod val="95000"/>
                      </a:schemeClr>
                    </a:solidFill>
                  </a:tcPr>
                </a:tc>
                <a:tc>
                  <a:txBody>
                    <a:bodyPr/>
                    <a:lstStyle/>
                    <a:p>
                      <a:pPr algn="l" fontAlgn="ctr">
                        <a:buNone/>
                      </a:pPr>
                      <a:r>
                        <a:rPr lang="en-US" sz="1400" b="0" u="none" strike="noStrike" dirty="0">
                          <a:solidFill>
                            <a:srgbClr val="000000"/>
                          </a:solidFill>
                          <a:effectLst/>
                        </a:rPr>
                        <a:t>Changes often ripple across modules</a:t>
                      </a:r>
                      <a:endParaRPr lang="en-US" sz="1400" b="0" i="0" u="none" strike="noStrike" dirty="0">
                        <a:solidFill>
                          <a:srgbClr val="000000"/>
                        </a:solidFill>
                        <a:effectLst/>
                        <a:latin typeface="Lora" pitchFamily="2" charset="0"/>
                      </a:endParaRPr>
                    </a:p>
                  </a:txBody>
                  <a:tcPr anchor="ctr">
                    <a:solidFill>
                      <a:schemeClr val="bg1">
                        <a:lumMod val="95000"/>
                      </a:schemeClr>
                    </a:solidFill>
                  </a:tcPr>
                </a:tc>
                <a:extLst>
                  <a:ext uri="{0D108BD9-81ED-4DB2-BD59-A6C34878D82A}">
                    <a16:rowId xmlns:a16="http://schemas.microsoft.com/office/drawing/2014/main" val="10006"/>
                  </a:ext>
                </a:extLst>
              </a:tr>
            </a:tbl>
          </a:graphicData>
        </a:graphic>
      </p:graphicFrame>
      <p:sp>
        <p:nvSpPr>
          <p:cNvPr id="2" name="Rectangle 1"/>
          <p:cNvSpPr/>
          <p:nvPr/>
        </p:nvSpPr>
        <p:spPr>
          <a:xfrm>
            <a:off x="3070446" y="1073887"/>
            <a:ext cx="3190653" cy="5252485"/>
          </a:xfrm>
          <a:prstGeom prst="rect">
            <a:avLst/>
          </a:prstGeom>
          <a:no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lang="en-IN" sz="1865" b="0" i="0" u="none" strike="noStrike" kern="0" cap="none" spc="0" normalizeH="0" baseline="0" noProof="0">
              <a:ln>
                <a:noFill/>
              </a:ln>
              <a:solidFill>
                <a:prstClr val="white"/>
              </a:solidFill>
              <a:effectLst/>
              <a:uLnTx/>
              <a:uFillTx/>
              <a:latin typeface="Calibri"/>
              <a:ea typeface="+mn-ea"/>
              <a:cs typeface="+mn-cs"/>
              <a:sym typeface="Arial" panose="020B0604020202090204"/>
            </a:endParaRPr>
          </a:p>
        </p:txBody>
      </p:sp>
      <p:sp>
        <p:nvSpPr>
          <p:cNvPr id="4" name="TextBox 3"/>
          <p:cNvSpPr txBox="1"/>
          <p:nvPr/>
        </p:nvSpPr>
        <p:spPr>
          <a:xfrm>
            <a:off x="3123609" y="5869168"/>
            <a:ext cx="3052702" cy="3793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US" sz="1865" b="1" i="0" u="none" strike="noStrike" kern="0" cap="none" spc="0" normalizeH="0" baseline="0" noProof="0" dirty="0">
                <a:ln>
                  <a:noFill/>
                </a:ln>
                <a:solidFill>
                  <a:srgbClr val="000000"/>
                </a:solidFill>
                <a:effectLst/>
                <a:uLnTx/>
                <a:uFillTx/>
                <a:latin typeface="Arial" panose="020B0604020202090204"/>
                <a:cs typeface="Arial" panose="020B0604020202090204"/>
                <a:sym typeface="Arial" panose="020B0604020202090204"/>
              </a:rPr>
              <a:t>Proposed</a:t>
            </a:r>
            <a:endParaRPr kumimoji="0" lang="en-IN" sz="1865" b="1" i="0" u="none" strike="noStrike" kern="0" cap="none" spc="0" normalizeH="0" baseline="0" noProof="0" dirty="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b="1" dirty="0">
                <a:solidFill>
                  <a:srgbClr val="000000"/>
                </a:solidFill>
                <a:latin typeface="Outfit" pitchFamily="2" charset="0"/>
                <a:cs typeface="Arial" panose="020B0604020202090204"/>
              </a:rPr>
              <a:t>Technology Rationale - Backend</a:t>
            </a:r>
            <a:endParaRPr lang="en-IN" sz="3200" b="1" dirty="0">
              <a:solidFill>
                <a:srgbClr val="000000"/>
              </a:solidFill>
              <a:latin typeface="Outfit" pitchFamily="2" charset="0"/>
              <a:cs typeface="Arial" panose="020B0604020202090204"/>
            </a:endParaRPr>
          </a:p>
        </p:txBody>
      </p:sp>
      <p:graphicFrame>
        <p:nvGraphicFramePr>
          <p:cNvPr id="9" name="Table 8"/>
          <p:cNvGraphicFramePr>
            <a:graphicFrameLocks noGrp="1"/>
          </p:cNvGraphicFramePr>
          <p:nvPr>
            <p:extLst>
              <p:ext uri="{D42A27DB-BD31-4B8C-83A1-F6EECF244321}">
                <p14:modId xmlns:p14="http://schemas.microsoft.com/office/powerpoint/2010/main" val="815307257"/>
              </p:ext>
            </p:extLst>
          </p:nvPr>
        </p:nvGraphicFramePr>
        <p:xfrm>
          <a:off x="563245" y="1215390"/>
          <a:ext cx="11186160" cy="4883781"/>
        </p:xfrm>
        <a:graphic>
          <a:graphicData uri="http://schemas.openxmlformats.org/drawingml/2006/table">
            <a:tbl>
              <a:tblPr>
                <a:tableStyleId>{69CF1AB2-1976-4502-BF36-3FF5EA218861}</a:tableStyleId>
              </a:tblPr>
              <a:tblGrid>
                <a:gridCol w="3114826">
                  <a:extLst>
                    <a:ext uri="{9D8B030D-6E8A-4147-A177-3AD203B41FA5}">
                      <a16:colId xmlns:a16="http://schemas.microsoft.com/office/drawing/2014/main" val="20000"/>
                    </a:ext>
                  </a:extLst>
                </a:gridCol>
                <a:gridCol w="4500729">
                  <a:extLst>
                    <a:ext uri="{9D8B030D-6E8A-4147-A177-3AD203B41FA5}">
                      <a16:colId xmlns:a16="http://schemas.microsoft.com/office/drawing/2014/main" val="4227986450"/>
                    </a:ext>
                  </a:extLst>
                </a:gridCol>
                <a:gridCol w="3570605">
                  <a:extLst>
                    <a:ext uri="{9D8B030D-6E8A-4147-A177-3AD203B41FA5}">
                      <a16:colId xmlns:a16="http://schemas.microsoft.com/office/drawing/2014/main" val="20001"/>
                    </a:ext>
                  </a:extLst>
                </a:gridCol>
              </a:tblGrid>
              <a:tr h="449580">
                <a:tc>
                  <a:txBody>
                    <a:bodyPr/>
                    <a:lstStyle/>
                    <a:p>
                      <a:pPr algn="ctr" fontAlgn="ctr">
                        <a:buNone/>
                      </a:pPr>
                      <a:r>
                        <a:rPr lang="en-IN" sz="1400" b="1" u="none" strike="noStrike" dirty="0">
                          <a:solidFill>
                            <a:schemeClr val="bg1"/>
                          </a:solidFill>
                          <a:effectLst/>
                        </a:rPr>
                        <a:t>Evaluation Parameter</a:t>
                      </a:r>
                      <a:endParaRPr lang="en-IN" sz="1400" b="1" i="0" u="none" strike="noStrike" dirty="0">
                        <a:solidFill>
                          <a:schemeClr val="bg1"/>
                        </a:solidFill>
                        <a:effectLst/>
                        <a:latin typeface="Lora" pitchFamily="2" charset="0"/>
                      </a:endParaRPr>
                    </a:p>
                  </a:txBody>
                  <a:tcPr anchor="ctr">
                    <a:solidFill>
                      <a:srgbClr val="002060"/>
                    </a:solidFill>
                  </a:tcPr>
                </a:tc>
                <a:tc>
                  <a:txBody>
                    <a:bodyPr/>
                    <a:lstStyle/>
                    <a:p>
                      <a:pPr algn="ctr" fontAlgn="ctr">
                        <a:buNone/>
                      </a:pPr>
                      <a:r>
                        <a:rPr lang="en-US" altLang="en-IN" sz="1400" b="1" u="none" strike="noStrike" dirty="0" err="1">
                          <a:solidFill>
                            <a:schemeClr val="bg1"/>
                          </a:solidFill>
                          <a:effectLst/>
                        </a:rPr>
                        <a:t>Java Microservices</a:t>
                      </a:r>
                      <a:endParaRPr lang="en-US" altLang="en-IN" sz="1400" b="1" i="0" u="none" strike="noStrike" dirty="0" err="1">
                        <a:solidFill>
                          <a:schemeClr val="bg1"/>
                        </a:solidFill>
                        <a:effectLst/>
                        <a:latin typeface="Lora" pitchFamily="2" charset="0"/>
                      </a:endParaRPr>
                    </a:p>
                  </a:txBody>
                  <a:tcPr anchor="ctr">
                    <a:solidFill>
                      <a:srgbClr val="002060"/>
                    </a:solidFill>
                  </a:tcPr>
                </a:tc>
                <a:tc>
                  <a:txBody>
                    <a:bodyPr/>
                    <a:lstStyle/>
                    <a:p>
                      <a:pPr algn="ctr" fontAlgn="ctr">
                        <a:buNone/>
                      </a:pPr>
                      <a:r>
                        <a:rPr lang="en-US" altLang="en-IN" sz="1400" b="1" u="none" strike="noStrike" dirty="0">
                          <a:solidFill>
                            <a:schemeClr val="bg1"/>
                          </a:solidFill>
                          <a:effectLst/>
                        </a:rPr>
                        <a:t>.Net Core</a:t>
                      </a:r>
                      <a:endParaRPr lang="en-US" altLang="en-IN" sz="1400" b="1" i="0" u="none" strike="noStrike" dirty="0">
                        <a:solidFill>
                          <a:schemeClr val="bg1"/>
                        </a:solidFill>
                        <a:effectLst/>
                        <a:latin typeface="Lora" pitchFamily="2" charset="0"/>
                      </a:endParaRPr>
                    </a:p>
                  </a:txBody>
                  <a:tcPr anchor="ctr">
                    <a:solidFill>
                      <a:srgbClr val="002060"/>
                    </a:solidFill>
                  </a:tcPr>
                </a:tc>
                <a:extLst>
                  <a:ext uri="{0D108BD9-81ED-4DB2-BD59-A6C34878D82A}">
                    <a16:rowId xmlns:a16="http://schemas.microsoft.com/office/drawing/2014/main" val="10000"/>
                  </a:ext>
                </a:extLst>
              </a:tr>
              <a:tr h="885190">
                <a:tc>
                  <a:txBody>
                    <a:bodyPr/>
                    <a:lstStyle/>
                    <a:p>
                      <a:pPr algn="l" fontAlgn="ctr">
                        <a:buNone/>
                      </a:pPr>
                      <a:r>
                        <a:rPr lang="en-IN" sz="1400" b="1" u="none" strike="noStrike" dirty="0">
                          <a:solidFill>
                            <a:schemeClr val="bg1"/>
                          </a:solidFill>
                          <a:effectLst/>
                        </a:rPr>
                        <a:t>Performance</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marL="0" indent="0">
                        <a:lnSpc>
                          <a:spcPct val="100000"/>
                        </a:lnSpc>
                        <a:spcBef>
                          <a:spcPct val="0"/>
                        </a:spcBef>
                        <a:spcAft>
                          <a:spcPct val="0"/>
                        </a:spcAft>
                      </a:pPr>
                      <a:r>
                        <a:rPr lang="en-IN" sz="1400" dirty="0"/>
                        <a:t>Strong performance and proven stability for high-transaction systems; mature JVM with extensive tuning capabilities for large-scale workloads</a:t>
                      </a:r>
                      <a:endParaRPr lang="en-US" altLang="zh-CN" sz="1400" dirty="0"/>
                    </a:p>
                  </a:txBody>
                  <a:tcPr marL="63817" marR="63817" marT="13017" marB="13017" anchor="ctr">
                    <a:solidFill>
                      <a:schemeClr val="bg1">
                        <a:lumMod val="95000"/>
                      </a:schemeClr>
                    </a:solidFill>
                  </a:tcPr>
                </a:tc>
                <a:tc>
                  <a:txBody>
                    <a:bodyPr/>
                    <a:lstStyle/>
                    <a:p>
                      <a:pPr marL="0" indent="0">
                        <a:lnSpc>
                          <a:spcPct val="100000"/>
                        </a:lnSpc>
                        <a:spcBef>
                          <a:spcPct val="0"/>
                        </a:spcBef>
                        <a:spcAft>
                          <a:spcPct val="0"/>
                        </a:spcAft>
                      </a:pPr>
                      <a:r>
                        <a:rPr lang="en-IN" sz="1400" dirty="0"/>
                        <a:t>High-performance, lightweight runtime with optimized API processing and low-latency response times</a:t>
                      </a:r>
                      <a:endParaRPr lang="en-US" altLang="zh-CN" sz="1400" dirty="0"/>
                    </a:p>
                  </a:txBody>
                  <a:tcPr marL="63817" marR="63817" marT="13017" marB="13017" anchor="ctr">
                    <a:solidFill>
                      <a:schemeClr val="bg1">
                        <a:lumMod val="95000"/>
                      </a:schemeClr>
                    </a:solidFill>
                  </a:tcPr>
                </a:tc>
                <a:extLst>
                  <a:ext uri="{0D108BD9-81ED-4DB2-BD59-A6C34878D82A}">
                    <a16:rowId xmlns:a16="http://schemas.microsoft.com/office/drawing/2014/main" val="10001"/>
                  </a:ext>
                </a:extLst>
              </a:tr>
              <a:tr h="884555">
                <a:tc>
                  <a:txBody>
                    <a:bodyPr/>
                    <a:lstStyle/>
                    <a:p>
                      <a:pPr algn="l" fontAlgn="ctr">
                        <a:buNone/>
                      </a:pPr>
                      <a:r>
                        <a:rPr lang="en-IN" sz="1400" b="1" u="none" strike="noStrike" dirty="0">
                          <a:solidFill>
                            <a:schemeClr val="bg1"/>
                          </a:solidFill>
                          <a:effectLst/>
                        </a:rPr>
                        <a:t>Data Security</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marL="0" indent="0">
                        <a:lnSpc>
                          <a:spcPct val="100000"/>
                        </a:lnSpc>
                        <a:spcBef>
                          <a:spcPct val="0"/>
                        </a:spcBef>
                        <a:spcAft>
                          <a:spcPct val="0"/>
                        </a:spcAft>
                      </a:pPr>
                      <a:r>
                        <a:rPr lang="en-IN" sz="1400" dirty="0"/>
                        <a:t>Robust security frameworks such as Spring Security and OAuth2, with extensive enterprise adoption and flexible security controls</a:t>
                      </a:r>
                      <a:endParaRPr lang="en-US" altLang="zh-CN" sz="1400" dirty="0"/>
                    </a:p>
                  </a:txBody>
                  <a:tcPr marL="63817" marR="63817" marT="13017" marB="13017" anchor="ctr">
                    <a:solidFill>
                      <a:schemeClr val="bg1">
                        <a:lumMod val="95000"/>
                      </a:schemeClr>
                    </a:solidFill>
                  </a:tcPr>
                </a:tc>
                <a:tc>
                  <a:txBody>
                    <a:bodyPr/>
                    <a:lstStyle/>
                    <a:p>
                      <a:pPr marL="0" indent="0">
                        <a:lnSpc>
                          <a:spcPct val="100000"/>
                        </a:lnSpc>
                        <a:spcBef>
                          <a:spcPct val="0"/>
                        </a:spcBef>
                        <a:spcAft>
                          <a:spcPct val="0"/>
                        </a:spcAft>
                      </a:pPr>
                      <a:r>
                        <a:rPr lang="en-IN" sz="1400" dirty="0"/>
                        <a:t>Native support for OAuth2, JWT, Azure AD integration, and enterprise-grade security controls</a:t>
                      </a:r>
                      <a:endParaRPr lang="en-US" altLang="zh-CN" sz="1400" dirty="0"/>
                    </a:p>
                  </a:txBody>
                  <a:tcPr marL="63817" marR="63817" marT="13017" marB="13017" anchor="ctr">
                    <a:solidFill>
                      <a:schemeClr val="bg1">
                        <a:lumMod val="95000"/>
                      </a:schemeClr>
                    </a:solidFill>
                  </a:tcPr>
                </a:tc>
                <a:extLst>
                  <a:ext uri="{0D108BD9-81ED-4DB2-BD59-A6C34878D82A}">
                    <a16:rowId xmlns:a16="http://schemas.microsoft.com/office/drawing/2014/main" val="10002"/>
                  </a:ext>
                </a:extLst>
              </a:tr>
              <a:tr h="593725">
                <a:tc>
                  <a:txBody>
                    <a:bodyPr/>
                    <a:lstStyle/>
                    <a:p>
                      <a:pPr algn="l" fontAlgn="ctr">
                        <a:buNone/>
                      </a:pPr>
                      <a:r>
                        <a:rPr lang="en-IN" sz="1400" b="1" u="none" strike="noStrike" dirty="0">
                          <a:solidFill>
                            <a:schemeClr val="bg1"/>
                          </a:solidFill>
                          <a:effectLst/>
                        </a:rPr>
                        <a:t>Scalability</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marL="0" indent="0">
                        <a:lnSpc>
                          <a:spcPct val="100000"/>
                        </a:lnSpc>
                        <a:spcBef>
                          <a:spcPct val="0"/>
                        </a:spcBef>
                        <a:spcAft>
                          <a:spcPct val="0"/>
                        </a:spcAft>
                      </a:pPr>
                      <a:r>
                        <a:rPr lang="en-IN" sz="1400" dirty="0"/>
                        <a:t>Highly scalable distributed architecture with Spring Boot and Kubernetes support; proven for large-scale enterprise deployments</a:t>
                      </a:r>
                      <a:endParaRPr lang="en-US" altLang="zh-CN" sz="1400" dirty="0"/>
                    </a:p>
                  </a:txBody>
                  <a:tcPr marL="63817" marR="63817" marT="13017" marB="13017" anchor="ctr">
                    <a:solidFill>
                      <a:schemeClr val="bg1">
                        <a:lumMod val="95000"/>
                      </a:schemeClr>
                    </a:solidFill>
                  </a:tcPr>
                </a:tc>
                <a:tc>
                  <a:txBody>
                    <a:bodyPr/>
                    <a:lstStyle/>
                    <a:p>
                      <a:pPr marL="0" indent="0">
                        <a:lnSpc>
                          <a:spcPct val="100000"/>
                        </a:lnSpc>
                        <a:spcBef>
                          <a:spcPct val="0"/>
                        </a:spcBef>
                        <a:spcAft>
                          <a:spcPct val="0"/>
                        </a:spcAft>
                      </a:pPr>
                      <a:r>
                        <a:rPr lang="en-IN" sz="1400" dirty="0"/>
                        <a:t>Cloud-native architecture with seamless horizontal scaling and container orchestration support</a:t>
                      </a:r>
                      <a:endParaRPr lang="en-US" altLang="zh-CN" sz="1400" dirty="0"/>
                    </a:p>
                  </a:txBody>
                  <a:tcPr marL="63817" marR="63817" marT="13017" marB="13017" anchor="ctr">
                    <a:solidFill>
                      <a:schemeClr val="bg1">
                        <a:lumMod val="95000"/>
                      </a:schemeClr>
                    </a:solidFill>
                  </a:tcPr>
                </a:tc>
                <a:extLst>
                  <a:ext uri="{0D108BD9-81ED-4DB2-BD59-A6C34878D82A}">
                    <a16:rowId xmlns:a16="http://schemas.microsoft.com/office/drawing/2014/main" val="10003"/>
                  </a:ext>
                </a:extLst>
              </a:tr>
              <a:tr h="594360">
                <a:tc>
                  <a:txBody>
                    <a:bodyPr/>
                    <a:lstStyle/>
                    <a:p>
                      <a:pPr algn="l" fontAlgn="ctr">
                        <a:buNone/>
                      </a:pPr>
                      <a:r>
                        <a:rPr lang="en-IN" sz="1400" b="1" u="none" strike="noStrike" dirty="0">
                          <a:solidFill>
                            <a:schemeClr val="bg1"/>
                          </a:solidFill>
                          <a:effectLst/>
                        </a:rPr>
                        <a:t>Development Speed</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marL="0" indent="0">
                        <a:lnSpc>
                          <a:spcPct val="100000"/>
                        </a:lnSpc>
                        <a:spcBef>
                          <a:spcPct val="0"/>
                        </a:spcBef>
                        <a:spcAft>
                          <a:spcPct val="0"/>
                        </a:spcAft>
                      </a:pPr>
                      <a:r>
                        <a:rPr lang="en-IN" sz="1400" dirty="0"/>
                        <a:t>Faster development with Spring Boot, mature libraries, extensive reusable components, and a large developer ecosystem</a:t>
                      </a:r>
                      <a:endParaRPr lang="en-US" altLang="zh-CN" sz="1400" dirty="0"/>
                    </a:p>
                  </a:txBody>
                  <a:tcPr marL="63817" marR="63817" marT="13017" marB="13017" anchor="ctr">
                    <a:solidFill>
                      <a:schemeClr val="bg1">
                        <a:lumMod val="95000"/>
                      </a:schemeClr>
                    </a:solidFill>
                  </a:tcPr>
                </a:tc>
                <a:tc>
                  <a:txBody>
                    <a:bodyPr/>
                    <a:lstStyle/>
                    <a:p>
                      <a:pPr marL="0" indent="0">
                        <a:lnSpc>
                          <a:spcPct val="100000"/>
                        </a:lnSpc>
                        <a:spcBef>
                          <a:spcPct val="0"/>
                        </a:spcBef>
                        <a:spcAft>
                          <a:spcPct val="0"/>
                        </a:spcAft>
                      </a:pPr>
                      <a:r>
                        <a:rPr lang="en-IN" sz="1400" dirty="0"/>
                        <a:t>Rapid development with unified tooling, minimal boilerplate, and strong IDE support</a:t>
                      </a:r>
                      <a:endParaRPr lang="en-US" altLang="zh-CN" sz="1400" dirty="0"/>
                    </a:p>
                  </a:txBody>
                  <a:tcPr marL="63817" marR="63817" marT="13017" marB="13017" anchor="ctr">
                    <a:solidFill>
                      <a:schemeClr val="bg1">
                        <a:lumMod val="95000"/>
                      </a:schemeClr>
                    </a:solidFill>
                  </a:tcPr>
                </a:tc>
                <a:extLst>
                  <a:ext uri="{0D108BD9-81ED-4DB2-BD59-A6C34878D82A}">
                    <a16:rowId xmlns:a16="http://schemas.microsoft.com/office/drawing/2014/main" val="10004"/>
                  </a:ext>
                </a:extLst>
              </a:tr>
              <a:tr h="594360">
                <a:tc>
                  <a:txBody>
                    <a:bodyPr/>
                    <a:lstStyle/>
                    <a:p>
                      <a:pPr algn="l" fontAlgn="ctr">
                        <a:buNone/>
                      </a:pPr>
                      <a:r>
                        <a:rPr lang="en-IN" sz="1400" b="1" u="none" strike="noStrike" dirty="0">
                          <a:solidFill>
                            <a:schemeClr val="bg1"/>
                          </a:solidFill>
                          <a:effectLst/>
                        </a:rPr>
                        <a:t>Maintenance Effort</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marL="0" indent="0">
                        <a:lnSpc>
                          <a:spcPct val="100000"/>
                        </a:lnSpc>
                        <a:spcBef>
                          <a:spcPct val="0"/>
                        </a:spcBef>
                        <a:spcAft>
                          <a:spcPct val="0"/>
                        </a:spcAft>
                      </a:pPr>
                      <a:r>
                        <a:rPr lang="en-IN" sz="1400" dirty="0"/>
                        <a:t>Lower maintenance effort through a mature ecosystem, standardized frameworks, LTS support, and strong community support</a:t>
                      </a:r>
                      <a:endParaRPr lang="en-US" altLang="zh-CN" sz="1400" dirty="0"/>
                    </a:p>
                  </a:txBody>
                  <a:tcPr marL="63817" marR="63817" marT="13017" marB="13017" anchor="ctr">
                    <a:solidFill>
                      <a:schemeClr val="bg1">
                        <a:lumMod val="95000"/>
                      </a:schemeClr>
                    </a:solidFill>
                  </a:tcPr>
                </a:tc>
                <a:tc>
                  <a:txBody>
                    <a:bodyPr/>
                    <a:lstStyle/>
                    <a:p>
                      <a:pPr marL="0" indent="0">
                        <a:lnSpc>
                          <a:spcPct val="100000"/>
                        </a:lnSpc>
                        <a:spcBef>
                          <a:spcPct val="0"/>
                        </a:spcBef>
                        <a:spcAft>
                          <a:spcPct val="0"/>
                        </a:spcAft>
                      </a:pPr>
                      <a:r>
                        <a:rPr lang="en-IN" sz="1400" dirty="0"/>
                        <a:t>Lower maintenance through standardized architecture, centralized logging, and Microsoft ecosystem support</a:t>
                      </a:r>
                      <a:endParaRPr lang="en-US" altLang="zh-CN" sz="1400" dirty="0"/>
                    </a:p>
                  </a:txBody>
                  <a:tcPr marL="63817" marR="63817" marT="13017" marB="13017" anchor="ctr">
                    <a:solidFill>
                      <a:schemeClr val="bg1">
                        <a:lumMod val="95000"/>
                      </a:schemeClr>
                    </a:solidFill>
                  </a:tcPr>
                </a:tc>
                <a:extLst>
                  <a:ext uri="{0D108BD9-81ED-4DB2-BD59-A6C34878D82A}">
                    <a16:rowId xmlns:a16="http://schemas.microsoft.com/office/drawing/2014/main" val="10005"/>
                  </a:ext>
                </a:extLst>
              </a:tr>
              <a:tr h="594360">
                <a:tc>
                  <a:txBody>
                    <a:bodyPr/>
                    <a:lstStyle/>
                    <a:p>
                      <a:pPr algn="l" fontAlgn="ctr">
                        <a:buNone/>
                      </a:pPr>
                      <a:r>
                        <a:rPr lang="en-IN" sz="1400" b="1" u="none" strike="noStrike" dirty="0">
                          <a:solidFill>
                            <a:schemeClr val="bg1"/>
                          </a:solidFill>
                          <a:effectLst/>
                        </a:rPr>
                        <a:t>Change Management</a:t>
                      </a:r>
                      <a:endParaRPr lang="en-IN" sz="1400" b="0" i="0" u="none" strike="noStrike" dirty="0">
                        <a:solidFill>
                          <a:schemeClr val="bg1"/>
                        </a:solidFill>
                        <a:effectLst/>
                        <a:latin typeface="Lora" pitchFamily="2" charset="0"/>
                      </a:endParaRPr>
                    </a:p>
                  </a:txBody>
                  <a:tcPr anchor="ctr">
                    <a:solidFill>
                      <a:srgbClr val="002060"/>
                    </a:solidFill>
                  </a:tcPr>
                </a:tc>
                <a:tc>
                  <a:txBody>
                    <a:bodyPr/>
                    <a:lstStyle/>
                    <a:p>
                      <a:pPr marL="0" indent="0">
                        <a:lnSpc>
                          <a:spcPct val="100000"/>
                        </a:lnSpc>
                        <a:spcBef>
                          <a:spcPct val="0"/>
                        </a:spcBef>
                        <a:spcAft>
                          <a:spcPct val="0"/>
                        </a:spcAft>
                      </a:pPr>
                      <a:r>
                        <a:rPr lang="en-IN" sz="1400" dirty="0"/>
                        <a:t>Easier change management through modular microservices, well-defined service boundaries, automated testing, and mature</a:t>
                      </a:r>
                      <a:endParaRPr lang="en-US" altLang="zh-CN" sz="1400" dirty="0"/>
                    </a:p>
                  </a:txBody>
                  <a:tcPr marL="63817" marR="63817" marT="13017" marB="13017" anchor="ctr">
                    <a:solidFill>
                      <a:schemeClr val="bg1">
                        <a:lumMod val="95000"/>
                      </a:schemeClr>
                    </a:solidFill>
                  </a:tcPr>
                </a:tc>
                <a:tc>
                  <a:txBody>
                    <a:bodyPr/>
                    <a:lstStyle/>
                    <a:p>
                      <a:pPr marL="0" indent="0">
                        <a:lnSpc>
                          <a:spcPct val="100000"/>
                        </a:lnSpc>
                        <a:spcBef>
                          <a:spcPct val="0"/>
                        </a:spcBef>
                        <a:spcAft>
                          <a:spcPct val="0"/>
                        </a:spcAft>
                      </a:pPr>
                      <a:r>
                        <a:rPr lang="en-IN" sz="1400" dirty="0"/>
                        <a:t>Modular architecture enables easier incremental changes with minimal regression</a:t>
                      </a:r>
                      <a:endParaRPr lang="en-US" altLang="zh-CN" sz="1400" dirty="0"/>
                    </a:p>
                  </a:txBody>
                  <a:tcPr marL="63817" marR="63817" marT="13017" marB="13017" anchor="ctr">
                    <a:solidFill>
                      <a:schemeClr val="bg1">
                        <a:lumMod val="95000"/>
                      </a:schemeClr>
                    </a:solidFill>
                  </a:tcPr>
                </a:tc>
                <a:extLst>
                  <a:ext uri="{0D108BD9-81ED-4DB2-BD59-A6C34878D82A}">
                    <a16:rowId xmlns:a16="http://schemas.microsoft.com/office/drawing/2014/main" val="10006"/>
                  </a:ext>
                </a:extLst>
              </a:tr>
            </a:tbl>
          </a:graphicData>
        </a:graphic>
      </p:graphicFrame>
      <p:sp>
        <p:nvSpPr>
          <p:cNvPr id="2" name="Rectangle 1"/>
          <p:cNvSpPr/>
          <p:nvPr/>
        </p:nvSpPr>
        <p:spPr>
          <a:xfrm>
            <a:off x="3669665" y="1073785"/>
            <a:ext cx="4521200" cy="5402556"/>
          </a:xfrm>
          <a:prstGeom prst="rect">
            <a:avLst/>
          </a:prstGeom>
          <a:no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lang="en-IN" sz="1865" b="0" i="0" u="none" strike="noStrike" kern="0" cap="none" spc="0" normalizeH="0" baseline="0" noProof="0">
              <a:ln>
                <a:noFill/>
              </a:ln>
              <a:solidFill>
                <a:prstClr val="white"/>
              </a:solidFill>
              <a:effectLst/>
              <a:uLnTx/>
              <a:uFillTx/>
              <a:latin typeface="Calibri"/>
              <a:ea typeface="+mn-ea"/>
              <a:cs typeface="+mn-cs"/>
              <a:sym typeface="Arial" panose="020B0604020202090204"/>
            </a:endParaRPr>
          </a:p>
        </p:txBody>
      </p:sp>
      <p:sp>
        <p:nvSpPr>
          <p:cNvPr id="4" name="TextBox 3"/>
          <p:cNvSpPr txBox="1"/>
          <p:nvPr/>
        </p:nvSpPr>
        <p:spPr>
          <a:xfrm>
            <a:off x="3700145" y="6081395"/>
            <a:ext cx="4462780" cy="3784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US" sz="1865" b="1" i="0" u="none" strike="noStrike" kern="0" cap="none" spc="0" normalizeH="0" baseline="0" noProof="0" dirty="0">
                <a:ln>
                  <a:noFill/>
                </a:ln>
                <a:solidFill>
                  <a:srgbClr val="000000"/>
                </a:solidFill>
                <a:effectLst/>
                <a:uLnTx/>
                <a:uFillTx/>
                <a:latin typeface="Arial" panose="020B0604020202090204"/>
                <a:cs typeface="Arial" panose="020B0604020202090204"/>
                <a:sym typeface="Arial" panose="020B0604020202090204"/>
              </a:rPr>
              <a:t>Proposed</a:t>
            </a:r>
            <a:endParaRPr kumimoji="0" lang="en-IN" sz="1865" b="1" i="0" u="none" strike="noStrike" kern="0" cap="none" spc="0" normalizeH="0" baseline="0" noProof="0" dirty="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b="1" dirty="0">
                <a:solidFill>
                  <a:srgbClr val="000000"/>
                </a:solidFill>
                <a:latin typeface="Outfit" pitchFamily="2" charset="0"/>
                <a:cs typeface="Arial" panose="020B0604020202090204"/>
              </a:rPr>
              <a:t>Technology Rationale - Database </a:t>
            </a:r>
            <a:endParaRPr lang="en-IN" sz="3200" b="1" dirty="0">
              <a:solidFill>
                <a:srgbClr val="000000"/>
              </a:solidFill>
              <a:latin typeface="Outfit" pitchFamily="2" charset="0"/>
              <a:cs typeface="Arial" panose="020B0604020202090204"/>
            </a:endParaRPr>
          </a:p>
        </p:txBody>
      </p:sp>
      <p:graphicFrame>
        <p:nvGraphicFramePr>
          <p:cNvPr id="2" name="Table 1"/>
          <p:cNvGraphicFramePr>
            <a:graphicFrameLocks noGrp="1"/>
          </p:cNvGraphicFramePr>
          <p:nvPr/>
        </p:nvGraphicFramePr>
        <p:xfrm>
          <a:off x="542259" y="1188208"/>
          <a:ext cx="11164831" cy="3758292"/>
        </p:xfrm>
        <a:graphic>
          <a:graphicData uri="http://schemas.openxmlformats.org/drawingml/2006/table">
            <a:tbl>
              <a:tblPr>
                <a:tableStyleId>{69CF1AB2-1976-4502-BF36-3FF5EA218861}</a:tableStyleId>
              </a:tblPr>
              <a:tblGrid>
                <a:gridCol w="2424750">
                  <a:extLst>
                    <a:ext uri="{9D8B030D-6E8A-4147-A177-3AD203B41FA5}">
                      <a16:colId xmlns:a16="http://schemas.microsoft.com/office/drawing/2014/main" val="20000"/>
                    </a:ext>
                  </a:extLst>
                </a:gridCol>
                <a:gridCol w="3045864">
                  <a:extLst>
                    <a:ext uri="{9D8B030D-6E8A-4147-A177-3AD203B41FA5}">
                      <a16:colId xmlns:a16="http://schemas.microsoft.com/office/drawing/2014/main" val="20001"/>
                    </a:ext>
                  </a:extLst>
                </a:gridCol>
                <a:gridCol w="2770909">
                  <a:extLst>
                    <a:ext uri="{9D8B030D-6E8A-4147-A177-3AD203B41FA5}">
                      <a16:colId xmlns:a16="http://schemas.microsoft.com/office/drawing/2014/main" val="20002"/>
                    </a:ext>
                  </a:extLst>
                </a:gridCol>
                <a:gridCol w="2923308">
                  <a:extLst>
                    <a:ext uri="{9D8B030D-6E8A-4147-A177-3AD203B41FA5}">
                      <a16:colId xmlns:a16="http://schemas.microsoft.com/office/drawing/2014/main" val="20003"/>
                    </a:ext>
                  </a:extLst>
                </a:gridCol>
              </a:tblGrid>
              <a:tr h="391489">
                <a:tc>
                  <a:txBody>
                    <a:bodyPr/>
                    <a:lstStyle/>
                    <a:p>
                      <a:pPr algn="ctr" fontAlgn="ctr">
                        <a:buNone/>
                      </a:pPr>
                      <a:r>
                        <a:rPr lang="en-IN" sz="1400" b="1" u="none" strike="noStrike" dirty="0">
                          <a:solidFill>
                            <a:schemeClr val="bg1"/>
                          </a:solidFill>
                          <a:effectLst/>
                        </a:rPr>
                        <a:t>Evaluation Parameter</a:t>
                      </a:r>
                      <a:endParaRPr lang="en-IN" sz="1400" b="1" i="0" u="none" strike="noStrike" dirty="0">
                        <a:solidFill>
                          <a:schemeClr val="bg1"/>
                        </a:solidFill>
                        <a:effectLst/>
                        <a:latin typeface="Lora" pitchFamily="2" charset="0"/>
                      </a:endParaRPr>
                    </a:p>
                  </a:txBody>
                  <a:tcPr anchor="ctr">
                    <a:solidFill>
                      <a:srgbClr val="002060"/>
                    </a:solidFill>
                  </a:tcPr>
                </a:tc>
                <a:tc>
                  <a:txBody>
                    <a:bodyPr/>
                    <a:lstStyle/>
                    <a:p>
                      <a:pPr algn="ctr" fontAlgn="ctr">
                        <a:buNone/>
                      </a:pPr>
                      <a:r>
                        <a:rPr lang="en-IN" sz="1400" b="1" u="none" strike="noStrike" dirty="0">
                          <a:solidFill>
                            <a:schemeClr val="bg1"/>
                          </a:solidFill>
                          <a:effectLst/>
                        </a:rPr>
                        <a:t>Oracle</a:t>
                      </a:r>
                      <a:endParaRPr lang="en-IN" sz="1400" b="1" i="0" u="none" strike="noStrike" dirty="0">
                        <a:solidFill>
                          <a:schemeClr val="bg1"/>
                        </a:solidFill>
                        <a:effectLst/>
                        <a:latin typeface="Lora" pitchFamily="2" charset="0"/>
                      </a:endParaRPr>
                    </a:p>
                  </a:txBody>
                  <a:tcPr anchor="ctr">
                    <a:solidFill>
                      <a:srgbClr val="002060"/>
                    </a:solidFill>
                  </a:tcPr>
                </a:tc>
                <a:tc>
                  <a:txBody>
                    <a:bodyPr/>
                    <a:lstStyle/>
                    <a:p>
                      <a:pPr algn="ctr" fontAlgn="ctr">
                        <a:buNone/>
                      </a:pPr>
                      <a:r>
                        <a:rPr lang="en-IN" sz="1400" b="1" u="none" strike="noStrike" dirty="0">
                          <a:solidFill>
                            <a:schemeClr val="bg1"/>
                          </a:solidFill>
                          <a:effectLst/>
                        </a:rPr>
                        <a:t>PostgreSQL</a:t>
                      </a:r>
                      <a:endParaRPr lang="en-IN" sz="1400" b="1" i="0" u="none" strike="noStrike" dirty="0">
                        <a:solidFill>
                          <a:schemeClr val="bg1"/>
                        </a:solidFill>
                        <a:effectLst/>
                        <a:latin typeface="Lora" pitchFamily="2" charset="0"/>
                      </a:endParaRPr>
                    </a:p>
                  </a:txBody>
                  <a:tcPr anchor="ctr">
                    <a:solidFill>
                      <a:srgbClr val="002060"/>
                    </a:solidFill>
                  </a:tcPr>
                </a:tc>
                <a:tc>
                  <a:txBody>
                    <a:bodyPr/>
                    <a:lstStyle/>
                    <a:p>
                      <a:pPr algn="ctr" fontAlgn="ctr">
                        <a:buNone/>
                      </a:pPr>
                      <a:r>
                        <a:rPr lang="en-IN" sz="1400" b="1" u="none" strike="noStrike" dirty="0">
                          <a:solidFill>
                            <a:schemeClr val="bg1"/>
                          </a:solidFill>
                          <a:effectLst/>
                        </a:rPr>
                        <a:t>SQL Server</a:t>
                      </a:r>
                      <a:endParaRPr lang="en-IN" sz="1400" b="1" i="0" u="none" strike="noStrike" dirty="0">
                        <a:solidFill>
                          <a:schemeClr val="bg1"/>
                        </a:solidFill>
                        <a:effectLst/>
                        <a:latin typeface="Lora" pitchFamily="2" charset="0"/>
                      </a:endParaRPr>
                    </a:p>
                  </a:txBody>
                  <a:tcPr anchor="ctr">
                    <a:solidFill>
                      <a:srgbClr val="002060"/>
                    </a:solidFill>
                  </a:tcPr>
                </a:tc>
                <a:extLst>
                  <a:ext uri="{0D108BD9-81ED-4DB2-BD59-A6C34878D82A}">
                    <a16:rowId xmlns:a16="http://schemas.microsoft.com/office/drawing/2014/main" val="10000"/>
                  </a:ext>
                </a:extLst>
              </a:tr>
              <a:tr h="548084">
                <a:tc>
                  <a:txBody>
                    <a:bodyPr/>
                    <a:lstStyle/>
                    <a:p>
                      <a:pPr algn="l" fontAlgn="ctr">
                        <a:buNone/>
                      </a:pPr>
                      <a:r>
                        <a:rPr lang="en-IN" sz="1400" b="0" i="0" u="none" strike="noStrike" dirty="0">
                          <a:solidFill>
                            <a:schemeClr val="bg1"/>
                          </a:solidFill>
                          <a:effectLst/>
                          <a:latin typeface="+mn-lt"/>
                        </a:rPr>
                        <a:t>Performance at Scale</a:t>
                      </a:r>
                    </a:p>
                  </a:txBody>
                  <a:tcPr anchor="ctr">
                    <a:solidFill>
                      <a:srgbClr val="002060"/>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Excellent for very large, mission‑critical workloads</a:t>
                      </a:r>
                    </a:p>
                  </a:txBody>
                  <a:tcPr anchor="ctr">
                    <a:solidFill>
                      <a:schemeClr val="bg1">
                        <a:lumMod val="95000"/>
                      </a:schemeClr>
                    </a:solidFill>
                  </a:tcPr>
                </a:tc>
                <a:tc>
                  <a:txBody>
                    <a:bodyPr/>
                    <a:lstStyle/>
                    <a:p>
                      <a:pPr algn="l" fontAlgn="ctr">
                        <a:buNone/>
                      </a:pPr>
                      <a:r>
                        <a:rPr lang="en-US" sz="1100" b="0" i="0" u="none" strike="noStrike">
                          <a:solidFill>
                            <a:srgbClr val="000000"/>
                          </a:solidFill>
                          <a:effectLst/>
                          <a:latin typeface="Segoe UI" panose="020B0502040204020203" pitchFamily="34" charset="0"/>
                        </a:rPr>
                        <a:t>Very strong performance with efficient scaling</a:t>
                      </a:r>
                    </a:p>
                  </a:txBody>
                  <a:tcPr anchor="ctr">
                    <a:solidFill>
                      <a:schemeClr val="bg1">
                        <a:lumMod val="95000"/>
                      </a:schemeClr>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Strong, especially in Microsoft environments</a:t>
                      </a:r>
                    </a:p>
                  </a:txBody>
                  <a:tcPr anchor="ctr">
                    <a:solidFill>
                      <a:schemeClr val="bg1">
                        <a:lumMod val="95000"/>
                      </a:schemeClr>
                    </a:solidFill>
                  </a:tcPr>
                </a:tc>
                <a:extLst>
                  <a:ext uri="{0D108BD9-81ED-4DB2-BD59-A6C34878D82A}">
                    <a16:rowId xmlns:a16="http://schemas.microsoft.com/office/drawing/2014/main" val="10001"/>
                  </a:ext>
                </a:extLst>
              </a:tr>
              <a:tr h="548084">
                <a:tc>
                  <a:txBody>
                    <a:bodyPr/>
                    <a:lstStyle/>
                    <a:p>
                      <a:pPr algn="l" fontAlgn="ctr">
                        <a:buNone/>
                      </a:pPr>
                      <a:r>
                        <a:rPr lang="en-IN" sz="1400" b="0" i="0" u="none" strike="noStrike" dirty="0">
                          <a:solidFill>
                            <a:schemeClr val="bg1"/>
                          </a:solidFill>
                          <a:effectLst/>
                          <a:latin typeface="+mn-lt"/>
                        </a:rPr>
                        <a:t>Security &amp; Compliance</a:t>
                      </a:r>
                    </a:p>
                  </a:txBody>
                  <a:tcPr anchor="ctr">
                    <a:solidFill>
                      <a:srgbClr val="002060"/>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Industry‑leading enterprise security and compliance</a:t>
                      </a:r>
                    </a:p>
                  </a:txBody>
                  <a:tcPr anchor="ctr">
                    <a:solidFill>
                      <a:schemeClr val="bg1">
                        <a:lumMod val="95000"/>
                      </a:schemeClr>
                    </a:solidFill>
                  </a:tcPr>
                </a:tc>
                <a:tc>
                  <a:txBody>
                    <a:bodyPr/>
                    <a:lstStyle/>
                    <a:p>
                      <a:pPr algn="l" fontAlgn="ctr">
                        <a:buNone/>
                      </a:pPr>
                      <a:r>
                        <a:rPr lang="en-US" sz="1100" b="0" i="0" u="none" strike="noStrike">
                          <a:solidFill>
                            <a:srgbClr val="000000"/>
                          </a:solidFill>
                          <a:effectLst/>
                          <a:latin typeface="Segoe UI" panose="020B0502040204020203" pitchFamily="34" charset="0"/>
                        </a:rPr>
                        <a:t>Enterprise‑grade security; widely used in regulated sectors</a:t>
                      </a:r>
                    </a:p>
                  </a:txBody>
                  <a:tcPr anchor="ctr">
                    <a:solidFill>
                      <a:schemeClr val="bg1">
                        <a:lumMod val="95000"/>
                      </a:schemeClr>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Strong security, some features edition‑dependent</a:t>
                      </a:r>
                    </a:p>
                  </a:txBody>
                  <a:tcPr anchor="ctr">
                    <a:solidFill>
                      <a:schemeClr val="bg1">
                        <a:lumMod val="95000"/>
                      </a:schemeClr>
                    </a:solidFill>
                  </a:tcPr>
                </a:tc>
                <a:extLst>
                  <a:ext uri="{0D108BD9-81ED-4DB2-BD59-A6C34878D82A}">
                    <a16:rowId xmlns:a16="http://schemas.microsoft.com/office/drawing/2014/main" val="10002"/>
                  </a:ext>
                </a:extLst>
              </a:tr>
              <a:tr h="391489">
                <a:tc>
                  <a:txBody>
                    <a:bodyPr/>
                    <a:lstStyle/>
                    <a:p>
                      <a:pPr algn="l" fontAlgn="ctr">
                        <a:buNone/>
                      </a:pPr>
                      <a:r>
                        <a:rPr lang="en-IN" sz="1400" b="0" i="0" u="none" strike="noStrike" dirty="0">
                          <a:solidFill>
                            <a:schemeClr val="bg1"/>
                          </a:solidFill>
                          <a:effectLst/>
                          <a:latin typeface="+mn-lt"/>
                        </a:rPr>
                        <a:t>Security Patch Updates</a:t>
                      </a:r>
                    </a:p>
                  </a:txBody>
                  <a:tcPr anchor="ctr">
                    <a:solidFill>
                      <a:srgbClr val="002060"/>
                    </a:solidFill>
                  </a:tcPr>
                </a:tc>
                <a:tc>
                  <a:txBody>
                    <a:bodyPr/>
                    <a:lstStyle/>
                    <a:p>
                      <a:pPr algn="l" fontAlgn="ctr">
                        <a:buNone/>
                      </a:pPr>
                      <a:r>
                        <a:rPr lang="en-IN" sz="1100" b="0" i="0" u="none" strike="noStrike" dirty="0">
                          <a:solidFill>
                            <a:srgbClr val="000000"/>
                          </a:solidFill>
                          <a:effectLst/>
                          <a:latin typeface="Segoe UI" panose="020B0502040204020203" pitchFamily="34" charset="0"/>
                        </a:rPr>
                        <a:t>Predictable, quarterly release cycle</a:t>
                      </a:r>
                    </a:p>
                  </a:txBody>
                  <a:tcPr anchor="ctr">
                    <a:solidFill>
                      <a:schemeClr val="bg1">
                        <a:lumMod val="95000"/>
                      </a:schemeClr>
                    </a:solidFill>
                  </a:tcPr>
                </a:tc>
                <a:tc>
                  <a:txBody>
                    <a:bodyPr/>
                    <a:lstStyle/>
                    <a:p>
                      <a:pPr algn="l" fontAlgn="ctr">
                        <a:buNone/>
                      </a:pPr>
                      <a:r>
                        <a:rPr lang="en-IN" sz="1100" b="0" i="0" u="none" strike="noStrike" dirty="0">
                          <a:solidFill>
                            <a:srgbClr val="000000"/>
                          </a:solidFill>
                          <a:effectLst/>
                          <a:latin typeface="Segoe UI" panose="020B0502040204020203" pitchFamily="34" charset="0"/>
                        </a:rPr>
                        <a:t>Faster, frequent vulnerability fixes</a:t>
                      </a:r>
                    </a:p>
                  </a:txBody>
                  <a:tcPr anchor="ctr">
                    <a:solidFill>
                      <a:schemeClr val="bg1">
                        <a:lumMod val="95000"/>
                      </a:schemeClr>
                    </a:solidFill>
                  </a:tcPr>
                </a:tc>
                <a:tc>
                  <a:txBody>
                    <a:bodyPr/>
                    <a:lstStyle/>
                    <a:p>
                      <a:pPr algn="l" fontAlgn="ctr">
                        <a:buNone/>
                      </a:pPr>
                      <a:r>
                        <a:rPr lang="en-IN" sz="1100" b="0" i="0" u="none" strike="noStrike" dirty="0">
                          <a:solidFill>
                            <a:srgbClr val="000000"/>
                          </a:solidFill>
                          <a:effectLst/>
                          <a:latin typeface="Segoe UI" panose="020B0502040204020203" pitchFamily="34" charset="0"/>
                        </a:rPr>
                        <a:t>Predictable, Microsoft‑managed cycle</a:t>
                      </a:r>
                    </a:p>
                  </a:txBody>
                  <a:tcPr anchor="ctr">
                    <a:solidFill>
                      <a:schemeClr val="bg1">
                        <a:lumMod val="95000"/>
                      </a:schemeClr>
                    </a:solidFill>
                  </a:tcPr>
                </a:tc>
                <a:extLst>
                  <a:ext uri="{0D108BD9-81ED-4DB2-BD59-A6C34878D82A}">
                    <a16:rowId xmlns:a16="http://schemas.microsoft.com/office/drawing/2014/main" val="10003"/>
                  </a:ext>
                </a:extLst>
              </a:tr>
              <a:tr h="391489">
                <a:tc>
                  <a:txBody>
                    <a:bodyPr/>
                    <a:lstStyle/>
                    <a:p>
                      <a:pPr algn="l" fontAlgn="ctr">
                        <a:buNone/>
                      </a:pPr>
                      <a:r>
                        <a:rPr lang="en-IN" sz="1400" b="0" i="0" u="none" strike="noStrike" dirty="0">
                          <a:solidFill>
                            <a:schemeClr val="bg1"/>
                          </a:solidFill>
                          <a:effectLst/>
                          <a:latin typeface="+mn-lt"/>
                        </a:rPr>
                        <a:t>Total Cost of Ownership</a:t>
                      </a:r>
                    </a:p>
                  </a:txBody>
                  <a:tcPr anchor="ctr">
                    <a:solidFill>
                      <a:srgbClr val="002060"/>
                    </a:solidFill>
                  </a:tcPr>
                </a:tc>
                <a:tc>
                  <a:txBody>
                    <a:bodyPr/>
                    <a:lstStyle/>
                    <a:p>
                      <a:pPr algn="l" fontAlgn="ctr">
                        <a:buNone/>
                      </a:pPr>
                      <a:r>
                        <a:rPr lang="en-US" sz="1100" b="0" i="0" u="none" strike="noStrike">
                          <a:solidFill>
                            <a:srgbClr val="000000"/>
                          </a:solidFill>
                          <a:effectLst/>
                          <a:latin typeface="Segoe UI" panose="020B0502040204020203" pitchFamily="34" charset="0"/>
                        </a:rPr>
                        <a:t>Very high licensing and support cost</a:t>
                      </a:r>
                    </a:p>
                  </a:txBody>
                  <a:tcPr anchor="ctr">
                    <a:solidFill>
                      <a:schemeClr val="bg1">
                        <a:lumMod val="95000"/>
                      </a:schemeClr>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Lowest cost due to open‑source model</a:t>
                      </a:r>
                    </a:p>
                  </a:txBody>
                  <a:tcPr anchor="ctr">
                    <a:solidFill>
                      <a:schemeClr val="bg1">
                        <a:lumMod val="95000"/>
                      </a:schemeClr>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High licensing</a:t>
                      </a:r>
                    </a:p>
                  </a:txBody>
                  <a:tcPr anchor="ctr">
                    <a:solidFill>
                      <a:schemeClr val="bg1">
                        <a:lumMod val="95000"/>
                      </a:schemeClr>
                    </a:solidFill>
                  </a:tcPr>
                </a:tc>
                <a:extLst>
                  <a:ext uri="{0D108BD9-81ED-4DB2-BD59-A6C34878D82A}">
                    <a16:rowId xmlns:a16="http://schemas.microsoft.com/office/drawing/2014/main" val="10004"/>
                  </a:ext>
                </a:extLst>
              </a:tr>
              <a:tr h="391489">
                <a:tc>
                  <a:txBody>
                    <a:bodyPr/>
                    <a:lstStyle/>
                    <a:p>
                      <a:pPr algn="l" fontAlgn="ctr">
                        <a:buNone/>
                      </a:pPr>
                      <a:r>
                        <a:rPr lang="en-IN" sz="1400" b="0" i="0" u="none" strike="noStrike" dirty="0">
                          <a:solidFill>
                            <a:schemeClr val="bg1"/>
                          </a:solidFill>
                          <a:effectLst/>
                          <a:latin typeface="+mn-lt"/>
                        </a:rPr>
                        <a:t>Vendor Dependency</a:t>
                      </a:r>
                    </a:p>
                  </a:txBody>
                  <a:tcPr anchor="ctr">
                    <a:solidFill>
                      <a:srgbClr val="002060"/>
                    </a:solidFill>
                  </a:tcPr>
                </a:tc>
                <a:tc>
                  <a:txBody>
                    <a:bodyPr/>
                    <a:lstStyle/>
                    <a:p>
                      <a:pPr algn="l" fontAlgn="ctr">
                        <a:buNone/>
                      </a:pPr>
                      <a:r>
                        <a:rPr lang="en-IN" sz="1100" b="0" i="0" u="none" strike="noStrike" dirty="0">
                          <a:solidFill>
                            <a:srgbClr val="000000"/>
                          </a:solidFill>
                          <a:effectLst/>
                          <a:latin typeface="Segoe UI" panose="020B0502040204020203" pitchFamily="34" charset="0"/>
                        </a:rPr>
                        <a:t>Strong vendor lock‑in</a:t>
                      </a:r>
                    </a:p>
                  </a:txBody>
                  <a:tcPr anchor="ctr">
                    <a:solidFill>
                      <a:schemeClr val="bg1">
                        <a:lumMod val="95000"/>
                      </a:schemeClr>
                    </a:solidFill>
                  </a:tcPr>
                </a:tc>
                <a:tc>
                  <a:txBody>
                    <a:bodyPr/>
                    <a:lstStyle/>
                    <a:p>
                      <a:pPr algn="l" fontAlgn="ctr">
                        <a:buNone/>
                      </a:pPr>
                      <a:r>
                        <a:rPr lang="en-IN" sz="1100" b="0" i="0" u="none" strike="noStrike" dirty="0">
                          <a:solidFill>
                            <a:srgbClr val="000000"/>
                          </a:solidFill>
                          <a:effectLst/>
                          <a:latin typeface="Segoe UI" panose="020B0502040204020203" pitchFamily="34" charset="0"/>
                        </a:rPr>
                        <a:t>No vendor lock‑in</a:t>
                      </a:r>
                    </a:p>
                  </a:txBody>
                  <a:tcPr anchor="ctr">
                    <a:solidFill>
                      <a:schemeClr val="bg1">
                        <a:lumMod val="95000"/>
                      </a:schemeClr>
                    </a:solidFill>
                  </a:tcPr>
                </a:tc>
                <a:tc>
                  <a:txBody>
                    <a:bodyPr/>
                    <a:lstStyle/>
                    <a:p>
                      <a:pPr algn="l" fontAlgn="ctr">
                        <a:buNone/>
                      </a:pPr>
                      <a:r>
                        <a:rPr lang="en-US" sz="1100" b="0" i="0" u="none" strike="noStrike">
                          <a:solidFill>
                            <a:srgbClr val="000000"/>
                          </a:solidFill>
                          <a:effectLst/>
                          <a:latin typeface="Segoe UI" panose="020B0502040204020203" pitchFamily="34" charset="0"/>
                        </a:rPr>
                        <a:t>Strong dependency on Microsoft ecosystem</a:t>
                      </a:r>
                    </a:p>
                  </a:txBody>
                  <a:tcPr anchor="ctr">
                    <a:solidFill>
                      <a:schemeClr val="bg1">
                        <a:lumMod val="95000"/>
                      </a:schemeClr>
                    </a:solidFill>
                  </a:tcPr>
                </a:tc>
                <a:extLst>
                  <a:ext uri="{0D108BD9-81ED-4DB2-BD59-A6C34878D82A}">
                    <a16:rowId xmlns:a16="http://schemas.microsoft.com/office/drawing/2014/main" val="10005"/>
                  </a:ext>
                </a:extLst>
              </a:tr>
              <a:tr h="548084">
                <a:tc>
                  <a:txBody>
                    <a:bodyPr/>
                    <a:lstStyle/>
                    <a:p>
                      <a:pPr marL="0" algn="l" defTabSz="911860" rtl="0" eaLnBrk="1" fontAlgn="ctr" latinLnBrk="0" hangingPunct="1">
                        <a:buNone/>
                      </a:pPr>
                      <a:r>
                        <a:rPr lang="en-IN" sz="1400" b="0" i="0" u="none" strike="noStrike" kern="1200" dirty="0">
                          <a:solidFill>
                            <a:schemeClr val="bg1"/>
                          </a:solidFill>
                          <a:effectLst/>
                          <a:latin typeface="+mn-lt"/>
                          <a:ea typeface="+mn-ea"/>
                          <a:cs typeface="+mn-cs"/>
                        </a:rPr>
                        <a:t>Long‑Term Sustainability</a:t>
                      </a:r>
                    </a:p>
                  </a:txBody>
                  <a:tcPr anchor="ctr">
                    <a:solidFill>
                      <a:srgbClr val="002060"/>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Stable but expensive long‑term</a:t>
                      </a:r>
                    </a:p>
                  </a:txBody>
                  <a:tcPr anchor="ctr">
                    <a:solidFill>
                      <a:schemeClr val="bg1">
                        <a:lumMod val="95000"/>
                      </a:schemeClr>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Future‑ready with strong community and vendor backing</a:t>
                      </a:r>
                    </a:p>
                  </a:txBody>
                  <a:tcPr anchor="ctr">
                    <a:solidFill>
                      <a:schemeClr val="bg1">
                        <a:lumMod val="95000"/>
                      </a:schemeClr>
                    </a:solidFill>
                  </a:tcPr>
                </a:tc>
                <a:tc>
                  <a:txBody>
                    <a:bodyPr/>
                    <a:lstStyle/>
                    <a:p>
                      <a:pPr algn="l" fontAlgn="ctr">
                        <a:buNone/>
                      </a:pPr>
                      <a:r>
                        <a:rPr lang="en-US" sz="1100" b="0" i="0" u="none" strike="noStrike" dirty="0">
                          <a:solidFill>
                            <a:srgbClr val="000000"/>
                          </a:solidFill>
                          <a:effectLst/>
                          <a:latin typeface="Segoe UI" panose="020B0502040204020203" pitchFamily="34" charset="0"/>
                        </a:rPr>
                        <a:t>Stable, tied to Microsoft roadmap</a:t>
                      </a:r>
                    </a:p>
                  </a:txBody>
                  <a:tcPr anchor="ctr">
                    <a:solidFill>
                      <a:schemeClr val="bg1">
                        <a:lumMod val="95000"/>
                      </a:schemeClr>
                    </a:solidFill>
                  </a:tcPr>
                </a:tc>
                <a:extLst>
                  <a:ext uri="{0D108BD9-81ED-4DB2-BD59-A6C34878D82A}">
                    <a16:rowId xmlns:a16="http://schemas.microsoft.com/office/drawing/2014/main" val="10006"/>
                  </a:ext>
                </a:extLst>
              </a:tr>
              <a:tr h="548084">
                <a:tc>
                  <a:txBody>
                    <a:bodyPr/>
                    <a:lstStyle/>
                    <a:p>
                      <a:pPr marL="0" algn="l" defTabSz="911860" rtl="0" eaLnBrk="1" fontAlgn="ctr" latinLnBrk="0" hangingPunct="1">
                        <a:buNone/>
                      </a:pPr>
                      <a:r>
                        <a:rPr lang="en-IN" sz="1400" b="0" i="0" u="none" strike="noStrike" kern="1200" dirty="0">
                          <a:solidFill>
                            <a:schemeClr val="bg1"/>
                          </a:solidFill>
                          <a:effectLst/>
                          <a:latin typeface="+mn-lt"/>
                          <a:ea typeface="+mn-ea"/>
                          <a:cs typeface="+mn-cs"/>
                        </a:rPr>
                        <a:t>Overall Leadership Fit</a:t>
                      </a:r>
                    </a:p>
                  </a:txBody>
                  <a:tcPr anchor="ctr">
                    <a:solidFill>
                      <a:srgbClr val="002060"/>
                    </a:solidFill>
                  </a:tcPr>
                </a:tc>
                <a:tc>
                  <a:txBody>
                    <a:bodyPr/>
                    <a:lstStyle/>
                    <a:p>
                      <a:pPr algn="l" fontAlgn="ctr">
                        <a:buNone/>
                      </a:pPr>
                      <a:r>
                        <a:rPr lang="en-IN" sz="1100" b="0" i="0" u="none" strike="noStrike" dirty="0">
                          <a:solidFill>
                            <a:srgbClr val="000000"/>
                          </a:solidFill>
                          <a:effectLst/>
                          <a:latin typeface="Segoe UI" panose="020B0502040204020203" pitchFamily="34" charset="0"/>
                        </a:rPr>
                        <a:t>Powerful but costly</a:t>
                      </a:r>
                    </a:p>
                  </a:txBody>
                  <a:tcPr anchor="ctr">
                    <a:solidFill>
                      <a:schemeClr val="bg1">
                        <a:lumMod val="95000"/>
                      </a:schemeClr>
                    </a:solidFill>
                  </a:tcPr>
                </a:tc>
                <a:tc>
                  <a:txBody>
                    <a:bodyPr/>
                    <a:lstStyle/>
                    <a:p>
                      <a:pPr algn="l" fontAlgn="ctr">
                        <a:buNone/>
                      </a:pPr>
                      <a:r>
                        <a:rPr lang="en-US" sz="1100" b="0" i="0" u="none" strike="noStrike">
                          <a:solidFill>
                            <a:srgbClr val="000000"/>
                          </a:solidFill>
                          <a:effectLst/>
                          <a:latin typeface="Segoe UI" panose="020B0502040204020203" pitchFamily="34" charset="0"/>
                        </a:rPr>
                        <a:t>Best balance of performance, compliance, and cost</a:t>
                      </a:r>
                    </a:p>
                  </a:txBody>
                  <a:tcPr anchor="ctr">
                    <a:solidFill>
                      <a:schemeClr val="bg1">
                        <a:lumMod val="95000"/>
                      </a:schemeClr>
                    </a:solidFill>
                  </a:tcPr>
                </a:tc>
                <a:tc>
                  <a:txBody>
                    <a:bodyPr/>
                    <a:lstStyle/>
                    <a:p>
                      <a:pPr algn="l" fontAlgn="ctr">
                        <a:buNone/>
                      </a:pPr>
                      <a:r>
                        <a:rPr lang="en-IN" sz="1100" b="0" i="0" u="none" strike="noStrike" dirty="0">
                          <a:solidFill>
                            <a:srgbClr val="000000"/>
                          </a:solidFill>
                          <a:effectLst/>
                          <a:latin typeface="Segoe UI" panose="020B0502040204020203" pitchFamily="34" charset="0"/>
                        </a:rPr>
                        <a:t>Strong but cost‑intensive</a:t>
                      </a:r>
                    </a:p>
                  </a:txBody>
                  <a:tcPr anchor="ctr">
                    <a:solidFill>
                      <a:schemeClr val="bg1">
                        <a:lumMod val="95000"/>
                      </a:schemeClr>
                    </a:solidFill>
                  </a:tcPr>
                </a:tc>
                <a:extLst>
                  <a:ext uri="{0D108BD9-81ED-4DB2-BD59-A6C34878D82A}">
                    <a16:rowId xmlns:a16="http://schemas.microsoft.com/office/drawing/2014/main" val="10007"/>
                  </a:ext>
                </a:extLst>
              </a:tr>
            </a:tbl>
          </a:graphicData>
        </a:graphic>
      </p:graphicFrame>
      <p:sp>
        <p:nvSpPr>
          <p:cNvPr id="6" name="Rectangle: Rounded Corners 5"/>
          <p:cNvSpPr/>
          <p:nvPr/>
        </p:nvSpPr>
        <p:spPr>
          <a:xfrm>
            <a:off x="903772" y="5360859"/>
            <a:ext cx="2232837" cy="125200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US" sz="1800" b="0" i="0" u="none" strike="noStrike" kern="0" cap="none" spc="0" normalizeH="0" baseline="0" noProof="0" dirty="0">
                <a:ln>
                  <a:noFill/>
                </a:ln>
                <a:solidFill>
                  <a:prstClr val="black"/>
                </a:solidFill>
                <a:effectLst/>
                <a:uLnTx/>
                <a:uFillTx/>
                <a:latin typeface="Calibri"/>
                <a:ea typeface="+mn-ea"/>
                <a:cs typeface="+mn-cs"/>
                <a:sym typeface="Arial" panose="020B0604020202090204"/>
              </a:rPr>
              <a:t>All 3 technologies above meets the requirement. </a:t>
            </a:r>
          </a:p>
        </p:txBody>
      </p:sp>
      <p:sp>
        <p:nvSpPr>
          <p:cNvPr id="7" name="Rectangle: Rounded Corners 6"/>
          <p:cNvSpPr/>
          <p:nvPr/>
        </p:nvSpPr>
        <p:spPr>
          <a:xfrm>
            <a:off x="3309548" y="5360859"/>
            <a:ext cx="2232837" cy="125200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IN" sz="1800" b="0" i="0" u="none" strike="noStrike" kern="1200" cap="none" spc="0" normalizeH="0" baseline="0" noProof="0" dirty="0">
                <a:ln>
                  <a:noFill/>
                </a:ln>
                <a:solidFill>
                  <a:prstClr val="black"/>
                </a:solidFill>
                <a:effectLst/>
                <a:uLnTx/>
                <a:uFillTx/>
                <a:latin typeface="Calibri"/>
                <a:ea typeface="+mn-ea"/>
                <a:cs typeface="Segoe UI" panose="020B0502040204020203" pitchFamily="34" charset="0"/>
                <a:sym typeface="Arial" panose="020B0604020202090204"/>
              </a:rPr>
              <a:t>Oracle high on cost but existing stack</a:t>
            </a:r>
          </a:p>
        </p:txBody>
      </p:sp>
      <p:sp>
        <p:nvSpPr>
          <p:cNvPr id="9" name="Rectangle: Rounded Corners 8"/>
          <p:cNvSpPr/>
          <p:nvPr/>
        </p:nvSpPr>
        <p:spPr>
          <a:xfrm>
            <a:off x="5715324" y="5358225"/>
            <a:ext cx="2232837" cy="125200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IN" sz="1800" b="0" i="0" u="none" strike="noStrike" kern="1200" cap="none" spc="0" normalizeH="0" baseline="0" noProof="0" dirty="0">
                <a:ln>
                  <a:noFill/>
                </a:ln>
                <a:solidFill>
                  <a:prstClr val="black"/>
                </a:solidFill>
                <a:effectLst/>
                <a:uLnTx/>
                <a:uFillTx/>
                <a:latin typeface="Calibri"/>
                <a:ea typeface="+mn-ea"/>
                <a:cs typeface="Segoe UI" panose="020B0502040204020203" pitchFamily="34" charset="0"/>
                <a:sym typeface="Arial" panose="020B0604020202090204"/>
              </a:rPr>
              <a:t>Postgres low on cost</a:t>
            </a:r>
          </a:p>
        </p:txBody>
      </p:sp>
      <p:sp>
        <p:nvSpPr>
          <p:cNvPr id="10" name="Rectangle: Rounded Corners 9"/>
          <p:cNvSpPr/>
          <p:nvPr/>
        </p:nvSpPr>
        <p:spPr>
          <a:xfrm>
            <a:off x="9208437" y="5358225"/>
            <a:ext cx="2232837" cy="1252008"/>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IN" sz="1800" b="0" i="0" u="none" strike="noStrike" kern="1200" cap="none" spc="0" normalizeH="0" baseline="0" noProof="0" dirty="0">
                <a:ln>
                  <a:noFill/>
                </a:ln>
                <a:solidFill>
                  <a:prstClr val="white"/>
                </a:solidFill>
                <a:effectLst/>
                <a:uLnTx/>
                <a:uFillTx/>
                <a:latin typeface="Calibri"/>
                <a:ea typeface="+mn-ea"/>
                <a:cs typeface="Segoe UI" panose="020B0502040204020203" pitchFamily="34" charset="0"/>
                <a:sym typeface="Arial" panose="020B0604020202090204"/>
              </a:rPr>
              <a:t>Proposing PostgreSQL keeping cost and future state in mind</a:t>
            </a:r>
          </a:p>
        </p:txBody>
      </p:sp>
      <p:sp>
        <p:nvSpPr>
          <p:cNvPr id="11" name="Arrow: Right 10"/>
          <p:cNvSpPr/>
          <p:nvPr/>
        </p:nvSpPr>
        <p:spPr>
          <a:xfrm>
            <a:off x="8121100" y="5722887"/>
            <a:ext cx="914399" cy="522683"/>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lang="en-IN" sz="1800" b="0" i="0" u="none" strike="noStrike" kern="0" cap="none" spc="0" normalizeH="0" baseline="0" noProof="0">
              <a:ln>
                <a:noFill/>
              </a:ln>
              <a:solidFill>
                <a:prstClr val="white"/>
              </a:solidFill>
              <a:effectLst/>
              <a:uLnTx/>
              <a:uFillTx/>
              <a:latin typeface="Calibri"/>
              <a:ea typeface="+mn-ea"/>
              <a:cs typeface="+mn-cs"/>
              <a:sym typeface="Arial" panose="020B0604020202090204"/>
            </a:endParaRPr>
          </a:p>
        </p:txBody>
      </p:sp>
      <p:sp>
        <p:nvSpPr>
          <p:cNvPr id="4" name="Rectangle 3"/>
          <p:cNvSpPr/>
          <p:nvPr/>
        </p:nvSpPr>
        <p:spPr>
          <a:xfrm>
            <a:off x="6017785" y="1023088"/>
            <a:ext cx="2770616" cy="4157338"/>
          </a:xfrm>
          <a:prstGeom prst="rect">
            <a:avLst/>
          </a:prstGeom>
          <a:no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lang="en-IN" sz="1865" b="0" i="0" u="none" strike="noStrike" kern="0" cap="none" spc="0" normalizeH="0" baseline="0" noProof="0">
              <a:ln>
                <a:noFill/>
              </a:ln>
              <a:solidFill>
                <a:prstClr val="white"/>
              </a:solidFill>
              <a:effectLst/>
              <a:uLnTx/>
              <a:uFillTx/>
              <a:latin typeface="Calibri"/>
              <a:ea typeface="+mn-ea"/>
              <a:cs typeface="+mn-cs"/>
              <a:sym typeface="Arial" panose="020B060402020209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15452" y="2800579"/>
            <a:ext cx="657379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r>
              <a:rPr kumimoji="0" lang="en-US" sz="4000" b="1" i="0" u="none" strike="noStrike" kern="0" cap="none" spc="0" normalizeH="0" baseline="0" noProof="0" dirty="0">
                <a:ln>
                  <a:noFill/>
                </a:ln>
                <a:solidFill>
                  <a:srgbClr val="000000"/>
                </a:solidFill>
                <a:effectLst/>
                <a:uLnTx/>
                <a:uFillTx/>
                <a:latin typeface="Outfit" pitchFamily="2" charset="0"/>
                <a:cs typeface="Arial" panose="020B0604020202090204"/>
                <a:sym typeface="Arial" panose="020B0604020202090204"/>
              </a:rPr>
              <a:t>Commercials</a:t>
            </a:r>
            <a:endParaRPr kumimoji="0" lang="en-IN" sz="4000" b="1" i="0" u="none" strike="noStrike" kern="0" cap="none" spc="0" normalizeH="0" baseline="0" noProof="0" dirty="0">
              <a:ln>
                <a:noFill/>
              </a:ln>
              <a:solidFill>
                <a:srgbClr val="000000"/>
              </a:solidFill>
              <a:effectLst/>
              <a:uLnTx/>
              <a:uFillTx/>
              <a:latin typeface="Outfit" pitchFamily="2" charset="0"/>
              <a:cs typeface="Arial" panose="020B0604020202090204"/>
              <a:sym typeface="Arial" panose="020B060402020209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4" name="Google Shape;161;p28"/>
          <p:cNvSpPr txBox="1">
            <a:spLocks noGrp="1"/>
          </p:cNvSpPr>
          <p:nvPr>
            <p:ph type="title"/>
          </p:nvPr>
        </p:nvSpPr>
        <p:spPr>
          <a:xfrm>
            <a:off x="488260" y="300246"/>
            <a:ext cx="11228183" cy="583174"/>
          </a:xfrm>
          <a:prstGeom prst="rect">
            <a:avLst/>
          </a:prstGeom>
          <a:noFill/>
          <a:ln>
            <a:noFill/>
          </a:ln>
        </p:spPr>
        <p:txBody>
          <a:bodyPr spcFirstLastPara="1" vert="horz" wrap="square" lIns="91193" tIns="45584" rIns="91193" bIns="45584" rtlCol="0" anchor="ctr" anchorCtr="0">
            <a:noAutofit/>
          </a:bodyPr>
          <a:lstStyle/>
          <a:p>
            <a:pPr>
              <a:lnSpc>
                <a:spcPct val="100000"/>
              </a:lnSpc>
              <a:buClr>
                <a:srgbClr val="000000"/>
              </a:buClr>
              <a:buFont typeface="Arial" panose="020B0604020202090204"/>
            </a:pPr>
            <a:r>
              <a:rPr lang="en-US" sz="3190" b="1" dirty="0">
                <a:solidFill>
                  <a:srgbClr val="000000"/>
                </a:solidFill>
                <a:latin typeface="Outfit" pitchFamily="2" charset="0"/>
                <a:cs typeface="Arial" panose="020B0604020202090204"/>
                <a:sym typeface="Arial" panose="020B0604020202090204"/>
              </a:rPr>
              <a:t>Proposed Commercials – MVP only</a:t>
            </a:r>
            <a:endParaRPr sz="3190" b="1" dirty="0">
              <a:solidFill>
                <a:srgbClr val="000000"/>
              </a:solidFill>
              <a:latin typeface="Outfit" pitchFamily="2" charset="0"/>
              <a:cs typeface="Arial" panose="020B0604020202090204"/>
              <a:sym typeface="Arial" panose="020B0604020202090204"/>
            </a:endParaRPr>
          </a:p>
        </p:txBody>
      </p:sp>
      <p:graphicFrame>
        <p:nvGraphicFramePr>
          <p:cNvPr id="2" name="Table 1"/>
          <p:cNvGraphicFramePr>
            <a:graphicFrameLocks noGrp="1"/>
          </p:cNvGraphicFramePr>
          <p:nvPr>
            <p:extLst>
              <p:ext uri="{D42A27DB-BD31-4B8C-83A1-F6EECF244321}">
                <p14:modId xmlns:p14="http://schemas.microsoft.com/office/powerpoint/2010/main" val="1736407268"/>
              </p:ext>
            </p:extLst>
          </p:nvPr>
        </p:nvGraphicFramePr>
        <p:xfrm>
          <a:off x="2034116" y="1416772"/>
          <a:ext cx="8136468" cy="583173"/>
        </p:xfrm>
        <a:graphic>
          <a:graphicData uri="http://schemas.openxmlformats.org/drawingml/2006/table">
            <a:tbl>
              <a:tblPr firstRow="1" bandRow="1">
                <a:tableStyleId>{87DEA32E-00CC-48B5-A904-FB9E2A3C03F8}</a:tableStyleId>
              </a:tblPr>
              <a:tblGrid>
                <a:gridCol w="4068234">
                  <a:extLst>
                    <a:ext uri="{9D8B030D-6E8A-4147-A177-3AD203B41FA5}">
                      <a16:colId xmlns:a16="http://schemas.microsoft.com/office/drawing/2014/main" val="20000"/>
                    </a:ext>
                  </a:extLst>
                </a:gridCol>
                <a:gridCol w="4068234">
                  <a:extLst>
                    <a:ext uri="{9D8B030D-6E8A-4147-A177-3AD203B41FA5}">
                      <a16:colId xmlns:a16="http://schemas.microsoft.com/office/drawing/2014/main" val="20001"/>
                    </a:ext>
                  </a:extLst>
                </a:gridCol>
              </a:tblGrid>
              <a:tr h="583173">
                <a:tc>
                  <a:txBody>
                    <a:bodyPr/>
                    <a:lstStyle/>
                    <a:p>
                      <a:pPr algn="ctr"/>
                      <a:r>
                        <a:rPr lang="en-US" sz="1800" b="1" dirty="0">
                          <a:solidFill>
                            <a:schemeClr val="bg1"/>
                          </a:solidFill>
                        </a:rPr>
                        <a:t>Total Cost</a:t>
                      </a:r>
                      <a:endParaRPr lang="en-IN" sz="1800" b="1" dirty="0">
                        <a:solidFill>
                          <a:schemeClr val="bg1"/>
                        </a:solidFill>
                      </a:endParaRPr>
                    </a:p>
                  </a:txBody>
                  <a:tcPr anchor="ctr">
                    <a:solidFill>
                      <a:schemeClr val="accent1">
                        <a:lumMod val="75000"/>
                      </a:schemeClr>
                    </a:solidFill>
                  </a:tcPr>
                </a:tc>
                <a:tc>
                  <a:txBody>
                    <a:bodyPr/>
                    <a:lstStyle/>
                    <a:p>
                      <a:pPr algn="ctr"/>
                      <a:r>
                        <a:rPr lang="en-US" sz="1800" b="1">
                          <a:solidFill>
                            <a:schemeClr val="bg1"/>
                          </a:solidFill>
                        </a:rPr>
                        <a:t>Rs XXX </a:t>
                      </a:r>
                      <a:r>
                        <a:rPr lang="en-US" sz="1800" b="1" dirty="0">
                          <a:solidFill>
                            <a:schemeClr val="bg1"/>
                          </a:solidFill>
                        </a:rPr>
                        <a:t>Lakh</a:t>
                      </a:r>
                      <a:endParaRPr lang="en-IN" sz="1800" b="1" dirty="0">
                        <a:solidFill>
                          <a:schemeClr val="bg1"/>
                        </a:solidFill>
                      </a:endParaRPr>
                    </a:p>
                  </a:txBody>
                  <a:tcPr anchor="ctr">
                    <a:solidFill>
                      <a:schemeClr val="accent1">
                        <a:lumMod val="75000"/>
                      </a:schemeClr>
                    </a:solidFill>
                  </a:tcPr>
                </a:tc>
                <a:extLst>
                  <a:ext uri="{0D108BD9-81ED-4DB2-BD59-A6C34878D82A}">
                    <a16:rowId xmlns:a16="http://schemas.microsoft.com/office/drawing/2014/main" val="10000"/>
                  </a:ext>
                </a:extLst>
              </a:tr>
            </a:tbl>
          </a:graphicData>
        </a:graphic>
      </p:graphicFrame>
      <p:sp>
        <p:nvSpPr>
          <p:cNvPr id="3" name="TextBox 2"/>
          <p:cNvSpPr txBox="1"/>
          <p:nvPr/>
        </p:nvSpPr>
        <p:spPr>
          <a:xfrm>
            <a:off x="591819" y="2251710"/>
            <a:ext cx="11228183" cy="338554"/>
          </a:xfrm>
          <a:prstGeom prst="rect">
            <a:avLst/>
          </a:prstGeom>
          <a:noFill/>
        </p:spPr>
        <p:txBody>
          <a:bodyPr wrap="square" rtlCol="0">
            <a:spAutoFit/>
          </a:bodyPr>
          <a:lstStyle/>
          <a:p>
            <a:r>
              <a:rPr lang="en-US" sz="1600" dirty="0"/>
              <a:t>Payment Terms (to be agreed) : 40% Advance, 40% on UAT release, 10% on Go-Live 10% on Completion of Hyper care</a:t>
            </a:r>
            <a:endParaRPr lang="en-IN" sz="1600" dirty="0"/>
          </a:p>
        </p:txBody>
      </p:sp>
      <p:grpSp>
        <p:nvGrpSpPr>
          <p:cNvPr id="15" name="Group 14"/>
          <p:cNvGrpSpPr/>
          <p:nvPr/>
        </p:nvGrpSpPr>
        <p:grpSpPr>
          <a:xfrm>
            <a:off x="960309" y="2842029"/>
            <a:ext cx="10446832" cy="3664253"/>
            <a:chOff x="2034731" y="1830319"/>
            <a:chExt cx="8135236" cy="3356736"/>
          </a:xfrm>
        </p:grpSpPr>
        <p:sp>
          <p:nvSpPr>
            <p:cNvPr id="16" name="Freeform: Shape 15"/>
            <p:cNvSpPr/>
            <p:nvPr/>
          </p:nvSpPr>
          <p:spPr>
            <a:xfrm rot="16200000">
              <a:off x="1769739" y="2095311"/>
              <a:ext cx="3179897" cy="2649914"/>
            </a:xfrm>
            <a:custGeom>
              <a:avLst/>
              <a:gdLst>
                <a:gd name="csX0" fmla="*/ 0 w 2649913"/>
                <a:gd name="csY0" fmla="*/ 132496 h 3179896"/>
                <a:gd name="csX1" fmla="*/ 132496 w 2649913"/>
                <a:gd name="csY1" fmla="*/ 0 h 3179896"/>
                <a:gd name="csX2" fmla="*/ 2517417 w 2649913"/>
                <a:gd name="csY2" fmla="*/ 0 h 3179896"/>
                <a:gd name="csX3" fmla="*/ 2649913 w 2649913"/>
                <a:gd name="csY3" fmla="*/ 132496 h 3179896"/>
                <a:gd name="csX4" fmla="*/ 2649913 w 2649913"/>
                <a:gd name="csY4" fmla="*/ 3047400 h 3179896"/>
                <a:gd name="csX5" fmla="*/ 2517417 w 2649913"/>
                <a:gd name="csY5" fmla="*/ 3179896 h 3179896"/>
                <a:gd name="csX6" fmla="*/ 132496 w 2649913"/>
                <a:gd name="csY6" fmla="*/ 3179896 h 3179896"/>
                <a:gd name="csX7" fmla="*/ 0 w 2649913"/>
                <a:gd name="csY7" fmla="*/ 3047400 h 3179896"/>
                <a:gd name="csX8" fmla="*/ 0 w 2649913"/>
                <a:gd name="csY8" fmla="*/ 132496 h 31798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49913" h="3179896">
                  <a:moveTo>
                    <a:pt x="2539499" y="1"/>
                  </a:moveTo>
                  <a:cubicBezTo>
                    <a:pt x="2600479" y="1"/>
                    <a:pt x="2649913" y="71185"/>
                    <a:pt x="2649913" y="158996"/>
                  </a:cubicBezTo>
                  <a:lnTo>
                    <a:pt x="2649913" y="3020900"/>
                  </a:lnTo>
                  <a:cubicBezTo>
                    <a:pt x="2649913" y="3108711"/>
                    <a:pt x="2600479" y="3179895"/>
                    <a:pt x="2539499" y="3179895"/>
                  </a:cubicBezTo>
                  <a:lnTo>
                    <a:pt x="110414" y="3179895"/>
                  </a:lnTo>
                  <a:cubicBezTo>
                    <a:pt x="49434" y="3179895"/>
                    <a:pt x="0" y="3108711"/>
                    <a:pt x="0" y="3020900"/>
                  </a:cubicBezTo>
                  <a:lnTo>
                    <a:pt x="0" y="158996"/>
                  </a:lnTo>
                  <a:cubicBezTo>
                    <a:pt x="0" y="71185"/>
                    <a:pt x="49434" y="1"/>
                    <a:pt x="110414" y="1"/>
                  </a:cubicBezTo>
                  <a:lnTo>
                    <a:pt x="2539499" y="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2381" tIns="102872" rIns="133350" bIns="2119929" numCol="1" spcCol="1270" anchor="t" anchorCtr="0">
              <a:noAutofit/>
            </a:bodyPr>
            <a:lstStyle/>
            <a:p>
              <a:pPr marL="0" lvl="0" indent="0" algn="r" defTabSz="1333500">
                <a:lnSpc>
                  <a:spcPct val="90000"/>
                </a:lnSpc>
                <a:spcBef>
                  <a:spcPct val="0"/>
                </a:spcBef>
                <a:spcAft>
                  <a:spcPct val="35000"/>
                </a:spcAft>
                <a:buNone/>
              </a:pPr>
              <a:r>
                <a:rPr lang="en-US" sz="3600" kern="1200" dirty="0"/>
                <a:t>Deliverables</a:t>
              </a:r>
              <a:endParaRPr lang="en-IN" sz="3600" kern="1200" dirty="0"/>
            </a:p>
          </p:txBody>
        </p:sp>
        <p:sp>
          <p:nvSpPr>
            <p:cNvPr id="17" name="Freeform: Shape 16"/>
            <p:cNvSpPr/>
            <p:nvPr/>
          </p:nvSpPr>
          <p:spPr>
            <a:xfrm>
              <a:off x="2564714" y="2007159"/>
              <a:ext cx="1974185" cy="3179896"/>
            </a:xfrm>
            <a:custGeom>
              <a:avLst/>
              <a:gdLst>
                <a:gd name="csX0" fmla="*/ 0 w 1974185"/>
                <a:gd name="csY0" fmla="*/ 0 h 3179896"/>
                <a:gd name="csX1" fmla="*/ 1974185 w 1974185"/>
                <a:gd name="csY1" fmla="*/ 0 h 3179896"/>
                <a:gd name="csX2" fmla="*/ 1974185 w 1974185"/>
                <a:gd name="csY2" fmla="*/ 3179896 h 3179896"/>
                <a:gd name="csX3" fmla="*/ 0 w 1974185"/>
                <a:gd name="csY3" fmla="*/ 3179896 h 3179896"/>
                <a:gd name="csX4" fmla="*/ 0 w 1974185"/>
                <a:gd name="csY4" fmla="*/ 0 h 3179896"/>
              </a:gdLst>
              <a:ahLst/>
              <a:cxnLst>
                <a:cxn ang="0">
                  <a:pos x="csX0" y="csY0"/>
                </a:cxn>
                <a:cxn ang="0">
                  <a:pos x="csX1" y="csY1"/>
                </a:cxn>
                <a:cxn ang="0">
                  <a:pos x="csX2" y="csY2"/>
                </a:cxn>
                <a:cxn ang="0">
                  <a:pos x="csX3" y="csY3"/>
                </a:cxn>
                <a:cxn ang="0">
                  <a:pos x="csX4" y="csY4"/>
                </a:cxn>
              </a:cxnLst>
              <a:rect l="l" t="t" r="r" b="b"/>
              <a:pathLst>
                <a:path w="1974185" h="3179896">
                  <a:moveTo>
                    <a:pt x="0" y="0"/>
                  </a:moveTo>
                  <a:lnTo>
                    <a:pt x="1974185" y="0"/>
                  </a:lnTo>
                  <a:lnTo>
                    <a:pt x="1974185" y="3179896"/>
                  </a:lnTo>
                  <a:lnTo>
                    <a:pt x="0" y="3179896"/>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75438" rIns="0" bIns="0" numCol="1" spcCol="1270" anchor="t" anchorCtr="0">
              <a:noAutofit/>
            </a:bodyPr>
            <a:lstStyle/>
            <a:p>
              <a:pPr marL="342900" lvl="0" indent="-342900" algn="l" defTabSz="977900">
                <a:lnSpc>
                  <a:spcPct val="15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Fully developed Application</a:t>
              </a:r>
            </a:p>
            <a:p>
              <a:pPr marL="342900" indent="-342900" defTabSz="977900">
                <a:lnSpc>
                  <a:spcPct val="150000"/>
                </a:lnSpc>
                <a:spcBef>
                  <a:spcPct val="0"/>
                </a:spcBef>
                <a:spcAft>
                  <a:spcPct val="35000"/>
                </a:spcAft>
                <a:buClr>
                  <a:schemeClr val="bg1"/>
                </a:buClr>
                <a:buFont typeface="Arial" panose="020B0604020202090204" pitchFamily="34" charset="0"/>
                <a:buChar char="•"/>
              </a:pPr>
              <a:r>
                <a:rPr lang="en-IN" sz="1700" kern="1200" dirty="0">
                  <a:solidFill>
                    <a:schemeClr val="bg1"/>
                  </a:solidFill>
                </a:rPr>
                <a:t>Test Case results</a:t>
              </a:r>
            </a:p>
            <a:p>
              <a:pPr marL="342900" indent="-342900" defTabSz="977900">
                <a:lnSpc>
                  <a:spcPct val="150000"/>
                </a:lnSpc>
                <a:spcBef>
                  <a:spcPct val="0"/>
                </a:spcBef>
                <a:spcAft>
                  <a:spcPct val="35000"/>
                </a:spcAft>
                <a:buClr>
                  <a:schemeClr val="bg1"/>
                </a:buClr>
                <a:buFont typeface="Arial" panose="020B0604020202090204" pitchFamily="34" charset="0"/>
                <a:buChar char="•"/>
              </a:pPr>
              <a:r>
                <a:rPr lang="en-IN" sz="1700" kern="1200" dirty="0">
                  <a:solidFill>
                    <a:schemeClr val="bg1"/>
                  </a:solidFill>
                </a:rPr>
                <a:t>Deployment Document</a:t>
              </a:r>
            </a:p>
            <a:p>
              <a:pPr marL="342900" indent="-342900" defTabSz="977900">
                <a:lnSpc>
                  <a:spcPct val="150000"/>
                </a:lnSpc>
                <a:spcBef>
                  <a:spcPct val="0"/>
                </a:spcBef>
                <a:spcAft>
                  <a:spcPct val="35000"/>
                </a:spcAft>
                <a:buClr>
                  <a:schemeClr val="bg1"/>
                </a:buClr>
                <a:buFont typeface="Arial" panose="020B0604020202090204" pitchFamily="34" charset="0"/>
                <a:buChar char="•"/>
              </a:pPr>
              <a:r>
                <a:rPr lang="en-IN" sz="1700" kern="1200" dirty="0">
                  <a:solidFill>
                    <a:schemeClr val="bg1"/>
                  </a:solidFill>
                </a:rPr>
                <a:t>User Manual</a:t>
              </a:r>
            </a:p>
          </p:txBody>
        </p:sp>
        <p:sp>
          <p:nvSpPr>
            <p:cNvPr id="18" name="Freeform: Shape 17"/>
            <p:cNvSpPr/>
            <p:nvPr/>
          </p:nvSpPr>
          <p:spPr>
            <a:xfrm rot="16200000">
              <a:off x="4512400" y="2095311"/>
              <a:ext cx="3179897" cy="2649914"/>
            </a:xfrm>
            <a:custGeom>
              <a:avLst/>
              <a:gdLst>
                <a:gd name="csX0" fmla="*/ 0 w 2649913"/>
                <a:gd name="csY0" fmla="*/ 132496 h 3179896"/>
                <a:gd name="csX1" fmla="*/ 132496 w 2649913"/>
                <a:gd name="csY1" fmla="*/ 0 h 3179896"/>
                <a:gd name="csX2" fmla="*/ 2517417 w 2649913"/>
                <a:gd name="csY2" fmla="*/ 0 h 3179896"/>
                <a:gd name="csX3" fmla="*/ 2649913 w 2649913"/>
                <a:gd name="csY3" fmla="*/ 132496 h 3179896"/>
                <a:gd name="csX4" fmla="*/ 2649913 w 2649913"/>
                <a:gd name="csY4" fmla="*/ 3047400 h 3179896"/>
                <a:gd name="csX5" fmla="*/ 2517417 w 2649913"/>
                <a:gd name="csY5" fmla="*/ 3179896 h 3179896"/>
                <a:gd name="csX6" fmla="*/ 132496 w 2649913"/>
                <a:gd name="csY6" fmla="*/ 3179896 h 3179896"/>
                <a:gd name="csX7" fmla="*/ 0 w 2649913"/>
                <a:gd name="csY7" fmla="*/ 3047400 h 3179896"/>
                <a:gd name="csX8" fmla="*/ 0 w 2649913"/>
                <a:gd name="csY8" fmla="*/ 132496 h 31798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49913" h="3179896">
                  <a:moveTo>
                    <a:pt x="2539499" y="1"/>
                  </a:moveTo>
                  <a:cubicBezTo>
                    <a:pt x="2600479" y="1"/>
                    <a:pt x="2649913" y="71185"/>
                    <a:pt x="2649913" y="158996"/>
                  </a:cubicBezTo>
                  <a:lnTo>
                    <a:pt x="2649913" y="3020900"/>
                  </a:lnTo>
                  <a:cubicBezTo>
                    <a:pt x="2649913" y="3108711"/>
                    <a:pt x="2600479" y="3179895"/>
                    <a:pt x="2539499" y="3179895"/>
                  </a:cubicBezTo>
                  <a:lnTo>
                    <a:pt x="110414" y="3179895"/>
                  </a:lnTo>
                  <a:cubicBezTo>
                    <a:pt x="49434" y="3179895"/>
                    <a:pt x="0" y="3108711"/>
                    <a:pt x="0" y="3020900"/>
                  </a:cubicBezTo>
                  <a:lnTo>
                    <a:pt x="0" y="158996"/>
                  </a:lnTo>
                  <a:cubicBezTo>
                    <a:pt x="0" y="71185"/>
                    <a:pt x="49434" y="1"/>
                    <a:pt x="110414" y="1"/>
                  </a:cubicBezTo>
                  <a:lnTo>
                    <a:pt x="2539499" y="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2381" tIns="102871" rIns="133350" bIns="2119930" numCol="1" spcCol="1270" anchor="t" anchorCtr="0">
              <a:noAutofit/>
            </a:bodyPr>
            <a:lstStyle/>
            <a:p>
              <a:pPr marL="0" lvl="0" indent="0" algn="r" defTabSz="1333500">
                <a:lnSpc>
                  <a:spcPct val="90000"/>
                </a:lnSpc>
                <a:spcBef>
                  <a:spcPct val="0"/>
                </a:spcBef>
                <a:spcAft>
                  <a:spcPct val="35000"/>
                </a:spcAft>
                <a:buNone/>
              </a:pPr>
              <a:r>
                <a:rPr lang="en-US" sz="3600" kern="1200" dirty="0"/>
                <a:t>Inclusions</a:t>
              </a:r>
              <a:endParaRPr lang="en-IN" sz="3600" kern="1200" dirty="0"/>
            </a:p>
          </p:txBody>
        </p:sp>
        <p:sp>
          <p:nvSpPr>
            <p:cNvPr id="19" name="Flowchart: Extract 18"/>
            <p:cNvSpPr/>
            <p:nvPr/>
          </p:nvSpPr>
          <p:spPr>
            <a:xfrm rot="5400000">
              <a:off x="4557041" y="4356920"/>
              <a:ext cx="467201" cy="397487"/>
            </a:xfrm>
            <a:prstGeom prst="flowChartExtract">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0" name="Freeform: Shape 19"/>
            <p:cNvSpPr/>
            <p:nvPr/>
          </p:nvSpPr>
          <p:spPr>
            <a:xfrm>
              <a:off x="5307375" y="1830320"/>
              <a:ext cx="1974185" cy="3179896"/>
            </a:xfrm>
            <a:custGeom>
              <a:avLst/>
              <a:gdLst>
                <a:gd name="csX0" fmla="*/ 0 w 1974185"/>
                <a:gd name="csY0" fmla="*/ 0 h 3179896"/>
                <a:gd name="csX1" fmla="*/ 1974185 w 1974185"/>
                <a:gd name="csY1" fmla="*/ 0 h 3179896"/>
                <a:gd name="csX2" fmla="*/ 1974185 w 1974185"/>
                <a:gd name="csY2" fmla="*/ 3179896 h 3179896"/>
                <a:gd name="csX3" fmla="*/ 0 w 1974185"/>
                <a:gd name="csY3" fmla="*/ 3179896 h 3179896"/>
                <a:gd name="csX4" fmla="*/ 0 w 1974185"/>
                <a:gd name="csY4" fmla="*/ 0 h 3179896"/>
              </a:gdLst>
              <a:ahLst/>
              <a:cxnLst>
                <a:cxn ang="0">
                  <a:pos x="csX0" y="csY0"/>
                </a:cxn>
                <a:cxn ang="0">
                  <a:pos x="csX1" y="csY1"/>
                </a:cxn>
                <a:cxn ang="0">
                  <a:pos x="csX2" y="csY2"/>
                </a:cxn>
                <a:cxn ang="0">
                  <a:pos x="csX3" y="csY3"/>
                </a:cxn>
                <a:cxn ang="0">
                  <a:pos x="csX4" y="csY4"/>
                </a:cxn>
              </a:cxnLst>
              <a:rect l="l" t="t" r="r" b="b"/>
              <a:pathLst>
                <a:path w="1974185" h="3179896">
                  <a:moveTo>
                    <a:pt x="0" y="0"/>
                  </a:moveTo>
                  <a:lnTo>
                    <a:pt x="1974185" y="0"/>
                  </a:lnTo>
                  <a:lnTo>
                    <a:pt x="1974185" y="3179896"/>
                  </a:lnTo>
                  <a:lnTo>
                    <a:pt x="0" y="3179896"/>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75438" rIns="0" bIns="0" numCol="1" spcCol="1270" anchor="t" anchorCtr="0">
              <a:noAutofit/>
            </a:bodyPr>
            <a:lstStyle/>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Development as per scope</a:t>
              </a:r>
            </a:p>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SIT &amp; Load Test execution</a:t>
              </a:r>
            </a:p>
            <a:p>
              <a:pPr marL="342900" indent="-342900"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VAPT &amp; UAT fixes</a:t>
              </a:r>
            </a:p>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Production deployment and training</a:t>
              </a:r>
            </a:p>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Warranty/Hypercare period - 7 days after Go Live or 15 from release to UAT whichever is earlier</a:t>
              </a:r>
              <a:endParaRPr lang="en-IN" sz="1700" kern="1200" dirty="0">
                <a:solidFill>
                  <a:schemeClr val="bg1"/>
                </a:solidFill>
              </a:endParaRPr>
            </a:p>
          </p:txBody>
        </p:sp>
        <p:sp>
          <p:nvSpPr>
            <p:cNvPr id="21" name="Freeform: Shape 20"/>
            <p:cNvSpPr/>
            <p:nvPr/>
          </p:nvSpPr>
          <p:spPr>
            <a:xfrm rot="16200000">
              <a:off x="7255061" y="2095311"/>
              <a:ext cx="3179897" cy="2649914"/>
            </a:xfrm>
            <a:custGeom>
              <a:avLst/>
              <a:gdLst>
                <a:gd name="csX0" fmla="*/ 0 w 2649913"/>
                <a:gd name="csY0" fmla="*/ 132496 h 3179896"/>
                <a:gd name="csX1" fmla="*/ 132496 w 2649913"/>
                <a:gd name="csY1" fmla="*/ 0 h 3179896"/>
                <a:gd name="csX2" fmla="*/ 2517417 w 2649913"/>
                <a:gd name="csY2" fmla="*/ 0 h 3179896"/>
                <a:gd name="csX3" fmla="*/ 2649913 w 2649913"/>
                <a:gd name="csY3" fmla="*/ 132496 h 3179896"/>
                <a:gd name="csX4" fmla="*/ 2649913 w 2649913"/>
                <a:gd name="csY4" fmla="*/ 3047400 h 3179896"/>
                <a:gd name="csX5" fmla="*/ 2517417 w 2649913"/>
                <a:gd name="csY5" fmla="*/ 3179896 h 3179896"/>
                <a:gd name="csX6" fmla="*/ 132496 w 2649913"/>
                <a:gd name="csY6" fmla="*/ 3179896 h 3179896"/>
                <a:gd name="csX7" fmla="*/ 0 w 2649913"/>
                <a:gd name="csY7" fmla="*/ 3047400 h 3179896"/>
                <a:gd name="csX8" fmla="*/ 0 w 2649913"/>
                <a:gd name="csY8" fmla="*/ 132496 h 31798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49913" h="3179896">
                  <a:moveTo>
                    <a:pt x="2539499" y="1"/>
                  </a:moveTo>
                  <a:cubicBezTo>
                    <a:pt x="2600479" y="1"/>
                    <a:pt x="2649913" y="71185"/>
                    <a:pt x="2649913" y="158996"/>
                  </a:cubicBezTo>
                  <a:lnTo>
                    <a:pt x="2649913" y="3020900"/>
                  </a:lnTo>
                  <a:cubicBezTo>
                    <a:pt x="2649913" y="3108711"/>
                    <a:pt x="2600479" y="3179895"/>
                    <a:pt x="2539499" y="3179895"/>
                  </a:cubicBezTo>
                  <a:lnTo>
                    <a:pt x="110414" y="3179895"/>
                  </a:lnTo>
                  <a:cubicBezTo>
                    <a:pt x="49434" y="3179895"/>
                    <a:pt x="0" y="3108711"/>
                    <a:pt x="0" y="3020900"/>
                  </a:cubicBezTo>
                  <a:lnTo>
                    <a:pt x="0" y="158996"/>
                  </a:lnTo>
                  <a:cubicBezTo>
                    <a:pt x="0" y="71185"/>
                    <a:pt x="49434" y="1"/>
                    <a:pt x="110414" y="1"/>
                  </a:cubicBezTo>
                  <a:lnTo>
                    <a:pt x="2539499" y="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2381" tIns="102871" rIns="133350" bIns="2119930" numCol="1" spcCol="1270" anchor="t" anchorCtr="0">
              <a:noAutofit/>
            </a:bodyPr>
            <a:lstStyle/>
            <a:p>
              <a:pPr marL="0" lvl="0" indent="0" algn="r" defTabSz="1333500">
                <a:lnSpc>
                  <a:spcPct val="90000"/>
                </a:lnSpc>
                <a:spcBef>
                  <a:spcPct val="0"/>
                </a:spcBef>
                <a:spcAft>
                  <a:spcPct val="35000"/>
                </a:spcAft>
                <a:buNone/>
              </a:pPr>
              <a:r>
                <a:rPr lang="en-US" sz="3600" kern="1200" dirty="0"/>
                <a:t>Exclusions</a:t>
              </a:r>
              <a:endParaRPr lang="en-IN" sz="3600" kern="1200" dirty="0"/>
            </a:p>
          </p:txBody>
        </p:sp>
        <p:sp>
          <p:nvSpPr>
            <p:cNvPr id="22" name="Flowchart: Extract 21"/>
            <p:cNvSpPr/>
            <p:nvPr/>
          </p:nvSpPr>
          <p:spPr>
            <a:xfrm rot="5400000">
              <a:off x="7299702" y="4356920"/>
              <a:ext cx="467201" cy="397487"/>
            </a:xfrm>
            <a:prstGeom prst="flowChartExtract">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3" name="Freeform: Shape 22"/>
            <p:cNvSpPr/>
            <p:nvPr/>
          </p:nvSpPr>
          <p:spPr>
            <a:xfrm>
              <a:off x="8050036" y="1830320"/>
              <a:ext cx="1974185" cy="3179896"/>
            </a:xfrm>
            <a:custGeom>
              <a:avLst/>
              <a:gdLst>
                <a:gd name="csX0" fmla="*/ 0 w 1974185"/>
                <a:gd name="csY0" fmla="*/ 0 h 3179896"/>
                <a:gd name="csX1" fmla="*/ 1974185 w 1974185"/>
                <a:gd name="csY1" fmla="*/ 0 h 3179896"/>
                <a:gd name="csX2" fmla="*/ 1974185 w 1974185"/>
                <a:gd name="csY2" fmla="*/ 3179896 h 3179896"/>
                <a:gd name="csX3" fmla="*/ 0 w 1974185"/>
                <a:gd name="csY3" fmla="*/ 3179896 h 3179896"/>
                <a:gd name="csX4" fmla="*/ 0 w 1974185"/>
                <a:gd name="csY4" fmla="*/ 0 h 3179896"/>
              </a:gdLst>
              <a:ahLst/>
              <a:cxnLst>
                <a:cxn ang="0">
                  <a:pos x="csX0" y="csY0"/>
                </a:cxn>
                <a:cxn ang="0">
                  <a:pos x="csX1" y="csY1"/>
                </a:cxn>
                <a:cxn ang="0">
                  <a:pos x="csX2" y="csY2"/>
                </a:cxn>
                <a:cxn ang="0">
                  <a:pos x="csX3" y="csY3"/>
                </a:cxn>
                <a:cxn ang="0">
                  <a:pos x="csX4" y="csY4"/>
                </a:cxn>
              </a:cxnLst>
              <a:rect l="l" t="t" r="r" b="b"/>
              <a:pathLst>
                <a:path w="1974185" h="3179896">
                  <a:moveTo>
                    <a:pt x="0" y="0"/>
                  </a:moveTo>
                  <a:lnTo>
                    <a:pt x="1974185" y="0"/>
                  </a:lnTo>
                  <a:lnTo>
                    <a:pt x="1974185" y="3179896"/>
                  </a:lnTo>
                  <a:lnTo>
                    <a:pt x="0" y="3179896"/>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75438" rIns="0" bIns="0" numCol="1" spcCol="1270" anchor="t" anchorCtr="0">
              <a:noAutofit/>
            </a:bodyPr>
            <a:lstStyle/>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Additional proposed features</a:t>
              </a:r>
            </a:p>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Any change request or additional scope.</a:t>
              </a:r>
            </a:p>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UAT &amp; VAPT execution</a:t>
              </a:r>
            </a:p>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Third party costs, Hardware, Platform Licenses and Hosting Cost</a:t>
              </a:r>
            </a:p>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Patch Deployments</a:t>
              </a:r>
            </a:p>
            <a:p>
              <a:pPr marL="342900" lvl="0" indent="-342900" algn="l" defTabSz="977900">
                <a:lnSpc>
                  <a:spcPct val="90000"/>
                </a:lnSpc>
                <a:spcBef>
                  <a:spcPct val="0"/>
                </a:spcBef>
                <a:spcAft>
                  <a:spcPct val="35000"/>
                </a:spcAft>
                <a:buClr>
                  <a:schemeClr val="bg1"/>
                </a:buClr>
                <a:buFont typeface="Arial" panose="020B0604020202090204" pitchFamily="34" charset="0"/>
                <a:buChar char="•"/>
              </a:pPr>
              <a:r>
                <a:rPr lang="en-US" sz="1700" kern="1200" dirty="0">
                  <a:solidFill>
                    <a:schemeClr val="bg1"/>
                  </a:solidFill>
                </a:rPr>
                <a:t>Post Hypercare Production support</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4" name="Google Shape;161;p28"/>
          <p:cNvSpPr txBox="1">
            <a:spLocks noGrp="1"/>
          </p:cNvSpPr>
          <p:nvPr>
            <p:ph type="title"/>
          </p:nvPr>
        </p:nvSpPr>
        <p:spPr>
          <a:xfrm>
            <a:off x="488260" y="300246"/>
            <a:ext cx="11228183" cy="583174"/>
          </a:xfrm>
          <a:prstGeom prst="rect">
            <a:avLst/>
          </a:prstGeom>
          <a:noFill/>
          <a:ln>
            <a:noFill/>
          </a:ln>
        </p:spPr>
        <p:txBody>
          <a:bodyPr spcFirstLastPara="1" vert="horz" wrap="square" lIns="91193" tIns="45584" rIns="91193" bIns="45584" rtlCol="0" anchor="ctr" anchorCtr="0">
            <a:noAutofit/>
          </a:bodyPr>
          <a:lstStyle/>
          <a:p>
            <a:pPr>
              <a:lnSpc>
                <a:spcPct val="100000"/>
              </a:lnSpc>
              <a:buClr>
                <a:srgbClr val="000000"/>
              </a:buClr>
              <a:buFont typeface="Arial" panose="020B0604020202090204"/>
            </a:pPr>
            <a:r>
              <a:rPr lang="en-US" sz="3190" b="1" dirty="0">
                <a:solidFill>
                  <a:srgbClr val="000000"/>
                </a:solidFill>
                <a:latin typeface="Outfit" pitchFamily="2" charset="0"/>
                <a:cs typeface="Arial" panose="020B0604020202090204"/>
                <a:sym typeface="Arial" panose="020B0604020202090204"/>
              </a:rPr>
              <a:t>Expectations from IMGC and Assumptions</a:t>
            </a:r>
            <a:endParaRPr sz="3190" b="1" dirty="0">
              <a:solidFill>
                <a:srgbClr val="000000"/>
              </a:solidFill>
              <a:latin typeface="Outfit" pitchFamily="2" charset="0"/>
              <a:cs typeface="Arial" panose="020B0604020202090204"/>
              <a:sym typeface="Arial" panose="020B0604020202090204"/>
            </a:endParaRPr>
          </a:p>
        </p:txBody>
      </p:sp>
      <p:sp>
        <p:nvSpPr>
          <p:cNvPr id="2" name="Rectangle: Diagonal Corners Rounded 1"/>
          <p:cNvSpPr/>
          <p:nvPr/>
        </p:nvSpPr>
        <p:spPr>
          <a:xfrm>
            <a:off x="737151" y="1132362"/>
            <a:ext cx="2445288" cy="339250"/>
          </a:xfrm>
          <a:prstGeom prst="round2DiagRect">
            <a:avLst>
              <a:gd name="adj1" fmla="val 36445"/>
              <a:gd name="adj2" fmla="val 0"/>
            </a:avLst>
          </a:prstGeom>
          <a:solidFill>
            <a:srgbClr val="0070C0"/>
          </a:solidFill>
          <a:ln w="25400" cap="flat" cmpd="sng" algn="ctr">
            <a:noFill/>
            <a:prstDash val="solid"/>
          </a:ln>
          <a:effectLst>
            <a:outerShdw blurRad="44450" dist="27940" dir="5400000" algn="ctr">
              <a:srgbClr val="000000">
                <a:alpha val="32000"/>
              </a:srgbClr>
            </a:outerShdw>
          </a:effectLst>
        </p:spPr>
        <p:txBody>
          <a:bodyPr lIns="0" tIns="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IN" sz="1400" kern="0" dirty="0">
                <a:solidFill>
                  <a:srgbClr val="FFFFFF"/>
                </a:solidFill>
                <a:latin typeface="Calibri Light" panose="020F0302020204030204" pitchFamily="34" charset="0"/>
                <a:cs typeface="Calibri Light" panose="020F0302020204030204" pitchFamily="34" charset="0"/>
              </a:rPr>
              <a:t>General</a:t>
            </a:r>
            <a:endParaRPr kumimoji="0" lang="en-IN" sz="1400" b="0" i="0" u="none" strike="noStrike" kern="0" cap="none" spc="0" normalizeH="0" baseline="0" noProof="0" dirty="0">
              <a:ln>
                <a:noFill/>
              </a:ln>
              <a:solidFill>
                <a:srgbClr val="FFFFFF"/>
              </a:solidFill>
              <a:effectLst/>
              <a:uLnTx/>
              <a:uFillTx/>
              <a:latin typeface="Calibri Light" panose="020F0302020204030204" pitchFamily="34" charset="0"/>
              <a:ea typeface="STKaiti" panose="02010600040101010101" charset="-122"/>
              <a:cs typeface="Calibri Light" panose="020F0302020204030204" pitchFamily="34" charset="0"/>
            </a:endParaRPr>
          </a:p>
        </p:txBody>
      </p:sp>
      <p:sp>
        <p:nvSpPr>
          <p:cNvPr id="3" name="Rectangle 2"/>
          <p:cNvSpPr/>
          <p:nvPr/>
        </p:nvSpPr>
        <p:spPr>
          <a:xfrm>
            <a:off x="279615" y="1510484"/>
            <a:ext cx="11601429" cy="3011081"/>
          </a:xfrm>
          <a:prstGeom prst="rect">
            <a:avLst/>
          </a:prstGeom>
        </p:spPr>
        <p:txBody>
          <a:bodyPr wrap="square">
            <a:spAutoFit/>
          </a:bodyPr>
          <a:lstStyle/>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Pre-requisite : signed off BRD; environment availability, contract sign off </a:t>
            </a:r>
            <a:r>
              <a:rPr lang="en-US" sz="1200" kern="1200" dirty="0" err="1">
                <a:solidFill>
                  <a:prstClr val="black">
                    <a:lumMod val="50000"/>
                  </a:prstClr>
                </a:solidFill>
                <a:latin typeface="+mn-lt"/>
                <a:cs typeface="Calibri" panose="020F0502020204030204" pitchFamily="34" charset="0"/>
              </a:rPr>
              <a:t>etc</a:t>
            </a:r>
            <a:endParaRPr lang="en-US" sz="1200" kern="1200" dirty="0">
              <a:solidFill>
                <a:prstClr val="black">
                  <a:lumMod val="50000"/>
                </a:prstClr>
              </a:solidFill>
              <a:latin typeface="+mn-lt"/>
              <a:cs typeface="Calibri" panose="020F0502020204030204" pitchFamily="34" charset="0"/>
            </a:endParaRPr>
          </a:p>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IMGC will ensure timely availability of subject matter experts across functions (Operations, Finance, IT </a:t>
            </a:r>
            <a:r>
              <a:rPr lang="en-US" sz="1200" kern="1200" dirty="0" err="1">
                <a:solidFill>
                  <a:prstClr val="black">
                    <a:lumMod val="50000"/>
                  </a:prstClr>
                </a:solidFill>
                <a:latin typeface="+mn-lt"/>
                <a:cs typeface="Calibri" panose="020F0502020204030204" pitchFamily="34" charset="0"/>
              </a:rPr>
              <a:t>etc</a:t>
            </a:r>
            <a:r>
              <a:rPr lang="en-US" sz="1200" kern="1200" dirty="0">
                <a:solidFill>
                  <a:prstClr val="black">
                    <a:lumMod val="50000"/>
                  </a:prstClr>
                </a:solidFill>
                <a:latin typeface="+mn-lt"/>
                <a:cs typeface="Calibri" panose="020F0502020204030204" pitchFamily="34" charset="0"/>
              </a:rPr>
              <a:t>).</a:t>
            </a:r>
          </a:p>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IMGC will provide the required software, hardware, licenses, and accesses to QC team unless explicitly stated in the scope of work.</a:t>
            </a:r>
          </a:p>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Test data and test cases preparation for business approvals will be done by IMGC</a:t>
            </a:r>
          </a:p>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Infrastructure procurement and setup, UAT execution, Network management, People Change Enablement is out of scope.</a:t>
            </a:r>
          </a:p>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A separate instance will be provisioned by IMGC during the UAT phase exclusively for load testing, enabling parallel execution without impacting functional UAT activities.</a:t>
            </a:r>
          </a:p>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Scope and priority changes to be agreed mutually.</a:t>
            </a:r>
          </a:p>
          <a:p>
            <a:pPr marL="742950" lvl="1" indent="-285750">
              <a:spcBef>
                <a:spcPts val="200"/>
              </a:spcBef>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IMGC SPOC will co-ordinate with all business users, CXOs to seek project priority and provide updates to QC.</a:t>
            </a:r>
          </a:p>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Any change / addition in the project scope and assumptions will impact the schedule and cost.</a:t>
            </a:r>
          </a:p>
          <a:p>
            <a:pPr marL="742950" lvl="1" indent="-285750">
              <a:spcBef>
                <a:spcPts val="200"/>
              </a:spcBef>
              <a:buClrTx/>
              <a:buFont typeface="Wingdings" panose="05000000000000000000" pitchFamily="2" charset="2"/>
              <a:buChar char="§"/>
              <a:defRPr/>
            </a:pPr>
            <a:r>
              <a:rPr lang="en-US" sz="1200" kern="1200" dirty="0">
                <a:solidFill>
                  <a:prstClr val="black">
                    <a:lumMod val="50000"/>
                  </a:prstClr>
                </a:solidFill>
                <a:latin typeface="+mn-lt"/>
                <a:cs typeface="Calibri" panose="020F0502020204030204" pitchFamily="34" charset="0"/>
              </a:rPr>
              <a:t>Cross-browser development and testing scope</a:t>
            </a:r>
          </a:p>
          <a:p>
            <a:pPr marL="1073150" lvl="5" indent="-265430">
              <a:spcBef>
                <a:spcPts val="200"/>
              </a:spcBef>
              <a:buClrTx/>
              <a:buFont typeface="Wingdings" panose="05000000000000000000" pitchFamily="2" charset="2"/>
              <a:buChar char="§"/>
              <a:defRPr/>
            </a:pPr>
            <a:r>
              <a:rPr lang="en-US" sz="1200" kern="1200" dirty="0">
                <a:solidFill>
                  <a:schemeClr val="tx1"/>
                </a:solidFill>
                <a:latin typeface="+mn-lt"/>
                <a:cs typeface="Calibri" panose="020F0502020204030204" pitchFamily="34" charset="0"/>
              </a:rPr>
              <a:t>Web Browser -  Microsoft Edge(v121–123), Chrome(v121–123) and Safari(v26–25)</a:t>
            </a:r>
          </a:p>
          <a:p>
            <a:pPr marL="1073150" lvl="5" indent="-265430">
              <a:spcBef>
                <a:spcPts val="200"/>
              </a:spcBef>
              <a:buClrTx/>
              <a:buFont typeface="Wingdings" panose="05000000000000000000" pitchFamily="2" charset="2"/>
              <a:buChar char="§"/>
              <a:defRPr/>
            </a:pPr>
            <a:r>
              <a:rPr lang="en-US" sz="1200" kern="1200" dirty="0">
                <a:solidFill>
                  <a:schemeClr val="tx1"/>
                </a:solidFill>
                <a:latin typeface="+mn-lt"/>
                <a:cs typeface="Calibri" panose="020F0502020204030204" pitchFamily="34" charset="0"/>
              </a:rPr>
              <a:t>iOS / iPadOS -  </a:t>
            </a:r>
            <a:r>
              <a:rPr lang="fi-FI" sz="1200" kern="1200" dirty="0">
                <a:solidFill>
                  <a:schemeClr val="tx1"/>
                </a:solidFill>
                <a:latin typeface="+mn-lt"/>
                <a:cs typeface="Calibri" panose="020F0502020204030204" pitchFamily="34" charset="0"/>
              </a:rPr>
              <a:t>Safari on iOS (</a:t>
            </a:r>
            <a:r>
              <a:rPr lang="en-US" sz="1200" kern="1200" dirty="0">
                <a:solidFill>
                  <a:schemeClr val="tx1"/>
                </a:solidFill>
                <a:cs typeface="Calibri" panose="020F0502020204030204" pitchFamily="34" charset="0"/>
              </a:rPr>
              <a:t>v26–25</a:t>
            </a:r>
            <a:r>
              <a:rPr lang="fi-FI" sz="1200" kern="1200" dirty="0">
                <a:solidFill>
                  <a:schemeClr val="tx1"/>
                </a:solidFill>
                <a:latin typeface="+mn-lt"/>
                <a:cs typeface="Calibri" panose="020F0502020204030204" pitchFamily="34" charset="0"/>
              </a:rPr>
              <a:t>); </a:t>
            </a:r>
            <a:r>
              <a:rPr lang="en-US" sz="1200" kern="1200" dirty="0">
                <a:solidFill>
                  <a:schemeClr val="tx1"/>
                </a:solidFill>
                <a:latin typeface="+mn-lt"/>
                <a:cs typeface="Calibri" panose="020F0502020204030204" pitchFamily="34" charset="0"/>
              </a:rPr>
              <a:t>iPhone 14+; IPAD  11” and 13”</a:t>
            </a:r>
          </a:p>
          <a:p>
            <a:pPr marL="1073150" lvl="5" indent="-265430">
              <a:spcBef>
                <a:spcPts val="200"/>
              </a:spcBef>
              <a:buClrTx/>
              <a:buFont typeface="Wingdings" panose="05000000000000000000" pitchFamily="2" charset="2"/>
              <a:buChar char="§"/>
              <a:defRPr/>
            </a:pPr>
            <a:r>
              <a:rPr lang="en-US" sz="1200" kern="1200" dirty="0">
                <a:solidFill>
                  <a:schemeClr val="tx1"/>
                </a:solidFill>
                <a:latin typeface="+mn-lt"/>
                <a:cs typeface="Calibri" panose="020F0502020204030204" pitchFamily="34" charset="0"/>
              </a:rPr>
              <a:t>Android - Android 13+; Chrome(v121–123) Mobile 5.5”, 6.1” ; Tablet :  8”, 10”</a:t>
            </a:r>
          </a:p>
          <a:p>
            <a:pPr marL="807720" lvl="5">
              <a:spcBef>
                <a:spcPts val="200"/>
              </a:spcBef>
              <a:buClrTx/>
              <a:defRPr/>
            </a:pPr>
            <a:r>
              <a:rPr lang="en-US" sz="1200" kern="1200" dirty="0">
                <a:solidFill>
                  <a:prstClr val="black">
                    <a:lumMod val="50000"/>
                  </a:prstClr>
                </a:solidFill>
                <a:latin typeface="+mn-lt"/>
                <a:cs typeface="Calibri" panose="020F0502020204030204" pitchFamily="34" charset="0"/>
              </a:rPr>
              <a:t>Certain features are best experienced through the web browser, as they require more detailed interaction and may not be fully available in other platforms or applications</a:t>
            </a:r>
          </a:p>
        </p:txBody>
      </p:sp>
      <p:grpSp>
        <p:nvGrpSpPr>
          <p:cNvPr id="7" name="Group 6"/>
          <p:cNvGrpSpPr/>
          <p:nvPr/>
        </p:nvGrpSpPr>
        <p:grpSpPr>
          <a:xfrm>
            <a:off x="279615" y="4608077"/>
            <a:ext cx="11594239" cy="1848139"/>
            <a:chOff x="302475" y="3823836"/>
            <a:chExt cx="11594239" cy="1848139"/>
          </a:xfrm>
        </p:grpSpPr>
        <p:sp>
          <p:nvSpPr>
            <p:cNvPr id="8" name="Rectangle: Diagonal Corners Rounded 7"/>
            <p:cNvSpPr/>
            <p:nvPr/>
          </p:nvSpPr>
          <p:spPr>
            <a:xfrm>
              <a:off x="771441" y="3823836"/>
              <a:ext cx="2445288" cy="339250"/>
            </a:xfrm>
            <a:prstGeom prst="round2DiagRect">
              <a:avLst>
                <a:gd name="adj1" fmla="val 36445"/>
                <a:gd name="adj2" fmla="val 0"/>
              </a:avLst>
            </a:prstGeom>
            <a:solidFill>
              <a:srgbClr val="0070C0"/>
            </a:solidFill>
            <a:ln w="25400" cap="flat" cmpd="sng" algn="ctr">
              <a:noFill/>
              <a:prstDash val="solid"/>
            </a:ln>
            <a:effectLst>
              <a:outerShdw blurRad="44450" dist="27940" dir="5400000" algn="ctr">
                <a:srgbClr val="000000">
                  <a:alpha val="32000"/>
                </a:srgbClr>
              </a:outerShdw>
            </a:effectLst>
          </p:spPr>
          <p:txBody>
            <a:bodyPr lIns="0" tIns="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400" b="0" i="0" u="none" strike="noStrike" kern="0" cap="none" spc="0" normalizeH="0" baseline="0" noProof="0" dirty="0">
                  <a:ln>
                    <a:noFill/>
                  </a:ln>
                  <a:solidFill>
                    <a:srgbClr val="FFFFFF"/>
                  </a:solidFill>
                  <a:effectLst/>
                  <a:uLnTx/>
                  <a:uFillTx/>
                  <a:latin typeface="Calibri Light" panose="020F0302020204030204" pitchFamily="34" charset="0"/>
                  <a:ea typeface="+mn-ea"/>
                  <a:cs typeface="Calibri Light" panose="020F0302020204030204" pitchFamily="34" charset="0"/>
                </a:rPr>
                <a:t>Estimation</a:t>
              </a:r>
              <a:endParaRPr kumimoji="0" lang="en-IN" sz="1400" b="0" i="0" u="none" strike="noStrike" kern="0" cap="none" spc="0" normalizeH="0" baseline="0" noProof="0" dirty="0">
                <a:ln>
                  <a:noFill/>
                </a:ln>
                <a:solidFill>
                  <a:srgbClr val="FFFFFF"/>
                </a:solidFill>
                <a:effectLst/>
                <a:uLnTx/>
                <a:uFillTx/>
                <a:latin typeface="Calibri Light" panose="020F0302020204030204" pitchFamily="34" charset="0"/>
                <a:ea typeface="STKaiti" panose="02010600040101010101" charset="-122"/>
                <a:cs typeface="Calibri Light" panose="020F0302020204030204" pitchFamily="34" charset="0"/>
              </a:endParaRPr>
            </a:p>
          </p:txBody>
        </p:sp>
        <p:sp>
          <p:nvSpPr>
            <p:cNvPr id="9" name="Rectangle 8"/>
            <p:cNvSpPr/>
            <p:nvPr/>
          </p:nvSpPr>
          <p:spPr>
            <a:xfrm>
              <a:off x="302475" y="4235684"/>
              <a:ext cx="11594239" cy="1436291"/>
            </a:xfrm>
            <a:prstGeom prst="rect">
              <a:avLst/>
            </a:prstGeom>
          </p:spPr>
          <p:txBody>
            <a:bodyPr wrap="square">
              <a:spAutoFit/>
            </a:bodyPr>
            <a:lstStyle/>
            <a:p>
              <a:pPr marL="742950" lvl="1" indent="-285750">
                <a:spcBef>
                  <a:spcPts val="200"/>
                </a:spcBef>
                <a:buClrTx/>
                <a:buFont typeface="Wingdings" panose="05000000000000000000" pitchFamily="2" charset="2"/>
                <a:buChar char="§"/>
                <a:defRPr/>
              </a:pPr>
              <a:r>
                <a:rPr lang="en-IN" sz="1200" kern="1200" dirty="0">
                  <a:solidFill>
                    <a:prstClr val="black">
                      <a:lumMod val="50000"/>
                    </a:prstClr>
                  </a:solidFill>
                  <a:latin typeface="+mn-lt"/>
                  <a:cs typeface="Calibri" panose="020F0502020204030204" pitchFamily="34" charset="0"/>
                </a:rPr>
                <a:t>The proposal is based on a </a:t>
              </a:r>
              <a:r>
                <a:rPr lang="en-IN" sz="1200" b="1" kern="1200" dirty="0">
                  <a:solidFill>
                    <a:prstClr val="black">
                      <a:lumMod val="50000"/>
                    </a:prstClr>
                  </a:solidFill>
                  <a:latin typeface="+mn-lt"/>
                  <a:cs typeface="Calibri" panose="020F0502020204030204" pitchFamily="34" charset="0"/>
                </a:rPr>
                <a:t>Fixed Price engagement model, with development to be executed at </a:t>
              </a:r>
              <a:r>
                <a:rPr lang="en-IN" sz="1200" b="1" kern="1200" dirty="0" err="1">
                  <a:solidFill>
                    <a:prstClr val="black">
                      <a:lumMod val="50000"/>
                    </a:prstClr>
                  </a:solidFill>
                  <a:latin typeface="+mn-lt"/>
                  <a:cs typeface="Calibri" panose="020F0502020204030204" pitchFamily="34" charset="0"/>
                </a:rPr>
                <a:t>Qualtech’s</a:t>
              </a:r>
              <a:r>
                <a:rPr lang="en-IN" sz="1200" b="1" kern="1200" dirty="0">
                  <a:solidFill>
                    <a:prstClr val="black">
                      <a:lumMod val="50000"/>
                    </a:prstClr>
                  </a:solidFill>
                  <a:latin typeface="+mn-lt"/>
                  <a:cs typeface="Calibri" panose="020F0502020204030204" pitchFamily="34" charset="0"/>
                </a:rPr>
                <a:t> offshore delivery centre</a:t>
              </a:r>
              <a:r>
                <a:rPr lang="en-IN" sz="1200" kern="1200" dirty="0">
                  <a:solidFill>
                    <a:prstClr val="black">
                      <a:lumMod val="50000"/>
                    </a:prstClr>
                  </a:solidFill>
                  <a:latin typeface="+mn-lt"/>
                  <a:cs typeface="Calibri" panose="020F0502020204030204" pitchFamily="34" charset="0"/>
                </a:rPr>
                <a:t>. This approach enables accelerated delivery and optimising overall project costs.</a:t>
              </a:r>
            </a:p>
            <a:p>
              <a:pPr marL="742950" lvl="1" indent="-285750">
                <a:spcBef>
                  <a:spcPts val="200"/>
                </a:spcBef>
                <a:buClrTx/>
                <a:buFont typeface="Wingdings" panose="05000000000000000000" pitchFamily="2" charset="2"/>
                <a:buChar char="§"/>
                <a:defRPr/>
              </a:pPr>
              <a:r>
                <a:rPr lang="en-IN" sz="1200" kern="1200" dirty="0">
                  <a:solidFill>
                    <a:prstClr val="black">
                      <a:lumMod val="50000"/>
                    </a:prstClr>
                  </a:solidFill>
                  <a:latin typeface="+mn-lt"/>
                  <a:cs typeface="Calibri" panose="020F0502020204030204" pitchFamily="34" charset="0"/>
                </a:rPr>
                <a:t>The QC proposal has been formulated based on the MVP scope document shared by IMGC. Upon receipt of detailed functional and technical requirements, QC will re-evaluate the proposed solution architecture, delivery timeline, and commercial estimates. Any resulting impact will be reviewed and mutually agreed upon with IMGC before commencement of development.</a:t>
              </a:r>
            </a:p>
            <a:p>
              <a:pPr marL="742950" lvl="1" indent="-285750">
                <a:spcBef>
                  <a:spcPts val="200"/>
                </a:spcBef>
                <a:buClrTx/>
                <a:buFont typeface="Wingdings" panose="05000000000000000000" pitchFamily="2" charset="2"/>
                <a:buChar char="§"/>
                <a:defRPr/>
              </a:pPr>
              <a:r>
                <a:rPr lang="en-IN" sz="1200" kern="1200" dirty="0">
                  <a:solidFill>
                    <a:prstClr val="black">
                      <a:lumMod val="50000"/>
                    </a:prstClr>
                  </a:solidFill>
                  <a:latin typeface="+mn-lt"/>
                  <a:cs typeface="Calibri" panose="020F0502020204030204" pitchFamily="34" charset="0"/>
                </a:rPr>
                <a:t>Any future changes to the approved scope, priorities, or requirements will be collaboratively assessed by IMGC and QC to determine their impact on the solution, timelines, and commercials, and will be implemented only after formal mutual agreement.</a:t>
              </a:r>
              <a:endParaRPr lang="en-US" sz="1200" kern="1200" dirty="0">
                <a:solidFill>
                  <a:prstClr val="black">
                    <a:lumMod val="50000"/>
                  </a:prstClr>
                </a:solidFill>
                <a:latin typeface="+mn-lt"/>
                <a:cs typeface="Calibri" panose="020F0502020204030204" pitchFamily="34"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4" name="Google Shape;161;p28"/>
          <p:cNvSpPr txBox="1">
            <a:spLocks noGrp="1"/>
          </p:cNvSpPr>
          <p:nvPr>
            <p:ph type="title"/>
          </p:nvPr>
        </p:nvSpPr>
        <p:spPr>
          <a:xfrm>
            <a:off x="488260" y="300246"/>
            <a:ext cx="11228183" cy="583174"/>
          </a:xfrm>
          <a:prstGeom prst="rect">
            <a:avLst/>
          </a:prstGeom>
          <a:noFill/>
          <a:ln>
            <a:noFill/>
          </a:ln>
        </p:spPr>
        <p:txBody>
          <a:bodyPr spcFirstLastPara="1" vert="horz" wrap="square" lIns="91193" tIns="45584" rIns="91193" bIns="45584" rtlCol="0" anchor="ctr" anchorCtr="0">
            <a:noAutofit/>
          </a:bodyPr>
          <a:lstStyle/>
          <a:p>
            <a:pPr>
              <a:lnSpc>
                <a:spcPct val="100000"/>
              </a:lnSpc>
              <a:buClr>
                <a:srgbClr val="000000"/>
              </a:buClr>
              <a:buFont typeface="Arial" panose="020B0604020202090204"/>
            </a:pPr>
            <a:r>
              <a:rPr lang="en-US" sz="3190" b="1" dirty="0">
                <a:solidFill>
                  <a:srgbClr val="000000"/>
                </a:solidFill>
                <a:latin typeface="Outfit" pitchFamily="2" charset="0"/>
                <a:cs typeface="Arial" panose="020B0604020202090204"/>
                <a:sym typeface="Arial" panose="020B0604020202090204"/>
              </a:rPr>
              <a:t>Why Qualtech</a:t>
            </a:r>
            <a:endParaRPr sz="3190" b="1" dirty="0">
              <a:solidFill>
                <a:srgbClr val="000000"/>
              </a:solidFill>
              <a:latin typeface="Outfit" pitchFamily="2" charset="0"/>
              <a:cs typeface="Arial" panose="020B0604020202090204"/>
              <a:sym typeface="Arial" panose="020B0604020202090204"/>
            </a:endParaRPr>
          </a:p>
        </p:txBody>
      </p:sp>
      <p:sp>
        <p:nvSpPr>
          <p:cNvPr id="3" name="Rounded Rectangle 8"/>
          <p:cNvSpPr/>
          <p:nvPr/>
        </p:nvSpPr>
        <p:spPr>
          <a:xfrm>
            <a:off x="523790" y="1019372"/>
            <a:ext cx="11317690" cy="5118538"/>
          </a:xfrm>
          <a:prstGeom prst="roundRect">
            <a:avLst>
              <a:gd name="adj" fmla="val 8803"/>
            </a:avLst>
          </a:prstGeom>
          <a:no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err="1">
              <a:solidFill>
                <a:schemeClr val="accent4"/>
              </a:solidFill>
            </a:endParaRPr>
          </a:p>
        </p:txBody>
      </p:sp>
      <p:grpSp>
        <p:nvGrpSpPr>
          <p:cNvPr id="11" name="Group 10"/>
          <p:cNvGrpSpPr/>
          <p:nvPr/>
        </p:nvGrpSpPr>
        <p:grpSpPr>
          <a:xfrm>
            <a:off x="986855" y="3720950"/>
            <a:ext cx="4407244" cy="954107"/>
            <a:chOff x="8513870" y="3895917"/>
            <a:chExt cx="4407244" cy="954107"/>
          </a:xfrm>
        </p:grpSpPr>
        <p:pic>
          <p:nvPicPr>
            <p:cNvPr id="12" name="Picture 11"/>
            <p:cNvPicPr>
              <a:picLocks noChangeAspect="1"/>
            </p:cNvPicPr>
            <p:nvPr/>
          </p:nvPicPr>
          <p:blipFill>
            <a:blip r:embed="rId3">
              <a:clrChange>
                <a:clrFrom>
                  <a:srgbClr val="FFFFFF"/>
                </a:clrFrom>
                <a:clrTo>
                  <a:srgbClr val="FFFFFF">
                    <a:alpha val="0"/>
                  </a:srgbClr>
                </a:clrTo>
              </a:clrChange>
              <a:duotone>
                <a:prstClr val="black"/>
                <a:schemeClr val="accent5">
                  <a:tint val="45000"/>
                  <a:satMod val="400000"/>
                </a:schemeClr>
              </a:duotone>
            </a:blip>
            <a:stretch>
              <a:fillRect/>
            </a:stretch>
          </p:blipFill>
          <p:spPr>
            <a:xfrm>
              <a:off x="8513870" y="4014714"/>
              <a:ext cx="596830" cy="727047"/>
            </a:xfrm>
            <a:prstGeom prst="rect">
              <a:avLst/>
            </a:prstGeom>
          </p:spPr>
        </p:pic>
        <p:sp>
          <p:nvSpPr>
            <p:cNvPr id="13" name="Rectangle 12"/>
            <p:cNvSpPr/>
            <p:nvPr/>
          </p:nvSpPr>
          <p:spPr>
            <a:xfrm>
              <a:off x="9374108" y="3895917"/>
              <a:ext cx="3547006" cy="954107"/>
            </a:xfrm>
            <a:prstGeom prst="rect">
              <a:avLst/>
            </a:prstGeom>
          </p:spPr>
          <p:txBody>
            <a:bodyPr wrap="square" lIns="72000" rIns="36000">
              <a:spAutoFit/>
            </a:bodyPr>
            <a:lstStyle/>
            <a:p>
              <a:pPr indent="-457200"/>
              <a:r>
                <a:rPr lang="en-US" sz="1400" b="1" dirty="0">
                  <a:solidFill>
                    <a:srgbClr val="002060"/>
                  </a:solidFill>
                  <a:latin typeface="+mn-lt"/>
                </a:rPr>
                <a:t>Superior User Experience</a:t>
              </a:r>
            </a:p>
            <a:p>
              <a:pPr marL="285750" lvl="1" indent="-285750">
                <a:buFont typeface="Arial" panose="020B0604020202090204" pitchFamily="34" charset="0"/>
                <a:buChar char="•"/>
              </a:pPr>
              <a:r>
                <a:rPr lang="en-US" sz="1400" dirty="0">
                  <a:solidFill>
                    <a:srgbClr val="002060"/>
                  </a:solidFill>
                  <a:latin typeface="+mn-lt"/>
                </a:rPr>
                <a:t>Intuitive, responsive interfaces</a:t>
              </a:r>
            </a:p>
            <a:p>
              <a:pPr marL="285750" lvl="1" indent="-285750">
                <a:buFont typeface="Arial" panose="020B0604020202090204" pitchFamily="34" charset="0"/>
                <a:buChar char="•"/>
              </a:pPr>
              <a:r>
                <a:rPr lang="en-US" sz="1400" dirty="0">
                  <a:solidFill>
                    <a:srgbClr val="002060"/>
                  </a:solidFill>
                  <a:latin typeface="+mn-lt"/>
                </a:rPr>
                <a:t>Seamless cross‑browser/ multi-device compatibility</a:t>
              </a:r>
            </a:p>
          </p:txBody>
        </p:sp>
      </p:grpSp>
      <p:grpSp>
        <p:nvGrpSpPr>
          <p:cNvPr id="14" name="Group 13"/>
          <p:cNvGrpSpPr/>
          <p:nvPr/>
        </p:nvGrpSpPr>
        <p:grpSpPr>
          <a:xfrm>
            <a:off x="813603" y="1258400"/>
            <a:ext cx="5090901" cy="975243"/>
            <a:chOff x="3899471" y="3985807"/>
            <a:chExt cx="5090901" cy="975243"/>
          </a:xfrm>
        </p:grpSpPr>
        <p:grpSp>
          <p:nvGrpSpPr>
            <p:cNvPr id="15" name="Group 14"/>
            <p:cNvGrpSpPr/>
            <p:nvPr/>
          </p:nvGrpSpPr>
          <p:grpSpPr>
            <a:xfrm>
              <a:off x="3899471" y="3985807"/>
              <a:ext cx="929783" cy="892345"/>
              <a:chOff x="3899471" y="3985807"/>
              <a:chExt cx="929783" cy="892345"/>
            </a:xfrm>
          </p:grpSpPr>
          <p:sp>
            <p:nvSpPr>
              <p:cNvPr id="17" name="Oval 16"/>
              <p:cNvSpPr/>
              <p:nvPr/>
            </p:nvSpPr>
            <p:spPr>
              <a:xfrm>
                <a:off x="3899471" y="3985807"/>
                <a:ext cx="929783" cy="89234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18" name="Picture 17"/>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backgroundRemoval t="10000" b="90000" l="10000" r="90000">
                            <a14:foregroundMark x1="38667" y1="40000" x2="38667" y2="40000"/>
                            <a14:foregroundMark x1="40889" y1="52889" x2="40889" y2="52889"/>
                            <a14:foregroundMark x1="22222" y1="54667" x2="22222" y2="54667"/>
                            <a14:foregroundMark x1="58667" y1="58222" x2="58667" y2="58222"/>
                            <a14:foregroundMark x1="76000" y1="56889" x2="76000" y2="56889"/>
                            <a14:foregroundMark x1="66667" y1="78222" x2="66667" y2="78222"/>
                          </a14:backgroundRemoval>
                        </a14:imgEffect>
                      </a14:imgLayer>
                    </a14:imgProps>
                  </a:ext>
                </a:extLst>
              </a:blip>
              <a:stretch>
                <a:fillRect/>
              </a:stretch>
            </p:blipFill>
            <p:spPr>
              <a:xfrm>
                <a:off x="3960158" y="4012587"/>
                <a:ext cx="822960" cy="783063"/>
              </a:xfrm>
              <a:prstGeom prst="rect">
                <a:avLst/>
              </a:prstGeom>
            </p:spPr>
          </p:pic>
        </p:grpSp>
        <p:sp>
          <p:nvSpPr>
            <p:cNvPr id="16" name="TextBox 15"/>
            <p:cNvSpPr txBox="1"/>
            <p:nvPr/>
          </p:nvSpPr>
          <p:spPr>
            <a:xfrm>
              <a:off x="4954617" y="4006943"/>
              <a:ext cx="4035755" cy="954107"/>
            </a:xfrm>
            <a:prstGeom prst="rect">
              <a:avLst/>
            </a:prstGeom>
            <a:noFill/>
          </p:spPr>
          <p:txBody>
            <a:bodyPr wrap="square" lIns="72000" rIns="36000" rtlCol="0">
              <a:spAutoFit/>
            </a:bodyPr>
            <a:lstStyle/>
            <a:p>
              <a:r>
                <a:rPr lang="en-IN" sz="1400" b="1" dirty="0">
                  <a:solidFill>
                    <a:srgbClr val="002060"/>
                  </a:solidFill>
                  <a:latin typeface="+mn-lt"/>
                </a:rPr>
                <a:t>Proven Domain Expertise </a:t>
              </a:r>
              <a:endParaRPr lang="en-IN" sz="1400" dirty="0">
                <a:solidFill>
                  <a:srgbClr val="002060"/>
                </a:solidFill>
                <a:latin typeface="+mn-lt"/>
              </a:endParaRPr>
            </a:p>
            <a:p>
              <a:pPr marL="285750" indent="-285750">
                <a:buFont typeface="Arial" panose="020B0604020202090204" pitchFamily="34" charset="0"/>
                <a:buChar char="•"/>
              </a:pPr>
              <a:r>
                <a:rPr lang="en-US" sz="1400" dirty="0">
                  <a:solidFill>
                    <a:srgbClr val="002060"/>
                  </a:solidFill>
                  <a:latin typeface="+mn-lt"/>
                </a:rPr>
                <a:t>Deep industry knowledge</a:t>
              </a:r>
            </a:p>
            <a:p>
              <a:pPr marL="285750" indent="-285750">
                <a:buFont typeface="Arial" panose="020B0604020202090204" pitchFamily="34" charset="0"/>
                <a:buChar char="•"/>
              </a:pPr>
              <a:r>
                <a:rPr lang="en-US" sz="1400" dirty="0">
                  <a:solidFill>
                    <a:srgbClr val="002060"/>
                  </a:solidFill>
                  <a:latin typeface="+mn-lt"/>
                </a:rPr>
                <a:t>4 Years of deep understanding of IMGC applications and Business processes.</a:t>
              </a:r>
              <a:endParaRPr lang="en-IN" sz="1400" dirty="0">
                <a:solidFill>
                  <a:srgbClr val="002060"/>
                </a:solidFill>
                <a:latin typeface="+mn-lt"/>
              </a:endParaRPr>
            </a:p>
          </p:txBody>
        </p:sp>
      </p:grpSp>
      <p:grpSp>
        <p:nvGrpSpPr>
          <p:cNvPr id="19" name="Group 18"/>
          <p:cNvGrpSpPr/>
          <p:nvPr/>
        </p:nvGrpSpPr>
        <p:grpSpPr>
          <a:xfrm>
            <a:off x="6489925" y="2513888"/>
            <a:ext cx="5021321" cy="738664"/>
            <a:chOff x="7917213" y="3756925"/>
            <a:chExt cx="5021321" cy="738664"/>
          </a:xfrm>
        </p:grpSpPr>
        <p:sp>
          <p:nvSpPr>
            <p:cNvPr id="20" name="Rectangle 19"/>
            <p:cNvSpPr/>
            <p:nvPr/>
          </p:nvSpPr>
          <p:spPr>
            <a:xfrm>
              <a:off x="8855324" y="3756925"/>
              <a:ext cx="4083210" cy="738664"/>
            </a:xfrm>
            <a:prstGeom prst="rect">
              <a:avLst/>
            </a:prstGeom>
          </p:spPr>
          <p:txBody>
            <a:bodyPr wrap="square" lIns="72000" rIns="36000">
              <a:spAutoFit/>
            </a:bodyPr>
            <a:lstStyle/>
            <a:p>
              <a:r>
                <a:rPr lang="en-US" sz="1400" b="1" dirty="0">
                  <a:solidFill>
                    <a:srgbClr val="002060"/>
                  </a:solidFill>
                  <a:latin typeface="+mn-lt"/>
                </a:rPr>
                <a:t>Modern, Scalable Architecture</a:t>
              </a:r>
            </a:p>
            <a:p>
              <a:pPr marL="285750" indent="-285750">
                <a:buFont typeface="Arial" panose="020B0604020202090204" pitchFamily="34" charset="0"/>
                <a:buChar char="•"/>
              </a:pPr>
              <a:r>
                <a:rPr lang="en-US" sz="1400" dirty="0">
                  <a:solidFill>
                    <a:srgbClr val="002060"/>
                  </a:solidFill>
                  <a:latin typeface="+mn-lt"/>
                </a:rPr>
                <a:t>Cloud‑native, secure, and resilient</a:t>
              </a:r>
            </a:p>
            <a:p>
              <a:pPr marL="285750" indent="-285750">
                <a:buFont typeface="Arial" panose="020B0604020202090204" pitchFamily="34" charset="0"/>
                <a:buChar char="•"/>
              </a:pPr>
              <a:r>
                <a:rPr lang="en-US" sz="1400" dirty="0">
                  <a:solidFill>
                    <a:srgbClr val="002060"/>
                  </a:solidFill>
                  <a:latin typeface="+mn-lt"/>
                </a:rPr>
                <a:t>Optimized for performance &amp; cost</a:t>
              </a:r>
            </a:p>
          </p:txBody>
        </p:sp>
        <p:pic>
          <p:nvPicPr>
            <p:cNvPr id="21" name="Picture 20"/>
            <p:cNvPicPr>
              <a:picLocks noChangeAspect="1"/>
            </p:cNvPicPr>
            <p:nvPr/>
          </p:nvPicPr>
          <p:blipFill>
            <a:blip r:embed="rId6">
              <a:clrChange>
                <a:clrFrom>
                  <a:srgbClr val="FFFFFF"/>
                </a:clrFrom>
                <a:clrTo>
                  <a:srgbClr val="FFFFFF">
                    <a:alpha val="0"/>
                  </a:srgbClr>
                </a:clrTo>
              </a:clrChange>
              <a:duotone>
                <a:schemeClr val="accent1">
                  <a:shade val="45000"/>
                  <a:satMod val="135000"/>
                </a:schemeClr>
                <a:prstClr val="white"/>
              </a:duotone>
            </a:blip>
            <a:stretch>
              <a:fillRect/>
            </a:stretch>
          </p:blipFill>
          <p:spPr>
            <a:xfrm>
              <a:off x="7917213" y="3784939"/>
              <a:ext cx="659970" cy="585491"/>
            </a:xfrm>
            <a:prstGeom prst="rect">
              <a:avLst/>
            </a:prstGeom>
          </p:spPr>
        </p:pic>
      </p:grpSp>
      <p:cxnSp>
        <p:nvCxnSpPr>
          <p:cNvPr id="25" name="Straight Connector 24"/>
          <p:cNvCxnSpPr/>
          <p:nvPr/>
        </p:nvCxnSpPr>
        <p:spPr>
          <a:xfrm>
            <a:off x="826666" y="2272941"/>
            <a:ext cx="1045923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809883" y="3720950"/>
            <a:ext cx="929783" cy="89234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cxnSp>
        <p:nvCxnSpPr>
          <p:cNvPr id="29" name="Straight Connector 28"/>
          <p:cNvCxnSpPr/>
          <p:nvPr/>
        </p:nvCxnSpPr>
        <p:spPr>
          <a:xfrm>
            <a:off x="6060167" y="1350843"/>
            <a:ext cx="0" cy="447231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a:xfrm>
            <a:off x="6322926" y="1258400"/>
            <a:ext cx="5239718" cy="1018931"/>
            <a:chOff x="6322926" y="1464140"/>
            <a:chExt cx="5239718" cy="1018931"/>
          </a:xfrm>
        </p:grpSpPr>
        <p:grpSp>
          <p:nvGrpSpPr>
            <p:cNvPr id="5" name="Group 4"/>
            <p:cNvGrpSpPr/>
            <p:nvPr/>
          </p:nvGrpSpPr>
          <p:grpSpPr>
            <a:xfrm>
              <a:off x="6531647" y="1528964"/>
              <a:ext cx="5030997" cy="954107"/>
              <a:chOff x="6929950" y="1014031"/>
              <a:chExt cx="5030997" cy="954107"/>
            </a:xfrm>
          </p:grpSpPr>
          <p:sp>
            <p:nvSpPr>
              <p:cNvPr id="6" name="Rectangle 5"/>
              <p:cNvSpPr/>
              <p:nvPr/>
            </p:nvSpPr>
            <p:spPr>
              <a:xfrm>
                <a:off x="7826339" y="1014031"/>
                <a:ext cx="4134608" cy="954107"/>
              </a:xfrm>
              <a:prstGeom prst="rect">
                <a:avLst/>
              </a:prstGeom>
            </p:spPr>
            <p:txBody>
              <a:bodyPr wrap="square" lIns="72000" rIns="36000">
                <a:spAutoFit/>
              </a:bodyPr>
              <a:lstStyle/>
              <a:p>
                <a:r>
                  <a:rPr lang="en-US" sz="1400" b="1" dirty="0">
                    <a:solidFill>
                      <a:srgbClr val="002060"/>
                    </a:solidFill>
                    <a:latin typeface="+mn-lt"/>
                  </a:rPr>
                  <a:t>Proven track record with IMGC</a:t>
                </a:r>
              </a:p>
              <a:p>
                <a:pPr marL="285750" indent="-285750">
                  <a:buFont typeface="Arial" panose="020B0604020202090204" pitchFamily="34" charset="0"/>
                  <a:buChar char="•"/>
                </a:pPr>
                <a:r>
                  <a:rPr lang="en-US" sz="1400" dirty="0">
                    <a:solidFill>
                      <a:srgbClr val="002060"/>
                    </a:solidFill>
                    <a:latin typeface="+mn-lt"/>
                  </a:rPr>
                  <a:t>Transformed Production support for PAS application</a:t>
                </a:r>
              </a:p>
              <a:p>
                <a:pPr marL="285750" indent="-285750">
                  <a:buFont typeface="Arial" panose="020B0604020202090204" pitchFamily="34" charset="0"/>
                  <a:buChar char="•"/>
                </a:pPr>
                <a:r>
                  <a:rPr lang="en-US" sz="1400" dirty="0">
                    <a:solidFill>
                      <a:srgbClr val="002060"/>
                    </a:solidFill>
                    <a:latin typeface="+mn-lt"/>
                  </a:rPr>
                  <a:t>Successful modernization &amp; stabilization programs</a:t>
                </a:r>
              </a:p>
            </p:txBody>
          </p:sp>
          <p:pic>
            <p:nvPicPr>
              <p:cNvPr id="7" name="Picture 6"/>
              <p:cNvPicPr>
                <a:picLocks noChangeAspect="1"/>
              </p:cNvPicPr>
              <p:nvPr/>
            </p:nvPicPr>
            <p:blipFill>
              <a:blip r:embed="rId7">
                <a:clrChange>
                  <a:clrFrom>
                    <a:srgbClr val="FFFFFF"/>
                  </a:clrFrom>
                  <a:clrTo>
                    <a:srgbClr val="FFFFFF">
                      <a:alpha val="0"/>
                    </a:srgbClr>
                  </a:clrTo>
                </a:clrChange>
                <a:duotone>
                  <a:schemeClr val="accent1">
                    <a:shade val="45000"/>
                    <a:satMod val="135000"/>
                  </a:schemeClr>
                  <a:prstClr val="white"/>
                </a:duotone>
              </a:blip>
              <a:stretch>
                <a:fillRect/>
              </a:stretch>
            </p:blipFill>
            <p:spPr>
              <a:xfrm>
                <a:off x="6929950" y="1132360"/>
                <a:ext cx="565995" cy="536317"/>
              </a:xfrm>
              <a:prstGeom prst="rect">
                <a:avLst/>
              </a:prstGeom>
            </p:spPr>
          </p:pic>
        </p:grpSp>
        <p:sp>
          <p:nvSpPr>
            <p:cNvPr id="30" name="Oval 29"/>
            <p:cNvSpPr/>
            <p:nvPr/>
          </p:nvSpPr>
          <p:spPr>
            <a:xfrm>
              <a:off x="6322926" y="1464140"/>
              <a:ext cx="929783" cy="89234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grpSp>
      <p:sp>
        <p:nvSpPr>
          <p:cNvPr id="31" name="Oval 30"/>
          <p:cNvSpPr/>
          <p:nvPr/>
        </p:nvSpPr>
        <p:spPr>
          <a:xfrm>
            <a:off x="6349752" y="2444234"/>
            <a:ext cx="929783" cy="89234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39" name="Rectangle 38"/>
          <p:cNvSpPr/>
          <p:nvPr/>
        </p:nvSpPr>
        <p:spPr>
          <a:xfrm>
            <a:off x="1847093" y="4937533"/>
            <a:ext cx="3547006" cy="738664"/>
          </a:xfrm>
          <a:prstGeom prst="rect">
            <a:avLst/>
          </a:prstGeom>
        </p:spPr>
        <p:txBody>
          <a:bodyPr wrap="square" lIns="72000" rIns="36000">
            <a:spAutoFit/>
          </a:bodyPr>
          <a:lstStyle/>
          <a:p>
            <a:pPr indent="-457200"/>
            <a:r>
              <a:rPr lang="en-US" sz="1400" b="1" dirty="0">
                <a:solidFill>
                  <a:srgbClr val="002060"/>
                </a:solidFill>
                <a:latin typeface="+mn-lt"/>
              </a:rPr>
              <a:t>Future-Ready Technology Foundation</a:t>
            </a:r>
          </a:p>
          <a:p>
            <a:pPr marL="285750" lvl="1" indent="-285750">
              <a:buFont typeface="Arial" panose="020B0604020202090204" pitchFamily="34" charset="0"/>
              <a:buChar char="•"/>
            </a:pPr>
            <a:r>
              <a:rPr lang="en-US" sz="1400" dirty="0">
                <a:solidFill>
                  <a:srgbClr val="002060"/>
                </a:solidFill>
                <a:latin typeface="+mn-lt"/>
              </a:rPr>
              <a:t>Scalable, long‑term approach</a:t>
            </a:r>
          </a:p>
          <a:p>
            <a:pPr marL="285750" lvl="1" indent="-285750">
              <a:buFont typeface="Arial" panose="020B0604020202090204" pitchFamily="34" charset="0"/>
              <a:buChar char="•"/>
            </a:pPr>
            <a:r>
              <a:rPr lang="en-US" sz="1400" dirty="0">
                <a:solidFill>
                  <a:srgbClr val="002060"/>
                </a:solidFill>
                <a:latin typeface="+mn-lt"/>
              </a:rPr>
              <a:t>Designed for evolving business needs</a:t>
            </a:r>
          </a:p>
        </p:txBody>
      </p:sp>
      <p:sp>
        <p:nvSpPr>
          <p:cNvPr id="42" name="TextBox 41"/>
          <p:cNvSpPr txBox="1"/>
          <p:nvPr/>
        </p:nvSpPr>
        <p:spPr>
          <a:xfrm>
            <a:off x="7428036" y="4957474"/>
            <a:ext cx="4068487" cy="954107"/>
          </a:xfrm>
          <a:prstGeom prst="rect">
            <a:avLst/>
          </a:prstGeom>
          <a:noFill/>
        </p:spPr>
        <p:txBody>
          <a:bodyPr wrap="square" lIns="72000" rIns="36000" rtlCol="0">
            <a:spAutoFit/>
          </a:bodyPr>
          <a:lstStyle/>
          <a:p>
            <a:r>
              <a:rPr lang="en-IN" sz="1400" b="1" dirty="0">
                <a:solidFill>
                  <a:srgbClr val="002060"/>
                </a:solidFill>
                <a:latin typeface="+mn-lt"/>
              </a:rPr>
              <a:t>QC Management Attention</a:t>
            </a:r>
            <a:endParaRPr lang="en-IN" sz="1400" dirty="0">
              <a:solidFill>
                <a:srgbClr val="002060"/>
              </a:solidFill>
              <a:latin typeface="+mn-lt"/>
            </a:endParaRPr>
          </a:p>
          <a:p>
            <a:pPr marL="285750" indent="-285750">
              <a:buFont typeface="Arial" panose="020B0604020202090204" pitchFamily="34" charset="0"/>
              <a:buChar char="•"/>
            </a:pPr>
            <a:r>
              <a:rPr lang="en-US" sz="1400" dirty="0">
                <a:solidFill>
                  <a:srgbClr val="002060"/>
                </a:solidFill>
                <a:latin typeface="+mn-lt"/>
              </a:rPr>
              <a:t>Leadership commitment to success</a:t>
            </a:r>
          </a:p>
          <a:p>
            <a:pPr marL="285750" indent="-285750">
              <a:buFont typeface="Arial" panose="020B0604020202090204" pitchFamily="34" charset="0"/>
              <a:buChar char="•"/>
            </a:pPr>
            <a:r>
              <a:rPr lang="en-US" sz="1400" dirty="0">
                <a:solidFill>
                  <a:srgbClr val="002060"/>
                </a:solidFill>
                <a:latin typeface="+mn-lt"/>
              </a:rPr>
              <a:t>High focus on value addition &amp; delivery governance</a:t>
            </a:r>
            <a:endParaRPr lang="en-IN" sz="1400" dirty="0">
              <a:solidFill>
                <a:srgbClr val="002060"/>
              </a:solidFill>
              <a:latin typeface="+mn-lt"/>
            </a:endParaRPr>
          </a:p>
        </p:txBody>
      </p:sp>
      <p:cxnSp>
        <p:nvCxnSpPr>
          <p:cNvPr id="45" name="Straight Connector 44"/>
          <p:cNvCxnSpPr/>
          <p:nvPr/>
        </p:nvCxnSpPr>
        <p:spPr>
          <a:xfrm>
            <a:off x="784832" y="4753163"/>
            <a:ext cx="1045923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523786" y="6265971"/>
            <a:ext cx="11317690" cy="47927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Qualtech is not just a technology partner—we are invested in your long-term success</a:t>
            </a:r>
          </a:p>
        </p:txBody>
      </p:sp>
      <p:sp>
        <p:nvSpPr>
          <p:cNvPr id="34" name="Oval 33"/>
          <p:cNvSpPr/>
          <p:nvPr/>
        </p:nvSpPr>
        <p:spPr>
          <a:xfrm>
            <a:off x="814800" y="4861490"/>
            <a:ext cx="929783" cy="89234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35" name="Oval 34"/>
          <p:cNvSpPr/>
          <p:nvPr/>
        </p:nvSpPr>
        <p:spPr>
          <a:xfrm>
            <a:off x="6352986" y="4878169"/>
            <a:ext cx="929783" cy="89234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37" name="Picture 36"/>
          <p:cNvPicPr>
            <a:picLocks noChangeAspect="1"/>
          </p:cNvPicPr>
          <p:nvPr/>
        </p:nvPicPr>
        <p:blipFill>
          <a:blip r:embed="rId8"/>
          <a:stretch>
            <a:fillRect/>
          </a:stretch>
        </p:blipFill>
        <p:spPr>
          <a:xfrm>
            <a:off x="6380015" y="4782259"/>
            <a:ext cx="1049212" cy="1049212"/>
          </a:xfrm>
          <a:prstGeom prst="rect">
            <a:avLst/>
          </a:prstGeom>
        </p:spPr>
      </p:pic>
      <p:pic>
        <p:nvPicPr>
          <p:cNvPr id="40" name="Picture 39"/>
          <p:cNvPicPr>
            <a:picLocks noChangeAspect="1"/>
          </p:cNvPicPr>
          <p:nvPr/>
        </p:nvPicPr>
        <p:blipFill>
          <a:blip r:embed="rId9"/>
          <a:stretch>
            <a:fillRect/>
          </a:stretch>
        </p:blipFill>
        <p:spPr>
          <a:xfrm>
            <a:off x="738543" y="4782259"/>
            <a:ext cx="1079902" cy="1079902"/>
          </a:xfrm>
          <a:prstGeom prst="rect">
            <a:avLst/>
          </a:prstGeom>
        </p:spPr>
      </p:pic>
      <p:cxnSp>
        <p:nvCxnSpPr>
          <p:cNvPr id="49" name="Straight Connector 48"/>
          <p:cNvCxnSpPr/>
          <p:nvPr/>
        </p:nvCxnSpPr>
        <p:spPr>
          <a:xfrm>
            <a:off x="813603" y="3627125"/>
            <a:ext cx="1045923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51" name="Group 50"/>
          <p:cNvGrpSpPr/>
          <p:nvPr/>
        </p:nvGrpSpPr>
        <p:grpSpPr>
          <a:xfrm>
            <a:off x="6322926" y="3740345"/>
            <a:ext cx="5239718" cy="892345"/>
            <a:chOff x="6322926" y="1464140"/>
            <a:chExt cx="5239718" cy="892345"/>
          </a:xfrm>
        </p:grpSpPr>
        <p:sp>
          <p:nvSpPr>
            <p:cNvPr id="52" name="Rectangle 51"/>
            <p:cNvSpPr/>
            <p:nvPr/>
          </p:nvSpPr>
          <p:spPr>
            <a:xfrm>
              <a:off x="7428036" y="1500833"/>
              <a:ext cx="4134608" cy="738664"/>
            </a:xfrm>
            <a:prstGeom prst="rect">
              <a:avLst/>
            </a:prstGeom>
          </p:spPr>
          <p:txBody>
            <a:bodyPr wrap="square" lIns="72000" rIns="36000">
              <a:spAutoFit/>
            </a:bodyPr>
            <a:lstStyle/>
            <a:p>
              <a:r>
                <a:rPr lang="en-IN" sz="1400" b="1" dirty="0">
                  <a:solidFill>
                    <a:srgbClr val="002060"/>
                  </a:solidFill>
                  <a:latin typeface="+mn-lt"/>
                </a:rPr>
                <a:t>Time to Market</a:t>
              </a:r>
            </a:p>
            <a:p>
              <a:pPr marL="285750" indent="-285750">
                <a:buFont typeface="Arial" panose="020B0604020202090204" pitchFamily="34" charset="0"/>
                <a:buChar char="•"/>
              </a:pPr>
              <a:r>
                <a:rPr lang="en-US" sz="1400" dirty="0">
                  <a:solidFill>
                    <a:srgbClr val="002060"/>
                  </a:solidFill>
                  <a:latin typeface="+mn-lt"/>
                </a:rPr>
                <a:t>Faster delivery using AI and reusable modules</a:t>
              </a:r>
            </a:p>
            <a:p>
              <a:pPr marL="285750" indent="-285750">
                <a:buFont typeface="Arial" panose="020B0604020202090204" pitchFamily="34" charset="0"/>
                <a:buChar char="•"/>
              </a:pPr>
              <a:r>
                <a:rPr lang="en-US" sz="1400" dirty="0">
                  <a:solidFill>
                    <a:srgbClr val="002060"/>
                  </a:solidFill>
                  <a:latin typeface="+mn-lt"/>
                </a:rPr>
                <a:t>Quicker go‑lives and faster business impact</a:t>
              </a:r>
            </a:p>
          </p:txBody>
        </p:sp>
        <p:sp>
          <p:nvSpPr>
            <p:cNvPr id="53" name="Oval 52"/>
            <p:cNvSpPr/>
            <p:nvPr/>
          </p:nvSpPr>
          <p:spPr>
            <a:xfrm>
              <a:off x="6322926" y="1464140"/>
              <a:ext cx="929783" cy="89234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grpSp>
      <p:pic>
        <p:nvPicPr>
          <p:cNvPr id="54" name="Picture 53"/>
          <p:cNvPicPr>
            <a:picLocks noChangeAspect="1"/>
          </p:cNvPicPr>
          <p:nvPr/>
        </p:nvPicPr>
        <p:blipFill>
          <a:blip r:embed="rId10"/>
          <a:stretch>
            <a:fillRect/>
          </a:stretch>
        </p:blipFill>
        <p:spPr>
          <a:xfrm>
            <a:off x="6412499" y="3778872"/>
            <a:ext cx="836964" cy="836964"/>
          </a:xfrm>
          <a:prstGeom prst="rect">
            <a:avLst/>
          </a:prstGeom>
        </p:spPr>
      </p:pic>
      <p:grpSp>
        <p:nvGrpSpPr>
          <p:cNvPr id="55" name="Group 54"/>
          <p:cNvGrpSpPr/>
          <p:nvPr/>
        </p:nvGrpSpPr>
        <p:grpSpPr>
          <a:xfrm>
            <a:off x="813603" y="2463082"/>
            <a:ext cx="5171505" cy="992113"/>
            <a:chOff x="3899471" y="3985807"/>
            <a:chExt cx="5171505" cy="992113"/>
          </a:xfrm>
        </p:grpSpPr>
        <p:sp>
          <p:nvSpPr>
            <p:cNvPr id="56" name="Oval 55"/>
            <p:cNvSpPr/>
            <p:nvPr/>
          </p:nvSpPr>
          <p:spPr>
            <a:xfrm>
              <a:off x="3899471" y="3985807"/>
              <a:ext cx="929783" cy="89234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57" name="TextBox 56"/>
            <p:cNvSpPr txBox="1"/>
            <p:nvPr/>
          </p:nvSpPr>
          <p:spPr>
            <a:xfrm>
              <a:off x="4954617" y="4023813"/>
              <a:ext cx="4116359" cy="954107"/>
            </a:xfrm>
            <a:prstGeom prst="rect">
              <a:avLst/>
            </a:prstGeom>
            <a:noFill/>
          </p:spPr>
          <p:txBody>
            <a:bodyPr wrap="square" lIns="72000" rIns="36000" rtlCol="0">
              <a:spAutoFit/>
            </a:bodyPr>
            <a:lstStyle/>
            <a:p>
              <a:r>
                <a:rPr lang="en-IN" sz="1400" b="1" dirty="0">
                  <a:solidFill>
                    <a:srgbClr val="002060"/>
                  </a:solidFill>
                  <a:latin typeface="+mn-lt"/>
                </a:rPr>
                <a:t>Reusable Components</a:t>
              </a:r>
            </a:p>
            <a:p>
              <a:pPr marL="285750" indent="-285750">
                <a:buFont typeface="Arial" panose="020B0604020202090204" pitchFamily="34" charset="0"/>
                <a:buChar char="•"/>
              </a:pPr>
              <a:r>
                <a:rPr lang="en-US" sz="1400" dirty="0">
                  <a:solidFill>
                    <a:srgbClr val="002060"/>
                  </a:solidFill>
                  <a:latin typeface="+mn-lt"/>
                </a:rPr>
                <a:t>SSO, Reporting engine, Master Management, Communication engine etc.</a:t>
              </a:r>
            </a:p>
            <a:p>
              <a:pPr marL="285750" indent="-285750">
                <a:buFont typeface="Arial" panose="020B0604020202090204" pitchFamily="34" charset="0"/>
                <a:buChar char="•"/>
              </a:pPr>
              <a:r>
                <a:rPr lang="en-US" sz="1400" dirty="0">
                  <a:solidFill>
                    <a:srgbClr val="002060"/>
                  </a:solidFill>
                  <a:latin typeface="+mn-lt"/>
                </a:rPr>
                <a:t>Bringing Product mindset to build scalable solution</a:t>
              </a:r>
              <a:endParaRPr lang="en-IN" sz="1400" dirty="0">
                <a:solidFill>
                  <a:srgbClr val="002060"/>
                </a:solidFill>
                <a:latin typeface="+mn-lt"/>
              </a:endParaRPr>
            </a:p>
          </p:txBody>
        </p:sp>
      </p:grpSp>
      <p:pic>
        <p:nvPicPr>
          <p:cNvPr id="58" name="Picture 57"/>
          <p:cNvPicPr>
            <a:picLocks noChangeAspect="1"/>
          </p:cNvPicPr>
          <p:nvPr/>
        </p:nvPicPr>
        <p:blipFill>
          <a:blip r:embed="rId7">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016215" y="2646235"/>
            <a:ext cx="565995" cy="53631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6514" y="2908614"/>
            <a:ext cx="10837393" cy="941483"/>
          </a:xfrm>
          <a:prstGeom prst="rect">
            <a:avLst/>
          </a:prstGeom>
          <a:noFill/>
        </p:spPr>
        <p:txBody>
          <a:bodyPr wrap="square" lIns="121610" tIns="60805" rIns="121610" bIns="60805">
            <a:spAutoFit/>
          </a:bodyPr>
          <a:lstStyle/>
          <a:p>
            <a:pPr algn="ctr"/>
            <a:r>
              <a:rPr lang="en-US" sz="5320" b="1">
                <a:ln w="9525">
                  <a:solidFill>
                    <a:schemeClr val="bg1"/>
                  </a:solidFill>
                  <a:prstDash val="solid"/>
                </a:ln>
                <a:solidFill>
                  <a:schemeClr val="tx1"/>
                </a:solidFill>
                <a:effectLst>
                  <a:outerShdw blurRad="12700" dist="38100" dir="2700000" algn="tl" rotWithShape="0">
                    <a:schemeClr val="bg1">
                      <a:lumMod val="50000"/>
                    </a:schemeClr>
                  </a:outerShdw>
                </a:effectLst>
                <a:latin typeface="Outfit" pitchFamily="2" charset="0"/>
              </a:rPr>
              <a:t>Let's Build the Future Together</a:t>
            </a:r>
            <a:endParaRPr lang="en-IN" sz="532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7" name="Google Shape;64;p14" title="logo mark.png"/>
          <p:cNvPicPr preferRelativeResize="0"/>
          <p:nvPr/>
        </p:nvPicPr>
        <p:blipFill>
          <a:blip r:embed="rId2"/>
          <a:stretch>
            <a:fillRect/>
          </a:stretch>
        </p:blipFill>
        <p:spPr>
          <a:xfrm>
            <a:off x="10605739" y="2446556"/>
            <a:ext cx="718167" cy="1005433"/>
          </a:xfrm>
          <a:prstGeom prst="rect">
            <a:avLst/>
          </a:prstGeom>
          <a:noFill/>
          <a:ln>
            <a:noFill/>
          </a:ln>
        </p:spPr>
      </p:pic>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Outfit"/>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3488</TotalTime>
  <Words>4078</Words>
  <Application>Microsoft Office PowerPoint</Application>
  <PresentationFormat>Custom</PresentationFormat>
  <Paragraphs>807</Paragraphs>
  <Slides>22</Slides>
  <Notes>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Outfit</vt:lpstr>
      <vt:lpstr>Arial</vt:lpstr>
      <vt:lpstr>Segoe UI</vt:lpstr>
      <vt:lpstr>Calibri</vt:lpstr>
      <vt:lpstr>STKaiti</vt:lpstr>
      <vt:lpstr>Wingdings</vt:lpstr>
      <vt:lpstr>Calibri Light</vt:lpstr>
      <vt:lpstr>Lora</vt:lpstr>
      <vt:lpstr>Office 2013 - 2022 Theme</vt:lpstr>
      <vt:lpstr>2_Office Theme</vt:lpstr>
      <vt:lpstr>PowerPoint Presentation</vt:lpstr>
      <vt:lpstr>Contents</vt:lpstr>
      <vt:lpstr>PowerPoint Presentation</vt:lpstr>
      <vt:lpstr>PowerPoint Presentation</vt:lpstr>
      <vt:lpstr>MVP Scope – End-to-End Process Swimlane</vt:lpstr>
      <vt:lpstr>PowerPoint Presentation</vt:lpstr>
      <vt:lpstr>Indicative Plan</vt:lpstr>
      <vt:lpstr>Assumptions and Dependencies</vt:lpstr>
      <vt:lpstr>PowerPoint Presentation</vt:lpstr>
      <vt:lpstr>Functional Scope &amp; Application Evolution</vt:lpstr>
      <vt:lpstr>PowerPoint Presentation</vt:lpstr>
      <vt:lpstr>PowerPoint Presentation</vt:lpstr>
      <vt:lpstr>PowerPoint Presentation</vt:lpstr>
      <vt:lpstr>Technology Stack - Summary</vt:lpstr>
      <vt:lpstr>Technology Rationale - Frontend </vt:lpstr>
      <vt:lpstr>Technology Rationale - Backend</vt:lpstr>
      <vt:lpstr>Technology Rationale - Database </vt:lpstr>
      <vt:lpstr>PowerPoint Presentation</vt:lpstr>
      <vt:lpstr>Proposed Commercials – MVP only</vt:lpstr>
      <vt:lpstr>Expectations from IMGC and Assumptions</vt:lpstr>
      <vt:lpstr>Why Qualtech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Qualtech-Amit</dc:creator>
  <cp:lastModifiedBy>TIYARA.SEMWAL_11382</cp:lastModifiedBy>
  <cp:revision>792</cp:revision>
  <dcterms:created xsi:type="dcterms:W3CDTF">2026-02-04T07:10:06Z</dcterms:created>
  <dcterms:modified xsi:type="dcterms:W3CDTF">2026-09-09T14:13:29Z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B3A6C23276420469FC1D7F6960F37691_42</vt:lpwstr>
  </property>
  <property fmtid="{D5CDD505-2E9C-101B-9397-08002B2CF9AE}" pid="3" name="KSOProductBuildVer">
    <vt:lpwstr>1033-12.1.23155.23155</vt:lpwstr>
  </property>
</Properties>
</file>